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54"/>
  </p:notesMasterIdLst>
  <p:sldIdLst>
    <p:sldId id="256" r:id="rId2"/>
    <p:sldId id="260" r:id="rId3"/>
    <p:sldId id="308" r:id="rId4"/>
    <p:sldId id="261" r:id="rId5"/>
    <p:sldId id="322" r:id="rId6"/>
    <p:sldId id="262" r:id="rId7"/>
    <p:sldId id="263" r:id="rId8"/>
    <p:sldId id="264" r:id="rId9"/>
    <p:sldId id="326" r:id="rId10"/>
    <p:sldId id="265" r:id="rId11"/>
    <p:sldId id="327" r:id="rId12"/>
    <p:sldId id="328" r:id="rId13"/>
    <p:sldId id="329" r:id="rId14"/>
    <p:sldId id="330" r:id="rId15"/>
    <p:sldId id="331" r:id="rId16"/>
    <p:sldId id="310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285" r:id="rId30"/>
    <p:sldId id="354" r:id="rId31"/>
    <p:sldId id="355" r:id="rId32"/>
    <p:sldId id="267" r:id="rId33"/>
    <p:sldId id="321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4" r:id="rId49"/>
    <p:sldId id="286" r:id="rId50"/>
    <p:sldId id="283" r:id="rId51"/>
    <p:sldId id="287" r:id="rId52"/>
    <p:sldId id="35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11893"/>
    <a:srgbClr val="FF2600"/>
    <a:srgbClr val="F8BB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3" autoAdjust="0"/>
    <p:restoredTop sz="95192"/>
  </p:normalViewPr>
  <p:slideViewPr>
    <p:cSldViewPr snapToGrid="0">
      <p:cViewPr>
        <p:scale>
          <a:sx n="70" d="100"/>
          <a:sy n="70" d="100"/>
        </p:scale>
        <p:origin x="16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5AD69D-AD95-2341-AC2B-F4961E7CF1E2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1F95DF7-2981-9A42-BD25-E3E45BA5B209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Анализ предметной области, формулировка целей и задач</a:t>
          </a:r>
          <a:endParaRPr lang="ru-RU" sz="2000" u="none" dirty="0"/>
        </a:p>
      </dgm:t>
    </dgm:pt>
    <dgm:pt modelId="{BF0F04B2-FDF3-4C4A-9E24-4BF0FB4BC631}" type="parTrans" cxnId="{FF3F5555-4A28-6E49-9660-869B93DF2905}">
      <dgm:prSet/>
      <dgm:spPr/>
      <dgm:t>
        <a:bodyPr/>
        <a:lstStyle/>
        <a:p>
          <a:endParaRPr lang="ru-RU"/>
        </a:p>
      </dgm:t>
    </dgm:pt>
    <dgm:pt modelId="{5540FA34-0E7B-7049-A853-5F15AB5E5738}" type="sibTrans" cxnId="{FF3F5555-4A28-6E49-9660-869B93DF2905}">
      <dgm:prSet/>
      <dgm:spPr/>
      <dgm:t>
        <a:bodyPr/>
        <a:lstStyle/>
        <a:p>
          <a:endParaRPr lang="ru-RU"/>
        </a:p>
      </dgm:t>
    </dgm:pt>
    <dgm:pt modelId="{85E5026C-476F-8146-BDBE-DEFE5450EF16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Построение модели</a:t>
          </a:r>
          <a:endParaRPr lang="ru-RU" sz="2000" u="none" dirty="0"/>
        </a:p>
      </dgm:t>
    </dgm:pt>
    <dgm:pt modelId="{F6A6676C-C90E-5647-9D7F-478915B6D3EA}" type="parTrans" cxnId="{BECC5B3F-92D8-1B49-A65F-F84B394B161F}">
      <dgm:prSet/>
      <dgm:spPr/>
      <dgm:t>
        <a:bodyPr/>
        <a:lstStyle/>
        <a:p>
          <a:endParaRPr lang="ru-RU"/>
        </a:p>
      </dgm:t>
    </dgm:pt>
    <dgm:pt modelId="{3C990484-B01F-E84F-BB08-52A1823B750A}" type="sibTrans" cxnId="{BECC5B3F-92D8-1B49-A65F-F84B394B161F}">
      <dgm:prSet/>
      <dgm:spPr/>
      <dgm:t>
        <a:bodyPr/>
        <a:lstStyle/>
        <a:p>
          <a:endParaRPr lang="ru-RU"/>
        </a:p>
      </dgm:t>
    </dgm:pt>
    <dgm:pt modelId="{1461B327-D483-5D4A-B487-C510B6440A1E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Создание алгоритмов</a:t>
          </a:r>
          <a:endParaRPr lang="ru-RU" sz="2000" u="none" dirty="0"/>
        </a:p>
      </dgm:t>
    </dgm:pt>
    <dgm:pt modelId="{C0587740-0BC3-CB4F-A14C-F0BA56FC2E94}" type="parTrans" cxnId="{C90B28A6-E86B-2446-9AD2-ED3F5DC2EBB2}">
      <dgm:prSet/>
      <dgm:spPr/>
      <dgm:t>
        <a:bodyPr/>
        <a:lstStyle/>
        <a:p>
          <a:endParaRPr lang="ru-RU"/>
        </a:p>
      </dgm:t>
    </dgm:pt>
    <dgm:pt modelId="{D7381C76-C41E-8E4A-8CBF-B053F29985C2}" type="sibTrans" cxnId="{C90B28A6-E86B-2446-9AD2-ED3F5DC2EBB2}">
      <dgm:prSet/>
      <dgm:spPr/>
      <dgm:t>
        <a:bodyPr/>
        <a:lstStyle/>
        <a:p>
          <a:endParaRPr lang="ru-RU"/>
        </a:p>
      </dgm:t>
    </dgm:pt>
    <dgm:pt modelId="{B7FA06D8-1984-2E42-9EDD-3F3D23F5F7A0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Разработка программы</a:t>
          </a:r>
          <a:endParaRPr lang="ru-RU" sz="2000" u="none" dirty="0"/>
        </a:p>
      </dgm:t>
    </dgm:pt>
    <dgm:pt modelId="{EC854231-5E00-CF43-8468-69E7F67AFEBA}" type="parTrans" cxnId="{E7B18A31-DF37-2444-AAD5-98B2F9B0339F}">
      <dgm:prSet/>
      <dgm:spPr/>
      <dgm:t>
        <a:bodyPr/>
        <a:lstStyle/>
        <a:p>
          <a:endParaRPr lang="ru-RU"/>
        </a:p>
      </dgm:t>
    </dgm:pt>
    <dgm:pt modelId="{1D07B97F-5167-664A-82AA-0497EA0600EC}" type="sibTrans" cxnId="{E7B18A31-DF37-2444-AAD5-98B2F9B0339F}">
      <dgm:prSet/>
      <dgm:spPr/>
      <dgm:t>
        <a:bodyPr/>
        <a:lstStyle/>
        <a:p>
          <a:endParaRPr lang="ru-RU"/>
        </a:p>
      </dgm:t>
    </dgm:pt>
    <dgm:pt modelId="{A34C5D04-85D7-7445-A833-37BFB83E791C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Выполнение расчетов</a:t>
          </a:r>
          <a:endParaRPr lang="ru-RU" sz="2000" u="none" dirty="0"/>
        </a:p>
      </dgm:t>
    </dgm:pt>
    <dgm:pt modelId="{252373F9-A085-7B47-AB8B-7D942D833106}" type="parTrans" cxnId="{8BE2D733-57C8-9344-85F5-9ABE17FE0AAD}">
      <dgm:prSet/>
      <dgm:spPr/>
      <dgm:t>
        <a:bodyPr/>
        <a:lstStyle/>
        <a:p>
          <a:endParaRPr lang="ru-RU"/>
        </a:p>
      </dgm:t>
    </dgm:pt>
    <dgm:pt modelId="{1B36B46A-3B8C-AA48-92A5-D0620F5268C2}" type="sibTrans" cxnId="{8BE2D733-57C8-9344-85F5-9ABE17FE0AAD}">
      <dgm:prSet/>
      <dgm:spPr/>
      <dgm:t>
        <a:bodyPr/>
        <a:lstStyle/>
        <a:p>
          <a:endParaRPr lang="ru-RU"/>
        </a:p>
      </dgm:t>
    </dgm:pt>
    <dgm:pt modelId="{1701AFE4-7C4B-C148-9384-6058FEB37EC4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28575"/>
      </dgm:spPr>
      <dgm:t>
        <a:bodyPr/>
        <a:lstStyle/>
        <a:p>
          <a:r>
            <a:rPr lang="ru-RU" sz="2000" i="1" u="none" dirty="0" smtClean="0"/>
            <a:t>Анализ и интерпретация результатов</a:t>
          </a:r>
          <a:endParaRPr lang="ru-RU" sz="2000" u="none" dirty="0"/>
        </a:p>
      </dgm:t>
    </dgm:pt>
    <dgm:pt modelId="{7584A720-1598-3448-9280-8BACFDCCD47B}" type="parTrans" cxnId="{0017E580-E85B-CB48-8CAC-91D708527A04}">
      <dgm:prSet/>
      <dgm:spPr/>
      <dgm:t>
        <a:bodyPr/>
        <a:lstStyle/>
        <a:p>
          <a:endParaRPr lang="ru-RU"/>
        </a:p>
      </dgm:t>
    </dgm:pt>
    <dgm:pt modelId="{51157820-598C-A045-856D-5618314235BF}" type="sibTrans" cxnId="{0017E580-E85B-CB48-8CAC-91D708527A04}">
      <dgm:prSet/>
      <dgm:spPr/>
      <dgm:t>
        <a:bodyPr/>
        <a:lstStyle/>
        <a:p>
          <a:endParaRPr lang="ru-RU"/>
        </a:p>
      </dgm:t>
    </dgm:pt>
    <dgm:pt modelId="{AC73ED13-A4DB-EF42-9BB5-1EFE1E8A7845}" type="pres">
      <dgm:prSet presAssocID="{065AD69D-AD95-2341-AC2B-F4961E7CF1E2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641B1F0-B303-F84F-A5DD-826A0868475A}" type="pres">
      <dgm:prSet presAssocID="{D1F95DF7-2981-9A42-BD25-E3E45BA5B209}" presName="node" presStyleLbl="node1" presStyleIdx="0" presStyleCnt="6" custScaleX="27995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589C78-D933-564D-89E3-52FD3D234D87}" type="pres">
      <dgm:prSet presAssocID="{5540FA34-0E7B-7049-A853-5F15AB5E5738}" presName="sibTrans" presStyleLbl="sibTrans2D1" presStyleIdx="0" presStyleCnt="6"/>
      <dgm:spPr>
        <a:prstGeom prst="rightArrow">
          <a:avLst/>
        </a:prstGeom>
      </dgm:spPr>
      <dgm:t>
        <a:bodyPr/>
        <a:lstStyle/>
        <a:p>
          <a:endParaRPr lang="ru-RU"/>
        </a:p>
      </dgm:t>
    </dgm:pt>
    <dgm:pt modelId="{FA4864C7-FE51-9049-82EC-5320C97C1632}" type="pres">
      <dgm:prSet presAssocID="{5540FA34-0E7B-7049-A853-5F15AB5E5738}" presName="connectorText" presStyleLbl="sibTrans2D1" presStyleIdx="0" presStyleCnt="6"/>
      <dgm:spPr/>
      <dgm:t>
        <a:bodyPr/>
        <a:lstStyle/>
        <a:p>
          <a:endParaRPr lang="ru-RU"/>
        </a:p>
      </dgm:t>
    </dgm:pt>
    <dgm:pt modelId="{1F97C0C4-96E4-354E-AF4A-4B12E0406368}" type="pres">
      <dgm:prSet presAssocID="{85E5026C-476F-8146-BDBE-DEFE5450EF16}" presName="node" presStyleLbl="node1" presStyleIdx="1" presStyleCnt="6" custScaleX="196288" custRadScaleRad="179089" custRadScaleInc="4519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B51735-C886-AA48-BE27-5E5AF13AD0FB}" type="pres">
      <dgm:prSet presAssocID="{3C990484-B01F-E84F-BB08-52A1823B750A}" presName="sibTrans" presStyleLbl="sibTrans2D1" presStyleIdx="1" presStyleCnt="6"/>
      <dgm:spPr>
        <a:prstGeom prst="rightArrow">
          <a:avLst/>
        </a:prstGeom>
      </dgm:spPr>
      <dgm:t>
        <a:bodyPr/>
        <a:lstStyle/>
        <a:p>
          <a:endParaRPr lang="ru-RU"/>
        </a:p>
      </dgm:t>
    </dgm:pt>
    <dgm:pt modelId="{0BDA7218-773B-1749-8C8C-78E2CD573AAB}" type="pres">
      <dgm:prSet presAssocID="{3C990484-B01F-E84F-BB08-52A1823B750A}" presName="connectorText" presStyleLbl="sibTrans2D1" presStyleIdx="1" presStyleCnt="6"/>
      <dgm:spPr/>
      <dgm:t>
        <a:bodyPr/>
        <a:lstStyle/>
        <a:p>
          <a:endParaRPr lang="ru-RU"/>
        </a:p>
      </dgm:t>
    </dgm:pt>
    <dgm:pt modelId="{6767AB9B-CE42-5B46-B5ED-927BE5DFF581}" type="pres">
      <dgm:prSet presAssocID="{1461B327-D483-5D4A-B487-C510B6440A1E}" presName="node" presStyleLbl="node1" presStyleIdx="2" presStyleCnt="6" custScaleX="189978" custScaleY="92722" custRadScaleRad="174327" custRadScaleInc="-468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DEE5B6-F24B-1A40-B4A0-48E862DD5C3D}" type="pres">
      <dgm:prSet presAssocID="{D7381C76-C41E-8E4A-8CBF-B053F29985C2}" presName="sibTrans" presStyleLbl="sibTrans2D1" presStyleIdx="2" presStyleCnt="6"/>
      <dgm:spPr>
        <a:prstGeom prst="rightArrow">
          <a:avLst/>
        </a:prstGeom>
      </dgm:spPr>
      <dgm:t>
        <a:bodyPr/>
        <a:lstStyle/>
        <a:p>
          <a:endParaRPr lang="ru-RU"/>
        </a:p>
      </dgm:t>
    </dgm:pt>
    <dgm:pt modelId="{4CE0F51C-7014-BE44-BD8F-717C731A3196}" type="pres">
      <dgm:prSet presAssocID="{D7381C76-C41E-8E4A-8CBF-B053F29985C2}" presName="connectorText" presStyleLbl="sibTrans2D1" presStyleIdx="2" presStyleCnt="6"/>
      <dgm:spPr/>
      <dgm:t>
        <a:bodyPr/>
        <a:lstStyle/>
        <a:p>
          <a:endParaRPr lang="ru-RU"/>
        </a:p>
      </dgm:t>
    </dgm:pt>
    <dgm:pt modelId="{A675B4D4-7960-A243-8BDC-2107EC081F9D}" type="pres">
      <dgm:prSet presAssocID="{B7FA06D8-1984-2E42-9EDD-3F3D23F5F7A0}" presName="node" presStyleLbl="node1" presStyleIdx="3" presStyleCnt="6" custScaleX="212942" custScaleY="99061" custRadScaleRad="101905" custRadScaleInc="-332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A6BCBF-5B71-604D-A90D-E1150D580ADA}" type="pres">
      <dgm:prSet presAssocID="{1D07B97F-5167-664A-82AA-0497EA0600EC}" presName="sibTrans" presStyleLbl="sibTrans2D1" presStyleIdx="3" presStyleCnt="6"/>
      <dgm:spPr>
        <a:prstGeom prst="rightArrow">
          <a:avLst/>
        </a:prstGeom>
      </dgm:spPr>
      <dgm:t>
        <a:bodyPr/>
        <a:lstStyle/>
        <a:p>
          <a:endParaRPr lang="ru-RU"/>
        </a:p>
      </dgm:t>
    </dgm:pt>
    <dgm:pt modelId="{B6CD93F1-A2E0-9A4B-B8AA-B5EA801B46AE}" type="pres">
      <dgm:prSet presAssocID="{1D07B97F-5167-664A-82AA-0497EA0600EC}" presName="connectorText" presStyleLbl="sibTrans2D1" presStyleIdx="3" presStyleCnt="6"/>
      <dgm:spPr/>
      <dgm:t>
        <a:bodyPr/>
        <a:lstStyle/>
        <a:p>
          <a:endParaRPr lang="ru-RU"/>
        </a:p>
      </dgm:t>
    </dgm:pt>
    <dgm:pt modelId="{0E6F3DA9-B15F-0E45-A274-69D4C4EEB752}" type="pres">
      <dgm:prSet presAssocID="{A34C5D04-85D7-7445-A833-37BFB83E791C}" presName="node" presStyleLbl="node1" presStyleIdx="4" presStyleCnt="6" custScaleX="194350" custRadScaleRad="153381" custRadScaleInc="3567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D4F966-5852-0043-B849-DAFCADEAB051}" type="pres">
      <dgm:prSet presAssocID="{1B36B46A-3B8C-AA48-92A5-D0620F5268C2}" presName="sibTrans" presStyleLbl="sibTrans2D1" presStyleIdx="4" presStyleCnt="6"/>
      <dgm:spPr>
        <a:prstGeom prst="rightArrow">
          <a:avLst/>
        </a:prstGeom>
      </dgm:spPr>
      <dgm:t>
        <a:bodyPr/>
        <a:lstStyle/>
        <a:p>
          <a:endParaRPr lang="ru-RU"/>
        </a:p>
      </dgm:t>
    </dgm:pt>
    <dgm:pt modelId="{F622C5D7-B3F8-0742-961C-E105CD767B56}" type="pres">
      <dgm:prSet presAssocID="{1B36B46A-3B8C-AA48-92A5-D0620F5268C2}" presName="connectorText" presStyleLbl="sibTrans2D1" presStyleIdx="4" presStyleCnt="6"/>
      <dgm:spPr/>
      <dgm:t>
        <a:bodyPr/>
        <a:lstStyle/>
        <a:p>
          <a:endParaRPr lang="ru-RU"/>
        </a:p>
      </dgm:t>
    </dgm:pt>
    <dgm:pt modelId="{BA870405-317D-4B44-980F-F15A92E6BCD2}" type="pres">
      <dgm:prSet presAssocID="{1701AFE4-7C4B-C148-9384-6058FEB37EC4}" presName="node" presStyleLbl="node1" presStyleIdx="5" presStyleCnt="6" custScaleX="200811" custRadScaleRad="172752" custRadScaleInc="-4220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5EB88B-2983-6941-8347-AF0242A8C98C}" type="pres">
      <dgm:prSet presAssocID="{51157820-598C-A045-856D-5618314235BF}" presName="sibTrans" presStyleLbl="sibTrans2D1" presStyleIdx="5" presStyleCnt="6"/>
      <dgm:spPr/>
      <dgm:t>
        <a:bodyPr/>
        <a:lstStyle/>
        <a:p>
          <a:endParaRPr lang="ru-RU"/>
        </a:p>
      </dgm:t>
    </dgm:pt>
    <dgm:pt modelId="{33CBF050-D296-D844-B8FE-1D8458E91801}" type="pres">
      <dgm:prSet presAssocID="{51157820-598C-A045-856D-5618314235BF}" presName="connectorText" presStyleLbl="sibTrans2D1" presStyleIdx="5" presStyleCnt="6"/>
      <dgm:spPr/>
      <dgm:t>
        <a:bodyPr/>
        <a:lstStyle/>
        <a:p>
          <a:endParaRPr lang="ru-RU"/>
        </a:p>
      </dgm:t>
    </dgm:pt>
  </dgm:ptLst>
  <dgm:cxnLst>
    <dgm:cxn modelId="{F77BCB2F-F3B4-D24B-8B85-C82C5B95959C}" type="presOf" srcId="{1B36B46A-3B8C-AA48-92A5-D0620F5268C2}" destId="{F622C5D7-B3F8-0742-961C-E105CD767B56}" srcOrd="1" destOrd="0" presId="urn:microsoft.com/office/officeart/2005/8/layout/cycle2"/>
    <dgm:cxn modelId="{E73F68B1-0A9D-F246-A8A1-74D901043051}" type="presOf" srcId="{B7FA06D8-1984-2E42-9EDD-3F3D23F5F7A0}" destId="{A675B4D4-7960-A243-8BDC-2107EC081F9D}" srcOrd="0" destOrd="0" presId="urn:microsoft.com/office/officeart/2005/8/layout/cycle2"/>
    <dgm:cxn modelId="{E7B18A31-DF37-2444-AAD5-98B2F9B0339F}" srcId="{065AD69D-AD95-2341-AC2B-F4961E7CF1E2}" destId="{B7FA06D8-1984-2E42-9EDD-3F3D23F5F7A0}" srcOrd="3" destOrd="0" parTransId="{EC854231-5E00-CF43-8468-69E7F67AFEBA}" sibTransId="{1D07B97F-5167-664A-82AA-0497EA0600EC}"/>
    <dgm:cxn modelId="{E2DC3868-548F-834A-ABE9-7D664084C04F}" type="presOf" srcId="{D7381C76-C41E-8E4A-8CBF-B053F29985C2}" destId="{4CE0F51C-7014-BE44-BD8F-717C731A3196}" srcOrd="1" destOrd="0" presId="urn:microsoft.com/office/officeart/2005/8/layout/cycle2"/>
    <dgm:cxn modelId="{E1733F67-1132-EA4D-B663-46C2BDF0775B}" type="presOf" srcId="{51157820-598C-A045-856D-5618314235BF}" destId="{33CBF050-D296-D844-B8FE-1D8458E91801}" srcOrd="1" destOrd="0" presId="urn:microsoft.com/office/officeart/2005/8/layout/cycle2"/>
    <dgm:cxn modelId="{8DCF8CFA-2B4F-104E-8B56-EE95E9914110}" type="presOf" srcId="{3C990484-B01F-E84F-BB08-52A1823B750A}" destId="{69B51735-C886-AA48-BE27-5E5AF13AD0FB}" srcOrd="0" destOrd="0" presId="urn:microsoft.com/office/officeart/2005/8/layout/cycle2"/>
    <dgm:cxn modelId="{40B03B45-4EE3-A84D-967B-C6F87842E2DF}" type="presOf" srcId="{3C990484-B01F-E84F-BB08-52A1823B750A}" destId="{0BDA7218-773B-1749-8C8C-78E2CD573AAB}" srcOrd="1" destOrd="0" presId="urn:microsoft.com/office/officeart/2005/8/layout/cycle2"/>
    <dgm:cxn modelId="{8BE2D733-57C8-9344-85F5-9ABE17FE0AAD}" srcId="{065AD69D-AD95-2341-AC2B-F4961E7CF1E2}" destId="{A34C5D04-85D7-7445-A833-37BFB83E791C}" srcOrd="4" destOrd="0" parTransId="{252373F9-A085-7B47-AB8B-7D942D833106}" sibTransId="{1B36B46A-3B8C-AA48-92A5-D0620F5268C2}"/>
    <dgm:cxn modelId="{DC834133-13F5-6344-BD7F-BF9FE85E3302}" type="presOf" srcId="{1B36B46A-3B8C-AA48-92A5-D0620F5268C2}" destId="{19D4F966-5852-0043-B849-DAFCADEAB051}" srcOrd="0" destOrd="0" presId="urn:microsoft.com/office/officeart/2005/8/layout/cycle2"/>
    <dgm:cxn modelId="{FF3F5555-4A28-6E49-9660-869B93DF2905}" srcId="{065AD69D-AD95-2341-AC2B-F4961E7CF1E2}" destId="{D1F95DF7-2981-9A42-BD25-E3E45BA5B209}" srcOrd="0" destOrd="0" parTransId="{BF0F04B2-FDF3-4C4A-9E24-4BF0FB4BC631}" sibTransId="{5540FA34-0E7B-7049-A853-5F15AB5E5738}"/>
    <dgm:cxn modelId="{EEAB3231-DBC6-B645-B4DD-0DF0AC06B09D}" type="presOf" srcId="{1461B327-D483-5D4A-B487-C510B6440A1E}" destId="{6767AB9B-CE42-5B46-B5ED-927BE5DFF581}" srcOrd="0" destOrd="0" presId="urn:microsoft.com/office/officeart/2005/8/layout/cycle2"/>
    <dgm:cxn modelId="{1A0A2EC2-4F40-AF45-973B-80772F5C4845}" type="presOf" srcId="{D7381C76-C41E-8E4A-8CBF-B053F29985C2}" destId="{68DEE5B6-F24B-1A40-B4A0-48E862DD5C3D}" srcOrd="0" destOrd="0" presId="urn:microsoft.com/office/officeart/2005/8/layout/cycle2"/>
    <dgm:cxn modelId="{0017E580-E85B-CB48-8CAC-91D708527A04}" srcId="{065AD69D-AD95-2341-AC2B-F4961E7CF1E2}" destId="{1701AFE4-7C4B-C148-9384-6058FEB37EC4}" srcOrd="5" destOrd="0" parTransId="{7584A720-1598-3448-9280-8BACFDCCD47B}" sibTransId="{51157820-598C-A045-856D-5618314235BF}"/>
    <dgm:cxn modelId="{48147CCE-C96B-ED4F-85A9-3DD29BA03B02}" type="presOf" srcId="{51157820-598C-A045-856D-5618314235BF}" destId="{425EB88B-2983-6941-8347-AF0242A8C98C}" srcOrd="0" destOrd="0" presId="urn:microsoft.com/office/officeart/2005/8/layout/cycle2"/>
    <dgm:cxn modelId="{48938F25-C8B4-BF49-AF5B-38639DB626E1}" type="presOf" srcId="{5540FA34-0E7B-7049-A853-5F15AB5E5738}" destId="{FA4864C7-FE51-9049-82EC-5320C97C1632}" srcOrd="1" destOrd="0" presId="urn:microsoft.com/office/officeart/2005/8/layout/cycle2"/>
    <dgm:cxn modelId="{41D7AECB-7953-FF4A-8D3C-CC5F26D51C2B}" type="presOf" srcId="{065AD69D-AD95-2341-AC2B-F4961E7CF1E2}" destId="{AC73ED13-A4DB-EF42-9BB5-1EFE1E8A7845}" srcOrd="0" destOrd="0" presId="urn:microsoft.com/office/officeart/2005/8/layout/cycle2"/>
    <dgm:cxn modelId="{4430DE85-5C89-E246-9B87-938CC4E1CDA5}" type="presOf" srcId="{D1F95DF7-2981-9A42-BD25-E3E45BA5B209}" destId="{6641B1F0-B303-F84F-A5DD-826A0868475A}" srcOrd="0" destOrd="0" presId="urn:microsoft.com/office/officeart/2005/8/layout/cycle2"/>
    <dgm:cxn modelId="{583CEBE4-75B4-AB41-BD08-B8E963B8CDF0}" type="presOf" srcId="{85E5026C-476F-8146-BDBE-DEFE5450EF16}" destId="{1F97C0C4-96E4-354E-AF4A-4B12E0406368}" srcOrd="0" destOrd="0" presId="urn:microsoft.com/office/officeart/2005/8/layout/cycle2"/>
    <dgm:cxn modelId="{C90B28A6-E86B-2446-9AD2-ED3F5DC2EBB2}" srcId="{065AD69D-AD95-2341-AC2B-F4961E7CF1E2}" destId="{1461B327-D483-5D4A-B487-C510B6440A1E}" srcOrd="2" destOrd="0" parTransId="{C0587740-0BC3-CB4F-A14C-F0BA56FC2E94}" sibTransId="{D7381C76-C41E-8E4A-8CBF-B053F29985C2}"/>
    <dgm:cxn modelId="{D066511B-F60D-C94B-8FF2-FC4C35872A7D}" type="presOf" srcId="{5540FA34-0E7B-7049-A853-5F15AB5E5738}" destId="{57589C78-D933-564D-89E3-52FD3D234D87}" srcOrd="0" destOrd="0" presId="urn:microsoft.com/office/officeart/2005/8/layout/cycle2"/>
    <dgm:cxn modelId="{F3C45E59-5E9A-5E43-800C-96525BBE29FE}" type="presOf" srcId="{A34C5D04-85D7-7445-A833-37BFB83E791C}" destId="{0E6F3DA9-B15F-0E45-A274-69D4C4EEB752}" srcOrd="0" destOrd="0" presId="urn:microsoft.com/office/officeart/2005/8/layout/cycle2"/>
    <dgm:cxn modelId="{F921A77B-7810-B741-98E8-E74FED36B749}" type="presOf" srcId="{1701AFE4-7C4B-C148-9384-6058FEB37EC4}" destId="{BA870405-317D-4B44-980F-F15A92E6BCD2}" srcOrd="0" destOrd="0" presId="urn:microsoft.com/office/officeart/2005/8/layout/cycle2"/>
    <dgm:cxn modelId="{BECC5B3F-92D8-1B49-A65F-F84B394B161F}" srcId="{065AD69D-AD95-2341-AC2B-F4961E7CF1E2}" destId="{85E5026C-476F-8146-BDBE-DEFE5450EF16}" srcOrd="1" destOrd="0" parTransId="{F6A6676C-C90E-5647-9D7F-478915B6D3EA}" sibTransId="{3C990484-B01F-E84F-BB08-52A1823B750A}"/>
    <dgm:cxn modelId="{BD2F55C7-9757-DA4B-9316-8FEFA5CB71D7}" type="presOf" srcId="{1D07B97F-5167-664A-82AA-0497EA0600EC}" destId="{B6CD93F1-A2E0-9A4B-B8AA-B5EA801B46AE}" srcOrd="1" destOrd="0" presId="urn:microsoft.com/office/officeart/2005/8/layout/cycle2"/>
    <dgm:cxn modelId="{D973F480-ACF0-E44A-8538-CB4536BDDCBE}" type="presOf" srcId="{1D07B97F-5167-664A-82AA-0497EA0600EC}" destId="{26A6BCBF-5B71-604D-A90D-E1150D580ADA}" srcOrd="0" destOrd="0" presId="urn:microsoft.com/office/officeart/2005/8/layout/cycle2"/>
    <dgm:cxn modelId="{922E7C31-F7D3-3D4E-A4EB-E215F9BC57CE}" type="presParOf" srcId="{AC73ED13-A4DB-EF42-9BB5-1EFE1E8A7845}" destId="{6641B1F0-B303-F84F-A5DD-826A0868475A}" srcOrd="0" destOrd="0" presId="urn:microsoft.com/office/officeart/2005/8/layout/cycle2"/>
    <dgm:cxn modelId="{67B1E21A-18D5-9A47-A9EB-FA7D6C74A314}" type="presParOf" srcId="{AC73ED13-A4DB-EF42-9BB5-1EFE1E8A7845}" destId="{57589C78-D933-564D-89E3-52FD3D234D87}" srcOrd="1" destOrd="0" presId="urn:microsoft.com/office/officeart/2005/8/layout/cycle2"/>
    <dgm:cxn modelId="{B52B2EB5-5024-8444-B66F-4EA3F41A4D9A}" type="presParOf" srcId="{57589C78-D933-564D-89E3-52FD3D234D87}" destId="{FA4864C7-FE51-9049-82EC-5320C97C1632}" srcOrd="0" destOrd="0" presId="urn:microsoft.com/office/officeart/2005/8/layout/cycle2"/>
    <dgm:cxn modelId="{9927A1BD-C43D-1E49-9706-E1981FE7D41B}" type="presParOf" srcId="{AC73ED13-A4DB-EF42-9BB5-1EFE1E8A7845}" destId="{1F97C0C4-96E4-354E-AF4A-4B12E0406368}" srcOrd="2" destOrd="0" presId="urn:microsoft.com/office/officeart/2005/8/layout/cycle2"/>
    <dgm:cxn modelId="{BF886494-94EE-6443-8453-C1F608545004}" type="presParOf" srcId="{AC73ED13-A4DB-EF42-9BB5-1EFE1E8A7845}" destId="{69B51735-C886-AA48-BE27-5E5AF13AD0FB}" srcOrd="3" destOrd="0" presId="urn:microsoft.com/office/officeart/2005/8/layout/cycle2"/>
    <dgm:cxn modelId="{F29B0598-96BA-4B47-9B70-7F6B856E053E}" type="presParOf" srcId="{69B51735-C886-AA48-BE27-5E5AF13AD0FB}" destId="{0BDA7218-773B-1749-8C8C-78E2CD573AAB}" srcOrd="0" destOrd="0" presId="urn:microsoft.com/office/officeart/2005/8/layout/cycle2"/>
    <dgm:cxn modelId="{403E58AD-57E0-1A4D-8815-080E0E53B1B7}" type="presParOf" srcId="{AC73ED13-A4DB-EF42-9BB5-1EFE1E8A7845}" destId="{6767AB9B-CE42-5B46-B5ED-927BE5DFF581}" srcOrd="4" destOrd="0" presId="urn:microsoft.com/office/officeart/2005/8/layout/cycle2"/>
    <dgm:cxn modelId="{3BED3FDB-EA06-DC43-9374-A89BCBCC9A39}" type="presParOf" srcId="{AC73ED13-A4DB-EF42-9BB5-1EFE1E8A7845}" destId="{68DEE5B6-F24B-1A40-B4A0-48E862DD5C3D}" srcOrd="5" destOrd="0" presId="urn:microsoft.com/office/officeart/2005/8/layout/cycle2"/>
    <dgm:cxn modelId="{7E69B7B8-5AFE-A242-9BEE-49E201B1217A}" type="presParOf" srcId="{68DEE5B6-F24B-1A40-B4A0-48E862DD5C3D}" destId="{4CE0F51C-7014-BE44-BD8F-717C731A3196}" srcOrd="0" destOrd="0" presId="urn:microsoft.com/office/officeart/2005/8/layout/cycle2"/>
    <dgm:cxn modelId="{4F664C97-0C4B-6A48-930A-0F930B6E57CD}" type="presParOf" srcId="{AC73ED13-A4DB-EF42-9BB5-1EFE1E8A7845}" destId="{A675B4D4-7960-A243-8BDC-2107EC081F9D}" srcOrd="6" destOrd="0" presId="urn:microsoft.com/office/officeart/2005/8/layout/cycle2"/>
    <dgm:cxn modelId="{89410C8E-09D4-4542-9F65-90F8FF084F0D}" type="presParOf" srcId="{AC73ED13-A4DB-EF42-9BB5-1EFE1E8A7845}" destId="{26A6BCBF-5B71-604D-A90D-E1150D580ADA}" srcOrd="7" destOrd="0" presId="urn:microsoft.com/office/officeart/2005/8/layout/cycle2"/>
    <dgm:cxn modelId="{B992DCE9-9EB3-7444-AE61-ECE99C259AEB}" type="presParOf" srcId="{26A6BCBF-5B71-604D-A90D-E1150D580ADA}" destId="{B6CD93F1-A2E0-9A4B-B8AA-B5EA801B46AE}" srcOrd="0" destOrd="0" presId="urn:microsoft.com/office/officeart/2005/8/layout/cycle2"/>
    <dgm:cxn modelId="{A83D1BDB-0201-C84D-8D15-F679ED5402E8}" type="presParOf" srcId="{AC73ED13-A4DB-EF42-9BB5-1EFE1E8A7845}" destId="{0E6F3DA9-B15F-0E45-A274-69D4C4EEB752}" srcOrd="8" destOrd="0" presId="urn:microsoft.com/office/officeart/2005/8/layout/cycle2"/>
    <dgm:cxn modelId="{6E773BEE-2DCE-134D-8806-975FD93B90CD}" type="presParOf" srcId="{AC73ED13-A4DB-EF42-9BB5-1EFE1E8A7845}" destId="{19D4F966-5852-0043-B849-DAFCADEAB051}" srcOrd="9" destOrd="0" presId="urn:microsoft.com/office/officeart/2005/8/layout/cycle2"/>
    <dgm:cxn modelId="{92EC2BE3-881C-114F-B912-538798AD4AFE}" type="presParOf" srcId="{19D4F966-5852-0043-B849-DAFCADEAB051}" destId="{F622C5D7-B3F8-0742-961C-E105CD767B56}" srcOrd="0" destOrd="0" presId="urn:microsoft.com/office/officeart/2005/8/layout/cycle2"/>
    <dgm:cxn modelId="{35161E20-5F76-A24A-96A0-14C91834D7A6}" type="presParOf" srcId="{AC73ED13-A4DB-EF42-9BB5-1EFE1E8A7845}" destId="{BA870405-317D-4B44-980F-F15A92E6BCD2}" srcOrd="10" destOrd="0" presId="urn:microsoft.com/office/officeart/2005/8/layout/cycle2"/>
    <dgm:cxn modelId="{A29633A1-73EF-EF46-BFF5-DD1E44FDA4A0}" type="presParOf" srcId="{AC73ED13-A4DB-EF42-9BB5-1EFE1E8A7845}" destId="{425EB88B-2983-6941-8347-AF0242A8C98C}" srcOrd="11" destOrd="0" presId="urn:microsoft.com/office/officeart/2005/8/layout/cycle2"/>
    <dgm:cxn modelId="{5B9502B1-96BF-AF48-A14E-35534FD694A7}" type="presParOf" srcId="{425EB88B-2983-6941-8347-AF0242A8C98C}" destId="{33CBF050-D296-D844-B8FE-1D8458E9180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1B1F0-B303-F84F-A5DD-826A0868475A}">
      <dsp:nvSpPr>
        <dsp:cNvPr id="0" name=""/>
        <dsp:cNvSpPr/>
      </dsp:nvSpPr>
      <dsp:spPr>
        <a:xfrm>
          <a:off x="3752951" y="4284"/>
          <a:ext cx="3787334" cy="1352837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Анализ предметной области, формулировка целей и задач</a:t>
          </a:r>
          <a:endParaRPr lang="ru-RU" sz="2000" u="none" kern="1200" dirty="0"/>
        </a:p>
      </dsp:txBody>
      <dsp:txXfrm>
        <a:off x="4307593" y="202402"/>
        <a:ext cx="2678050" cy="956601"/>
      </dsp:txXfrm>
    </dsp:sp>
    <dsp:sp modelId="{57589C78-D933-564D-89E3-52FD3D234D87}">
      <dsp:nvSpPr>
        <dsp:cNvPr id="0" name=""/>
        <dsp:cNvSpPr/>
      </dsp:nvSpPr>
      <dsp:spPr>
        <a:xfrm rot="961016">
          <a:off x="7302083" y="995475"/>
          <a:ext cx="472622" cy="456582"/>
        </a:xfrm>
        <a:prstGeom prst="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>
        <a:off x="7304742" y="1067894"/>
        <a:ext cx="335647" cy="273950"/>
      </dsp:txXfrm>
    </dsp:sp>
    <dsp:sp modelId="{1F97C0C4-96E4-354E-AF4A-4B12E0406368}">
      <dsp:nvSpPr>
        <dsp:cNvPr id="0" name=""/>
        <dsp:cNvSpPr/>
      </dsp:nvSpPr>
      <dsp:spPr>
        <a:xfrm>
          <a:off x="7808818" y="1006122"/>
          <a:ext cx="2655456" cy="1352837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Построение модели</a:t>
          </a:r>
          <a:endParaRPr lang="ru-RU" sz="2000" u="none" kern="1200" dirty="0"/>
        </a:p>
      </dsp:txBody>
      <dsp:txXfrm>
        <a:off x="8197701" y="1204240"/>
        <a:ext cx="1877690" cy="956601"/>
      </dsp:txXfrm>
    </dsp:sp>
    <dsp:sp modelId="{69B51735-C886-AA48-BE27-5E5AF13AD0FB}">
      <dsp:nvSpPr>
        <dsp:cNvPr id="0" name=""/>
        <dsp:cNvSpPr/>
      </dsp:nvSpPr>
      <dsp:spPr>
        <a:xfrm rot="5544732">
          <a:off x="8907994" y="2470179"/>
          <a:ext cx="371511" cy="456582"/>
        </a:xfrm>
        <a:prstGeom prst="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 rot="10800000">
        <a:off x="8966066" y="2505818"/>
        <a:ext cx="260058" cy="273950"/>
      </dsp:txXfrm>
    </dsp:sp>
    <dsp:sp modelId="{6767AB9B-CE42-5B46-B5ED-927BE5DFF581}">
      <dsp:nvSpPr>
        <dsp:cNvPr id="0" name=""/>
        <dsp:cNvSpPr/>
      </dsp:nvSpPr>
      <dsp:spPr>
        <a:xfrm>
          <a:off x="7767095" y="3059015"/>
          <a:ext cx="2570092" cy="1254377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Создание алгоритмов</a:t>
          </a:r>
          <a:endParaRPr lang="ru-RU" sz="2000" u="none" kern="1200" dirty="0"/>
        </a:p>
      </dsp:txBody>
      <dsp:txXfrm>
        <a:off x="8143476" y="3242714"/>
        <a:ext cx="1817330" cy="886979"/>
      </dsp:txXfrm>
    </dsp:sp>
    <dsp:sp modelId="{68DEE5B6-F24B-1A40-B4A0-48E862DD5C3D}">
      <dsp:nvSpPr>
        <dsp:cNvPr id="0" name=""/>
        <dsp:cNvSpPr/>
      </dsp:nvSpPr>
      <dsp:spPr>
        <a:xfrm rot="9646779">
          <a:off x="7356433" y="3966027"/>
          <a:ext cx="476538" cy="456582"/>
        </a:xfrm>
        <a:prstGeom prst="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 rot="10800000">
        <a:off x="7489590" y="4034797"/>
        <a:ext cx="339563" cy="273950"/>
      </dsp:txXfrm>
    </dsp:sp>
    <dsp:sp modelId="{A675B4D4-7960-A243-8BDC-2107EC081F9D}">
      <dsp:nvSpPr>
        <dsp:cNvPr id="0" name=""/>
        <dsp:cNvSpPr/>
      </dsp:nvSpPr>
      <dsp:spPr>
        <a:xfrm>
          <a:off x="4564463" y="4078533"/>
          <a:ext cx="2880758" cy="1340133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Разработка программы</a:t>
          </a:r>
          <a:endParaRPr lang="ru-RU" sz="2000" u="none" kern="1200" dirty="0"/>
        </a:p>
      </dsp:txBody>
      <dsp:txXfrm>
        <a:off x="4986340" y="4274791"/>
        <a:ext cx="2037004" cy="947617"/>
      </dsp:txXfrm>
    </dsp:sp>
    <dsp:sp modelId="{26A6BCBF-5B71-604D-A90D-E1150D580ADA}">
      <dsp:nvSpPr>
        <dsp:cNvPr id="0" name=""/>
        <dsp:cNvSpPr/>
      </dsp:nvSpPr>
      <dsp:spPr>
        <a:xfrm rot="11817489">
          <a:off x="4065638" y="4010415"/>
          <a:ext cx="534103" cy="456582"/>
        </a:xfrm>
        <a:prstGeom prst="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 rot="10800000">
        <a:off x="4199635" y="4121707"/>
        <a:ext cx="397128" cy="273950"/>
      </dsp:txXfrm>
    </dsp:sp>
    <dsp:sp modelId="{0E6F3DA9-B15F-0E45-A274-69D4C4EEB752}">
      <dsp:nvSpPr>
        <dsp:cNvPr id="0" name=""/>
        <dsp:cNvSpPr/>
      </dsp:nvSpPr>
      <dsp:spPr>
        <a:xfrm>
          <a:off x="1390715" y="3066055"/>
          <a:ext cx="2629238" cy="1352837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Выполнение расчетов</a:t>
          </a:r>
          <a:endParaRPr lang="ru-RU" sz="2000" u="none" kern="1200" dirty="0"/>
        </a:p>
      </dsp:txBody>
      <dsp:txXfrm>
        <a:off x="1775758" y="3264173"/>
        <a:ext cx="1859152" cy="956601"/>
      </dsp:txXfrm>
    </dsp:sp>
    <dsp:sp modelId="{19D4F966-5852-0043-B849-DAFCADEAB051}">
      <dsp:nvSpPr>
        <dsp:cNvPr id="0" name=""/>
        <dsp:cNvSpPr/>
      </dsp:nvSpPr>
      <dsp:spPr>
        <a:xfrm rot="15530959">
          <a:off x="2305775" y="2487231"/>
          <a:ext cx="394272" cy="456582"/>
        </a:xfrm>
        <a:prstGeom prst="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 rot="10800000">
        <a:off x="2376353" y="2636572"/>
        <a:ext cx="275990" cy="273950"/>
      </dsp:txXfrm>
    </dsp:sp>
    <dsp:sp modelId="{BA870405-317D-4B44-980F-F15A92E6BCD2}">
      <dsp:nvSpPr>
        <dsp:cNvPr id="0" name=""/>
        <dsp:cNvSpPr/>
      </dsp:nvSpPr>
      <dsp:spPr>
        <a:xfrm>
          <a:off x="937807" y="990040"/>
          <a:ext cx="2716645" cy="1352837"/>
        </a:xfrm>
        <a:prstGeom prst="ellipse">
          <a:avLst/>
        </a:prstGeom>
        <a:solidFill>
          <a:schemeClr val="lt1"/>
        </a:solidFill>
        <a:ln w="28575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1" u="none" kern="1200" dirty="0" smtClean="0"/>
            <a:t>Анализ и интерпретация результатов</a:t>
          </a:r>
          <a:endParaRPr lang="ru-RU" sz="2000" u="none" kern="1200" dirty="0"/>
        </a:p>
      </dsp:txBody>
      <dsp:txXfrm>
        <a:off x="1335650" y="1188158"/>
        <a:ext cx="1920959" cy="956601"/>
      </dsp:txXfrm>
    </dsp:sp>
    <dsp:sp modelId="{425EB88B-2983-6941-8347-AF0242A8C98C}">
      <dsp:nvSpPr>
        <dsp:cNvPr id="0" name=""/>
        <dsp:cNvSpPr/>
      </dsp:nvSpPr>
      <dsp:spPr>
        <a:xfrm rot="20616328">
          <a:off x="3615771" y="991451"/>
          <a:ext cx="397407" cy="45658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900" kern="1200"/>
        </a:p>
      </dsp:txBody>
      <dsp:txXfrm>
        <a:off x="3618195" y="1099592"/>
        <a:ext cx="278185" cy="273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32881-EECD-5B41-8BE9-C8EBFB8C8A63}" type="datetimeFigureOut">
              <a:rPr lang="ru-RU" smtClean="0"/>
              <a:t>20.09.26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98A79-2C59-9943-847C-D8919DC1D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051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98A79-2C59-9943-847C-D8919DC1D81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36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347B-9225-5B46-B31D-A9CE5CECFFCE}" type="slidenum">
              <a:rPr lang="ru-RU" smtClean="0"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5584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347B-9225-5B46-B31D-A9CE5CECFFCE}" type="slidenum">
              <a:rPr lang="ru-RU" smtClean="0"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4149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347B-9225-5B46-B31D-A9CE5CECFFCE}" type="slidenum">
              <a:rPr lang="ru-RU" smtClean="0"/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980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347B-9225-5B46-B31D-A9CE5CECFFCE}" type="slidenum">
              <a:rPr lang="ru-RU" smtClean="0"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5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347B-9225-5B46-B31D-A9CE5CECFFCE}" type="slidenum">
              <a:rPr lang="ru-RU" smtClean="0"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41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"/>
            <a:ext cx="12192000" cy="6857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DA09-506F-FC4E-9CD3-FA92280E2456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0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D1033-06AE-D247-AF9E-77215A48348D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7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CF29-1EF0-8741-BEAD-92778FD1B23B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75F3C-5D06-3346-B627-3FECEDA6B891}" type="datetime1">
              <a:rPr lang="ru-RU" smtClean="0"/>
              <a:t>20.09.26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726B1-43A8-D649-99DD-8D1975A3E4D5}" type="datetime1">
              <a:rPr lang="ru-RU" smtClean="0"/>
              <a:t>20.09.26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0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E638-E3A1-F946-94DC-86E30CEC8155}" type="datetime1">
              <a:rPr lang="ru-RU" smtClean="0"/>
              <a:t>20.09.26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8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26AA-990F-C44F-A89D-C546DF986060}" type="datetime1">
              <a:rPr lang="ru-RU" smtClean="0"/>
              <a:t>20.09.26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E783D-CDF3-014A-A3EA-040417FAB9A4}" type="datetime1">
              <a:rPr lang="ru-RU" smtClean="0"/>
              <a:t>20.09.26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3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9155B-0E69-0E45-884C-88489ACBBE0E}" type="datetime1">
              <a:rPr lang="ru-RU" smtClean="0"/>
              <a:t>20.09.26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5BC5A-2A30-0544-97FF-0480881CB863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EBFF-4A88-2245-A313-DC51A84C92EF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076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23CFD-9C49-6949-823F-87227BD4C654}" type="datetime1">
              <a:rPr lang="ru-RU" smtClean="0"/>
              <a:t>20.09.26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61CA7-7281-4DB5-BFC5-B6C208FAC0A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4"/>
          <a:stretch/>
        </p:blipFill>
        <p:spPr>
          <a:xfrm>
            <a:off x="0" y="0"/>
            <a:ext cx="9628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3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0.png"/><Relationship Id="rId5" Type="http://schemas.openxmlformats.org/officeDocument/2006/relationships/image" Target="../media/image141.png"/><Relationship Id="rId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61.png"/><Relationship Id="rId5" Type="http://schemas.openxmlformats.org/officeDocument/2006/relationships/image" Target="../media/image110.png"/><Relationship Id="rId6" Type="http://schemas.openxmlformats.org/officeDocument/2006/relationships/image" Target="../media/image170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0.png"/><Relationship Id="rId6" Type="http://schemas.openxmlformats.org/officeDocument/2006/relationships/image" Target="../media/image160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1.png"/><Relationship Id="rId3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0576" y="1241235"/>
            <a:ext cx="9144000" cy="2387600"/>
          </a:xfrm>
        </p:spPr>
        <p:txBody>
          <a:bodyPr>
            <a:normAutofit/>
          </a:bodyPr>
          <a:lstStyle/>
          <a:p>
            <a:pPr algn="r"/>
            <a:r>
              <a:rPr lang="ru-RU" b="1" dirty="0" smtClean="0">
                <a:latin typeface="+mn-lt"/>
              </a:rPr>
              <a:t>ТЕМА №1</a:t>
            </a:r>
            <a:r>
              <a:rPr lang="en-US" b="1" dirty="0" smtClean="0">
                <a:latin typeface="+mn-lt"/>
              </a:rPr>
              <a:t> </a:t>
            </a:r>
            <a:br>
              <a:rPr lang="en-US" b="1" dirty="0" smtClean="0">
                <a:latin typeface="+mn-lt"/>
              </a:rPr>
            </a:br>
            <a:r>
              <a:rPr lang="ru-RU" b="1" dirty="0" smtClean="0">
                <a:solidFill>
                  <a:srgbClr val="F8BB01"/>
                </a:solidFill>
                <a:latin typeface="+mn-lt"/>
              </a:rPr>
              <a:t>ВВЕДЕНИЕ</a:t>
            </a:r>
            <a:endParaRPr lang="en-US" b="1" dirty="0">
              <a:solidFill>
                <a:srgbClr val="F8BB0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4162" y="5094645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Доцент, к.т.н. Мандрикова Богдана Сергеевна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0</a:t>
            </a:fld>
            <a:endParaRPr lang="en-US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 smtClean="0"/>
              <a:t>Интеллектуальные методы </a:t>
            </a:r>
            <a:r>
              <a:rPr lang="ru-RU" smtClean="0"/>
              <a:t>анализа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Актуальность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1047" y="1325563"/>
            <a:ext cx="9853450" cy="310454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u="sng" dirty="0" smtClean="0"/>
              <a:t>Избыток данных </a:t>
            </a:r>
            <a:r>
              <a:rPr lang="ru-RU" u="sng" dirty="0"/>
              <a:t>при дефиците </a:t>
            </a:r>
            <a:r>
              <a:rPr lang="ru-RU" u="sng" dirty="0" smtClean="0"/>
              <a:t>информации </a:t>
            </a:r>
            <a:r>
              <a:rPr lang="ru-RU" u="sng" dirty="0"/>
              <a:t>и знании</a:t>
            </a:r>
            <a:r>
              <a:rPr lang="ru-RU" u="sng" dirty="0" smtClean="0"/>
              <a:t>̆. </a:t>
            </a:r>
          </a:p>
          <a:p>
            <a:pPr marL="0" indent="0" algn="just">
              <a:buNone/>
            </a:pPr>
            <a:r>
              <a:rPr lang="ru-RU" dirty="0" smtClean="0"/>
              <a:t>Принятие важных решений осуществляется не </a:t>
            </a:r>
            <a:r>
              <a:rPr lang="ru-RU" dirty="0"/>
              <a:t>на основе аналитических выводов из информативных БД, а на </a:t>
            </a:r>
            <a:r>
              <a:rPr lang="ru-RU" dirty="0" smtClean="0"/>
              <a:t>основе </a:t>
            </a:r>
            <a:r>
              <a:rPr lang="ru-RU" dirty="0"/>
              <a:t>интуиции человека, не имеющего подходящих инструментов для извлечения полезных знаний из имеющихся огромных объемов данных. </a:t>
            </a:r>
            <a:r>
              <a:rPr lang="ru-RU" i="1" dirty="0" smtClean="0"/>
              <a:t>Проблема избытка данных </a:t>
            </a:r>
            <a:r>
              <a:rPr lang="ru-RU" i="1" dirty="0"/>
              <a:t>при дефиците </a:t>
            </a:r>
            <a:r>
              <a:rPr lang="ru-RU" i="1" dirty="0" smtClean="0"/>
              <a:t>информации </a:t>
            </a:r>
            <a:r>
              <a:rPr lang="ru-RU" i="1" dirty="0"/>
              <a:t>и знании</a:t>
            </a:r>
            <a:r>
              <a:rPr lang="ru-RU" i="1" dirty="0" smtClean="0"/>
              <a:t>̆. </a:t>
            </a:r>
            <a:endParaRPr lang="ru-RU" i="1" dirty="0"/>
          </a:p>
          <a:p>
            <a:pPr marL="0" indent="0" algn="just">
              <a:buNone/>
            </a:pPr>
            <a:endParaRPr lang="ru-RU" dirty="0" smtClean="0"/>
          </a:p>
          <a:p>
            <a:pPr algn="just"/>
            <a:r>
              <a:rPr lang="ru-RU" u="sng" dirty="0" smtClean="0"/>
              <a:t>Сложность контроля и управления современной ИКТ-инфраструктурой. </a:t>
            </a:r>
            <a:endParaRPr lang="ru-RU" u="sng" dirty="0"/>
          </a:p>
          <a:p>
            <a:pPr marL="0" indent="0">
              <a:buNone/>
            </a:pPr>
            <a:r>
              <a:rPr lang="ru-RU" dirty="0" smtClean="0"/>
              <a:t>Возникновение угроз техногенных аварий и катастроф.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95725" y="4549676"/>
            <a:ext cx="110056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i="1" u="sng" dirty="0"/>
              <a:t>Интеллектуальный анализ данных (ИАД)</a:t>
            </a:r>
            <a:r>
              <a:rPr lang="ru-RU" sz="2400" i="1" dirty="0"/>
              <a:t> </a:t>
            </a:r>
            <a:r>
              <a:rPr lang="mr-IN" sz="2400" dirty="0"/>
              <a:t>–</a:t>
            </a:r>
            <a:r>
              <a:rPr lang="ru-RU" sz="2400" dirty="0"/>
              <a:t> это процесс обнаружения в «сырых» данных ранее неизвестных, нетривиальных, практически полезных и доступных интерпретации знаний, необходимых для принятия решений в различных сферах человеческой деятельности. </a:t>
            </a:r>
            <a:r>
              <a:rPr lang="ru-RU" sz="2400" dirty="0" smtClean="0"/>
              <a:t>ИАД </a:t>
            </a:r>
            <a:r>
              <a:rPr lang="ru-RU" sz="2400" dirty="0"/>
              <a:t>– исследование данных, </a:t>
            </a:r>
            <a:r>
              <a:rPr lang="ru-RU" sz="2400" dirty="0" smtClean="0"/>
              <a:t>использующее </a:t>
            </a:r>
            <a:r>
              <a:rPr lang="ru-RU" sz="2400" dirty="0"/>
              <a:t>методы искусственного интеллекта и ориентированное на придание системе свойств искусственного интеллекта.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7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1"/>
            <a:ext cx="10515600" cy="808073"/>
          </a:xfrm>
        </p:spPr>
        <p:txBody>
          <a:bodyPr/>
          <a:lstStyle/>
          <a:p>
            <a:pPr algn="ctr"/>
            <a:r>
              <a:rPr lang="ru-RU" b="1" dirty="0"/>
              <a:t>Дедукция и индукция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3860" y="648772"/>
            <a:ext cx="10278140" cy="5801710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В интеллектуальном анализе данных обсуждают два основных способа извлечения практически полезных знаний – </a:t>
            </a:r>
            <a:r>
              <a:rPr lang="ru-RU" sz="2400" i="1" u="sng" dirty="0" err="1"/>
              <a:t>дедуктивныи</a:t>
            </a:r>
            <a:r>
              <a:rPr lang="ru-RU" sz="2400" dirty="0"/>
              <a:t>̆ </a:t>
            </a:r>
            <a:r>
              <a:rPr lang="ru-RU" sz="2400" dirty="0" smtClean="0"/>
              <a:t>и </a:t>
            </a:r>
            <a:r>
              <a:rPr lang="ru-RU" sz="2400" i="1" u="sng" dirty="0" err="1"/>
              <a:t>индуктивныи</a:t>
            </a:r>
            <a:r>
              <a:rPr lang="ru-RU" sz="2400" dirty="0" smtClean="0"/>
              <a:t>̆.</a:t>
            </a:r>
          </a:p>
          <a:p>
            <a:pPr marL="0" indent="457200" algn="just">
              <a:buNone/>
            </a:pPr>
            <a:r>
              <a:rPr lang="ru-RU" sz="2400" i="1" dirty="0"/>
              <a:t>Индукция</a:t>
            </a:r>
            <a:r>
              <a:rPr lang="ru-RU" sz="2400" dirty="0"/>
              <a:t> означает: «от частного к общему». </a:t>
            </a:r>
            <a:r>
              <a:rPr lang="ru-RU" sz="2400" u="sng" dirty="0"/>
              <a:t>Индукция позволяет выдвинуть гипотезу на основании фактов.</a:t>
            </a:r>
            <a:r>
              <a:rPr lang="ru-RU" sz="2400" u="sng" dirty="0" smtClean="0"/>
              <a:t> </a:t>
            </a:r>
          </a:p>
          <a:p>
            <a:pPr marL="0" indent="457200" algn="just">
              <a:buNone/>
            </a:pPr>
            <a:r>
              <a:rPr lang="ru-RU" sz="2400" i="1" dirty="0" smtClean="0"/>
              <a:t>Дедукция</a:t>
            </a:r>
            <a:r>
              <a:rPr lang="ru-RU" sz="2400" dirty="0"/>
              <a:t> </a:t>
            </a:r>
            <a:r>
              <a:rPr lang="ru-RU" sz="2400" dirty="0" smtClean="0"/>
              <a:t>— «</a:t>
            </a:r>
            <a:r>
              <a:rPr lang="ru-RU" sz="2400" dirty="0"/>
              <a:t>от общего к частному». </a:t>
            </a:r>
            <a:r>
              <a:rPr lang="ru-RU" sz="2400" u="sng" dirty="0"/>
              <a:t>Дедукция позволяет </a:t>
            </a:r>
            <a:r>
              <a:rPr lang="ru-RU" sz="2400" u="sng" dirty="0" smtClean="0"/>
              <a:t>гипотезу </a:t>
            </a:r>
            <a:r>
              <a:rPr lang="ru-RU" sz="2400" u="sng" dirty="0"/>
              <a:t>доказать и превратить ее тем самым в теорию, то есть в достоверное знание.</a:t>
            </a:r>
            <a:r>
              <a:rPr lang="ru-RU" sz="2400" dirty="0" smtClean="0"/>
              <a:t> </a:t>
            </a:r>
            <a:endParaRPr lang="ru-RU" sz="2400" dirty="0"/>
          </a:p>
          <a:p>
            <a:pPr marL="0" indent="457200" algn="just">
              <a:buNone/>
            </a:pPr>
            <a:r>
              <a:rPr lang="ru-RU" sz="2400" dirty="0" smtClean="0"/>
              <a:t>В</a:t>
            </a:r>
            <a:r>
              <a:rPr lang="ru-RU" sz="2400" dirty="0"/>
              <a:t> реальности, для работы с информацией — нужны оба этих метода. И индуктивный и дедуктивный. Индуктивный позволяет получать знание из фактов, дедуктивный — предсказывать новые факты, владея </a:t>
            </a:r>
            <a:r>
              <a:rPr lang="ru-RU" sz="2400" dirty="0" smtClean="0"/>
              <a:t>знанием.</a:t>
            </a:r>
          </a:p>
          <a:p>
            <a:pPr marL="0" indent="457200" algn="just">
              <a:buNone/>
            </a:pPr>
            <a:r>
              <a:rPr lang="ru-RU" sz="2400" i="1" dirty="0" smtClean="0"/>
              <a:t>Гипотеза</a:t>
            </a:r>
            <a:r>
              <a:rPr lang="ru-RU" sz="2400" dirty="0"/>
              <a:t> </a:t>
            </a:r>
            <a:r>
              <a:rPr lang="ru-RU" sz="2400" dirty="0" smtClean="0"/>
              <a:t>— </a:t>
            </a:r>
            <a:r>
              <a:rPr lang="ru-RU" sz="2400" u="sng" dirty="0" smtClean="0"/>
              <a:t>утверждение</a:t>
            </a:r>
            <a:r>
              <a:rPr lang="ru-RU" sz="2400" u="sng" dirty="0"/>
              <a:t>, которое, в отличие от аксиом, постулатов, требует доказательства</a:t>
            </a:r>
            <a:r>
              <a:rPr lang="ru-RU" sz="2400" dirty="0"/>
              <a:t>. </a:t>
            </a:r>
            <a:r>
              <a:rPr lang="ru-RU" sz="2400" dirty="0" smtClean="0"/>
              <a:t>Чтобы </a:t>
            </a:r>
            <a:r>
              <a:rPr lang="ru-RU" sz="2400" dirty="0"/>
              <a:t>гипотеза превратилась в теорию — она должна быть доказана с помощью дедукции. </a:t>
            </a:r>
            <a:endParaRPr lang="ru-RU" sz="2400" dirty="0" smtClean="0"/>
          </a:p>
          <a:p>
            <a:pPr marL="0" indent="457200" algn="just">
              <a:buNone/>
            </a:pPr>
            <a:r>
              <a:rPr lang="ru-RU" sz="2400" i="1" dirty="0" smtClean="0"/>
              <a:t>Теория</a:t>
            </a:r>
            <a:r>
              <a:rPr lang="ru-RU" sz="2400" dirty="0" smtClean="0"/>
              <a:t> </a:t>
            </a:r>
            <a:r>
              <a:rPr lang="mr-IN" sz="2400" dirty="0" smtClean="0"/>
              <a:t>–</a:t>
            </a:r>
            <a:r>
              <a:rPr lang="ru-RU" sz="2400" dirty="0" smtClean="0"/>
              <a:t> </a:t>
            </a:r>
            <a:r>
              <a:rPr lang="ru-RU" sz="2400" u="sng" dirty="0" smtClean="0"/>
              <a:t>достоверное </a:t>
            </a:r>
            <a:r>
              <a:rPr lang="ru-RU" sz="2400" u="sng" dirty="0"/>
              <a:t>знание об устройстве объекта или </a:t>
            </a:r>
            <a:r>
              <a:rPr lang="ru-RU" sz="2400" u="sng" dirty="0" smtClean="0"/>
              <a:t>явления.</a:t>
            </a:r>
            <a:r>
              <a:rPr lang="ru-RU" sz="2400" u="sng" dirty="0"/>
              <a:t/>
            </a:r>
            <a:br>
              <a:rPr lang="ru-RU" sz="2400" u="sng" dirty="0"/>
            </a:br>
            <a:r>
              <a:rPr lang="ru-RU" sz="2400" dirty="0" smtClean="0"/>
              <a:t>Для </a:t>
            </a:r>
            <a:r>
              <a:rPr lang="ru-RU" sz="2400" dirty="0"/>
              <a:t>индуктивного анализа в реальных исследованиях приходится использовать </a:t>
            </a:r>
            <a:r>
              <a:rPr lang="ru-RU" sz="2400" i="1" dirty="0"/>
              <a:t>неполную индукцию</a:t>
            </a:r>
            <a:r>
              <a:rPr lang="ru-RU" sz="2400" dirty="0"/>
              <a:t>, которая подразумевает, что мы берем лишь </a:t>
            </a:r>
            <a:r>
              <a:rPr lang="ru-RU" sz="2400" u="sng" dirty="0"/>
              <a:t>часть элементов множества </a:t>
            </a:r>
            <a:r>
              <a:rPr lang="ru-RU" sz="2400" dirty="0"/>
              <a:t>и на основании анализа этих элементов делаем общие выводы о поведении всех элементов данного </a:t>
            </a:r>
            <a:r>
              <a:rPr lang="ru-RU" sz="2400" dirty="0" smtClean="0"/>
              <a:t>множества.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8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Этапы интеллектуального анализа данных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8643" y="1325562"/>
            <a:ext cx="9897385" cy="5532437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i="1" u="sng" dirty="0" smtClean="0"/>
              <a:t>Анализ предметной области, формулировка целей и задач исследования;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 smtClean="0"/>
              <a:t>Сбор </a:t>
            </a:r>
            <a:r>
              <a:rPr lang="ru-RU" i="1" u="sng" smtClean="0"/>
              <a:t>и подготовка данных;</a:t>
            </a:r>
            <a:endParaRPr lang="ru-RU" i="1" u="sng" dirty="0"/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/>
              <a:t>Построение модели</a:t>
            </a:r>
            <a:r>
              <a:rPr lang="ru-RU" i="1" u="sng" dirty="0" smtClean="0"/>
              <a:t>;</a:t>
            </a:r>
            <a:endParaRPr lang="ru-RU" i="1" u="sng" dirty="0"/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 smtClean="0"/>
              <a:t>Создание алгоритмов, выполняющих действия, построенной модели;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 smtClean="0"/>
              <a:t>Разработка программы</a:t>
            </a:r>
            <a:r>
              <a:rPr lang="ru-RU" i="1" u="sng" dirty="0"/>
              <a:t>, </a:t>
            </a:r>
            <a:r>
              <a:rPr lang="ru-RU" i="1" u="sng" dirty="0" smtClean="0"/>
              <a:t>реализующей алгоритмы </a:t>
            </a:r>
            <a:r>
              <a:rPr lang="ru-RU" i="1" u="sng" dirty="0"/>
              <a:t>на </a:t>
            </a:r>
            <a:r>
              <a:rPr lang="ru-RU" i="1" u="sng" dirty="0" smtClean="0"/>
              <a:t>ЭВМ;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/>
              <a:t>Проверка и оценка </a:t>
            </a:r>
            <a:r>
              <a:rPr lang="ru-RU" i="1" u="sng" dirty="0" smtClean="0"/>
              <a:t>модели; </a:t>
            </a:r>
            <a:endParaRPr lang="ru-RU" i="1" u="sng" dirty="0"/>
          </a:p>
          <a:p>
            <a:pPr marL="514350" indent="-514350" algn="just">
              <a:buFont typeface="+mj-lt"/>
              <a:buAutoNum type="arabicPeriod"/>
            </a:pPr>
            <a:r>
              <a:rPr lang="ru-RU" i="1" u="sng" dirty="0" smtClean="0"/>
              <a:t>Коррекция, </a:t>
            </a:r>
            <a:r>
              <a:rPr lang="ru-RU" i="1" u="sng" dirty="0"/>
              <a:t>обновление </a:t>
            </a:r>
            <a:r>
              <a:rPr lang="ru-RU" i="1" u="sng" dirty="0" smtClean="0"/>
              <a:t>или утверждение модели</a:t>
            </a:r>
            <a:r>
              <a:rPr lang="ru-RU" i="1" u="sng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2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9765" y="-14809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Этапы интеллектуального анализа данных </a:t>
            </a:r>
            <a:endParaRPr lang="ru-RU" b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9439275" y="6525728"/>
            <a:ext cx="2743200" cy="365125"/>
          </a:xfrm>
        </p:spPr>
        <p:txBody>
          <a:bodyPr/>
          <a:lstStyle/>
          <a:p>
            <a:fld id="{9B561CA7-7281-4DB5-BFC5-B6C208FAC0A9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762651590"/>
              </p:ext>
            </p:extLst>
          </p:nvPr>
        </p:nvGraphicFramePr>
        <p:xfrm>
          <a:off x="1532060" y="1254804"/>
          <a:ext cx="1126264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Группа 10"/>
          <p:cNvGrpSpPr/>
          <p:nvPr/>
        </p:nvGrpSpPr>
        <p:grpSpPr>
          <a:xfrm rot="5566778">
            <a:off x="7164493" y="1175331"/>
            <a:ext cx="406504" cy="4010339"/>
            <a:chOff x="2463125" y="2514602"/>
            <a:chExt cx="456582" cy="389728"/>
          </a:xfrm>
        </p:grpSpPr>
        <p:sp>
          <p:nvSpPr>
            <p:cNvPr id="12" name="Стрелка вправо 11"/>
            <p:cNvSpPr/>
            <p:nvPr/>
          </p:nvSpPr>
          <p:spPr>
            <a:xfrm rot="16153684">
              <a:off x="2496552" y="2481175"/>
              <a:ext cx="389728" cy="456582"/>
            </a:xfrm>
            <a:prstGeom prst="rightArrow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Стрелка вправо 4"/>
            <p:cNvSpPr/>
            <p:nvPr/>
          </p:nvSpPr>
          <p:spPr>
            <a:xfrm rot="26953684">
              <a:off x="2555799" y="2630945"/>
              <a:ext cx="272810" cy="2739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900" kern="1200"/>
            </a:p>
          </p:txBody>
        </p:sp>
      </p:grpSp>
      <p:grpSp>
        <p:nvGrpSpPr>
          <p:cNvPr id="14" name="Группа 13"/>
          <p:cNvGrpSpPr/>
          <p:nvPr/>
        </p:nvGrpSpPr>
        <p:grpSpPr>
          <a:xfrm rot="6778221">
            <a:off x="7067617" y="1835934"/>
            <a:ext cx="406504" cy="4097469"/>
            <a:chOff x="2463125" y="2514602"/>
            <a:chExt cx="456582" cy="389728"/>
          </a:xfrm>
        </p:grpSpPr>
        <p:sp>
          <p:nvSpPr>
            <p:cNvPr id="15" name="Стрелка вправо 14"/>
            <p:cNvSpPr/>
            <p:nvPr/>
          </p:nvSpPr>
          <p:spPr>
            <a:xfrm rot="16153684">
              <a:off x="2496552" y="2481175"/>
              <a:ext cx="389728" cy="456582"/>
            </a:xfrm>
            <a:prstGeom prst="rightArrow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Стрелка вправо 4"/>
            <p:cNvSpPr/>
            <p:nvPr/>
          </p:nvSpPr>
          <p:spPr>
            <a:xfrm rot="26953684">
              <a:off x="2555799" y="2630945"/>
              <a:ext cx="272810" cy="2739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900" kern="1200"/>
            </a:p>
          </p:txBody>
        </p:sp>
      </p:grpSp>
      <p:grpSp>
        <p:nvGrpSpPr>
          <p:cNvPr id="17" name="Группа 16"/>
          <p:cNvGrpSpPr/>
          <p:nvPr/>
        </p:nvGrpSpPr>
        <p:grpSpPr>
          <a:xfrm rot="8553975">
            <a:off x="6092241" y="2846881"/>
            <a:ext cx="406504" cy="2707628"/>
            <a:chOff x="2463125" y="2514602"/>
            <a:chExt cx="456582" cy="389728"/>
          </a:xfrm>
        </p:grpSpPr>
        <p:sp>
          <p:nvSpPr>
            <p:cNvPr id="18" name="Стрелка вправо 17"/>
            <p:cNvSpPr/>
            <p:nvPr/>
          </p:nvSpPr>
          <p:spPr>
            <a:xfrm rot="16153684">
              <a:off x="2496552" y="2481175"/>
              <a:ext cx="389728" cy="456582"/>
            </a:xfrm>
            <a:prstGeom prst="rightArrow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Стрелка вправо 4"/>
            <p:cNvSpPr/>
            <p:nvPr/>
          </p:nvSpPr>
          <p:spPr>
            <a:xfrm rot="26953684">
              <a:off x="2555799" y="2630945"/>
              <a:ext cx="272810" cy="2739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9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91420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6290"/>
          </a:xfrm>
        </p:spPr>
        <p:txBody>
          <a:bodyPr/>
          <a:lstStyle/>
          <a:p>
            <a:pPr algn="ctr"/>
            <a:r>
              <a:rPr lang="ru-RU" b="1"/>
              <a:t>Анализ </a:t>
            </a:r>
            <a:r>
              <a:rPr lang="ru-RU" b="1" smtClean="0"/>
              <a:t>предметной </a:t>
            </a:r>
            <a:r>
              <a:rPr lang="ru-RU" b="1" dirty="0"/>
              <a:t>области и 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68415" y="1232136"/>
            <a:ext cx="9923585" cy="5801710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buNone/>
            </a:pPr>
            <a:r>
              <a:rPr lang="ru-RU" b="1" i="1" dirty="0" smtClean="0"/>
              <a:t>Предметная </a:t>
            </a:r>
            <a:r>
              <a:rPr lang="ru-RU" b="1" i="1" dirty="0"/>
              <a:t>область </a:t>
            </a:r>
            <a:r>
              <a:rPr lang="ru-RU" dirty="0"/>
              <a:t>- часть реального мира, рассматриваемая в пределах данного </a:t>
            </a:r>
            <a:r>
              <a:rPr lang="ru-RU" dirty="0" smtClean="0"/>
              <a:t>контекста. Предметная </a:t>
            </a:r>
            <a:r>
              <a:rPr lang="ru-RU" dirty="0"/>
              <a:t>область состоит из </a:t>
            </a:r>
            <a:r>
              <a:rPr lang="ru-RU" b="1" dirty="0"/>
              <a:t>объектов</a:t>
            </a:r>
            <a:r>
              <a:rPr lang="ru-RU" dirty="0"/>
              <a:t>, различаемых по </a:t>
            </a:r>
            <a:r>
              <a:rPr lang="ru-RU" dirty="0" smtClean="0"/>
              <a:t>свойствам </a:t>
            </a:r>
            <a:r>
              <a:rPr lang="ru-RU" dirty="0"/>
              <a:t>и находящихся в определенных </a:t>
            </a:r>
            <a:r>
              <a:rPr lang="ru-RU" b="1" dirty="0"/>
              <a:t>отношениях</a:t>
            </a:r>
            <a:r>
              <a:rPr lang="ru-RU" dirty="0"/>
              <a:t> между </a:t>
            </a:r>
            <a:r>
              <a:rPr lang="ru-RU" dirty="0" smtClean="0"/>
              <a:t>собой или взаимодействующих </a:t>
            </a:r>
            <a:r>
              <a:rPr lang="ru-RU" dirty="0"/>
              <a:t>каким-либо образом. </a:t>
            </a:r>
            <a:r>
              <a:rPr lang="ru-RU" dirty="0" smtClean="0"/>
              <a:t>Знания </a:t>
            </a:r>
            <a:r>
              <a:rPr lang="ru-RU" dirty="0"/>
              <a:t>из различных источников должны быть формализованы при помощи каких-либо средств. Это могут быть текстовые описания предметной </a:t>
            </a:r>
            <a:r>
              <a:rPr lang="ru-RU" dirty="0" smtClean="0"/>
              <a:t>области </a:t>
            </a:r>
            <a:r>
              <a:rPr lang="ru-RU" dirty="0"/>
              <a:t>или специализированные графические нотации. </a:t>
            </a:r>
            <a:endParaRPr lang="ru-RU" dirty="0" smtClean="0"/>
          </a:p>
          <a:p>
            <a:pPr marL="0" indent="457200" algn="just">
              <a:buNone/>
            </a:pPr>
            <a:endParaRPr lang="ru-RU" dirty="0" smtClean="0"/>
          </a:p>
          <a:p>
            <a:pPr marL="0" indent="457200" algn="just">
              <a:buNone/>
            </a:pPr>
            <a:endParaRPr lang="ru-RU" dirty="0"/>
          </a:p>
          <a:p>
            <a:pPr marL="0" indent="457200" algn="just">
              <a:buNone/>
            </a:pPr>
            <a:endParaRPr lang="ru-RU" dirty="0" smtClean="0"/>
          </a:p>
          <a:p>
            <a:pPr marL="0" indent="457200" algn="just">
              <a:buNone/>
            </a:pPr>
            <a:r>
              <a:rPr lang="ru-RU" dirty="0"/>
              <a:t>Постановка задачи включает следующие шаги: </a:t>
            </a:r>
          </a:p>
          <a:p>
            <a:pPr algn="just"/>
            <a:r>
              <a:rPr lang="ru-RU" dirty="0"/>
              <a:t>формулировка задачи; </a:t>
            </a:r>
          </a:p>
          <a:p>
            <a:pPr algn="just"/>
            <a:r>
              <a:rPr lang="ru-RU" dirty="0"/>
              <a:t>формализация задачи. </a:t>
            </a:r>
          </a:p>
          <a:p>
            <a:pPr marL="0" indent="457200" algn="just">
              <a:buNone/>
            </a:pPr>
            <a:endParaRPr lang="ru-RU" dirty="0">
              <a:effectLst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Подготовка данных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1862" y="1056290"/>
            <a:ext cx="10300137" cy="580171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 </a:t>
            </a:r>
            <a:r>
              <a:rPr lang="ru-RU" dirty="0" smtClean="0"/>
              <a:t> </a:t>
            </a:r>
            <a:r>
              <a:rPr lang="ru-RU" b="1" u="sng" dirty="0" smtClean="0"/>
              <a:t>1. Определение </a:t>
            </a:r>
            <a:r>
              <a:rPr lang="ru-RU" b="1" u="sng" dirty="0"/>
              <a:t>и анализ требований к данным. </a:t>
            </a:r>
            <a:endParaRPr lang="ru-RU" b="1" u="sng" dirty="0" smtClean="0"/>
          </a:p>
          <a:p>
            <a:pPr marL="0" indent="0" algn="just">
              <a:buNone/>
            </a:pPr>
            <a:r>
              <a:rPr lang="ru-RU" b="1" dirty="0" smtClean="0"/>
              <a:t>  </a:t>
            </a:r>
            <a:r>
              <a:rPr lang="ru-RU" b="1" u="sng" dirty="0" smtClean="0"/>
              <a:t>2. </a:t>
            </a:r>
            <a:r>
              <a:rPr lang="ru-RU" b="1" u="sng" dirty="0"/>
              <a:t>Сбор данных. </a:t>
            </a:r>
          </a:p>
          <a:p>
            <a:pPr marL="0" indent="0" algn="just">
              <a:buNone/>
            </a:pPr>
            <a:r>
              <a:rPr lang="ru-RU" b="1" dirty="0" smtClean="0"/>
              <a:t>  </a:t>
            </a:r>
            <a:r>
              <a:rPr lang="ru-RU" b="1" u="sng" dirty="0" smtClean="0"/>
              <a:t>3. Предварительная </a:t>
            </a:r>
            <a:r>
              <a:rPr lang="ru-RU" b="1" u="sng" dirty="0"/>
              <a:t>обработка данных. </a:t>
            </a:r>
          </a:p>
          <a:p>
            <a:pPr marL="0" indent="0" algn="just">
              <a:buNone/>
            </a:pPr>
            <a:r>
              <a:rPr lang="ru-RU" dirty="0" smtClean="0"/>
              <a:t>Выполняется оценка качества данных. </a:t>
            </a:r>
            <a:r>
              <a:rPr lang="ru-RU" i="1" u="sng" dirty="0"/>
              <a:t>Качество данных </a:t>
            </a:r>
            <a:r>
              <a:rPr lang="ru-RU" dirty="0" smtClean="0"/>
              <a:t>- </a:t>
            </a:r>
            <a:r>
              <a:rPr lang="ru-RU" dirty="0"/>
              <a:t>это критерий, </a:t>
            </a:r>
            <a:r>
              <a:rPr lang="ru-RU" dirty="0" smtClean="0"/>
              <a:t>определяющий полноту</a:t>
            </a:r>
            <a:r>
              <a:rPr lang="ru-RU" dirty="0"/>
              <a:t>, точность, своевременность и возможность интерпретации данных. </a:t>
            </a:r>
            <a:r>
              <a:rPr lang="ru-RU" dirty="0" smtClean="0"/>
              <a:t> Данные </a:t>
            </a:r>
            <a:r>
              <a:rPr lang="ru-RU" dirty="0"/>
              <a:t>могут быть высокого качества и низкого качества, последние - это так называемые грязные или "плохие" данные. </a:t>
            </a:r>
          </a:p>
          <a:p>
            <a:pPr algn="just"/>
            <a:r>
              <a:rPr lang="ru-RU" u="sng" dirty="0"/>
              <a:t>Данные высокого качества </a:t>
            </a:r>
            <a:r>
              <a:rPr lang="ru-RU" dirty="0"/>
              <a:t>- это полные, точные, своевременные данные, которые поддаются интерпретации. Такие данные обеспечивают получение качественного результата: знаний, которые смогут поддерживать процесс принятия решений. </a:t>
            </a:r>
          </a:p>
          <a:p>
            <a:pPr algn="just"/>
            <a:r>
              <a:rPr lang="ru-RU" u="sng" dirty="0"/>
              <a:t>Данные низкого качества</a:t>
            </a:r>
            <a:r>
              <a:rPr lang="ru-RU" dirty="0"/>
              <a:t>, или грязные данные - это отсутствующие, неточные или бесполезные данные с точки зрения практического применения 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2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Подготовка данных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1863" y="940102"/>
            <a:ext cx="10300137" cy="580171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Наиболее </a:t>
            </a:r>
            <a:r>
              <a:rPr lang="ru-RU" dirty="0"/>
              <a:t>распространенные виды грязных данных: </a:t>
            </a:r>
          </a:p>
          <a:p>
            <a:pPr algn="just"/>
            <a:r>
              <a:rPr lang="ru-RU" i="1" u="sng" dirty="0" smtClean="0"/>
              <a:t>Пропуски в данных</a:t>
            </a:r>
            <a:r>
              <a:rPr lang="ru-RU" i="1" u="sng" dirty="0"/>
              <a:t>. 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/>
              <a:t>Исключить объекты с пропущенными значениями из </a:t>
            </a:r>
            <a:r>
              <a:rPr lang="ru-RU" dirty="0" smtClean="0"/>
              <a:t>анализа. </a:t>
            </a:r>
            <a:endParaRPr lang="ru-RU" dirty="0"/>
          </a:p>
          <a:p>
            <a:pPr indent="228600" algn="just">
              <a:buFont typeface="Wingdings" charset="2"/>
              <a:buChar char="ü"/>
            </a:pPr>
            <a:r>
              <a:rPr lang="ru-RU" dirty="0"/>
              <a:t>Рассчитать новые значения для пропущенных данных. 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Игнорировать пропущенные значения в процессе анализа. 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Заменить пропущенные значения на возможные значения. </a:t>
            </a:r>
          </a:p>
          <a:p>
            <a:pPr algn="just"/>
            <a:r>
              <a:rPr lang="ru-RU" i="1" u="sng" dirty="0" smtClean="0"/>
              <a:t>Дублирование данных. </a:t>
            </a:r>
            <a:endParaRPr lang="ru-RU" i="1" u="sng" dirty="0"/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Удаление всей группы записе</a:t>
            </a:r>
            <a:r>
              <a:rPr lang="ru-RU" dirty="0"/>
              <a:t>й</a:t>
            </a:r>
            <a:r>
              <a:rPr lang="ru-RU" dirty="0" smtClean="0"/>
              <a:t>, содержащей </a:t>
            </a:r>
            <a:r>
              <a:rPr lang="ru-RU" dirty="0"/>
              <a:t>дубликаты</a:t>
            </a:r>
            <a:r>
              <a:rPr lang="ru-RU" dirty="0" smtClean="0"/>
              <a:t>.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Замена </a:t>
            </a:r>
            <a:r>
              <a:rPr lang="ru-RU" dirty="0"/>
              <a:t>группы дубликатов на одну уникальную запись. </a:t>
            </a:r>
          </a:p>
          <a:p>
            <a:pPr algn="just"/>
            <a:r>
              <a:rPr lang="ru-RU" i="1" u="sng" dirty="0"/>
              <a:t>Шумы и выбросы. 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Оценка статистических характеристик шума и выбор способа его подавления.</a:t>
            </a:r>
          </a:p>
          <a:p>
            <a:pPr indent="228600" algn="just">
              <a:buFont typeface="Wingdings" charset="2"/>
              <a:buChar char="ü"/>
            </a:pPr>
            <a:r>
              <a:rPr lang="ru-RU" dirty="0" smtClean="0"/>
              <a:t>Исключение или выбор способа замены статистических выбросов.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8</a:t>
            </a:fld>
            <a:endParaRPr lang="en-US"/>
          </a:p>
        </p:txBody>
      </p:sp>
      <p:pic>
        <p:nvPicPr>
          <p:cNvPr id="5" name="Рисунок 2" descr="../Снимок%20экрана%202025-11-18%20в%203.53.24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67" y="523220"/>
            <a:ext cx="9078433" cy="63347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4599791" y="0"/>
            <a:ext cx="5726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>
                <a:solidFill>
                  <a:srgbClr val="000000"/>
                </a:solidFill>
                <a:latin typeface="Times" charset="0"/>
                <a:ea typeface="Times" charset="0"/>
                <a:cs typeface="Times" charset="0"/>
              </a:rPr>
              <a:t>Пример данных низкого качества </a:t>
            </a:r>
            <a:endParaRPr lang="ru-RU" sz="2800" b="1">
              <a:latin typeface="Times" charset="0"/>
              <a:ea typeface="Times" charset="0"/>
              <a:cs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1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Построение </a:t>
            </a:r>
            <a:r>
              <a:rPr lang="ru-RU" b="1" dirty="0" smtClean="0"/>
              <a:t>моделей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1863" y="900647"/>
            <a:ext cx="10300137" cy="580171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600" dirty="0" smtClean="0"/>
              <a:t>При конструировании моделей учитывается описание </a:t>
            </a:r>
            <a:r>
              <a:rPr lang="ru-RU" sz="2600" dirty="0"/>
              <a:t>множества предопределенных </a:t>
            </a:r>
            <a:r>
              <a:rPr lang="ru-RU" sz="2600" dirty="0" smtClean="0"/>
              <a:t>входных данных, выходных результатов и выбор математических аппаратов. </a:t>
            </a:r>
            <a:endParaRPr lang="ru-RU" sz="2600" dirty="0"/>
          </a:p>
          <a:p>
            <a:pPr marL="0" indent="457200" algn="just">
              <a:buNone/>
            </a:pPr>
            <a:r>
              <a:rPr lang="ru-RU" sz="2600" dirty="0" smtClean="0"/>
              <a:t>Полученная </a:t>
            </a:r>
            <a:r>
              <a:rPr lang="ru-RU" sz="2600" dirty="0"/>
              <a:t>модель </a:t>
            </a:r>
            <a:r>
              <a:rPr lang="ru-RU" sz="2600" dirty="0" smtClean="0"/>
              <a:t>будет представлена выбранным математическим аппаратом, преобразующим входные данные в выходные результаты. </a:t>
            </a:r>
          </a:p>
          <a:p>
            <a:pPr marL="0" indent="0" algn="just">
              <a:buNone/>
            </a:pPr>
            <a:endParaRPr lang="ru-RU" sz="2600" dirty="0"/>
          </a:p>
          <a:p>
            <a:pPr marL="0" indent="0" algn="just">
              <a:buNone/>
            </a:pPr>
            <a:endParaRPr lang="ru-RU" sz="2600" dirty="0"/>
          </a:p>
        </p:txBody>
      </p:sp>
      <p:pic>
        <p:nvPicPr>
          <p:cNvPr id="1026" name="Picture 2" descr="https://poznayka.org/baza1/377744335879.files/image0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78365"/>
            <a:ext cx="6296472" cy="297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9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6708229" y="3227585"/>
            <a:ext cx="5355632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600" u="sng" dirty="0" smtClean="0">
                <a:ea typeface="Calibri" charset="0"/>
                <a:cs typeface="Times New Roman" charset="0"/>
              </a:rPr>
              <a:t>Построение </a:t>
            </a:r>
            <a:r>
              <a:rPr lang="ru-RU" sz="2600" u="sng" dirty="0">
                <a:ea typeface="Calibri" charset="0"/>
                <a:cs typeface="Times New Roman" charset="0"/>
              </a:rPr>
              <a:t>модели включает </a:t>
            </a:r>
            <a:r>
              <a:rPr lang="ru-RU" sz="2600" u="sng" dirty="0" smtClean="0">
                <a:ea typeface="Calibri" charset="0"/>
                <a:cs typeface="Times New Roman" charset="0"/>
              </a:rPr>
              <a:t>шаги</a:t>
            </a:r>
            <a:r>
              <a:rPr lang="ru-RU" sz="2600" dirty="0" smtClean="0">
                <a:ea typeface="Calibri" charset="0"/>
                <a:cs typeface="Times New Roman" charset="0"/>
              </a:rPr>
              <a:t>: </a:t>
            </a:r>
            <a:endParaRPr lang="ru-RU" sz="2600" dirty="0">
              <a:ea typeface="Calibri" charset="0"/>
              <a:cs typeface="Times New Roman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600" dirty="0">
                <a:ea typeface="Calibri" charset="0"/>
                <a:cs typeface="Times New Roman" charset="0"/>
              </a:rPr>
              <a:t>1) конструирование модели или процесс формализации;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600" dirty="0">
                <a:ea typeface="Calibri" charset="0"/>
                <a:cs typeface="Times New Roman" charset="0"/>
              </a:rPr>
              <a:t>2) изучение модели;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600" dirty="0">
                <a:ea typeface="Calibri" charset="0"/>
                <a:cs typeface="Times New Roman" charset="0"/>
              </a:rPr>
              <a:t>3) оценка адекватности модели;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600" dirty="0">
                <a:ea typeface="Calibri" charset="0"/>
                <a:cs typeface="Times New Roman" charset="0"/>
              </a:rPr>
              <a:t>4) использование модели. </a:t>
            </a:r>
            <a:endParaRPr lang="ru-RU" sz="2600" dirty="0">
              <a:effectLst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9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5077" y="-326101"/>
            <a:ext cx="5046921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Построение </a:t>
            </a:r>
            <a:r>
              <a:rPr lang="ru-RU" sz="3200" b="1" dirty="0" smtClean="0"/>
              <a:t>моделей</a:t>
            </a:r>
            <a:endParaRPr lang="ru-RU" sz="32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10</a:t>
            </a:fld>
            <a:endParaRPr lang="en-US"/>
          </a:p>
        </p:txBody>
      </p:sp>
      <p:pic>
        <p:nvPicPr>
          <p:cNvPr id="7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5721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145077" y="982571"/>
            <a:ext cx="5046920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200" i="1" dirty="0" smtClean="0">
                <a:ea typeface="Calibri" charset="0"/>
                <a:cs typeface="Times New Roman" charset="0"/>
              </a:rPr>
              <a:t>* Аналитический </a:t>
            </a:r>
            <a:r>
              <a:rPr lang="ru-RU" sz="2200" i="1" dirty="0">
                <a:ea typeface="Calibri" charset="0"/>
                <a:cs typeface="Times New Roman" charset="0"/>
              </a:rPr>
              <a:t>способ</a:t>
            </a:r>
            <a:r>
              <a:rPr lang="ru-RU" sz="2200" dirty="0">
                <a:ea typeface="Calibri" charset="0"/>
                <a:cs typeface="Times New Roman" charset="0"/>
              </a:rPr>
              <a:t> построения модели выбирается исследователем, в случае, когда изучаемое явление или объект достаточно прост и хорошо изучен, а также имеются теоретические конструкты и эмпирические данные для успешного решения </a:t>
            </a:r>
            <a:r>
              <a:rPr lang="ru-RU" sz="2200" dirty="0" smtClean="0">
                <a:ea typeface="Calibri" charset="0"/>
                <a:cs typeface="Times New Roman" charset="0"/>
              </a:rPr>
              <a:t>задачи.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endParaRPr lang="ru-RU" sz="2200" dirty="0" smtClean="0">
              <a:ea typeface="Calibri" charset="0"/>
              <a:cs typeface="Times New Roman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200" i="1" dirty="0" smtClean="0">
                <a:ea typeface="Calibri" charset="0"/>
                <a:cs typeface="Times New Roman" charset="0"/>
              </a:rPr>
              <a:t>* Эмпирический </a:t>
            </a:r>
            <a:r>
              <a:rPr lang="ru-RU" sz="2200" i="1" dirty="0">
                <a:ea typeface="Calibri" charset="0"/>
                <a:cs typeface="Times New Roman" charset="0"/>
              </a:rPr>
              <a:t>способ</a:t>
            </a:r>
            <a:r>
              <a:rPr lang="ru-RU" sz="2200" dirty="0">
                <a:ea typeface="Calibri" charset="0"/>
                <a:cs typeface="Times New Roman" charset="0"/>
              </a:rPr>
              <a:t> конструирования модели заключается в проведении натурных экспериментов с исследуемым объектом. Данный способ базируется на идее мысленного эксперимента с «</a:t>
            </a:r>
            <a:r>
              <a:rPr lang="ru-RU" sz="2200" i="1" dirty="0">
                <a:ea typeface="Calibri" charset="0"/>
                <a:cs typeface="Times New Roman" charset="0"/>
              </a:rPr>
              <a:t>черным ящиком</a:t>
            </a:r>
            <a:r>
              <a:rPr lang="ru-RU" sz="2200" dirty="0" smtClean="0">
                <a:ea typeface="Calibri" charset="0"/>
                <a:cs typeface="Times New Roman" charset="0"/>
              </a:rPr>
              <a:t>». </a:t>
            </a:r>
            <a:endParaRPr lang="ru-RU" sz="2200" dirty="0">
              <a:effectLst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5077" y="-326101"/>
            <a:ext cx="5046921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Построение </a:t>
            </a:r>
            <a:r>
              <a:rPr lang="ru-RU" sz="3200" b="1" dirty="0" smtClean="0"/>
              <a:t>моделей</a:t>
            </a:r>
            <a:endParaRPr lang="ru-RU" sz="32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11</a:t>
            </a:fld>
            <a:endParaRPr lang="en-US"/>
          </a:p>
        </p:txBody>
      </p:sp>
      <p:pic>
        <p:nvPicPr>
          <p:cNvPr id="7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5721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145077" y="982571"/>
            <a:ext cx="5046919" cy="4967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200" dirty="0"/>
              <a:t>Механизм конструирования </a:t>
            </a:r>
            <a:r>
              <a:rPr lang="ru-RU" sz="2200" dirty="0" err="1" smtClean="0"/>
              <a:t>математ</a:t>
            </a:r>
            <a:r>
              <a:rPr lang="ru-RU" sz="2200" dirty="0" smtClean="0"/>
              <a:t>. </a:t>
            </a:r>
            <a:r>
              <a:rPr lang="ru-RU" sz="2200" dirty="0"/>
              <a:t>модели сопровождается формулированием </a:t>
            </a:r>
            <a:r>
              <a:rPr lang="ru-RU" sz="2200" i="1" dirty="0"/>
              <a:t>гипотез</a:t>
            </a:r>
            <a:r>
              <a:rPr lang="ru-RU" sz="2200" dirty="0"/>
              <a:t>, позволяющих толковать наблюдаемые явления и прогнозировать будущие состояния явления или </a:t>
            </a:r>
            <a:r>
              <a:rPr lang="ru-RU" sz="2200" dirty="0" smtClean="0"/>
              <a:t>объекта.  </a:t>
            </a:r>
            <a:r>
              <a:rPr lang="ru-RU" sz="2200" dirty="0"/>
              <a:t>На данном этапе получают </a:t>
            </a:r>
            <a:r>
              <a:rPr lang="ru-RU" sz="2200" i="1" dirty="0"/>
              <a:t>концептуальную </a:t>
            </a:r>
            <a:r>
              <a:rPr lang="ru-RU" sz="2200" i="1" dirty="0" smtClean="0"/>
              <a:t>модель</a:t>
            </a:r>
            <a:r>
              <a:rPr lang="ru-RU" sz="2200" dirty="0" smtClean="0"/>
              <a:t> </a:t>
            </a:r>
            <a:r>
              <a:rPr lang="ru-RU" sz="2200" dirty="0"/>
              <a:t>– упрощённое описание объекта. </a:t>
            </a:r>
            <a:endParaRPr lang="ru-RU" sz="2200" dirty="0" smtClean="0"/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2200" dirty="0" smtClean="0"/>
              <a:t>Далее </a:t>
            </a:r>
            <a:r>
              <a:rPr lang="ru-RU" sz="2200" dirty="0"/>
              <a:t>следует формализация модели, то есть приведение к форме удобной для дальнейшего </a:t>
            </a:r>
            <a:r>
              <a:rPr lang="ru-RU" sz="2200" dirty="0" smtClean="0"/>
              <a:t>анализа. </a:t>
            </a:r>
            <a:endParaRPr lang="ru-RU" sz="2200" dirty="0">
              <a:effectLst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06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5077" y="-326101"/>
            <a:ext cx="5046921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Построение </a:t>
            </a:r>
            <a:r>
              <a:rPr lang="ru-RU" sz="3200" b="1" dirty="0" smtClean="0"/>
              <a:t>моделей</a:t>
            </a:r>
            <a:endParaRPr lang="ru-RU" sz="32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12</a:t>
            </a:fld>
            <a:endParaRPr lang="en-US"/>
          </a:p>
        </p:txBody>
      </p:sp>
      <p:pic>
        <p:nvPicPr>
          <p:cNvPr id="7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5721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75721" y="982571"/>
            <a:ext cx="5316275" cy="5669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При проверке корректности модели выполняют: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проверку размерностей и порядков величин;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проверку характера зависимостей (согласованность с «физическим» смыслом исследуемого явления или объекта); 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проверку граничных условий и экстремальных ситуаций;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проверку физического смысла;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проверку математической замкнутости (однозначность решения).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endParaRPr lang="ru-RU" sz="2200" dirty="0">
              <a:effectLst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5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5077" y="-326101"/>
            <a:ext cx="5046921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Построение </a:t>
            </a:r>
            <a:r>
              <a:rPr lang="ru-RU" sz="3200" b="1" dirty="0" smtClean="0"/>
              <a:t>моделей</a:t>
            </a:r>
            <a:endParaRPr lang="ru-RU" sz="32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13</a:t>
            </a:fld>
            <a:endParaRPr lang="en-US"/>
          </a:p>
        </p:txBody>
      </p:sp>
      <p:pic>
        <p:nvPicPr>
          <p:cNvPr id="7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5721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145077" y="982571"/>
            <a:ext cx="50469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/>
              <a:t>Адекватность модели — это степень соответствия свойств построенной математической модели и соответствующим свойствам моделируемого явления или объекта. </a:t>
            </a:r>
            <a:endParaRPr lang="ru-RU" sz="2200" dirty="0">
              <a:effectLst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31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5077" y="-326101"/>
            <a:ext cx="5046921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Построение </a:t>
            </a:r>
            <a:r>
              <a:rPr lang="ru-RU" sz="3200" b="1" dirty="0" smtClean="0"/>
              <a:t>моделей</a:t>
            </a:r>
            <a:endParaRPr lang="ru-RU" sz="32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14</a:t>
            </a:fld>
            <a:endParaRPr lang="en-US"/>
          </a:p>
        </p:txBody>
      </p:sp>
      <p:pic>
        <p:nvPicPr>
          <p:cNvPr id="7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5721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75721" y="982571"/>
            <a:ext cx="53162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/>
              <a:t>Использование </a:t>
            </a:r>
            <a:r>
              <a:rPr lang="ru-RU" sz="2400" i="1" dirty="0"/>
              <a:t>(</a:t>
            </a:r>
            <a:r>
              <a:rPr lang="ru-RU" sz="2400" i="1" dirty="0" smtClean="0"/>
              <a:t>эксплуатация) модели</a:t>
            </a:r>
            <a:r>
              <a:rPr lang="ru-RU" sz="2400" dirty="0" smtClean="0"/>
              <a:t> </a:t>
            </a:r>
            <a:r>
              <a:rPr lang="ru-RU" sz="2400" dirty="0"/>
              <a:t>подразумевает: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анализ результатов моделирования и определение области применения построенной модели;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модификация моделируемого объекта и определение его оптимальных характеристик;</a:t>
            </a:r>
          </a:p>
          <a:p>
            <a:pPr marL="342900" lvl="0" indent="-342900" algn="just">
              <a:buFont typeface="Arial" charset="0"/>
              <a:buChar char="•"/>
            </a:pPr>
            <a:r>
              <a:rPr lang="ru-RU" sz="2400" dirty="0"/>
              <a:t>определение путей дальнейшего развития модели. </a:t>
            </a:r>
          </a:p>
        </p:txBody>
      </p:sp>
    </p:spTree>
    <p:extLst>
      <p:ext uri="{BB962C8B-B14F-4D97-AF65-F5344CB8AC3E}">
        <p14:creationId xmlns:p14="http://schemas.microsoft.com/office/powerpoint/2010/main" val="1299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850605"/>
          </a:xfrm>
        </p:spPr>
        <p:txBody>
          <a:bodyPr/>
          <a:lstStyle/>
          <a:p>
            <a:pPr algn="ctr"/>
            <a:r>
              <a:rPr lang="ru-RU" b="1" dirty="0" smtClean="0"/>
              <a:t>Задачи интеллектуального анализа данных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215063"/>
              </p:ext>
            </p:extLst>
          </p:nvPr>
        </p:nvGraphicFramePr>
        <p:xfrm>
          <a:off x="0" y="731520"/>
          <a:ext cx="12192000" cy="6126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94344"/>
                <a:gridCol w="4890977"/>
                <a:gridCol w="470667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effectLst/>
                        </a:rPr>
                        <a:t>Наименование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Пояснение</a:t>
                      </a:r>
                      <a:endParaRPr lang="ru-RU" sz="240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Примеры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Классификация и прогнозирование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Индуктивно разрабатывается обобщенная модель или </a:t>
                      </a:r>
                      <a:r>
                        <a:rPr lang="ru-RU" sz="2400" dirty="0" smtClean="0">
                          <a:effectLst/>
                        </a:rPr>
                        <a:t>формулируется </a:t>
                      </a:r>
                      <a:r>
                        <a:rPr lang="ru-RU" sz="2400" dirty="0">
                          <a:effectLst/>
                        </a:rPr>
                        <a:t>некоторая гипотеза, описывающая принадлежность объектов к соответствующим классам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Предсказание роста объемов продаж на основе текущих </a:t>
                      </a:r>
                      <a:r>
                        <a:rPr lang="ru-RU" sz="2400" dirty="0" smtClean="0">
                          <a:effectLst/>
                        </a:rPr>
                        <a:t>значении</a:t>
                      </a:r>
                      <a:r>
                        <a:rPr lang="ru-RU" sz="2400" dirty="0">
                          <a:effectLst/>
                        </a:rPr>
                        <a:t>̆, отнесение претендента на кредит к известным классам </a:t>
                      </a:r>
                      <a:r>
                        <a:rPr lang="ru-RU" sz="2400" dirty="0" smtClean="0">
                          <a:effectLst/>
                        </a:rPr>
                        <a:t>кредитоспособности</a:t>
                      </a:r>
                      <a:r>
                        <a:rPr lang="ru-RU" sz="2400" dirty="0">
                          <a:effectLst/>
                        </a:rPr>
                        <a:t>, выявление лояльных или нелояльных </a:t>
                      </a:r>
                      <a:r>
                        <a:rPr lang="ru-RU" sz="2400" dirty="0" err="1" smtClean="0">
                          <a:effectLst/>
                        </a:rPr>
                        <a:t>держателеи</a:t>
                      </a:r>
                      <a:r>
                        <a:rPr lang="ru-RU" sz="2400" dirty="0">
                          <a:effectLst/>
                        </a:rPr>
                        <a:t>̆ кредитных карт, </a:t>
                      </a:r>
                      <a:r>
                        <a:rPr lang="ru-RU" sz="2400" dirty="0" smtClean="0">
                          <a:effectLst/>
                        </a:rPr>
                        <a:t>классификация </a:t>
                      </a:r>
                      <a:r>
                        <a:rPr lang="ru-RU" sz="2400" dirty="0">
                          <a:effectLst/>
                        </a:rPr>
                        <a:t>стран по климатическим зонам и т.п.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Кластеризация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Выделение некоторого </a:t>
                      </a:r>
                      <a:r>
                        <a:rPr lang="ru-RU" sz="2400" dirty="0" smtClean="0">
                          <a:effectLst/>
                        </a:rPr>
                        <a:t>количества </a:t>
                      </a:r>
                      <a:r>
                        <a:rPr lang="ru-RU" sz="2400" dirty="0">
                          <a:effectLst/>
                        </a:rPr>
                        <a:t>групп, имеющих сходные в некотором смысле признаки. </a:t>
                      </a:r>
                      <a:r>
                        <a:rPr lang="ru-RU" sz="2400" dirty="0" err="1" smtClean="0">
                          <a:effectLst/>
                        </a:rPr>
                        <a:t>Основнои</a:t>
                      </a:r>
                      <a:r>
                        <a:rPr lang="ru-RU" sz="2400" dirty="0">
                          <a:effectLst/>
                        </a:rPr>
                        <a:t>̆ принцип – максимизация межклассового и минимизация внутриклассового расстояния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Обнаружение новых сегментов рынка, совершенствование </a:t>
                      </a:r>
                      <a:r>
                        <a:rPr lang="ru-RU" sz="2400" dirty="0" smtClean="0">
                          <a:effectLst/>
                        </a:rPr>
                        <a:t>рекламных </a:t>
                      </a:r>
                      <a:r>
                        <a:rPr lang="ru-RU" sz="2400" dirty="0">
                          <a:effectLst/>
                        </a:rPr>
                        <a:t>стратегий для </a:t>
                      </a:r>
                      <a:r>
                        <a:rPr lang="ru-RU" sz="2400" dirty="0" smtClean="0">
                          <a:effectLst/>
                        </a:rPr>
                        <a:t>различных </a:t>
                      </a:r>
                      <a:r>
                        <a:rPr lang="ru-RU" sz="2400" dirty="0">
                          <a:effectLst/>
                        </a:rPr>
                        <a:t>групп </a:t>
                      </a:r>
                      <a:r>
                        <a:rPr lang="ru-RU" sz="2400" dirty="0" err="1">
                          <a:effectLst/>
                        </a:rPr>
                        <a:t>потребителеи</a:t>
                      </a:r>
                      <a:r>
                        <a:rPr lang="ru-RU" sz="2400" dirty="0">
                          <a:effectLst/>
                        </a:rPr>
                        <a:t>̆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83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850605"/>
          </a:xfrm>
        </p:spPr>
        <p:txBody>
          <a:bodyPr/>
          <a:lstStyle/>
          <a:p>
            <a:pPr algn="ctr"/>
            <a:r>
              <a:rPr lang="ru-RU" b="1" dirty="0" smtClean="0"/>
              <a:t>Задачи интеллектуального анализа данных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616080"/>
              </p:ext>
            </p:extLst>
          </p:nvPr>
        </p:nvGraphicFramePr>
        <p:xfrm>
          <a:off x="0" y="1105786"/>
          <a:ext cx="12192000" cy="6126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47237"/>
                <a:gridCol w="4413776"/>
                <a:gridCol w="4630987"/>
              </a:tblGrid>
              <a:tr h="2020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effectLst/>
                        </a:rPr>
                        <a:t>Наименование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Пояснение</a:t>
                      </a:r>
                      <a:endParaRPr lang="ru-RU" sz="240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Примеры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Ассоциации, анализ </a:t>
                      </a:r>
                      <a:r>
                        <a:rPr lang="ru-RU" sz="2400" dirty="0" err="1">
                          <a:effectLst/>
                        </a:rPr>
                        <a:t>взаимозависимостеи</a:t>
                      </a:r>
                      <a:r>
                        <a:rPr lang="ru-RU" sz="2400" dirty="0">
                          <a:effectLst/>
                        </a:rPr>
                        <a:t>̆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Поиск интересных ассоциаций и / или корреляционных </a:t>
                      </a:r>
                      <a:r>
                        <a:rPr lang="ru-RU" sz="2400" dirty="0" err="1">
                          <a:effectLst/>
                        </a:rPr>
                        <a:t>связеи</a:t>
                      </a:r>
                      <a:r>
                        <a:rPr lang="ru-RU" sz="2400" dirty="0">
                          <a:effectLst/>
                        </a:rPr>
                        <a:t>̆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>
                          <a:effectLst/>
                        </a:rPr>
                        <a:t>95% </a:t>
                      </a:r>
                      <a:r>
                        <a:rPr lang="ru-RU" sz="2400" dirty="0" err="1">
                          <a:effectLst/>
                        </a:rPr>
                        <a:t>покупателеи</a:t>
                      </a:r>
                      <a:r>
                        <a:rPr lang="ru-RU" sz="2400" dirty="0">
                          <a:effectLst/>
                        </a:rPr>
                        <a:t>̆ автомобильных шин и </a:t>
                      </a:r>
                      <a:r>
                        <a:rPr lang="ru-RU" sz="2400" dirty="0" err="1">
                          <a:effectLst/>
                        </a:rPr>
                        <a:t>автоаксессуаров</a:t>
                      </a:r>
                      <a:r>
                        <a:rPr lang="ru-RU" sz="2400" dirty="0">
                          <a:effectLst/>
                        </a:rPr>
                        <a:t> также приобретали пакет сервисного обслуживания автомобиля, 80% </a:t>
                      </a:r>
                      <a:r>
                        <a:rPr lang="ru-RU" sz="2400" dirty="0" err="1">
                          <a:effectLst/>
                        </a:rPr>
                        <a:t>покупателеи</a:t>
                      </a:r>
                      <a:r>
                        <a:rPr lang="ru-RU" sz="2400" dirty="0">
                          <a:effectLst/>
                        </a:rPr>
                        <a:t>̆ газировки </a:t>
                      </a:r>
                      <a:r>
                        <a:rPr lang="ru-RU" sz="2400" dirty="0" smtClean="0">
                          <a:effectLst/>
                        </a:rPr>
                        <a:t>приобретают </a:t>
                      </a:r>
                      <a:r>
                        <a:rPr lang="ru-RU" sz="2400" dirty="0">
                          <a:effectLst/>
                        </a:rPr>
                        <a:t>и «воздушную» кукурузу 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effectLst/>
                          <a:latin typeface="+mn-lt"/>
                        </a:rPr>
                        <a:t>Визуализация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С использованием графических методов визуализации информации создается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графическии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образ анализируемых данных,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отражающии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имеющиеся в данных интересные закономерности 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Визуализация некоторых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зависимостеи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с использованием 2D- и 3D- измерений </a:t>
                      </a:r>
                      <a:endParaRPr lang="ru-RU" sz="24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83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850605"/>
          </a:xfrm>
        </p:spPr>
        <p:txBody>
          <a:bodyPr/>
          <a:lstStyle/>
          <a:p>
            <a:pPr algn="ctr"/>
            <a:r>
              <a:rPr lang="ru-RU" b="1" dirty="0" smtClean="0"/>
              <a:t>Задачи интеллектуального анализа данных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945759"/>
              </p:ext>
            </p:extLst>
          </p:nvPr>
        </p:nvGraphicFramePr>
        <p:xfrm>
          <a:off x="0" y="850605"/>
          <a:ext cx="12192000" cy="5029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21935"/>
                <a:gridCol w="4423144"/>
                <a:gridCol w="5046921"/>
              </a:tblGrid>
              <a:tr h="2020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>
                          <a:effectLst/>
                        </a:rPr>
                        <a:t>Наименование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Пояснение</a:t>
                      </a:r>
                      <a:endParaRPr lang="ru-RU" sz="240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smtClean="0">
                          <a:effectLst/>
                        </a:rPr>
                        <a:t>Примеры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Подведение итогов 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Интегральное (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генерализованное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) описание конкретных групп объектов из анализируемого набора данных 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Суммирование данных сетевого трафика при оценке эффективности каналов связи, подготовка краткого реферата по тексту значительного объема, визуализация многомерных данных большого объема </a:t>
                      </a:r>
                      <a:endParaRPr lang="ru-RU" sz="24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Определение и анализ отклонений и / или выбросов в данных 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Обнаружение фрагментов данных, существенно отличающихся от общего множества данных, выявление нехарактерных паттернов (шаблонов) </a:t>
                      </a:r>
                      <a:endParaRPr lang="ru-RU" sz="24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dirty="0" smtClean="0">
                          <a:effectLst/>
                          <a:latin typeface="+mn-lt"/>
                        </a:rPr>
                        <a:t>Анализ наличия шума / ошибок, а также выявление мошеннических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действии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</a:t>
                      </a:r>
                      <a:endParaRPr lang="ru-RU" sz="24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5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50429" y="0"/>
            <a:ext cx="10515600" cy="850605"/>
          </a:xfrm>
        </p:spPr>
        <p:txBody>
          <a:bodyPr/>
          <a:lstStyle/>
          <a:p>
            <a:pPr algn="ctr"/>
            <a:r>
              <a:rPr lang="ru-RU" b="1" dirty="0" smtClean="0"/>
              <a:t>Задачи интеллектуального анализа данных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09772"/>
              </p:ext>
            </p:extLst>
          </p:nvPr>
        </p:nvGraphicFramePr>
        <p:xfrm>
          <a:off x="0" y="970280"/>
          <a:ext cx="12192000" cy="5887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90307"/>
                <a:gridCol w="4104167"/>
                <a:gridCol w="5897526"/>
              </a:tblGrid>
              <a:tr h="334401"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</a:rPr>
                        <a:t>Наименование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smtClean="0">
                          <a:effectLst/>
                        </a:rPr>
                        <a:t>Пояснение</a:t>
                      </a:r>
                      <a:endParaRPr lang="ru-RU" sz="240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</a:rPr>
                        <a:t>Примеры</a:t>
                      </a:r>
                      <a:endParaRPr lang="ru-RU" sz="2400" dirty="0"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07050"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</a:rPr>
                        <a:t>Оценивание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smtClean="0">
                          <a:effectLst/>
                        </a:rPr>
                        <a:t>Предсказание непрерывных значений признака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</a:rPr>
                        <a:t>Оценка производительности процессора на определенных задачах по ряду параметров процессора, оценка числа </a:t>
                      </a:r>
                      <a:r>
                        <a:rPr lang="ru-RU" sz="2400" dirty="0" err="1" smtClean="0">
                          <a:effectLst/>
                        </a:rPr>
                        <a:t>детеи</a:t>
                      </a:r>
                      <a:r>
                        <a:rPr lang="ru-RU" sz="2400" dirty="0" smtClean="0">
                          <a:effectLst/>
                        </a:rPr>
                        <a:t>̆ в семье по уровню образования матери, оценка дохода семьи по количеству в </a:t>
                      </a:r>
                      <a:r>
                        <a:rPr lang="ru-RU" sz="2400" dirty="0" err="1" smtClean="0">
                          <a:effectLst/>
                        </a:rPr>
                        <a:t>неи</a:t>
                      </a:r>
                      <a:r>
                        <a:rPr lang="ru-RU" sz="2400" dirty="0" smtClean="0">
                          <a:effectLst/>
                        </a:rPr>
                        <a:t>̆ </a:t>
                      </a:r>
                      <a:r>
                        <a:rPr lang="ru-RU" sz="2400" dirty="0" err="1" smtClean="0">
                          <a:effectLst/>
                        </a:rPr>
                        <a:t>автомобилеи</a:t>
                      </a:r>
                      <a:r>
                        <a:rPr lang="ru-RU" sz="2400" dirty="0" smtClean="0">
                          <a:effectLst/>
                        </a:rPr>
                        <a:t>̆, оценка стоимости недвижимости в зависимости от ее удаленности от бизнес-центра</a:t>
                      </a:r>
                      <a:endParaRPr lang="ru-RU" sz="2400" dirty="0">
                        <a:effectLst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07050">
                <a:tc>
                  <a:txBody>
                    <a:bodyPr/>
                    <a:lstStyle/>
                    <a:p>
                      <a:pPr algn="ctr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  <a:latin typeface="+mn-lt"/>
                        </a:rPr>
                        <a:t>Отбор значимых признаков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  <a:latin typeface="+mn-lt"/>
                        </a:rPr>
                        <a:t>Применяется при анализе признаковых пространств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большои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размерности путем сокращения размерности и / или выбора значимых признаков с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трансформациеи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признакового пространства или без трансформации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80"/>
                        </a:lnSpc>
                      </a:pPr>
                      <a:r>
                        <a:rPr lang="ru-RU" sz="2400" dirty="0" smtClean="0">
                          <a:effectLst/>
                          <a:latin typeface="+mn-lt"/>
                        </a:rPr>
                        <a:t>Как правило, применяется как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вспомогательныи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метод на этапе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предварительнои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̆ обработки дан-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ных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, а также для повышения эф-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фективности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 методов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визуализа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- </a:t>
                      </a:r>
                      <a:r>
                        <a:rPr lang="ru-RU" sz="2400" dirty="0" err="1" smtClean="0">
                          <a:effectLst/>
                          <a:latin typeface="+mn-lt"/>
                        </a:rPr>
                        <a:t>ции</a:t>
                      </a:r>
                      <a:r>
                        <a:rPr lang="ru-RU" sz="2400" dirty="0" smtClean="0">
                          <a:effectLst/>
                          <a:latin typeface="+mn-lt"/>
                        </a:rPr>
                        <a:t> в многомерных признаковых пространствах</a:t>
                      </a:r>
                      <a:endParaRPr lang="ru-RU" sz="24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72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10813"/>
            <a:ext cx="12192000" cy="595423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+mn-lt"/>
              </a:rPr>
              <a:t>Домашнее задание: </a:t>
            </a:r>
            <a:r>
              <a:rPr lang="ru-RU" sz="3200" dirty="0">
                <a:latin typeface="+mn-lt"/>
              </a:rPr>
              <a:t>первичный анализ и предобработка природного временного ряда.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0" y="773456"/>
            <a:ext cx="12192000" cy="266155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ru-RU" sz="2200" b="1" dirty="0" smtClean="0">
                <a:ea typeface="Calibri" charset="0"/>
                <a:cs typeface="Times New Roman" charset="0"/>
              </a:rPr>
              <a:t>Цель </a:t>
            </a:r>
            <a:r>
              <a:rPr lang="ru-RU" sz="2200" b="1" dirty="0">
                <a:ea typeface="Calibri" charset="0"/>
                <a:cs typeface="Times New Roman" charset="0"/>
              </a:rPr>
              <a:t>работы</a:t>
            </a:r>
            <a:r>
              <a:rPr lang="ru-RU" sz="2200" dirty="0">
                <a:ea typeface="Calibri" charset="0"/>
                <a:cs typeface="Times New Roman" charset="0"/>
              </a:rPr>
              <a:t>: повышение качества природных данных на примере наблюдений нейтронных мониторов. </a:t>
            </a: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ru-RU" sz="2200" b="1" dirty="0">
                <a:ea typeface="Calibri" charset="0"/>
                <a:cs typeface="Times New Roman" charset="0"/>
              </a:rPr>
              <a:t>Задачи: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Скачать данные из источника [</a:t>
            </a:r>
            <a:r>
              <a:rPr lang="ru-RU" sz="2200" dirty="0" err="1">
                <a:ea typeface="Calibri" charset="0"/>
              </a:rPr>
              <a:t>https</a:t>
            </a:r>
            <a:r>
              <a:rPr lang="ru-RU" sz="2200" dirty="0">
                <a:ea typeface="Calibri" charset="0"/>
              </a:rPr>
              <a:t>://</a:t>
            </a:r>
            <a:r>
              <a:rPr lang="ru-RU" sz="2200" dirty="0" err="1">
                <a:ea typeface="Calibri" charset="0"/>
              </a:rPr>
              <a:t>www.nmdb.eu</a:t>
            </a:r>
            <a:r>
              <a:rPr lang="ru-RU" sz="2200" dirty="0">
                <a:ea typeface="Calibri" charset="0"/>
              </a:rPr>
              <a:t>/</a:t>
            </a:r>
            <a:r>
              <a:rPr lang="ru-RU" sz="2200" dirty="0" err="1">
                <a:ea typeface="Calibri" charset="0"/>
              </a:rPr>
              <a:t>nest</a:t>
            </a:r>
            <a:r>
              <a:rPr lang="ru-RU" sz="2200" dirty="0">
                <a:ea typeface="Calibri" charset="0"/>
              </a:rPr>
              <a:t>/] за периоды и станции, указанные по вариантам в табл. </a:t>
            </a:r>
            <a:r>
              <a:rPr lang="ru-RU" sz="2200" dirty="0" smtClean="0">
                <a:ea typeface="Calibri" charset="0"/>
              </a:rPr>
              <a:t>(см. следующий слайд). </a:t>
            </a:r>
            <a:r>
              <a:rPr lang="ru-RU" sz="2200" dirty="0">
                <a:ea typeface="Calibri" charset="0"/>
              </a:rPr>
              <a:t>Использовать сданные с одноминутным временным разрешением.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Выполнить обнаружение пропусков и выбросов </a:t>
            </a:r>
            <a:r>
              <a:rPr lang="ru-RU" sz="2200" dirty="0" smtClean="0">
                <a:ea typeface="Calibri" charset="0"/>
              </a:rPr>
              <a:t>(3𝞼) в </a:t>
            </a:r>
            <a:r>
              <a:rPr lang="ru-RU" sz="2200" dirty="0">
                <a:ea typeface="Calibri" charset="0"/>
              </a:rPr>
              <a:t>анализируемом временном ряде, посчитать их количество и долю от всех обрабатываемых данных.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С помощью функции </a:t>
            </a:r>
            <a:r>
              <a:rPr lang="ru-RU" sz="2200" dirty="0" err="1">
                <a:ea typeface="Calibri" charset="0"/>
              </a:rPr>
              <a:t>median</a:t>
            </a:r>
            <a:r>
              <a:rPr lang="ru-RU" sz="2200" dirty="0">
                <a:ea typeface="Calibri" charset="0"/>
              </a:rPr>
              <a:t> в </a:t>
            </a:r>
            <a:r>
              <a:rPr lang="ru-RU" sz="2200" dirty="0" err="1">
                <a:ea typeface="Calibri" charset="0"/>
              </a:rPr>
              <a:t>MatLab</a:t>
            </a:r>
            <a:r>
              <a:rPr lang="ru-RU" sz="2200" dirty="0">
                <a:ea typeface="Calibri" charset="0"/>
              </a:rPr>
              <a:t> </a:t>
            </a:r>
            <a:r>
              <a:rPr lang="ru-RU" sz="2200" dirty="0" smtClean="0">
                <a:ea typeface="Calibri" charset="0"/>
              </a:rPr>
              <a:t>вычислить </a:t>
            </a:r>
            <a:r>
              <a:rPr lang="ru-RU" sz="2200" dirty="0">
                <a:ea typeface="Calibri" charset="0"/>
              </a:rPr>
              <a:t>медианное значение по данным без пропусков и выбросов. 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Заменить пропуски и выбросы медианными значениями.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Изобразить графики исходного и полученного временных рядов.</a:t>
            </a:r>
          </a:p>
          <a:p>
            <a:pPr marL="342900" lvl="0" indent="-342900" algn="just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200" dirty="0">
                <a:ea typeface="Calibri" charset="0"/>
              </a:rPr>
              <a:t>Сделать соответствующие выводы, оформить отчет по работе</a:t>
            </a:r>
            <a:r>
              <a:rPr lang="ru-RU" sz="2200" dirty="0" smtClean="0">
                <a:ea typeface="Calibri" charset="0"/>
              </a:rPr>
              <a:t>.</a:t>
            </a:r>
          </a:p>
          <a:p>
            <a:pPr lvl="0" algn="just">
              <a:lnSpc>
                <a:spcPct val="100000"/>
              </a:lnSpc>
              <a:spcAft>
                <a:spcPts val="0"/>
              </a:spcAft>
            </a:pPr>
            <a:r>
              <a:rPr lang="ru-RU" sz="2200" i="1" dirty="0" smtClean="0">
                <a:ea typeface="Calibri" charset="0"/>
              </a:rPr>
              <a:t>Ссылка на шаблон: </a:t>
            </a:r>
            <a:r>
              <a:rPr lang="en-US" sz="2200" dirty="0">
                <a:ea typeface="Calibri" charset="0"/>
              </a:rPr>
              <a:t>https://</a:t>
            </a:r>
            <a:r>
              <a:rPr lang="en-US" sz="2200" dirty="0" err="1">
                <a:ea typeface="Calibri" charset="0"/>
              </a:rPr>
              <a:t>etu.ru</a:t>
            </a:r>
            <a:r>
              <a:rPr lang="en-US" sz="2200" dirty="0">
                <a:ea typeface="Calibri" charset="0"/>
              </a:rPr>
              <a:t>/</a:t>
            </a:r>
            <a:r>
              <a:rPr lang="en-US" sz="2200" dirty="0" err="1">
                <a:ea typeface="Calibri" charset="0"/>
              </a:rPr>
              <a:t>ru</a:t>
            </a:r>
            <a:r>
              <a:rPr lang="en-US" sz="2200" dirty="0">
                <a:ea typeface="Calibri" charset="0"/>
              </a:rPr>
              <a:t>/</a:t>
            </a:r>
            <a:r>
              <a:rPr lang="en-US" sz="2200" dirty="0" err="1">
                <a:ea typeface="Calibri" charset="0"/>
              </a:rPr>
              <a:t>studentam</a:t>
            </a:r>
            <a:r>
              <a:rPr lang="en-US" sz="2200" dirty="0">
                <a:ea typeface="Calibri" charset="0"/>
              </a:rPr>
              <a:t>/</a:t>
            </a:r>
            <a:r>
              <a:rPr lang="en-US" sz="2200" dirty="0" err="1">
                <a:ea typeface="Calibri" charset="0"/>
              </a:rPr>
              <a:t>dokumenty-dlya-ucheby</a:t>
            </a:r>
            <a:r>
              <a:rPr lang="en-US" sz="2200" dirty="0">
                <a:ea typeface="Calibri" charset="0"/>
              </a:rPr>
              <a:t>/</a:t>
            </a:r>
            <a:r>
              <a:rPr lang="en-US" sz="2200" dirty="0" err="1">
                <a:ea typeface="Calibri" charset="0"/>
              </a:rPr>
              <a:t>blanki-zayavlenij-i-shablony-dlya-obuchayushhihsya</a:t>
            </a:r>
            <a:endParaRPr lang="ru-RU" sz="2200" dirty="0">
              <a:ea typeface="Calibri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913860" y="822960"/>
          <a:ext cx="10278140" cy="6035040"/>
        </p:xfrm>
        <a:graphic>
          <a:graphicData uri="http://schemas.openxmlformats.org/drawingml/2006/table">
            <a:tbl>
              <a:tblPr firstRow="1" firstCol="1" bandRow="1"/>
              <a:tblGrid>
                <a:gridCol w="2663357"/>
                <a:gridCol w="3572421"/>
                <a:gridCol w="4042362"/>
              </a:tblGrid>
              <a:tr h="309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Номер варианта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Наименование станции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Период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19-29 ноября 2017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2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20-29 июля 2017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3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Тикси (TXBY)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августа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4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2-10 мая 2017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Тикси (TXBY)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10-19 августа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6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августа 2019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августа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8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Тикси (TXBY)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20-29 сентября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9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10-19 июня 2017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ноября 2014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11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сентября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12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10-19 ноября 2012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13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11-20 октября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14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2-10 мая 2017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ноября 2012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16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Алма-Ата (AATB)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августа 2015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0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17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Москва (MOSC)</a:t>
                      </a:r>
                      <a:endParaRPr lang="ru-RU" sz="220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charset="0"/>
                          <a:cs typeface="Times New Roman" charset="0"/>
                        </a:rPr>
                        <a:t>1-9 ноября 2018</a:t>
                      </a:r>
                      <a:endParaRPr lang="ru-RU" sz="2200" dirty="0">
                        <a:effectLst/>
                        <a:latin typeface="+mn-lt"/>
                        <a:ea typeface="Calibri" charset="0"/>
                        <a:cs typeface="Times New Roman" charset="0"/>
                      </a:endParaRPr>
                    </a:p>
                  </a:txBody>
                  <a:tcPr marL="64752" marR="6475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Описание данных для выполнения домашнего задания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21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591" y="524404"/>
            <a:ext cx="8191428" cy="6302402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33916" y="2536448"/>
            <a:ext cx="2870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Выбор станции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2806995" y="2934586"/>
            <a:ext cx="4550735" cy="18288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77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334" y="595422"/>
            <a:ext cx="8139666" cy="626257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2416" y="1859340"/>
            <a:ext cx="33386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Выбор временного разрешения «</a:t>
            </a:r>
            <a:r>
              <a:rPr kumimoji="0" lang="en-US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best</a:t>
            </a: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» (минутное)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104708" y="2761205"/>
            <a:ext cx="5295013" cy="144928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32416" y="3983320"/>
            <a:ext cx="33386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charset="0"/>
              </a:rPr>
              <a:t>Выбор </a:t>
            </a:r>
            <a:r>
              <a:rPr kumimoji="0" lang="ru-RU" altLang="ru-RU" sz="2400" b="1" u="none" strike="noStrike" cap="none" normalizeH="0" baseline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charset="0"/>
              </a:rPr>
              <a:t>временного интервала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V="1">
            <a:off x="2275367" y="4463113"/>
            <a:ext cx="2721935" cy="22945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08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334" y="595422"/>
            <a:ext cx="8139666" cy="626257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23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" y="1352246"/>
            <a:ext cx="42317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Выбор иных параметров: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ru-RU" sz="2400" dirty="0" smtClean="0">
              <a:solidFill>
                <a:srgbClr val="0070C0"/>
              </a:solidFill>
              <a:latin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400" dirty="0" smtClean="0">
                <a:solidFill>
                  <a:srgbClr val="0070C0"/>
                </a:solidFill>
                <a:latin typeface="Arial" charset="0"/>
              </a:rPr>
              <a:t>Data </a:t>
            </a:r>
            <a:r>
              <a:rPr lang="en-US" altLang="ru-RU" sz="2400" dirty="0">
                <a:solidFill>
                  <a:srgbClr val="0070C0"/>
                </a:solidFill>
                <a:latin typeface="Arial" charset="0"/>
              </a:rPr>
              <a:t>variables “Pressure &amp; efficiency corr</a:t>
            </a:r>
            <a:r>
              <a:rPr lang="en-US" altLang="ru-RU" sz="2400" dirty="0" smtClean="0">
                <a:solidFill>
                  <a:srgbClr val="0070C0"/>
                </a:solidFill>
                <a:latin typeface="Arial" charset="0"/>
              </a:rPr>
              <a:t>.”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40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400" dirty="0">
                <a:solidFill>
                  <a:srgbClr val="0070C0"/>
                </a:solidFill>
                <a:latin typeface="Arial" charset="0"/>
              </a:rPr>
              <a:t>Scale “Counts/s*”</a:t>
            </a:r>
            <a:endParaRPr kumimoji="0" lang="ru-RU" altLang="ru-RU" sz="240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615070" y="2636874"/>
            <a:ext cx="1765004" cy="26368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2636874" y="3466214"/>
            <a:ext cx="4316819" cy="180753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62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334" y="595422"/>
            <a:ext cx="8139666" cy="6262577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24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2416" y="1674674"/>
            <a:ext cx="33386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Выбрав вид</a:t>
            </a:r>
            <a:r>
              <a:rPr kumimoji="0" lang="ru-RU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 выходных данных в виде графика получаем</a:t>
            </a:r>
            <a:r>
              <a:rPr kumimoji="0" lang="mr-IN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…</a:t>
            </a:r>
            <a:r>
              <a:rPr kumimoji="0" lang="ru-RU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 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104708" y="2761205"/>
            <a:ext cx="5295013" cy="270393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946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121" y="489098"/>
            <a:ext cx="8646700" cy="636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91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32416" y="1674674"/>
            <a:ext cx="33386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Выбрав вид</a:t>
            </a:r>
            <a:r>
              <a:rPr kumimoji="0" lang="ru-RU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 выходных данных в виде временного ряда получаем</a:t>
            </a:r>
            <a:r>
              <a:rPr kumimoji="0" lang="mr-IN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…</a:t>
            </a:r>
            <a:r>
              <a:rPr kumimoji="0" lang="ru-RU" altLang="ru-RU" sz="2400" b="1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 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456" y="473301"/>
            <a:ext cx="8388544" cy="6425451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>
            <a:off x="3104708" y="2761205"/>
            <a:ext cx="5167422" cy="252713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612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27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59219" y="40753"/>
            <a:ext cx="106945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Пример сбора данных для варианта №1</a:t>
            </a: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902" y="618942"/>
            <a:ext cx="8109098" cy="6239058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762847" y="5358809"/>
            <a:ext cx="574158" cy="14991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32416" y="2228671"/>
            <a:ext cx="33386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charset="0"/>
              </a:rPr>
              <a:t>Данные для анализа</a:t>
            </a: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1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3104708" y="2761205"/>
            <a:ext cx="2658139" cy="259760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363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5671" y="1388192"/>
            <a:ext cx="7252491" cy="2387600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 smtClean="0">
                <a:latin typeface="+mn-lt"/>
              </a:rPr>
              <a:t>ТЕМА №2</a:t>
            </a:r>
            <a:r>
              <a:rPr lang="en-US" b="1" dirty="0" smtClean="0">
                <a:latin typeface="+mn-lt"/>
              </a:rPr>
              <a:t> </a:t>
            </a:r>
            <a:br>
              <a:rPr lang="en-US" b="1" dirty="0" smtClean="0">
                <a:latin typeface="+mn-lt"/>
              </a:rPr>
            </a:br>
            <a:r>
              <a:rPr lang="ru-RU" b="1" dirty="0" smtClean="0">
                <a:solidFill>
                  <a:srgbClr val="F8BB01"/>
                </a:solidFill>
                <a:latin typeface="+mn-lt"/>
              </a:rPr>
              <a:t>МЕТОДЫ СНИЖЕНИЯ РАЗМЕРНОСТИ</a:t>
            </a:r>
            <a:endParaRPr lang="en-US" b="1" dirty="0">
              <a:solidFill>
                <a:srgbClr val="F8BB01"/>
              </a:solidFill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28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2664162" y="5094645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Доцент, к.т.н. Мандрикова Богдана Сергеевна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5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Методы снижения размерности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17899" y="1325563"/>
            <a:ext cx="9874102" cy="43309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К </a:t>
            </a:r>
            <a:r>
              <a:rPr lang="ru-RU" i="1" dirty="0"/>
              <a:t>методам снижения размерности</a:t>
            </a:r>
            <a:r>
              <a:rPr lang="ru-RU" dirty="0"/>
              <a:t> прибегают в случае, когда:</a:t>
            </a:r>
          </a:p>
          <a:p>
            <a:pPr lvl="0" algn="just">
              <a:buFont typeface="Wingdings" charset="2"/>
              <a:buChar char="ü"/>
            </a:pPr>
            <a:r>
              <a:rPr lang="ru-RU" dirty="0"/>
              <a:t>необходимо сделать предобработку данных и очистить их от шума; </a:t>
            </a:r>
          </a:p>
          <a:p>
            <a:pPr lvl="0" algn="just">
              <a:buFont typeface="Wingdings" charset="2"/>
              <a:buChar char="ü"/>
            </a:pPr>
            <a:r>
              <a:rPr lang="ru-RU" dirty="0"/>
              <a:t>требуется упростить модель, чтобы легче ее интерпретировать и избежать процедуры переобучения; </a:t>
            </a:r>
          </a:p>
          <a:p>
            <a:pPr lvl="0" algn="just">
              <a:buFont typeface="Wingdings" charset="2"/>
              <a:buChar char="ü"/>
            </a:pPr>
            <a:r>
              <a:rPr lang="ru-RU" dirty="0"/>
              <a:t>нужно улучшить производительность для повышения точности модели и обобщения; </a:t>
            </a:r>
          </a:p>
          <a:p>
            <a:pPr lvl="0" algn="just">
              <a:buFont typeface="Wingdings" charset="2"/>
              <a:buChar char="ü"/>
            </a:pPr>
            <a:r>
              <a:rPr lang="ru-RU" dirty="0"/>
              <a:t>важно снизить вычислительную нагрузку и улучшить визуализацию.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54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19765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</a:t>
            </a:r>
            <a:r>
              <a:rPr lang="ru-RU" b="1" smtClean="0"/>
              <a:t>с ограничениями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91863" y="1056290"/>
            <a:ext cx="10300137" cy="5801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i="1" dirty="0" smtClean="0"/>
              <a:t>     Функция </a:t>
            </a:r>
            <a:r>
              <a:rPr lang="ru-RU" i="1" dirty="0"/>
              <a:t>стоимости</a:t>
            </a:r>
            <a:r>
              <a:rPr lang="ru-RU" dirty="0"/>
              <a:t> –  это функция, которая отражает отклонение результатов, полученных на основе методов искусственного интеллекта (ИИ) и машинного обучения (МО), от фактически имеющихся </a:t>
            </a:r>
            <a:r>
              <a:rPr lang="ru-RU" dirty="0" smtClean="0"/>
              <a:t>результатов. </a:t>
            </a:r>
          </a:p>
          <a:p>
            <a:pPr marL="0" indent="0" algn="just">
              <a:buNone/>
            </a:pPr>
            <a:r>
              <a:rPr lang="ru-RU" dirty="0" smtClean="0"/>
              <a:t>     В </a:t>
            </a:r>
            <a:r>
              <a:rPr lang="ru-RU" dirty="0"/>
              <a:t>области ИИ и МО решение задачи оптимизации реализуют методом </a:t>
            </a:r>
            <a:r>
              <a:rPr lang="ru-RU" i="1" dirty="0"/>
              <a:t>обучения с учителем</a:t>
            </a:r>
            <a:r>
              <a:rPr lang="ru-RU" dirty="0"/>
              <a:t> или методом </a:t>
            </a:r>
            <a:r>
              <a:rPr lang="ru-RU" i="1" dirty="0"/>
              <a:t>обучения без </a:t>
            </a:r>
            <a:r>
              <a:rPr lang="ru-RU" i="1" dirty="0" smtClean="0"/>
              <a:t>учителя</a:t>
            </a:r>
            <a:r>
              <a:rPr lang="ru-RU" dirty="0" smtClean="0"/>
              <a:t>. </a:t>
            </a:r>
            <a:r>
              <a:rPr lang="ru-RU" dirty="0"/>
              <a:t>В первом случае каждый элемент тренировочного набора определяется входным вектором и соответствующей ему меткой. </a:t>
            </a:r>
            <a:r>
              <a:rPr lang="ru-RU" dirty="0" smtClean="0"/>
              <a:t>В </a:t>
            </a:r>
            <a:r>
              <a:rPr lang="ru-RU" dirty="0"/>
              <a:t>случае обучения без учителя тренировочный набор данных не содержит меток и алгоритм сам пытается выявить внутренние закономерности.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     Методы </a:t>
            </a:r>
            <a:r>
              <a:rPr lang="ru-RU" dirty="0"/>
              <a:t>снижения размерности, которые будут рассмотрены далее, относятся к методам обучения без учителя и представляют собой </a:t>
            </a:r>
            <a:r>
              <a:rPr lang="ru-RU" i="1" dirty="0"/>
              <a:t>задачи оптимизации с </a:t>
            </a:r>
            <a:r>
              <a:rPr lang="ru-RU" i="1" dirty="0" smtClean="0"/>
              <a:t>ограничениями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05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с ограничениями.</a:t>
            </a:r>
            <a:br>
              <a:rPr lang="ru-RU" b="1" dirty="0" smtClean="0"/>
            </a:br>
            <a:r>
              <a:rPr lang="ru-RU" b="1" dirty="0" smtClean="0"/>
              <a:t>Функция Лагранжа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В задачах оптимизации с ограничениями наряду с функцией стоимости, которую мы </a:t>
                </a:r>
                <a:r>
                  <a:rPr lang="ru-RU" sz="2600" dirty="0"/>
                  <a:t>должны оптимизировать, вводится набор условий, которые должны </a:t>
                </a:r>
                <a:r>
                  <a:rPr lang="ru-RU" sz="2600" dirty="0" smtClean="0"/>
                  <a:t>соблюдаться при </a:t>
                </a:r>
                <a:r>
                  <a:rPr lang="ru-RU" sz="2600" dirty="0"/>
                  <a:t>этом. </a:t>
                </a:r>
                <a:r>
                  <a:rPr lang="ru-RU" sz="2600" dirty="0" smtClean="0"/>
                  <a:t>Ограничения могут </a:t>
                </a:r>
                <a:r>
                  <a:rPr lang="ru-RU" sz="2600" dirty="0"/>
                  <a:t>формулироваться в виде равенств или неравенств</a:t>
                </a:r>
                <a:r>
                  <a:rPr lang="ru-RU" sz="2600" dirty="0" smtClean="0"/>
                  <a:t>.</a:t>
                </a:r>
                <a:endParaRPr lang="ru-RU" sz="2600" dirty="0"/>
              </a:p>
              <a:p>
                <a:pPr marL="0" indent="457200" algn="just">
                  <a:buNone/>
                </a:pPr>
                <a:r>
                  <a:rPr lang="ru-RU" sz="2600" dirty="0"/>
                  <a:t>Всякий раз, когда мы хотим минимизировать функцию, которая должна </a:t>
                </a:r>
                <a:r>
                  <a:rPr lang="ru-RU" sz="2600" dirty="0" smtClean="0"/>
                  <a:t>удовлетворять </a:t>
                </a:r>
                <a:r>
                  <a:rPr lang="ru-RU" sz="2600" dirty="0"/>
                  <a:t>ограничениям в виде равенств, мы используем </a:t>
                </a:r>
                <a:r>
                  <a:rPr lang="ru-RU" sz="2600" i="1" u="sng" dirty="0"/>
                  <a:t>функцию Лагранжа</a:t>
                </a:r>
                <a:r>
                  <a:rPr lang="ru-RU" sz="2600" dirty="0"/>
                  <a:t>. </a:t>
                </a:r>
                <a:endParaRPr lang="en-US" sz="2600" dirty="0" smtClean="0"/>
              </a:p>
              <a:p>
                <a:pPr marL="0" indent="457200" algn="just">
                  <a:buNone/>
                </a:pPr>
                <a:r>
                  <a:rPr lang="ru-RU" sz="2600" dirty="0" smtClean="0"/>
                  <a:t>Предположим</a:t>
                </a:r>
                <a:r>
                  <a:rPr lang="ru-RU" sz="2600" dirty="0"/>
                  <a:t>, мы должны минимизировать функцию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charset="0"/>
                      </a:rPr>
                      <m:t>𝑓</m:t>
                    </m:r>
                    <m:r>
                      <a:rPr lang="en-US" sz="2600" b="0" i="1" smtClean="0">
                        <a:latin typeface="Cambria Math" charset="0"/>
                      </a:rPr>
                      <m:t>(</m:t>
                    </m:r>
                    <m:r>
                      <a:rPr lang="en-US" sz="2600" b="0" i="1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en-US" sz="2600" dirty="0" smtClean="0"/>
                  <a:t>) </a:t>
                </a:r>
                <a:r>
                  <a:rPr lang="ru-RU" sz="2600" dirty="0" smtClean="0"/>
                  <a:t>при </a:t>
                </a:r>
                <a:r>
                  <a:rPr lang="ru-RU" sz="2600" dirty="0"/>
                  <a:t>условии, что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𝑔</m:t>
                    </m:r>
                    <m:r>
                      <a:rPr lang="ru-RU" sz="2600" i="1" dirty="0" smtClean="0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ru-RU" sz="2600" i="1" dirty="0" smtClean="0">
                        <a:latin typeface="Cambria Math" charset="0"/>
                      </a:rPr>
                      <m:t>) = 0</m:t>
                    </m:r>
                  </m:oMath>
                </a14:m>
                <a:r>
                  <a:rPr lang="ru-RU" sz="2600" dirty="0"/>
                  <a:t>, </a:t>
                </a:r>
                <a:r>
                  <a:rPr lang="ru-RU" sz="2600" dirty="0" smtClean="0"/>
                  <a:t>где</a:t>
                </a: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en-US" sz="2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6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600" dirty="0"/>
                          <m:t> </m:t>
                        </m:r>
                      </m:e>
                      <m:sup>
                        <m:r>
                          <a:rPr lang="en-US" sz="2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en-US" sz="2600" dirty="0" smtClean="0"/>
                  <a:t>. </a:t>
                </a:r>
                <a:r>
                  <a:rPr lang="ru-RU" sz="2600" dirty="0"/>
                  <a:t>В задачах с ограничениями подобного рода необходимо </a:t>
                </a:r>
                <a:r>
                  <a:rPr lang="ru-RU" sz="2600" dirty="0" smtClean="0"/>
                  <a:t>минимизировать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функцию</a:t>
                </a:r>
                <a:endParaRPr lang="en-US" sz="2600" dirty="0" smtClean="0"/>
              </a:p>
              <a:p>
                <a:pPr marL="0" indent="457200" algn="ctr">
                  <a:buNone/>
                </a:pPr>
                <a:r>
                  <a:rPr lang="ru-RU" sz="2600" dirty="0" smtClean="0"/>
                  <a:t>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  <m:r>
                      <a:rPr lang="ru-RU" sz="2600" i="1" dirty="0" smtClean="0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ru-RU" sz="2600" i="1" dirty="0" smtClean="0">
                        <a:latin typeface="Cambria Math" charset="0"/>
                      </a:rPr>
                      <m:t>, </m:t>
                    </m:r>
                    <m:r>
                      <a:rPr lang="ru-RU" sz="26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ru-RU" sz="2600" i="1" dirty="0" smtClean="0">
                        <a:latin typeface="Cambria Math" charset="0"/>
                      </a:rPr>
                      <m:t>) =</m:t>
                    </m:r>
                    <m:r>
                      <a:rPr lang="en-US" sz="2600" i="1">
                        <a:latin typeface="Cambria Math" charset="0"/>
                      </a:rPr>
                      <m:t>𝑓</m:t>
                    </m:r>
                    <m:r>
                      <a:rPr lang="en-US" sz="2600" i="1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m:rPr>
                        <m:nor/>
                      </m:rPr>
                      <a:rPr lang="en-US" sz="2600" dirty="0"/>
                      <m:t>)</m:t>
                    </m:r>
                    <m:r>
                      <a:rPr lang="ru-RU" sz="2600" i="1" dirty="0" smtClean="0">
                        <a:latin typeface="Cambria Math" charset="0"/>
                      </a:rPr>
                      <m:t>+</m:t>
                    </m:r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en-US" sz="2600" i="1" dirty="0">
                        <a:latin typeface="Cambria Math" charset="0"/>
                      </a:rPr>
                      <m:t>𝑔</m:t>
                    </m:r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sz="2600" b="0" i="0" dirty="0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2600" dirty="0"/>
                  <a:t> </a:t>
                </a:r>
                <a:endParaRPr lang="en-US" sz="2600" dirty="0" smtClean="0"/>
              </a:p>
              <a:p>
                <a:pPr marL="0" indent="457200" algn="just">
                  <a:buNone/>
                </a:pPr>
                <a:r>
                  <a:rPr lang="ru-RU" sz="2600" dirty="0" smtClean="0"/>
                  <a:t>Записав </a:t>
                </a:r>
                <a:r>
                  <a:rPr lang="ru-RU" sz="2600" dirty="0"/>
                  <a:t>градиент функции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</m:oMath>
                </a14:m>
                <a:r>
                  <a:rPr lang="ru-RU" sz="2600" dirty="0" smtClean="0"/>
                  <a:t>, </a:t>
                </a:r>
                <a:r>
                  <a:rPr lang="ru-RU" sz="2600" dirty="0"/>
                  <a:t>которую </a:t>
                </a:r>
                <a:r>
                  <a:rPr lang="ru-RU" sz="2600" dirty="0" smtClean="0"/>
                  <a:t>называют</a:t>
                </a:r>
                <a:r>
                  <a:rPr lang="en-US" sz="2600" dirty="0" smtClean="0"/>
                  <a:t> </a:t>
                </a:r>
                <a:r>
                  <a:rPr lang="ru-RU" sz="2600" i="1" u="sng" dirty="0" smtClean="0"/>
                  <a:t>функцией </a:t>
                </a:r>
                <a:r>
                  <a:rPr lang="ru-RU" sz="2600" i="1" u="sng" dirty="0"/>
                  <a:t>Лагранжа</a:t>
                </a:r>
                <a:r>
                  <a:rPr lang="ru-RU" sz="2600" dirty="0"/>
                  <a:t>, по комбинированному вектору </a:t>
                </a:r>
                <a14:m>
                  <m:oMath xmlns:m="http://schemas.openxmlformats.org/officeDocument/2006/math">
                    <m:r>
                      <a:rPr lang="ru-RU" sz="2600" i="1" dirty="0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ru-RU" sz="2600" i="1" dirty="0">
                        <a:latin typeface="Cambria Math" charset="0"/>
                      </a:rPr>
                      <m:t>, </m:t>
                    </m:r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ru-RU" sz="2600" i="1" dirty="0"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2600" dirty="0"/>
                  <a:t>и приравняв его к </a:t>
                </a:r>
                <a:r>
                  <a:rPr lang="ru-RU" sz="2600" dirty="0" smtClean="0"/>
                  <a:t>нулю,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мы </a:t>
                </a:r>
                <a:r>
                  <a:rPr lang="ru-RU" sz="2600" dirty="0"/>
                  <a:t>получим требуемое значение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ru-RU" sz="2600" dirty="0"/>
                  <a:t>, которое минимизирует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𝑓</m:t>
                    </m:r>
                    <m:r>
                      <a:rPr lang="en-US" sz="2600" i="1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en-US" sz="2600" dirty="0"/>
                  <a:t>)</a:t>
                </a:r>
                <a:r>
                  <a:rPr lang="ru-RU" sz="2600" dirty="0"/>
                  <a:t> и удовлетворяет </a:t>
                </a:r>
                <a:r>
                  <a:rPr lang="ru-RU" sz="2600" dirty="0" smtClean="0"/>
                  <a:t>ограничению: 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𝛻</m:t>
                    </m:r>
                    <m:r>
                      <a:rPr lang="ru-RU" sz="24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ru-RU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2400" i="1">
                        <a:latin typeface="Cambria Math" charset="0"/>
                      </a:rPr>
                      <m:t>=</m:t>
                    </m:r>
                    <m:r>
                      <a:rPr lang="en-US" sz="2400" i="1">
                        <a:latin typeface="Cambria Math" charset="0"/>
                      </a:rPr>
                      <m:t>𝜆</m:t>
                    </m:r>
                    <m:r>
                      <a:rPr lang="ru-RU" sz="2400" i="1">
                        <a:latin typeface="Cambria Math" charset="0"/>
                      </a:rPr>
                      <m:t>∙</m:t>
                    </m:r>
                    <m:r>
                      <a:rPr lang="en-US" sz="2400" i="1">
                        <a:latin typeface="Cambria Math" charset="0"/>
                      </a:rPr>
                      <m:t>𝛻</m:t>
                    </m:r>
                    <m:r>
                      <a:rPr lang="en-US" sz="2400" i="1">
                        <a:latin typeface="Cambria Math" charset="0"/>
                      </a:rPr>
                      <m:t>𝑔</m:t>
                    </m:r>
                    <m:d>
                      <m:dPr>
                        <m:ctrlPr>
                          <a:rPr lang="ru-RU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2400" b="0" i="0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2400" dirty="0" smtClean="0">
                    <a:effectLst/>
                  </a:rPr>
                  <a:t> </a:t>
                </a:r>
                <a:endParaRPr lang="ru-RU" sz="2600" dirty="0" smtClean="0"/>
              </a:p>
              <a:p>
                <a:pPr marL="0" indent="457200" algn="just">
                  <a:buNone/>
                </a:pPr>
                <a:r>
                  <a:rPr lang="ru-RU" sz="2600" dirty="0" smtClean="0"/>
                  <a:t>Здесь </a:t>
                </a:r>
                <a14:m>
                  <m:oMath xmlns:m="http://schemas.openxmlformats.org/officeDocument/2006/math"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ru-RU" sz="2600" dirty="0"/>
                  <a:t> — множитель Лагранжа. </a:t>
                </a:r>
              </a:p>
              <a:p>
                <a:pPr marL="0" indent="457200" algn="just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888" t="-1996" r="-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31569" y="4563004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31569" y="5950552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</a:t>
            </a:r>
            <a:r>
              <a:rPr lang="ru-RU" sz="2800" b="1" dirty="0" smtClean="0">
                <a:solidFill>
                  <a:srgbClr val="FF9300"/>
                </a:solidFill>
              </a:rPr>
              <a:t>2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81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32</a:t>
            </a:fld>
            <a:endParaRPr lang="en-US"/>
          </a:p>
        </p:txBody>
      </p:sp>
      <p:pic>
        <p:nvPicPr>
          <p:cNvPr id="1028" name="Picture 4" descr="https://upload.wikimedia.org/wikipedia/commons/thumb/d/d1/Courbe_niveau.svg/1024px-Courbe_niveau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985" y="113286"/>
            <a:ext cx="3973695" cy="454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upload.wikimedia.org/wikipedia/commons/thumb/d/df/Lagrange-method-2D-level.svg/1280px-Lagrange-method-2D-level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58" y="770824"/>
            <a:ext cx="5020573" cy="475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993412" y="247604"/>
                <a:ext cx="297145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011893"/>
                          </a:solidFill>
                          <a:latin typeface="Cambria Math" charset="0"/>
                        </a:rPr>
                        <m:t>𝒇</m:t>
                      </m:r>
                      <m:d>
                        <m:dPr>
                          <m:ctrlPr>
                            <a:rPr lang="ru-RU" sz="3600" b="1" i="1" smtClean="0">
                              <a:solidFill>
                                <a:srgbClr val="011893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ru-RU" sz="2800" b="1" i="1">
                              <a:solidFill>
                                <a:srgbClr val="011893"/>
                              </a:solidFill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sz="3600" b="1" i="1" smtClean="0">
                          <a:solidFill>
                            <a:srgbClr val="011893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3600" b="1" i="1" smtClean="0">
                          <a:solidFill>
                            <a:srgbClr val="011893"/>
                          </a:solidFill>
                          <a:latin typeface="Cambria Math" charset="0"/>
                        </a:rPr>
                        <m:t>𝒄𝒐𝒏𝒔𝒕</m:t>
                      </m:r>
                    </m:oMath>
                  </m:oMathPara>
                </a14:m>
                <a:endParaRPr lang="ru-RU" sz="2800" b="1" dirty="0">
                  <a:solidFill>
                    <a:srgbClr val="011893"/>
                  </a:solidFill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412" y="247604"/>
                <a:ext cx="297145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314119" y="3828800"/>
                <a:ext cx="188904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2600"/>
                          </a:solidFill>
                          <a:latin typeface="Cambria Math" charset="0"/>
                        </a:rPr>
                        <m:t>𝒈</m:t>
                      </m:r>
                      <m:d>
                        <m:dPr>
                          <m:ctrlPr>
                            <a:rPr lang="ru-RU" sz="3200" b="1" i="1" dirty="0">
                              <a:solidFill>
                                <a:srgbClr val="FF26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ru-RU" sz="2800" b="1" i="1">
                              <a:solidFill>
                                <a:srgbClr val="FF2600"/>
                              </a:solidFill>
                              <a:latin typeface="Cambria Math" charset="0"/>
                            </a:rPr>
                            <m:t>𝜽</m:t>
                          </m:r>
                        </m:e>
                      </m:d>
                      <m:r>
                        <a:rPr lang="en-US" sz="3200" b="1" i="0" smtClean="0">
                          <a:solidFill>
                            <a:srgbClr val="FF26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3200" b="1" i="0" smtClean="0">
                          <a:solidFill>
                            <a:srgbClr val="FF2600"/>
                          </a:solidFill>
                          <a:latin typeface="Cambria Math" charset="0"/>
                        </a:rPr>
                        <m:t>𝟎</m:t>
                      </m:r>
                    </m:oMath>
                  </m:oMathPara>
                </a14:m>
                <a:endParaRPr lang="ru-RU" sz="2800" b="1" dirty="0">
                  <a:solidFill>
                    <a:srgbClr val="FF2600"/>
                  </a:solidFill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119" y="3828800"/>
                <a:ext cx="188904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3929477" y="5911135"/>
                <a:ext cx="433304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𝛁</m:t>
                      </m:r>
                      <m:r>
                        <a:rPr lang="mr-IN" sz="3600" b="1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𝒇</m:t>
                      </m:r>
                      <m:d>
                        <m:dPr>
                          <m:ctrlPr>
                            <a:rPr lang="mr-IN" sz="3600" b="1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3600" b="1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sz="3600" b="1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3600" b="1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𝝀</m:t>
                      </m:r>
                      <m:r>
                        <a:rPr lang="en-US" sz="3600" b="1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3600" b="1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𝛁</m:t>
                      </m:r>
                      <m:r>
                        <a:rPr lang="en-US" sz="3600" b="1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𝒈</m:t>
                      </m:r>
                      <m:d>
                        <m:dPr>
                          <m:ctrlPr>
                            <a:rPr lang="mr-IN" sz="3600" b="1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3600" b="1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477" y="5911135"/>
                <a:ext cx="4333046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560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rmAutofit fontScale="92500"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При </a:t>
                </a:r>
                <a:r>
                  <a:rPr lang="ru-RU" sz="2600" dirty="0"/>
                  <a:t>наличии нескольких </a:t>
                </a:r>
                <a:r>
                  <a:rPr lang="ru-RU" sz="2600" dirty="0" smtClean="0"/>
                  <a:t>ограничений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мы </a:t>
                </a:r>
                <a:r>
                  <a:rPr lang="ru-RU" sz="2600" dirty="0"/>
                  <a:t>добавляем их, используя отдельный множитель Лагранжа для каждого </a:t>
                </a:r>
                <a:r>
                  <a:rPr lang="ru-RU" sz="2600" dirty="0" smtClean="0"/>
                  <a:t>ограничения</a:t>
                </a:r>
                <a:r>
                  <a:rPr lang="ru-RU" sz="2600" dirty="0"/>
                  <a:t>. </a:t>
                </a:r>
                <a:r>
                  <a:rPr lang="ru-RU" sz="2600" dirty="0" smtClean="0"/>
                  <a:t>Пусть, </a:t>
                </a:r>
                <a:r>
                  <a:rPr lang="ru-RU" sz="2600" dirty="0"/>
                  <a:t>мы хотим минимизировать функцию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𝑓</m:t>
                    </m:r>
                    <m:r>
                      <a:rPr lang="en-US" sz="2600" i="1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en-US" sz="2600" dirty="0"/>
                  <a:t>)</a:t>
                </a:r>
                <a:r>
                  <a:rPr lang="ru-RU" sz="2600" dirty="0"/>
                  <a:t> при условии, что </a:t>
                </a:r>
                <a:r>
                  <a:rPr lang="ru-RU" sz="2600" dirty="0" smtClean="0"/>
                  <a:t>должны </a:t>
                </a:r>
                <a:r>
                  <a:rPr lang="ru-RU" sz="2600" dirty="0"/>
                  <a:t>выполняться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charset="0"/>
                      </a:rPr>
                      <m:t>𝑚</m:t>
                    </m:r>
                  </m:oMath>
                </a14:m>
                <a:r>
                  <a:rPr lang="ru-RU" sz="2600" dirty="0"/>
                  <a:t> ограничений</a:t>
                </a: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600" i="1" dirty="0" smtClean="0">
                        <a:latin typeface="Cambria Math" charset="0"/>
                      </a:rPr>
                      <m:t> </m:t>
                    </m:r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ru-RU" sz="2600" i="1" dirty="0" smtClean="0">
                        <a:latin typeface="Cambria Math" charset="0"/>
                      </a:rPr>
                      <m:t>=0, </m:t>
                    </m:r>
                    <m:r>
                      <a:rPr lang="en-US" sz="2600" b="0" i="1" dirty="0" smtClean="0">
                        <a:latin typeface="Cambria Math" charset="0"/>
                      </a:rPr>
                      <m:t> </m:t>
                    </m:r>
                    <m:r>
                      <a:rPr lang="ru-RU" sz="26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</m:t>
                    </m:r>
                    <m:r>
                      <a:rPr lang="en-US" sz="2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r>
                      <a:rPr lang="ru-RU" sz="2600" i="1" dirty="0" smtClean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ru-RU" sz="26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ru-RU" sz="2600" i="1" dirty="0" smtClean="0">
                            <a:latin typeface="Cambria Math" charset="0"/>
                          </a:rPr>
                          <m:t>1 2, 3, </m:t>
                        </m:r>
                        <m:r>
                          <a:rPr lang="en-US" sz="2600" b="0" i="1" dirty="0" smtClean="0">
                            <a:latin typeface="Cambria Math" charset="0"/>
                          </a:rPr>
                          <m:t>…, </m:t>
                        </m:r>
                        <m:r>
                          <a:rPr lang="en-US" sz="2600" b="0" i="1" dirty="0" smtClean="0">
                            <a:latin typeface="Cambria Math" charset="0"/>
                          </a:rPr>
                          <m:t>𝑚</m:t>
                        </m:r>
                      </m:e>
                    </m:d>
                    <m:r>
                      <a:rPr lang="en-US" sz="2600" b="0" i="1" dirty="0" smtClean="0">
                        <a:latin typeface="Cambria Math" charset="0"/>
                      </a:rPr>
                      <m:t>.</m:t>
                    </m:r>
                    <m:r>
                      <a:rPr lang="ru-RU" sz="2600" i="1" dirty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600" dirty="0"/>
                  <a:t>Тогда </a:t>
                </a:r>
                <a:r>
                  <a:rPr lang="ru-RU" sz="2600" dirty="0" smtClean="0"/>
                  <a:t>функция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Лагранжа </a:t>
                </a:r>
                <a:r>
                  <a:rPr lang="ru-RU" sz="2600" dirty="0"/>
                  <a:t>определяется согласно следующему правилу: </a:t>
                </a:r>
              </a:p>
              <a:p>
                <a:pPr marL="0" indent="45720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>
                          <a:latin typeface="Cambria Math" charset="0"/>
                        </a:rPr>
                        <m:t>𝐿</m:t>
                      </m:r>
                      <m:r>
                        <a:rPr lang="ru-RU" sz="2600" i="1" dirty="0">
                          <a:latin typeface="Cambria Math" charset="0"/>
                        </a:rPr>
                        <m:t>(</m:t>
                      </m:r>
                      <m:r>
                        <a:rPr lang="en-US" sz="2600" i="1">
                          <a:latin typeface="Cambria Math" charset="0"/>
                        </a:rPr>
                        <m:t>𝜃</m:t>
                      </m:r>
                      <m:r>
                        <a:rPr lang="ru-RU" sz="2600" i="1" dirty="0">
                          <a:latin typeface="Cambria Math" charset="0"/>
                        </a:rPr>
                        <m:t>, </m:t>
                      </m:r>
                      <m:r>
                        <a:rPr lang="ru-RU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r>
                        <a:rPr lang="ru-RU" sz="2600" i="1" dirty="0">
                          <a:latin typeface="Cambria Math" charset="0"/>
                        </a:rPr>
                        <m:t>) =</m:t>
                      </m:r>
                      <m:r>
                        <a:rPr lang="en-US" sz="2600" i="1">
                          <a:latin typeface="Cambria Math" charset="0"/>
                        </a:rPr>
                        <m:t>𝑓</m:t>
                      </m:r>
                      <m:r>
                        <a:rPr lang="en-US" sz="2600" i="1">
                          <a:latin typeface="Cambria Math" charset="0"/>
                        </a:rPr>
                        <m:t>(</m:t>
                      </m:r>
                      <m:r>
                        <a:rPr lang="en-US" sz="2600" i="1">
                          <a:latin typeface="Cambria Math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2600" dirty="0"/>
                        <m:t>)</m:t>
                      </m:r>
                      <m:r>
                        <a:rPr lang="ru-RU" sz="2600" i="1" dirty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is-IS" sz="2600" i="1" dirty="0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dirty="0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600" b="0" i="1" dirty="0" smtClean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dirty="0" smtClean="0"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600" b="0" i="1" dirty="0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600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600" b="0" i="0" smtClean="0">
                              <a:latin typeface="Cambria Math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marL="0" indent="4572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ru-RU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r>
                        <a:rPr lang="en-US" sz="26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6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6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i="1" dirty="0">
                              <a:latin typeface="Cambria Math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6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]</m:t>
                          </m:r>
                        </m:e>
                        <m:sup>
                          <m:r>
                            <a:rPr lang="en-US" sz="26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en-US" sz="2600" dirty="0" smtClean="0"/>
              </a:p>
              <a:p>
                <a:pPr marL="0" indent="457200">
                  <a:buNone/>
                </a:pPr>
                <a:r>
                  <a:rPr lang="ru-RU" sz="2600" dirty="0"/>
                  <a:t>Минимуму функции соответствует равенство нулю градиентов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  <m:r>
                      <a:rPr lang="ru-RU" sz="2600" i="1" dirty="0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ru-RU" sz="2600" i="1" dirty="0">
                        <a:latin typeface="Cambria Math" charset="0"/>
                      </a:rPr>
                      <m:t>, </m:t>
                    </m:r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ru-RU" sz="2600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ru-RU" sz="2600" dirty="0"/>
                  <a:t> по </a:t>
                </a:r>
                <a:r>
                  <a:rPr lang="ru-RU" sz="2600" dirty="0" smtClean="0"/>
                  <a:t>каждому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из </a:t>
                </a:r>
                <a:r>
                  <a:rPr lang="ru-RU" sz="2600" dirty="0"/>
                  <a:t>векторов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ru-RU" sz="2600" dirty="0" smtClean="0"/>
                  <a:t> </a:t>
                </a:r>
                <a:r>
                  <a:rPr lang="ru-RU" sz="2600" dirty="0"/>
                  <a:t>и </a:t>
                </a:r>
                <a14:m>
                  <m:oMath xmlns:m="http://schemas.openxmlformats.org/officeDocument/2006/math"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ru-RU" sz="2600" i="1" dirty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600" dirty="0"/>
                  <a:t>, т.е.</a:t>
                </a:r>
              </a:p>
              <a:p>
                <a:pPr marL="0" indent="45720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6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26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  <m:r>
                            <a:rPr lang="ru-RU" sz="2600" i="1" dirty="0">
                              <a:latin typeface="Cambria Math" charset="0"/>
                            </a:rPr>
                            <m:t>, </m:t>
                          </m:r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</m:d>
                      <m:r>
                        <a:rPr lang="en-US" sz="2600" b="0" i="1" dirty="0" smtClean="0">
                          <a:latin typeface="Cambria Math" charset="0"/>
                        </a:rPr>
                        <m:t>=0,</m:t>
                      </m:r>
                    </m:oMath>
                  </m:oMathPara>
                </a14:m>
                <a:endParaRPr lang="en-US" sz="2600" dirty="0" smtClean="0"/>
              </a:p>
              <a:p>
                <a:pPr marL="0" indent="45720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  <m:r>
                            <a:rPr lang="ru-RU" sz="2600" i="1" dirty="0">
                              <a:latin typeface="Cambria Math" charset="0"/>
                            </a:rPr>
                            <m:t>, </m:t>
                          </m:r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</m:d>
                      <m:r>
                        <a:rPr lang="en-US" sz="2600" i="1" dirty="0">
                          <a:latin typeface="Cambria Math" charset="0"/>
                        </a:rPr>
                        <m:t>=0</m:t>
                      </m:r>
                      <m:r>
                        <a:rPr lang="en-US" sz="2600" b="0" i="1" dirty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2600" dirty="0"/>
              </a:p>
              <a:p>
                <a:pPr marL="0" indent="457200" algn="just">
                  <a:buNone/>
                </a:pPr>
                <a:r>
                  <a:rPr lang="ru-RU" sz="2600" dirty="0"/>
                  <a:t>Описанный метод нельзя использовать непосредственно, если ограничения </a:t>
                </a:r>
                <a:r>
                  <a:rPr lang="ru-RU" sz="2600" dirty="0" smtClean="0"/>
                  <a:t>заданы </a:t>
                </a:r>
                <a:r>
                  <a:rPr lang="ru-RU" sz="2600" dirty="0"/>
                  <a:t>в форме неравенств. В подобных случаях может быть использован другой, </a:t>
                </a:r>
                <a:r>
                  <a:rPr lang="ru-RU" sz="2600" dirty="0" smtClean="0"/>
                  <a:t>более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общий </a:t>
                </a:r>
                <a:r>
                  <a:rPr lang="ru-RU" sz="2600" dirty="0"/>
                  <a:t>подход: метод </a:t>
                </a:r>
                <a:r>
                  <a:rPr lang="ru-RU" sz="2600" dirty="0" err="1"/>
                  <a:t>Каруша</a:t>
                </a:r>
                <a:r>
                  <a:rPr lang="ru-RU" sz="2600" dirty="0"/>
                  <a:t> — Куна — </a:t>
                </a:r>
                <a:r>
                  <a:rPr lang="ru-RU" sz="2600" dirty="0" err="1"/>
                  <a:t>Таккера</a:t>
                </a:r>
                <a:r>
                  <a:rPr lang="ru-RU" sz="2600" dirty="0" smtClean="0"/>
                  <a:t>.</a:t>
                </a: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888" t="-1471" r="-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3999" y="3182816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(3)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с ограничениями.</a:t>
            </a:r>
            <a:br>
              <a:rPr lang="ru-RU" b="1" dirty="0" smtClean="0"/>
            </a:br>
            <a:r>
              <a:rPr lang="ru-RU" b="1" dirty="0" smtClean="0"/>
              <a:t>Функция Лагранжа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93940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204961"/>
                <a:ext cx="10300137" cy="5801710"/>
              </a:xfrm>
            </p:spPr>
            <p:txBody>
              <a:bodyPr>
                <a:normAutofit fontScale="92500"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charset="0"/>
                      </a:rPr>
                      <m:t>𝐶</m:t>
                    </m:r>
                    <m:r>
                      <a:rPr lang="en-US" sz="2600" b="0" i="1" dirty="0" smtClean="0">
                        <a:latin typeface="Cambria Math" charset="0"/>
                      </a:rPr>
                      <m:t>(</m:t>
                    </m:r>
                    <m:r>
                      <a:rPr lang="en-US" sz="2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ru-RU" sz="2600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ru-RU" sz="2600" dirty="0"/>
                  <a:t> — функция стоимости, которую мы хотим минимизировать, </a:t>
                </a:r>
                <a:r>
                  <a:rPr lang="ru-RU" sz="2600" dirty="0" smtClean="0"/>
                  <a:t>где</a:t>
                </a: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en-US" sz="26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600" dirty="0"/>
                          <m:t> </m:t>
                        </m:r>
                      </m:e>
                      <m:sup>
                        <m:r>
                          <a:rPr lang="en-US" sz="2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sz="26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en-US" sz="2600" dirty="0" smtClean="0"/>
                  <a:t>. </a:t>
                </a:r>
                <a:r>
                  <a:rPr lang="ru-RU" sz="2600" dirty="0" smtClean="0"/>
                  <a:t>Кроме </a:t>
                </a:r>
                <a:r>
                  <a:rPr lang="ru-RU" sz="2600" dirty="0"/>
                  <a:t>того, пусть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ru-RU" sz="2600" dirty="0"/>
                  <a:t> </a:t>
                </a:r>
                <a:r>
                  <a:rPr lang="ru-RU" sz="2600" dirty="0" smtClean="0"/>
                  <a:t>подчиняется</a:t>
                </a: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2600" dirty="0" smtClean="0"/>
                  <a:t> </a:t>
                </a:r>
                <a:r>
                  <a:rPr lang="ru-RU" sz="2600" dirty="0" smtClean="0"/>
                  <a:t>ограничениям</a:t>
                </a:r>
                <a:r>
                  <a:rPr lang="ru-RU" sz="2600" dirty="0"/>
                  <a:t>, таким, </a:t>
                </a:r>
                <a:r>
                  <a:rPr lang="ru-RU" sz="2600" dirty="0" smtClean="0"/>
                  <a:t>что</a:t>
                </a:r>
                <a:endParaRPr lang="en-US" sz="2600" dirty="0" smtClean="0"/>
              </a:p>
              <a:p>
                <a:pPr marL="0" indent="457200" algn="ctr">
                  <a:buNone/>
                </a:pP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sz="2600" b="0" i="0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600">
                            <a:latin typeface="Cambria Math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</m:sub>
                    </m:sSub>
                  </m:oMath>
                </a14:m>
                <a:endParaRPr lang="en-US" sz="2600" b="0" i="1" dirty="0" smtClean="0">
                  <a:latin typeface="Cambria Math" charset="0"/>
                </a:endParaRPr>
              </a:p>
              <a:p>
                <a:pPr marL="0" indent="457200" algn="ctr">
                  <a:buNone/>
                </a:pP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6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sz="260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600" b="0" i="0" smtClean="0">
                            <a:latin typeface="Cambria Math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</m:sub>
                    </m:sSub>
                  </m:oMath>
                </a14:m>
                <a:endParaRPr lang="en-US" sz="2600" dirty="0" smtClean="0"/>
              </a:p>
              <a:p>
                <a:pPr marL="0" indent="457200" algn="ctr">
                  <a:buNone/>
                </a:pP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600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sz="2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600" b="0" i="0" smtClean="0">
                            <a:latin typeface="Cambria Math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</m:sub>
                    </m:sSub>
                  </m:oMath>
                </a14:m>
                <a:endParaRPr lang="en-US" sz="2600" dirty="0" smtClean="0"/>
              </a:p>
              <a:p>
                <a:pPr marL="0" indent="457200" algn="ctr">
                  <a:buNone/>
                </a:pPr>
                <a:r>
                  <a:rPr lang="mr-IN" sz="2600" dirty="0" smtClean="0"/>
                  <a:t>…</a:t>
                </a:r>
                <a:endParaRPr lang="en-US" sz="2600" dirty="0" smtClean="0"/>
              </a:p>
              <a:p>
                <a:pPr marL="0" indent="457200" algn="ctr">
                  <a:buNone/>
                </a:pPr>
                <a:r>
                  <a:rPr lang="en-US" sz="26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600" b="0" i="1" smtClean="0">
                            <a:latin typeface="Cambria Math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en-US" sz="2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sSub>
                      <m:sSubPr>
                        <m:ctrlPr>
                          <a:rPr lang="en-US" sz="26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600" b="0" i="1" smtClean="0">
                            <a:latin typeface="Cambria Math" charset="0"/>
                          </a:rPr>
                          <m:t>𝑘</m:t>
                        </m:r>
                        <m:r>
                          <a:rPr lang="en-US" sz="2600" b="0" i="0" smtClean="0">
                            <a:latin typeface="Cambria Math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sz="2600" dirty="0"/>
                          <m:t> </m:t>
                        </m:r>
                      </m:sub>
                    </m:sSub>
                  </m:oMath>
                </a14:m>
                <a:endParaRPr lang="en-US" sz="2600" dirty="0" smtClean="0"/>
              </a:p>
              <a:p>
                <a:pPr marL="0" indent="457200" algn="just">
                  <a:buNone/>
                </a:pPr>
                <a:r>
                  <a:rPr lang="ru-RU" sz="2600" dirty="0" smtClean="0"/>
                  <a:t>Любое </a:t>
                </a:r>
                <a:r>
                  <a:rPr lang="ru-RU" sz="2600" dirty="0"/>
                  <a:t>неравенство может быть приведено к стандартной форме, в </a:t>
                </a:r>
                <a:r>
                  <a:rPr lang="ru-RU" sz="2600" dirty="0" smtClean="0"/>
                  <a:t>соответствии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с </a:t>
                </a:r>
                <a:r>
                  <a:rPr lang="ru-RU" sz="2600" dirty="0"/>
                  <a:t>которой функция меньше или равна нулю, например</a:t>
                </a:r>
                <a:r>
                  <a:rPr lang="ru-RU" sz="2600" dirty="0" smtClean="0"/>
                  <a:t>:</a:t>
                </a:r>
                <a:endParaRPr lang="ru-RU" sz="2600" dirty="0"/>
              </a:p>
              <a:p>
                <a:pPr marL="0" indent="45720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i="1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600">
                              <a:latin typeface="Cambria Math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2600" dirty="0"/>
                            <m:t> 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charset="0"/>
                        </a:rPr>
                        <m:t>  </m:t>
                      </m:r>
                      <m:r>
                        <a:rPr lang="en-US" sz="26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−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i="1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60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charset="0"/>
                        </a:rPr>
                        <m:t>  </m:t>
                      </m:r>
                      <m:r>
                        <a:rPr lang="en-US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r>
                        <a:rPr lang="en-US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a:rPr lang="en-US" sz="2600" i="1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60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6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</m:t>
                      </m:r>
                      <m:r>
                        <a:rPr lang="en-US" sz="26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2600" dirty="0"/>
              </a:p>
              <a:p>
                <a:pPr marL="0" indent="457200" algn="just">
                  <a:buNone/>
                </a:pPr>
                <a:r>
                  <a:rPr lang="ru-RU" sz="2600" dirty="0"/>
                  <a:t>Пусть ограничения типа </a:t>
                </a:r>
                <a:r>
                  <a:rPr lang="ru-RU" sz="2600" i="1" u="sng" dirty="0"/>
                  <a:t>меньше нуля </a:t>
                </a:r>
                <a:r>
                  <a:rPr lang="ru-RU" sz="2600" dirty="0"/>
                  <a:t>или </a:t>
                </a:r>
                <a:r>
                  <a:rPr lang="ru-RU" sz="2600" i="1" u="sng" dirty="0"/>
                  <a:t>меньше или равно нулю </a:t>
                </a:r>
                <a:r>
                  <a:rPr lang="ru-RU" sz="2600" dirty="0"/>
                  <a:t>заданы </a:t>
                </a:r>
                <a:r>
                  <a:rPr lang="ru-RU" sz="2600" dirty="0" smtClean="0"/>
                  <a:t>функциями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sz="26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600" dirty="0"/>
                  <a:t>, а ограничения типа </a:t>
                </a:r>
                <a:r>
                  <a:rPr lang="ru-RU" sz="2600" i="1" u="sng" dirty="0"/>
                  <a:t>равно</a:t>
                </a:r>
                <a:r>
                  <a:rPr lang="ru-RU" sz="2600" dirty="0"/>
                  <a:t> — функциями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charset="0"/>
                          </a:rPr>
                          <m:t>𝑒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600" dirty="0"/>
                  <a:t>. Для решения таких </a:t>
                </a:r>
                <a:r>
                  <a:rPr lang="ru-RU" sz="2600" dirty="0" smtClean="0"/>
                  <a:t>задач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применяют </a:t>
                </a:r>
                <a:r>
                  <a:rPr lang="ru-RU" sz="2600" dirty="0"/>
                  <a:t>метод </a:t>
                </a:r>
                <a:r>
                  <a:rPr lang="ru-RU" sz="2600" dirty="0" err="1"/>
                  <a:t>Каруша</a:t>
                </a:r>
                <a:r>
                  <a:rPr lang="ru-RU" sz="2600" dirty="0"/>
                  <a:t> — </a:t>
                </a:r>
                <a:r>
                  <a:rPr lang="ru-RU" sz="2600" dirty="0" smtClean="0"/>
                  <a:t>Куна </a:t>
                </a:r>
                <a:r>
                  <a:rPr lang="ru-RU" sz="2600" dirty="0"/>
                  <a:t>— </a:t>
                </a:r>
                <a:r>
                  <a:rPr lang="ru-RU" sz="2600" dirty="0" err="1"/>
                  <a:t>Таккера</a:t>
                </a:r>
                <a:r>
                  <a:rPr lang="ru-RU" sz="2600" dirty="0"/>
                  <a:t>, являющийся обобщением метода </a:t>
                </a:r>
                <a:r>
                  <a:rPr lang="ru-RU" sz="2600" dirty="0" smtClean="0"/>
                  <a:t>множителей </a:t>
                </a:r>
                <a:r>
                  <a:rPr lang="ru-RU" sz="2600" dirty="0"/>
                  <a:t>Лагранжа</a:t>
                </a:r>
                <a:r>
                  <a:rPr lang="ru-RU" sz="2600" dirty="0" smtClean="0"/>
                  <a:t>.</a:t>
                </a: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204961"/>
                <a:ext cx="10300137" cy="5801710"/>
              </a:xfrm>
              <a:blipFill rotWithShape="0">
                <a:blip r:embed="rId2"/>
                <a:stretch>
                  <a:fillRect l="-888" t="-1472" r="-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285284" y="2389516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(4)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03169" y="4969040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(5)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с ограничениями.</a:t>
            </a:r>
            <a:br>
              <a:rPr lang="ru-RU" b="1" dirty="0" smtClean="0"/>
            </a:br>
            <a:r>
              <a:rPr lang="ru-RU" b="1" dirty="0" smtClean="0"/>
              <a:t>Функция Лагранжа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65995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rmAutofit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Вместо минимизации функции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𝐶</m:t>
                    </m:r>
                    <m:r>
                      <a:rPr lang="en-US" sz="2600" i="1" dirty="0">
                        <a:latin typeface="Cambria Math" charset="0"/>
                      </a:rPr>
                      <m:t>(</m:t>
                    </m:r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ru-RU" sz="2600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ru-RU" sz="2600" dirty="0"/>
                  <a:t> минимизируем функцию стоимости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  <m:r>
                      <a:rPr lang="ru-RU" sz="2600" i="1" dirty="0">
                        <a:latin typeface="Cambria Math" charset="0"/>
                      </a:rPr>
                      <m:t>(</m:t>
                    </m:r>
                    <m:r>
                      <a:rPr lang="en-US" sz="2600" i="1">
                        <a:latin typeface="Cambria Math" charset="0"/>
                      </a:rPr>
                      <m:t>𝜃</m:t>
                    </m:r>
                    <m:r>
                      <a:rPr lang="ru-RU" sz="2600" i="1" dirty="0">
                        <a:latin typeface="Cambria Math" charset="0"/>
                      </a:rPr>
                      <m:t>, </m:t>
                    </m:r>
                    <m:r>
                      <a:rPr lang="ru-RU" sz="26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sz="2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6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ru-RU" sz="2600" i="1" dirty="0">
                        <a:latin typeface="Cambria Math" charset="0"/>
                      </a:rPr>
                      <m:t>) </m:t>
                    </m:r>
                  </m:oMath>
                </a14:m>
                <a:r>
                  <a:rPr lang="en-US" sz="2600" dirty="0" smtClean="0"/>
                  <a:t>:</a:t>
                </a:r>
                <a:endParaRPr lang="ru-RU" sz="2600" dirty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i="1" dirty="0"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ru-RU" sz="26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  <m:r>
                            <a:rPr lang="ru-RU" sz="2600" i="1" dirty="0">
                              <a:latin typeface="Cambria Math" charset="0"/>
                            </a:rPr>
                            <m:t>, </m:t>
                          </m:r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e>
                      </m:d>
                      <m:r>
                        <a:rPr lang="en-US" sz="26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2600" i="1" dirty="0">
                          <a:latin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b="0" i="0" dirty="0" smtClean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is-IS" sz="2600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600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 dirty="0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dirty="0" smtClean="0">
                                  <a:latin typeface="Cambria Math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600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600" b="0" i="0" smtClean="0">
                              <a:latin typeface="Cambria Math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is-IS" sz="2600" i="1" dirty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sz="2600" b="0" i="1" dirty="0" smtClean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2600" i="1" dirty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600" i="1" dirty="0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dirty="0" smtClean="0">
                                      <a:latin typeface="Cambria Math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dirty="0" smtClean="0">
                                      <a:latin typeface="Cambria Math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600" b="0" i="1" dirty="0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600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600">
                                  <a:latin typeface="Cambria Math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600" dirty="0" smtClean="0"/>
              </a:p>
              <a:p>
                <a:pPr marL="0" indent="457200" algn="just">
                  <a:buNone/>
                </a:pPr>
                <a:r>
                  <a:rPr lang="ru-RU" sz="2600" dirty="0" smtClean="0"/>
                  <a:t>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sz="26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ru-RU" sz="2600" i="1" dirty="0">
                        <a:latin typeface="Cambria Math" charset="0"/>
                      </a:rPr>
                      <m:t>, </m:t>
                    </m:r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𝑖</m:t>
                    </m:r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r>
                      <a:rPr lang="ru-RU" sz="2600" i="1" dirty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ru-RU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ru-RU" sz="2600" i="1" dirty="0">
                            <a:latin typeface="Cambria Math" charset="0"/>
                          </a:rPr>
                          <m:t>1 2, 3, </m:t>
                        </m:r>
                        <m:r>
                          <a:rPr lang="en-US" sz="2600" i="1" dirty="0">
                            <a:latin typeface="Cambria Math" charset="0"/>
                          </a:rPr>
                          <m:t>…, </m:t>
                        </m:r>
                        <m:sSub>
                          <m:sSubPr>
                            <m:ctrlPr>
                              <a:rPr lang="en-US" sz="260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600" dirty="0" smtClean="0"/>
                  <a:t>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</m:e>
                    </m:d>
                    <m:r>
                      <a:rPr lang="ru-RU" sz="2600" i="1" dirty="0">
                        <a:latin typeface="Cambria Math" charset="0"/>
                      </a:rPr>
                      <m:t>, </m:t>
                    </m:r>
                    <m:r>
                      <a:rPr lang="en-US" sz="2600" b="0" i="0" dirty="0" smtClean="0">
                        <a:latin typeface="Cambria Math" charset="0"/>
                      </a:rPr>
                      <m:t> </m:t>
                    </m:r>
                    <m:r>
                      <a:rPr lang="ru-RU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𝑗</m:t>
                    </m:r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r>
                      <a:rPr lang="ru-RU" sz="2600" i="1" dirty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ru-RU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ru-RU" sz="2600" i="1" dirty="0">
                            <a:latin typeface="Cambria Math" charset="0"/>
                          </a:rPr>
                          <m:t>1 2, 3, </m:t>
                        </m:r>
                        <m:r>
                          <a:rPr lang="en-US" sz="2600" i="1" dirty="0">
                            <a:latin typeface="Cambria Math" charset="0"/>
                          </a:rPr>
                          <m:t>…, </m:t>
                        </m:r>
                        <m:sSub>
                          <m:sSubPr>
                            <m:ctrlPr>
                              <a:rPr lang="en-US" sz="2600" i="1" dirty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600" i="1" dirty="0">
                                <a:latin typeface="Cambria Math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i="1" dirty="0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600" dirty="0" smtClean="0"/>
                  <a:t> называются множителями Лагранжа. Таким образом, задача минимизации с ограничениями преобразуется в задачу минимизации без ограничений.</a:t>
                </a:r>
              </a:p>
              <a:p>
                <a:pPr marL="0" indent="457200" algn="just">
                  <a:buNone/>
                </a:pPr>
                <a:r>
                  <a:rPr lang="ru-RU" sz="2600" dirty="0" smtClean="0"/>
                  <a:t>Чтобы </a:t>
                </a:r>
                <a:r>
                  <a:rPr lang="ru-RU" sz="2600" dirty="0"/>
                  <a:t>решить эту задачу, мы должны потребовать выполнения условий </a:t>
                </a:r>
                <a:r>
                  <a:rPr lang="ru-RU" sz="2600" dirty="0" err="1" smtClean="0"/>
                  <a:t>Каруша</a:t>
                </a:r>
                <a:r>
                  <a:rPr lang="ru-RU" sz="2600" dirty="0" smtClean="0"/>
                  <a:t> </a:t>
                </a:r>
                <a:r>
                  <a:rPr lang="ru-RU" sz="2600" dirty="0"/>
                  <a:t>— </a:t>
                </a:r>
                <a:r>
                  <a:rPr lang="ru-RU" sz="2600" dirty="0" smtClean="0"/>
                  <a:t>Куна </a:t>
                </a:r>
                <a:r>
                  <a:rPr lang="ru-RU" sz="2600" dirty="0"/>
                  <a:t>— </a:t>
                </a:r>
                <a:r>
                  <a:rPr lang="ru-RU" sz="2600" dirty="0" err="1"/>
                  <a:t>Таккера</a:t>
                </a:r>
                <a:r>
                  <a:rPr lang="ru-RU" sz="2600" dirty="0"/>
                  <a:t> в точке </a:t>
                </a:r>
                <a:r>
                  <a:rPr lang="ru-RU" sz="2600" dirty="0" smtClean="0"/>
                  <a:t>минимума</a:t>
                </a:r>
                <a:r>
                  <a:rPr lang="en-US" sz="2600" dirty="0" smtClean="0"/>
                  <a:t>.</a:t>
                </a: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1065" t="-1576" r="-10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427677" y="2291042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(6)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с ограничениями.</a:t>
            </a:r>
            <a:br>
              <a:rPr lang="ru-RU" b="1" dirty="0" smtClean="0"/>
            </a:br>
            <a:r>
              <a:rPr lang="ru-RU" b="1" dirty="0" smtClean="0"/>
              <a:t>Функция Лагранжа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50896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Условия </a:t>
                </a:r>
                <a:r>
                  <a:rPr lang="ru-RU" sz="2600" dirty="0" err="1" smtClean="0"/>
                  <a:t>Каруша</a:t>
                </a:r>
                <a:r>
                  <a:rPr lang="ru-RU" sz="2600" dirty="0" smtClean="0"/>
                  <a:t> </a:t>
                </a:r>
                <a:r>
                  <a:rPr lang="ru-RU" sz="2600" dirty="0"/>
                  <a:t>— </a:t>
                </a:r>
                <a:r>
                  <a:rPr lang="ru-RU" sz="2600" dirty="0" smtClean="0"/>
                  <a:t>Куна </a:t>
                </a:r>
                <a:r>
                  <a:rPr lang="ru-RU" sz="2600" dirty="0"/>
                  <a:t>— </a:t>
                </a:r>
                <a:r>
                  <a:rPr lang="ru-RU" sz="2600" dirty="0" err="1"/>
                  <a:t>Таккера</a:t>
                </a:r>
                <a:r>
                  <a:rPr lang="ru-RU" sz="2600" dirty="0"/>
                  <a:t> в точке </a:t>
                </a:r>
                <a:r>
                  <a:rPr lang="ru-RU" sz="2600" dirty="0" smtClean="0"/>
                  <a:t>минимума:</a:t>
                </a:r>
                <a:endParaRPr lang="ru-RU" sz="2600" dirty="0"/>
              </a:p>
              <a:p>
                <a:pPr algn="just"/>
                <a:r>
                  <a:rPr lang="ru-RU" sz="2600" dirty="0"/>
                  <a:t>градиент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  <m:r>
                          <a:rPr lang="ru-RU" sz="2600" i="1" dirty="0">
                            <a:latin typeface="Cambria Math" charset="0"/>
                          </a:rPr>
                          <m:t>, </m:t>
                        </m:r>
                        <m:r>
                          <a:rPr lang="ru-RU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2600" dirty="0"/>
                  <a:t> по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charset="0"/>
                      </a:rPr>
                      <m:t>𝜃</m:t>
                    </m:r>
                  </m:oMath>
                </a14:m>
                <a:r>
                  <a:rPr lang="ru-RU" sz="2600" dirty="0" smtClean="0"/>
                  <a:t> </a:t>
                </a:r>
                <a:r>
                  <a:rPr lang="ru-RU" sz="2600" dirty="0"/>
                  <a:t>должен быть нулевым вектором, </a:t>
                </a:r>
                <a:r>
                  <a:rPr lang="ru-RU" sz="2600" dirty="0" smtClean="0"/>
                  <a:t>т.е.</a:t>
                </a:r>
                <a:endParaRPr lang="ru-RU" sz="2600" dirty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  <m:r>
                            <a:rPr lang="ru-RU" sz="2600" i="1" dirty="0">
                              <a:latin typeface="Cambria Math" charset="0"/>
                            </a:rPr>
                            <m:t>,</m:t>
                          </m:r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e>
                      </m:d>
                      <m:r>
                        <a:rPr lang="en-US" sz="2600" i="1" dirty="0">
                          <a:latin typeface="Cambria Math" charset="0"/>
                        </a:rPr>
                        <m:t>=</m:t>
                      </m:r>
                      <m:r>
                        <a:rPr lang="ru-RU" sz="2600" b="0" i="1" dirty="0" smtClean="0">
                          <a:latin typeface="Cambria Math" charset="0"/>
                        </a:rPr>
                        <m:t>0</m:t>
                      </m:r>
                      <m:r>
                        <a:rPr lang="en-US" sz="2600" b="0" i="1" dirty="0" smtClean="0">
                          <a:latin typeface="Cambria Math" charset="0"/>
                        </a:rPr>
                        <m:t>   </m:t>
                      </m:r>
                      <m:r>
                        <a:rPr lang="ru-RU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 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sub>
                      </m:sSub>
                      <m:r>
                        <a:rPr lang="en-US" sz="2600" i="1" dirty="0">
                          <a:latin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dirty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is-IS" sz="2600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600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6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600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600">
                              <a:latin typeface="Cambria Math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is-IS" sz="2600" i="1" dirty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2600" i="1" dirty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6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600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600" b="0" i="0" smtClean="0">
                                  <a:latin typeface="Cambria Math" charset="0"/>
                                </a:rPr>
                                <m:t>=0;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r>
                  <a:rPr lang="ru-RU" sz="2600" dirty="0"/>
                  <a:t/>
                </a:r>
                <a:br>
                  <a:rPr lang="ru-RU" sz="2600" dirty="0"/>
                </a:br>
                <a:endParaRPr lang="ru-RU" sz="2600" dirty="0" smtClean="0"/>
              </a:p>
              <a:p>
                <a:pPr algn="just"/>
                <a:r>
                  <a:rPr lang="ru-RU" sz="2600" dirty="0" smtClean="0"/>
                  <a:t>градиент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ru-RU" sz="26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charset="0"/>
                          </a:rPr>
                          <m:t>𝜃</m:t>
                        </m:r>
                        <m:r>
                          <a:rPr lang="ru-RU" sz="2600" i="1" dirty="0">
                            <a:latin typeface="Cambria Math" charset="0"/>
                          </a:rPr>
                          <m:t>, </m:t>
                        </m:r>
                        <m:r>
                          <a:rPr lang="ru-RU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6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2600" dirty="0"/>
                  <a:t>, </a:t>
                </a:r>
                <a:r>
                  <a:rPr lang="ru-RU" sz="2600" dirty="0" smtClean="0"/>
                  <a:t>а по </a:t>
                </a:r>
                <a:r>
                  <a:rPr lang="ru-RU" sz="2600" dirty="0" err="1" smtClean="0"/>
                  <a:t>коэфф</a:t>
                </a:r>
                <a:r>
                  <a:rPr lang="en-US" sz="2600" dirty="0" smtClean="0"/>
                  <a:t>.</a:t>
                </a:r>
                <a:r>
                  <a:rPr lang="ru-RU" sz="2600" dirty="0" smtClean="0"/>
                  <a:t>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ru-RU" sz="2600" dirty="0" smtClean="0"/>
                  <a:t>, </a:t>
                </a:r>
                <a:r>
                  <a:rPr lang="ru-RU" sz="2600" dirty="0"/>
                  <a:t>являющемуся вектором </a:t>
                </a:r>
                <a:r>
                  <a:rPr lang="ru-RU" sz="2600" dirty="0" smtClean="0"/>
                  <a:t>множителей Лагранжа, соответствующих </a:t>
                </a:r>
                <a:r>
                  <a:rPr lang="ru-RU" sz="2600" dirty="0"/>
                  <a:t>условиям равенства, должен быть равен нулю: </a:t>
                </a:r>
                <a:endParaRPr lang="en-US" sz="26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  <m:r>
                            <a:rPr lang="ru-RU" sz="2600" i="1" dirty="0">
                              <a:latin typeface="Cambria Math" charset="0"/>
                            </a:rPr>
                            <m:t>,</m:t>
                          </m:r>
                          <m: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e>
                      </m:d>
                      <m:r>
                        <a:rPr lang="en-US" sz="2600" i="1" dirty="0">
                          <a:latin typeface="Cambria Math" charset="0"/>
                        </a:rPr>
                        <m:t>=</m:t>
                      </m:r>
                      <m:r>
                        <a:rPr lang="ru-RU" sz="2600" i="1" dirty="0">
                          <a:latin typeface="Cambria Math" charset="0"/>
                        </a:rPr>
                        <m:t>0</m:t>
                      </m:r>
                      <m:r>
                        <a:rPr lang="en-US" sz="2600" b="0" i="1" dirty="0" smtClean="0">
                          <a:latin typeface="Cambria Math" charset="0"/>
                        </a:rPr>
                        <m:t>   </m:t>
                      </m:r>
                      <m:r>
                        <a:rPr lang="ru-RU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 </m:t>
                      </m:r>
                      <m:sSub>
                        <m:sSubPr>
                          <m:ctrlPr>
                            <a:rPr lang="en-US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ru-RU" sz="2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sub>
                      </m:sSub>
                      <m:r>
                        <a:rPr lang="en-US" sz="2600" i="1" dirty="0">
                          <a:latin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dirty="0">
                          <a:latin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is-IS" sz="2600" i="1" dirty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600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6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600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600">
                              <a:latin typeface="Cambria Math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is-IS" sz="2600" i="1" dirty="0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𝑗</m:t>
                              </m:r>
                              <m:r>
                                <a:rPr lang="en-US" sz="2600" i="1" dirty="0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600" i="1" dirty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6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sz="26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600" i="1" dirty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600" b="0" i="0" smtClean="0">
                                  <a:latin typeface="Cambria Math" charset="0"/>
                                </a:rPr>
                                <m:t>=0</m:t>
                              </m:r>
                              <m:r>
                                <a:rPr lang="en-US" sz="2600">
                                  <a:latin typeface="Cambria Math" charset="0"/>
                                </a:rPr>
                                <m:t>;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sz="2600" dirty="0"/>
              </a:p>
              <a:p>
                <a:pPr algn="just"/>
                <a:r>
                  <a:rPr lang="ru-RU" sz="2600" dirty="0" smtClean="0"/>
                  <a:t>в </a:t>
                </a:r>
                <a:r>
                  <a:rPr lang="ru-RU" sz="2600" dirty="0"/>
                  <a:t>точке </a:t>
                </a:r>
                <a:r>
                  <a:rPr lang="ru-RU" sz="2600" dirty="0" smtClean="0"/>
                  <a:t>минимума </a:t>
                </a:r>
                <a:r>
                  <a:rPr lang="ru-RU" sz="2600" dirty="0"/>
                  <a:t>условия неравенства должны превратиться в условия </a:t>
                </a:r>
                <a:r>
                  <a:rPr lang="ru-RU" sz="2600" dirty="0" smtClean="0"/>
                  <a:t>равенства. Кроме того, множители </a:t>
                </a:r>
                <a:r>
                  <a:rPr lang="ru-RU" sz="2600" dirty="0"/>
                  <a:t>Лагранжа, соответствующие условиям </a:t>
                </a:r>
                <a:r>
                  <a:rPr lang="ru-RU" sz="2600" dirty="0" smtClean="0"/>
                  <a:t>неравенства</a:t>
                </a:r>
                <a:r>
                  <a:rPr lang="ru-RU" sz="2600" dirty="0"/>
                  <a:t>, должны быть неотрицательными в точке минимума:</a:t>
                </a: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charset="0"/>
                            </a:rPr>
                            <m:t>𝑔</m:t>
                          </m:r>
                        </m:e>
                        <m:sub>
                          <m: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sz="26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600" b="0" i="0" smtClean="0">
                          <a:latin typeface="Cambria Math" charset="0"/>
                        </a:rPr>
                        <m:t>=0,  </m:t>
                      </m:r>
                      <m:sSub>
                        <m:sSubPr>
                          <m:ctrlPr>
                            <a:rPr lang="en-US" sz="2600" i="1" dirty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</m:e>
                        <m:sub>
                          <m:r>
                            <a:rPr lang="en-US" sz="2600" i="1" dirty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6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sz="26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0,  </m:t>
                      </m:r>
                      <m:r>
                        <a:rPr lang="ru-RU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r>
                        <a:rPr lang="en-US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𝑖</m:t>
                      </m:r>
                      <m:r>
                        <a:rPr lang="en-US" sz="26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𝜖</m:t>
                      </m:r>
                      <m:r>
                        <a:rPr lang="ru-RU" sz="2600" i="1" dirty="0">
                          <a:latin typeface="Cambria Math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26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2600" i="1" dirty="0">
                              <a:latin typeface="Cambria Math" charset="0"/>
                            </a:rPr>
                            <m:t>1 2, 3, </m:t>
                          </m:r>
                          <m:r>
                            <a:rPr lang="en-US" sz="2600" i="1" dirty="0">
                              <a:latin typeface="Cambria Math" charset="0"/>
                            </a:rPr>
                            <m:t>…, </m:t>
                          </m:r>
                          <m:sSub>
                            <m:sSubPr>
                              <m:ctrlPr>
                                <a:rPr lang="en-US" sz="2600" i="1" dirty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r>
                  <a:rPr lang="ru-RU" sz="2600" dirty="0"/>
                  <a:t/>
                </a:r>
                <a:br>
                  <a:rPr lang="ru-RU" sz="2600" dirty="0"/>
                </a:br>
                <a:endParaRPr lang="ru-RU" sz="2600" dirty="0"/>
              </a:p>
              <a:p>
                <a:pPr marL="0" indent="457200" algn="just">
                  <a:buNone/>
                </a:pPr>
                <a:r>
                  <a:rPr lang="ru-RU" sz="2600" dirty="0"/>
                  <a:t>Решение, учитывающее предыдущие условия, дает минимум функции </a:t>
                </a:r>
                <a:r>
                  <a:rPr lang="ru-RU" sz="2600" dirty="0" smtClean="0"/>
                  <a:t>стоимости в </a:t>
                </a:r>
                <a:r>
                  <a:rPr lang="ru-RU" sz="2600" dirty="0"/>
                  <a:t>задаче оптимизации с ограничениями.</a:t>
                </a:r>
              </a:p>
              <a:p>
                <a:pPr marL="0" indent="457200" algn="just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888" t="-1996" r="-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541369" y="2254515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(7)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01864" y="3934391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(8)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4212" y="5688942"/>
            <a:ext cx="650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(9)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Задача оптимизации с ограничениями.</a:t>
            </a:r>
            <a:br>
              <a:rPr lang="ru-RU" b="1" dirty="0" smtClean="0"/>
            </a:br>
            <a:r>
              <a:rPr lang="ru-RU" b="1" dirty="0" smtClean="0"/>
              <a:t>Функция Лагранжа </a:t>
            </a:r>
            <a:endParaRPr lang="ru-R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9912096" y="75712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1951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rmAutofit/>
              </a:bodyPr>
              <a:lstStyle/>
              <a:p>
                <a:pPr marL="0" indent="457200" algn="just">
                  <a:buNone/>
                </a:pPr>
                <a:r>
                  <a:rPr lang="ru-RU" sz="2600" dirty="0" smtClean="0"/>
                  <a:t>Найдем независимые (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charset="0"/>
                      </a:rPr>
                      <m:t>𝑐𝑜𝑣</m:t>
                    </m:r>
                    <m:r>
                      <a:rPr lang="en-US" sz="2600" i="1" dirty="0" smtClean="0">
                        <a:latin typeface="Cambria Math" charset="0"/>
                      </a:rPr>
                      <m:t>=0</m:t>
                    </m:r>
                  </m:oMath>
                </a14:m>
                <a:r>
                  <a:rPr lang="en-US" sz="2600" dirty="0" smtClean="0"/>
                  <a:t>) </a:t>
                </a:r>
                <a:r>
                  <a:rPr lang="ru-RU" sz="2600" dirty="0" smtClean="0"/>
                  <a:t>направления в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ru-RU" sz="2600" dirty="0" smtClean="0"/>
                  <a:t>-мерной плоскости в порядке уменьшения дисперсии.  </a:t>
                </a: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1065" t="-1576" r="-10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Изображение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" r="20010" b="7891"/>
          <a:stretch/>
        </p:blipFill>
        <p:spPr>
          <a:xfrm>
            <a:off x="7700211" y="1787792"/>
            <a:ext cx="4357110" cy="403549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968342" y="2283318"/>
            <a:ext cx="2726872" cy="506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0695214" y="2073555"/>
            <a:ext cx="1496785" cy="4442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661997" y="579255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i="1" dirty="0">
                <a:solidFill>
                  <a:srgbClr val="2C2D2E"/>
                </a:solidFill>
                <a:latin typeface="Helvetica" charset="0"/>
              </a:rPr>
              <a:t>Рис. </a:t>
            </a:r>
            <a:r>
              <a:rPr lang="ru-RU" i="1" dirty="0" smtClean="0">
                <a:solidFill>
                  <a:srgbClr val="2C2D2E"/>
                </a:solidFill>
                <a:latin typeface="Helvetica" charset="0"/>
              </a:rPr>
              <a:t>1. </a:t>
            </a:r>
            <a:r>
              <a:rPr lang="ru-RU" i="1" dirty="0">
                <a:solidFill>
                  <a:srgbClr val="2C2D2E"/>
                </a:solidFill>
                <a:latin typeface="Helvetica" charset="0"/>
              </a:rPr>
              <a:t>Коррелированные </a:t>
            </a:r>
            <a:r>
              <a:rPr lang="ru-RU" i="1" dirty="0" smtClean="0">
                <a:solidFill>
                  <a:srgbClr val="2C2D2E"/>
                </a:solidFill>
                <a:latin typeface="Helvetica" charset="0"/>
              </a:rPr>
              <a:t>данные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354492" y="2224328"/>
                <a:ext cx="6417908" cy="4537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/>
                <a:r>
                  <a:rPr lang="ru-RU" sz="2400" dirty="0" smtClean="0"/>
                  <a:t>Обозначим через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единичный вектор, вдоль которого дисперсия данных максимальна. Центрируем данные путём вычитания средних значений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dirty="0" smtClean="0"/>
              </a:p>
              <a:p>
                <a:pPr indent="457200" algn="just"/>
                <a:r>
                  <a:rPr lang="ru-RU" sz="2400" dirty="0" smtClean="0"/>
                  <a:t>Компонента вектора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latin typeface="Cambria Math" charset="0"/>
                      </a:rPr>
                      <m:t>−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в направлении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 является проекцией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</a:rPr>
                      <m:t>𝑥</m:t>
                    </m:r>
                    <m:r>
                      <a:rPr lang="en-US" sz="2400" i="1">
                        <a:latin typeface="Cambria Math" charset="0"/>
                      </a:rPr>
                      <m:t>−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 smtClean="0"/>
                  <a:t>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charset="0"/>
                      </a:rPr>
                      <m:t>;</m:t>
                    </m:r>
                  </m:oMath>
                </a14:m>
                <a:r>
                  <a:rPr lang="ru-RU" sz="2400" dirty="0" smtClean="0"/>
                  <a:t> обозначим ее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:</a:t>
                </a:r>
              </a:p>
              <a:p>
                <a:pPr indent="4572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ru-RU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d>
                      <m: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</m:oMath>
                  </m:oMathPara>
                </a14:m>
                <a:endParaRPr lang="en-US" sz="2400" b="0" i="0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indent="4572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𝑣𝑎𝑟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𝑣𝑎𝑟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ru-RU" sz="24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b="0" i="1" smtClean="0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ru-RU" sz="2400" dirty="0" smtClean="0"/>
              </a:p>
              <a:p>
                <a:pPr algn="just"/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𝑣𝑎𝑟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mr-IN" sz="2400" dirty="0" smtClean="0"/>
                  <a:t>–</a:t>
                </a:r>
                <a:r>
                  <a:rPr lang="ru-RU" sz="2400" dirty="0" smtClean="0"/>
                  <a:t> дисперсия,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400" dirty="0" smtClean="0"/>
                  <a:t> </a:t>
                </a:r>
                <a:r>
                  <a:rPr lang="mr-IN" sz="2400" dirty="0" smtClean="0"/>
                  <a:t>–</a:t>
                </a:r>
                <a:r>
                  <a:rPr lang="ru-RU" sz="2400" dirty="0" smtClean="0"/>
                  <a:t> ковариационная матрица.</a:t>
                </a:r>
                <a:endParaRPr lang="ru-RU" sz="24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92" y="2224328"/>
                <a:ext cx="6417908" cy="4537781"/>
              </a:xfrm>
              <a:prstGeom prst="rect">
                <a:avLst/>
              </a:prstGeom>
              <a:blipFill rotWithShape="0">
                <a:blip r:embed="rId4"/>
                <a:stretch>
                  <a:fillRect l="-1425" t="-1075" r="-1519" b="-2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0984718" y="2073555"/>
                <a:ext cx="107393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4718" y="2073555"/>
                <a:ext cx="1073932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37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68312" y="4840429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rgbClr val="FF9300"/>
                </a:solidFill>
              </a:rPr>
              <a:t>(10)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8" t="27139" r="49774" b="58184"/>
          <a:stretch/>
        </p:blipFill>
        <p:spPr>
          <a:xfrm>
            <a:off x="8967536" y="2789502"/>
            <a:ext cx="742461" cy="643509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8" t="27139" r="49774" b="58184"/>
          <a:stretch/>
        </p:blipFill>
        <p:spPr>
          <a:xfrm rot="4905111">
            <a:off x="9987632" y="4068360"/>
            <a:ext cx="739335" cy="640800"/>
          </a:xfrm>
          <a:prstGeom prst="rect">
            <a:avLst/>
          </a:prstGeom>
        </p:spPr>
      </p:pic>
      <p:pic>
        <p:nvPicPr>
          <p:cNvPr id="14" name="Изображение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8" t="31875" r="49774" b="58184"/>
          <a:stretch/>
        </p:blipFill>
        <p:spPr>
          <a:xfrm rot="251970">
            <a:off x="9275108" y="3588381"/>
            <a:ext cx="739335" cy="434045"/>
          </a:xfrm>
          <a:prstGeom prst="rect">
            <a:avLst/>
          </a:prstGeom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8" t="31875" r="49774" b="58184"/>
          <a:stretch/>
        </p:blipFill>
        <p:spPr>
          <a:xfrm rot="251970">
            <a:off x="9352674" y="3210862"/>
            <a:ext cx="676135" cy="434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7698882" y="1636528"/>
                <a:ext cx="10430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882" y="1636528"/>
                <a:ext cx="1043079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11375939" y="5598088"/>
                <a:ext cx="10430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939" y="5598088"/>
                <a:ext cx="1043079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852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 smtClean="0"/>
                  <a:t>Для заданных точек данных дисперсия является функцией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. </a:t>
                </a:r>
                <a:r>
                  <a:rPr lang="ru-RU" sz="2400" dirty="0"/>
                  <a:t>Поэтому мы </a:t>
                </a:r>
                <a:r>
                  <a:rPr lang="ru-RU" sz="2400" dirty="0" smtClean="0"/>
                  <a:t>должны </a:t>
                </a:r>
                <a:r>
                  <a:rPr lang="ru-RU" sz="2400" dirty="0"/>
                  <a:t>максимизировать дисперсию относительно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, </a:t>
                </a:r>
                <a:r>
                  <a:rPr lang="ru-RU" sz="2400" dirty="0"/>
                  <a:t>при условии,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— </a:t>
                </a:r>
                <a:r>
                  <a:rPr lang="ru-RU" sz="2400" dirty="0" smtClean="0"/>
                  <a:t>единичный </a:t>
                </a:r>
                <a:r>
                  <a:rPr lang="ru-RU" sz="2400" dirty="0"/>
                  <a:t>вектор: </a:t>
                </a:r>
                <a:endParaRPr lang="ru-RU" sz="2400" dirty="0" smtClean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=1    </m:t>
                      </m:r>
                      <m:r>
                        <a:rPr lang="ru-RU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    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−1</m:t>
                      </m:r>
                      <m:r>
                        <a:rPr lang="ru-RU" sz="2400" i="1">
                          <a:latin typeface="Cambria Math" charset="0"/>
                        </a:rPr>
                        <m:t>=</m:t>
                      </m:r>
                      <m:r>
                        <a:rPr lang="ru-RU" sz="2400" b="0" i="1" smtClean="0">
                          <a:latin typeface="Cambria Math" charset="0"/>
                        </a:rPr>
                        <m:t>0.</m:t>
                      </m:r>
                    </m:oMath>
                  </m:oMathPara>
                </a14:m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Итак, мы можем записать функцию, подлежащую максимизации, в виде:</a:t>
                </a:r>
              </a:p>
              <a:p>
                <a:pPr marL="0" indent="457200" algn="ctr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ru-RU" sz="2400" i="1" dirty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400" i="1" dirty="0" smtClean="0">
                            <a:latin typeface="Cambria Math" charset="0"/>
                          </a:rPr>
                          <m:t>, </m:t>
                        </m:r>
                        <m: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e>
                    </m:d>
                    <m:r>
                      <a:rPr lang="ru-RU" sz="2400" i="1" dirty="0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latin typeface="Cambria Math" charset="0"/>
                      </a:rPr>
                      <m:t>−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d>
                      <m:dPr>
                        <m:ctrlPr>
                          <a:rPr lang="en-US" sz="24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2400" i="1">
                            <a:latin typeface="Cambria Math" charset="0"/>
                          </a:rPr>
                          <m:t>−1</m:t>
                        </m:r>
                      </m:e>
                    </m:d>
                    <m:r>
                      <a:rPr lang="en-US" sz="24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endParaRPr lang="ru-RU" sz="2400" dirty="0" smtClean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— множитель Лагранжа.</a:t>
                </a:r>
              </a:p>
              <a:p>
                <a:pPr marL="0" indent="457200" algn="just">
                  <a:buNone/>
                </a:pPr>
                <a:r>
                  <a:rPr lang="ru-RU" sz="2400" dirty="0"/>
                  <a:t>Чтобы найти максимум, мы должны приравнять к нулю градиент функции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𝐿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по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:</a:t>
                </a:r>
                <a:endParaRPr lang="en-US" sz="2400" dirty="0" smtClean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𝛻</m:t>
                      </m:r>
                      <m:r>
                        <a:rPr lang="en-US" sz="2400" i="1" dirty="0">
                          <a:latin typeface="Cambria Math" charset="0"/>
                        </a:rPr>
                        <m:t>𝐿</m:t>
                      </m:r>
                      <m:r>
                        <a:rPr lang="en-US" sz="2400" b="0" i="0" dirty="0" smtClean="0">
                          <a:latin typeface="Cambria Math" charset="0"/>
                        </a:rPr>
                        <m:t>=2</m:t>
                      </m:r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−2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=0   </m:t>
                      </m:r>
                      <m:r>
                        <a:rPr lang="ru-RU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 </m:t>
                      </m:r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 smtClean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Подставляя </a:t>
                </a:r>
                <a:r>
                  <a:rPr lang="ru-RU" sz="2400" dirty="0"/>
                  <a:t>полученное выражение для ковариации </a:t>
                </a:r>
                <a:r>
                  <a:rPr lang="ru-RU" sz="2400" dirty="0" smtClean="0"/>
                  <a:t>в выражение </a:t>
                </a:r>
                <a:r>
                  <a:rPr lang="ru-RU" sz="2400" dirty="0"/>
                  <a:t>для </a:t>
                </a:r>
                <a:r>
                  <a:rPr lang="ru-RU" sz="2400" dirty="0" smtClean="0"/>
                  <a:t>дисперсии вдоль </a:t>
                </a:r>
                <a:r>
                  <a:rPr lang="ru-RU" sz="2400" dirty="0"/>
                  <a:t>вектора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, </a:t>
                </a:r>
                <a:r>
                  <a:rPr lang="ru-RU" sz="2400" dirty="0"/>
                  <a:t>получаем</a:t>
                </a: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𝑣𝑎𝑟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=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0" smtClean="0">
                          <a:latin typeface="Cambria Math" charset="0"/>
                        </a:rPr>
                        <m:t>=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r>
                        <a:rPr lang="ru-RU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r>
                  <a:rPr lang="ru-RU" sz="2400" dirty="0"/>
                  <a:t/>
                </a:r>
                <a:br>
                  <a:rPr lang="ru-RU" sz="2400" dirty="0"/>
                </a:b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1863" y="1325563"/>
                <a:ext cx="10300137" cy="5801710"/>
              </a:xfrm>
              <a:blipFill rotWithShape="0">
                <a:blip r:embed="rId2"/>
                <a:stretch>
                  <a:fillRect l="-888" t="-1471" r="-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37430" y="2244481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(11)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82200" y="310977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(12)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7055" y="473306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(13)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16661" y="583313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(14)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8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27691" y="1325563"/>
            <a:ext cx="10154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/>
              <a:t>Получим теперь вторую главную компоненту, т.е. направление, вдоль которого дисперсия имеет второй по величине максимум после первого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" r="13435" b="8314"/>
          <a:stretch/>
        </p:blipFill>
        <p:spPr>
          <a:xfrm>
            <a:off x="7315198" y="2651125"/>
            <a:ext cx="4572002" cy="3924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27470" y="3146652"/>
            <a:ext cx="2726872" cy="506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0254342" y="2874964"/>
            <a:ext cx="1845130" cy="607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0543846" y="2936889"/>
                <a:ext cx="107393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3846" y="2936889"/>
                <a:ext cx="1073932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8376558" y="3228902"/>
                <a:ext cx="7427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558" y="3228902"/>
                <a:ext cx="742759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9887846" y="6492875"/>
            <a:ext cx="2743200" cy="365125"/>
          </a:xfrm>
        </p:spPr>
        <p:txBody>
          <a:bodyPr/>
          <a:lstStyle/>
          <a:p>
            <a:fld id="{9B561CA7-7281-4DB5-BFC5-B6C208FAC0A9}" type="slidenum">
              <a:rPr lang="en-US" smtClean="0"/>
              <a:t>39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1856014" y="2279002"/>
                <a:ext cx="4713598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/>
                <a:r>
                  <a:rPr lang="ru-RU" sz="2400" dirty="0"/>
                  <a:t>Пусть направление второй главной компоненты задается вектором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. Так как мы ищем ортогональные компоненты, то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 должны быть взаимно перпендикулярными.</a:t>
                </a:r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014" y="2279002"/>
                <a:ext cx="4713598" cy="2308324"/>
              </a:xfrm>
              <a:prstGeom prst="rect">
                <a:avLst/>
              </a:prstGeom>
              <a:blipFill rotWithShape="0">
                <a:blip r:embed="rId7"/>
                <a:stretch>
                  <a:fillRect l="-1938" t="-2111" r="-1938" b="-50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10719582" y="6358597"/>
            <a:ext cx="406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endParaRPr lang="ru-RU" sz="28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 rot="16200000" flipH="1">
            <a:off x="6420094" y="2316326"/>
            <a:ext cx="152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endParaRPr lang="ru-RU" sz="28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565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</p:spPr>
        <p:txBody>
          <a:bodyPr/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59329" y="1325563"/>
                <a:ext cx="11032671" cy="5801710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 smtClean="0"/>
                  <a:t>Проекцию данных вдоль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 выразим посредством переменной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𝑧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ru-RU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  <m:r>
                          <a:rPr lang="en-US" sz="2400" i="1">
                            <a:latin typeface="Cambria Math" charset="0"/>
                          </a:rPr>
                          <m:t>−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d>
                    <m:r>
                      <a:rPr lang="ru-RU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    Выражение </a:t>
                </a:r>
                <a:r>
                  <a:rPr lang="ru-RU" sz="2400" dirty="0"/>
                  <a:t>для дисперсии данных вдоль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 запишется в виде </a:t>
                </a:r>
              </a:p>
              <a:p>
                <a:pPr marL="0" indent="45720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𝑣𝑎𝑟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𝑣𝑎𝑟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4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ru-RU" sz="24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𝜇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Максимизации </a:t>
                </a:r>
                <a:r>
                  <a:rPr lang="ru-RU" sz="2400" dirty="0"/>
                  <a:t>подлежит дисперсия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𝑣𝑎𝑟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ru-RU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/>
                  <a:t>, </a:t>
                </a:r>
                <a:r>
                  <a:rPr lang="ru-RU" sz="2400" dirty="0" smtClean="0"/>
                  <a:t>при условиях:  </a:t>
                </a:r>
              </a:p>
              <a:p>
                <a:pPr marL="0" indent="45720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ru-RU" sz="2400" i="1">
                        <a:latin typeface="Cambria Math" charset="0"/>
                      </a:rPr>
                      <m:t>=1 </m:t>
                    </m:r>
                  </m:oMath>
                </a14:m>
                <a:r>
                  <a:rPr lang="ru-RU" sz="2400" dirty="0" smtClean="0"/>
                  <a:t>(</a:t>
                </a:r>
                <a:r>
                  <a:rPr lang="ru-RU" sz="2400" dirty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 </a:t>
                </a:r>
                <a:r>
                  <a:rPr lang="ru-RU" sz="2400" dirty="0" smtClean="0"/>
                  <a:t>- </a:t>
                </a:r>
                <a:r>
                  <a:rPr lang="ru-RU" sz="2400" dirty="0"/>
                  <a:t>единичный вектор</a:t>
                </a:r>
                <a:r>
                  <a:rPr lang="ru-RU" sz="2400" dirty="0" smtClean="0"/>
                  <a:t>);</a:t>
                </a:r>
              </a:p>
              <a:p>
                <a:pPr marL="0" indent="45720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latin typeface="Cambria Math" charset="0"/>
                      </a:rPr>
                      <m:t>=</m:t>
                    </m:r>
                    <m:r>
                      <a:rPr lang="ru-RU" sz="2400" b="0" i="1" smtClean="0">
                        <a:latin typeface="Cambria Math" charset="0"/>
                      </a:rPr>
                      <m:t>0</m:t>
                    </m:r>
                    <m:r>
                      <a:rPr lang="ru-RU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/>
                  <a:t>(</a:t>
                </a:r>
                <a:r>
                  <a:rPr lang="ru-RU" sz="2400" dirty="0" smtClean="0"/>
                  <a:t>поскольку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 должен быть ортогонален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 ).</a:t>
                </a:r>
              </a:p>
              <a:p>
                <a:pPr marL="0" indent="457200" algn="just">
                  <a:buNone/>
                </a:pPr>
                <a:r>
                  <a:rPr lang="ru-RU" sz="2400" dirty="0" smtClean="0"/>
                  <a:t>Максимизируем следующую функцию Лагранжа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ru-RU" sz="2400" i="1" dirty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400" i="1" dirty="0">
                            <a:latin typeface="Cambria Math" charset="0"/>
                          </a:rPr>
                          <m:t>, </m:t>
                        </m:r>
                        <m: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ru-RU" sz="2400" dirty="0" smtClean="0"/>
                  <a:t>относительно </a:t>
                </a:r>
                <a:r>
                  <a:rPr lang="ru-RU" sz="2400" dirty="0"/>
                  <a:t>параметров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ru-RU" sz="2400" i="1" dirty="0">
                        <a:latin typeface="Cambria Math" charset="0"/>
                      </a:rPr>
                      <m:t>, 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ru-RU" sz="2400" dirty="0" smtClean="0"/>
                  <a:t>:</a:t>
                </a:r>
                <a:endParaRPr lang="ru-RU" sz="2400" dirty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ru-RU" sz="2400" i="1" dirty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400" i="1" dirty="0">
                              <a:latin typeface="Cambria Math" charset="0"/>
                            </a:rPr>
                            <m:t>, </m:t>
                          </m:r>
                          <m:r>
                            <a:rPr lang="ru-RU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e>
                      </m:d>
                      <m:r>
                        <a:rPr lang="ru-RU" sz="24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0" smtClean="0">
                          <a:latin typeface="Cambria Math" charset="0"/>
                        </a:rPr>
                        <m:t>−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ru-RU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−</m:t>
                      </m:r>
                      <m:r>
                        <a:rPr lang="ru-RU" sz="2400" i="1">
                          <a:latin typeface="Cambria Math" charset="0"/>
                        </a:rPr>
                        <m:t>1</m:t>
                      </m:r>
                      <m:r>
                        <a:rPr lang="ru-RU" sz="2400" b="0" i="1" smtClean="0">
                          <a:latin typeface="Cambria Math" charset="0"/>
                        </a:rPr>
                        <m:t>)−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  <m:r>
                            <a:rPr lang="ru-RU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).</m:t>
                      </m:r>
                    </m:oMath>
                  </m:oMathPara>
                </a14:m>
                <a:endParaRPr lang="ru-RU" sz="2400" b="0" dirty="0" smtClean="0"/>
              </a:p>
              <a:p>
                <a:pPr marL="0" indent="457200" algn="just">
                  <a:buNone/>
                </a:pPr>
                <a:r>
                  <a:rPr lang="ru-RU" sz="2400" dirty="0"/>
                  <a:t>Взяв градиент по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 и </a:t>
                </a:r>
                <a:r>
                  <a:rPr lang="ru-RU" sz="2400" dirty="0"/>
                  <a:t>приравняв его к нулю, </a:t>
                </a:r>
                <a:r>
                  <a:rPr lang="ru-RU" sz="2400" dirty="0" smtClean="0"/>
                  <a:t>получаем</a:t>
                </a: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𝛻</m:t>
                      </m:r>
                      <m:r>
                        <a:rPr lang="en-US" sz="2400" i="1" dirty="0">
                          <a:latin typeface="Cambria Math" charset="0"/>
                        </a:rPr>
                        <m:t>𝐿</m:t>
                      </m:r>
                      <m:r>
                        <a:rPr lang="en-US" sz="2400" dirty="0">
                          <a:latin typeface="Cambria Math" charset="0"/>
                        </a:rPr>
                        <m:t>=2</m:t>
                      </m:r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−2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=0</m:t>
                      </m:r>
                      <m:r>
                        <a:rPr lang="ru-RU" sz="2400" b="0" i="1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 smtClean="0"/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9329" y="1325563"/>
                <a:ext cx="11032671" cy="5801710"/>
              </a:xfrm>
              <a:blipFill rotWithShape="0">
                <a:blip r:embed="rId2"/>
                <a:stretch>
                  <a:fillRect l="-829" t="-1366" r="-8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77409" y="2004725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(15)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4938" y="4507567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(16)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26534" y="5304722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(17)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91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74232" y="1056290"/>
                <a:ext cx="9817768" cy="5801710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/>
                  <a:t/>
                </a:r>
                <a:br>
                  <a:rPr lang="ru-RU" sz="2400" dirty="0"/>
                </a:br>
                <a:endParaRPr lang="ru-RU" sz="24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 скаляр, который можно переписать </a:t>
                </a:r>
                <a:r>
                  <a:rPr lang="ru-RU" sz="2400" dirty="0"/>
                  <a:t>в виде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/>
                  <a:t>. Упрощая</a:t>
                </a:r>
                <a:r>
                  <a:rPr lang="ru-RU" sz="2400" dirty="0"/>
                  <a:t>, </a:t>
                </a:r>
                <a:r>
                  <a:rPr lang="ru-RU" sz="2400" dirty="0" smtClean="0"/>
                  <a:t>получаем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latin typeface="Cambria Math" charset="0"/>
                      </a:rPr>
                      <m:t>=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charset="0"/>
                      </a:rPr>
                      <m:t>=</m:t>
                    </m:r>
                    <m:r>
                      <a:rPr lang="ru-RU" sz="2400" b="0" i="0" smtClean="0">
                        <a:latin typeface="Cambria Math" charset="0"/>
                      </a:rPr>
                      <m:t>0.</m:t>
                    </m:r>
                  </m:oMath>
                </a14:m>
                <a:r>
                  <a:rPr lang="ru-RU" sz="2400" dirty="0" smtClean="0"/>
                  <a:t> Кроме </a:t>
                </a:r>
                <a:r>
                  <a:rPr lang="ru-RU" sz="2400" dirty="0"/>
                  <a:t>того, </a:t>
                </a:r>
                <a:r>
                  <a:rPr lang="ru-RU" sz="2400" dirty="0" smtClean="0"/>
                  <a:t>член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2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charset="0"/>
                      </a:rPr>
                      <m:t>=0,</m:t>
                    </m:r>
                  </m:oMath>
                </a14:m>
                <a:r>
                  <a:rPr lang="ru-RU" sz="2400" dirty="0" smtClean="0"/>
                  <a:t> так что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=0</m:t>
                    </m:r>
                    <m:r>
                      <a:rPr lang="ru-RU" sz="2400" i="1">
                        <a:latin typeface="Cambria Math" charset="0"/>
                      </a:rPr>
                      <m:t>.</m:t>
                    </m:r>
                    <m:r>
                      <a:rPr lang="ru-RU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 smtClean="0"/>
                  <a:t>Поскольку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ru-RU" sz="2400" b="0" i="1" smtClean="0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charset="0"/>
                      </a:rPr>
                      <m:t>=</m:t>
                    </m:r>
                    <m:r>
                      <a:rPr lang="ru-RU" sz="2400" b="0" i="0" smtClean="0">
                        <a:latin typeface="Cambria Math" charset="0"/>
                      </a:rPr>
                      <m:t>1, </m:t>
                    </m:r>
                  </m:oMath>
                </a14:m>
                <a:r>
                  <a:rPr lang="ru-RU" sz="2400" dirty="0" smtClean="0"/>
                  <a:t>то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ru-RU" sz="24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=0.</m:t>
                    </m:r>
                  </m:oMath>
                </a14:m>
                <a:r>
                  <a:rPr lang="ru-RU" sz="2400" dirty="0" smtClean="0"/>
                  <a:t> Получаем выражение:</a:t>
                </a:r>
                <a:endParaRPr lang="ru-RU" sz="2400" dirty="0" smtClean="0">
                  <a:solidFill>
                    <a:schemeClr val="tx1"/>
                  </a:solidFill>
                </a:endParaRP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dirty="0">
                          <a:latin typeface="Cambria Math" charset="0"/>
                        </a:rPr>
                        <m:t>2</m:t>
                      </m:r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−2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=0</m:t>
                      </m:r>
                      <m:r>
                        <a:rPr lang="ru-RU" sz="2400" b="0" i="1" smtClean="0">
                          <a:latin typeface="Cambria Math" charset="0"/>
                        </a:rPr>
                        <m:t>   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⇒</m:t>
                      </m:r>
                      <m:r>
                        <a:rPr lang="ru-RU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 </m:t>
                      </m:r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=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b="0" i="1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b="0" dirty="0" smtClean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Вторая главная компонента также является собственным вектором ковариационной </a:t>
                </a:r>
                <a:r>
                  <a:rPr lang="ru-RU" sz="2400" dirty="0"/>
                  <a:t>матрицы, а собственное значение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ru-RU" sz="2400" dirty="0"/>
                  <a:t> должно быть вторым по </a:t>
                </a:r>
                <a:r>
                  <a:rPr lang="ru-RU" sz="2400" dirty="0" smtClean="0"/>
                  <a:t>величине </a:t>
                </a:r>
                <a:r>
                  <a:rPr lang="ru-RU" sz="2400" dirty="0"/>
                  <a:t>собственным значением после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ru-RU" sz="2400" dirty="0"/>
                  <a:t>. </a:t>
                </a:r>
                <a:r>
                  <a:rPr lang="ru-RU" sz="2400" dirty="0" smtClean="0"/>
                  <a:t>Аналогично получаем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собственных векторов из ковариационной матрицы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ru-RU" sz="2400" dirty="0" smtClean="0"/>
                  <a:t>, </a:t>
                </a:r>
                <a:r>
                  <a:rPr lang="ru-RU" sz="2400" dirty="0"/>
                  <a:t>а также </a:t>
                </a:r>
                <a:r>
                  <a:rPr lang="ru-RU" sz="2400" dirty="0" smtClean="0"/>
                  <a:t>дисперсию </a:t>
                </a:r>
                <a:r>
                  <a:rPr lang="ru-RU" sz="2400" dirty="0"/>
                  <a:t>данных вдоль направлений, соответствующих каждому </a:t>
                </a:r>
                <a:r>
                  <a:rPr lang="ru-RU" sz="2400" dirty="0" smtClean="0"/>
                  <a:t>из </a:t>
                </a:r>
                <a:r>
                  <a:rPr lang="ru-RU" sz="2400" dirty="0"/>
                  <a:t>этих </a:t>
                </a:r>
                <a:r>
                  <a:rPr lang="ru-RU" sz="2400" dirty="0" smtClean="0"/>
                  <a:t>собственных значений.</a:t>
                </a:r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74232" y="1056290"/>
                <a:ext cx="9817768" cy="5801710"/>
              </a:xfrm>
              <a:blipFill rotWithShape="0">
                <a:blip r:embed="rId2"/>
                <a:stretch>
                  <a:fillRect l="-931" r="-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2823411" y="1056290"/>
                <a:ext cx="9144000" cy="835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/>
                <a:r>
                  <a:rPr lang="ru-RU" sz="2400" dirty="0"/>
                  <a:t>Запишем скалярное произведение градиента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𝛻</m:t>
                    </m:r>
                    <m:r>
                      <a:rPr lang="en-US" sz="2400" i="1" dirty="0">
                        <a:latin typeface="Cambria Math" charset="0"/>
                      </a:rPr>
                      <m:t>𝐿</m:t>
                    </m:r>
                  </m:oMath>
                </a14:m>
                <a:r>
                  <a:rPr lang="ru-RU" sz="2400" dirty="0"/>
                  <a:t> на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:</a:t>
                </a:r>
              </a:p>
              <a:p>
                <a:pPr indent="4572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−2</m:t>
                      </m:r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latin typeface="Cambria Math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ru-RU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=0</m:t>
                      </m:r>
                      <m:r>
                        <a:rPr lang="ru-RU" sz="2400" i="1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r>
                  <a:rPr lang="ru-RU" sz="2400" dirty="0"/>
                  <a:t/>
                </a:r>
                <a:br>
                  <a:rPr lang="ru-RU" sz="2400" dirty="0"/>
                </a:br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411" y="1056290"/>
                <a:ext cx="9144000" cy="835550"/>
              </a:xfrm>
              <a:prstGeom prst="rect">
                <a:avLst/>
              </a:prstGeom>
              <a:blipFill rotWithShape="0">
                <a:blip r:embed="rId3"/>
                <a:stretch>
                  <a:fillRect t="-5839" b="-87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9982200" y="1436883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(18)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533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36763" y="1137491"/>
            <a:ext cx="9805182" cy="46302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 rot="5400000">
            <a:off x="8454242" y="3562274"/>
            <a:ext cx="1151905" cy="27920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2841171" y="1467735"/>
            <a:ext cx="16329" cy="35759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2841171" y="5043691"/>
            <a:ext cx="233498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 rot="2468380">
            <a:off x="3761711" y="1501986"/>
            <a:ext cx="1151905" cy="279205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3352946" y="1924934"/>
            <a:ext cx="984718" cy="97308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4322123" y="1647348"/>
            <a:ext cx="1098963" cy="1250666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5226329" y="1137491"/>
                <a:ext cx="5979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29" y="1137491"/>
                <a:ext cx="59792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3241503" y="1467735"/>
                <a:ext cx="5979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03" y="1467735"/>
                <a:ext cx="59792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2036113" y="1206126"/>
                <a:ext cx="10430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13" y="1206126"/>
                <a:ext cx="104307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654616" y="5043691"/>
                <a:ext cx="10430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616" y="5043691"/>
                <a:ext cx="1043079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 стрелкой 29"/>
          <p:cNvCxnSpPr/>
          <p:nvPr/>
        </p:nvCxnSpPr>
        <p:spPr>
          <a:xfrm flipH="1" flipV="1">
            <a:off x="9023534" y="1467735"/>
            <a:ext cx="6661" cy="354330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9023534" y="5011034"/>
            <a:ext cx="2292166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/>
              <p:cNvSpPr/>
              <p:nvPr/>
            </p:nvSpPr>
            <p:spPr>
              <a:xfrm>
                <a:off x="11265809" y="5011034"/>
                <a:ext cx="5979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Прямоугольник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809" y="5011034"/>
                <a:ext cx="59792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Прямоугольник 32"/>
              <p:cNvSpPr/>
              <p:nvPr/>
            </p:nvSpPr>
            <p:spPr>
              <a:xfrm>
                <a:off x="8291226" y="1385738"/>
                <a:ext cx="5979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𝑧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3" name="Прямоугольник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226" y="1385738"/>
                <a:ext cx="59792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Стрелка вправо 38"/>
          <p:cNvSpPr/>
          <p:nvPr/>
        </p:nvSpPr>
        <p:spPr>
          <a:xfrm>
            <a:off x="6302829" y="3239385"/>
            <a:ext cx="1331337" cy="1142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61358" y="5657671"/>
                <a:ext cx="111306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 smtClean="0"/>
                  <a:t>Метод главных компонент центрирует данные, а затем проецирует их на оси, вдоль которых дисперсия максимальна. Данные вдоль оси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𝑧</m:t>
                        </m:r>
                      </m:e>
                      <m:sub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 smtClean="0"/>
                  <a:t>можно игнорировать, если дисперсия вдоль этой оси пренебрежительно мала.</a:t>
                </a:r>
                <a:endParaRPr lang="ru-RU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58" y="5657671"/>
                <a:ext cx="11130642" cy="1200329"/>
              </a:xfrm>
              <a:prstGeom prst="rect">
                <a:avLst/>
              </a:prstGeom>
              <a:blipFill rotWithShape="0">
                <a:blip r:embed="rId8"/>
                <a:stretch>
                  <a:fillRect l="-821" t="-4061" r="-876" b="-106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62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Метод главных компонент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53242" y="1240970"/>
                <a:ext cx="10738757" cy="5617029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i="1" u="sng" dirty="0" smtClean="0"/>
                  <a:t>Как </a:t>
                </a:r>
                <a:r>
                  <a:rPr lang="ru-RU" sz="2400" i="1" u="sng" dirty="0"/>
                  <a:t>узнать, какая доля дисперсии приходится на выбранные </a:t>
                </a:r>
                <a:r>
                  <a:rPr lang="ru-RU" sz="2400" i="1" u="sng" dirty="0" smtClean="0"/>
                  <a:t>главные компоненты?</a:t>
                </a:r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/>
                  <a:t>Если вектор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𝑧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представляет преобразованные компоненты входного вектора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ru-RU" sz="2400" dirty="0"/>
                  <a:t>, </a:t>
                </a:r>
                <a:r>
                  <a:rPr lang="ru-RU" sz="2400" dirty="0" smtClean="0"/>
                  <a:t>то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матрица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ru-RU" sz="2400" dirty="0"/>
                  <a:t> будет представлять собой диагональную матрицу, содержащую </a:t>
                </a:r>
                <a:r>
                  <a:rPr lang="ru-RU" sz="2400" dirty="0" smtClean="0"/>
                  <a:t>собственные </a:t>
                </a:r>
                <a:r>
                  <a:rPr lang="ru-RU" sz="2400" dirty="0"/>
                  <a:t>значения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𝑐𝑜𝑣</m:t>
                    </m:r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400" dirty="0"/>
                  <a:t> в качестве своих диагональных элементов</a:t>
                </a:r>
                <a:r>
                  <a:rPr lang="ru-RU" sz="2400" dirty="0" smtClean="0"/>
                  <a:t>.</a:t>
                </a:r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𝑐𝑜𝑣</m:t>
                      </m:r>
                      <m:d>
                        <m:dPr>
                          <m:ctrlPr>
                            <a:rPr lang="en-US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b="0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 dirty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457200" algn="just">
                  <a:buNone/>
                </a:pPr>
                <a:r>
                  <a:rPr lang="ru-RU" sz="2400" dirty="0"/>
                  <a:t>Кроме того, допустим, что собственные значения упорядочены, например, так</a:t>
                </a:r>
                <a:r>
                  <a:rPr lang="ru-RU" sz="2400" dirty="0" smtClean="0"/>
                  <a:t>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&gt;…&gt;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Предположим</a:t>
                </a:r>
                <a:r>
                  <a:rPr lang="ru-RU" sz="2400" dirty="0"/>
                  <a:t>, мы решили оставить </a:t>
                </a:r>
                <a:r>
                  <a:rPr lang="ru-RU" sz="2400" dirty="0" smtClean="0"/>
                  <a:t>только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первые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главных компонент. </a:t>
                </a:r>
                <a:r>
                  <a:rPr lang="ru-RU" sz="2400" dirty="0" smtClean="0"/>
                  <a:t>Тогда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доля </a:t>
                </a:r>
                <a:r>
                  <a:rPr lang="ru-RU" sz="2400" dirty="0"/>
                  <a:t>дисперсии, содержащаяся в оставшихся данных, составляет</a:t>
                </a: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400" i="1" smtClean="0">
                              <a:latin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3242" y="1240970"/>
                <a:ext cx="10738757" cy="5617029"/>
              </a:xfrm>
              <a:blipFill rotWithShape="0">
                <a:blip r:embed="rId2"/>
                <a:stretch>
                  <a:fillRect l="-851" t="-1520" r="-9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944707" y="3526264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0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44707" y="6198255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1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0042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97597"/>
          </a:xfrm>
        </p:spPr>
        <p:txBody>
          <a:bodyPr>
            <a:noAutofit/>
          </a:bodyPr>
          <a:lstStyle/>
          <a:p>
            <a:pPr algn="ctr"/>
            <a:r>
              <a:rPr lang="ru-RU" sz="4200" b="1" dirty="0" smtClean="0"/>
              <a:t>Методы снижения размерности данных.</a:t>
            </a:r>
            <a:br>
              <a:rPr lang="ru-RU" sz="4200" b="1" dirty="0" smtClean="0"/>
            </a:br>
            <a:r>
              <a:rPr lang="ru-RU" sz="4200" b="1" dirty="0" smtClean="0"/>
              <a:t>Сингулярное разложение</a:t>
            </a:r>
            <a:endParaRPr lang="ru-RU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45128" y="997598"/>
                <a:ext cx="10101942" cy="5617029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i="1" u="sng" dirty="0" smtClean="0"/>
                  <a:t>Сингулярное разложение</a:t>
                </a:r>
                <a:r>
                  <a:rPr lang="ru-RU" sz="2400" dirty="0" smtClean="0"/>
                  <a:t> — </a:t>
                </a:r>
                <a:r>
                  <a:rPr lang="ru-RU" sz="2400" dirty="0"/>
                  <a:t>это метод снижения размерности данных, </a:t>
                </a:r>
                <a:r>
                  <a:rPr lang="ru-RU" sz="2400" dirty="0" smtClean="0"/>
                  <a:t>заключающийся </a:t>
                </a:r>
                <a:r>
                  <a:rPr lang="ru-RU" sz="2400" dirty="0"/>
                  <a:t>в факторизации матрицы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𝐴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charset="0"/>
                          </a:rPr>
                          <m:t>𝑚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400" dirty="0" smtClean="0"/>
                  <a:t>в </a:t>
                </a:r>
                <a:r>
                  <a:rPr lang="ru-RU" sz="2400" dirty="0"/>
                  <a:t>произведение трех матриц вида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</a:rPr>
                      <m:t>𝑈𝑆</m:t>
                    </m:r>
                    <m:sSup>
                      <m:sSup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400" dirty="0" smtClean="0"/>
                  <a:t>,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где</a:t>
                </a:r>
                <a:endParaRPr lang="ru-RU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𝑈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charset="0"/>
                          </a:rPr>
                          <m:t>m</m:t>
                        </m:r>
                        <m:r>
                          <a:rPr lang="en-US" sz="2400" i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m</m:t>
                        </m:r>
                      </m:sup>
                    </m:sSup>
                  </m:oMath>
                </a14:m>
                <a:r>
                  <a:rPr lang="ru-RU" sz="2400" dirty="0" smtClean="0"/>
                  <a:t>и состоит </a:t>
                </a:r>
                <a:r>
                  <a:rPr lang="ru-RU" sz="2400" dirty="0"/>
                  <a:t>из всех собственных векторов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sSup>
                      <m:sSup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0" i="0" smtClean="0">
                        <a:latin typeface="Cambria Math" charset="0"/>
                      </a:rPr>
                      <m:t>,</m:t>
                    </m:r>
                  </m:oMath>
                </a14:m>
                <a:endParaRPr lang="ru-RU" sz="2400" dirty="0" smtClean="0"/>
              </a:p>
              <a:p>
                <a:pPr algn="just"/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𝑉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charset="0"/>
                          </a:rPr>
                          <m:t>n</m:t>
                        </m:r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400" dirty="0" smtClean="0"/>
                  <a:t>и </a:t>
                </a:r>
                <a:r>
                  <a:rPr lang="ru-RU" sz="2400" dirty="0"/>
                  <a:t>состоит из всех собственных векторов матрицы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𝐴</m:t>
                    </m:r>
                    <m:r>
                      <a:rPr lang="en-US" sz="2400">
                        <a:latin typeface="Cambria Math" charset="0"/>
                      </a:rPr>
                      <m:t>,</m:t>
                    </m:r>
                  </m:oMath>
                </a14:m>
                <a:endParaRPr lang="ru-RU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charset="0"/>
                          </a:rPr>
                          <m:t>m</m:t>
                        </m:r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и состоит из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квадратных корней из собственных значений как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так и матрицы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ru-RU" sz="2400" dirty="0" smtClean="0"/>
                  <a:t>, где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mr-IN" sz="2400" dirty="0" smtClean="0"/>
                  <a:t>–</a:t>
                </a:r>
                <a:r>
                  <a:rPr lang="ru-RU" sz="2400" dirty="0" smtClean="0"/>
                  <a:t> ранг матрицы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ru-RU" sz="2400" dirty="0" smtClean="0"/>
                  <a:t>.</a:t>
                </a:r>
                <a:endParaRPr lang="en-US" sz="2400" dirty="0" smtClean="0"/>
              </a:p>
              <a:p>
                <a:pPr marL="0" indent="0" algn="just">
                  <a:buNone/>
                </a:pPr>
                <a:r>
                  <a:rPr lang="en-US" sz="2400" dirty="0" smtClean="0"/>
                  <a:t>        </a:t>
                </a:r>
                <a:r>
                  <a:rPr lang="ru-RU" sz="2400" dirty="0" smtClean="0"/>
                  <a:t>Все </a:t>
                </a:r>
                <a:r>
                  <a:rPr lang="ru-RU" sz="2400" dirty="0"/>
                  <a:t>вектор-столбцы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𝑈</m:t>
                    </m:r>
                  </m:oMath>
                </a14:m>
                <a:r>
                  <a:rPr lang="ru-RU" sz="2400" dirty="0"/>
                  <a:t> ортогональны между собой, а значит, </a:t>
                </a:r>
                <a:r>
                  <a:rPr lang="ru-RU" sz="2400" dirty="0" smtClean="0"/>
                  <a:t>образуют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ортогональный </a:t>
                </a:r>
                <a:r>
                  <a:rPr lang="ru-RU" sz="2400" dirty="0"/>
                  <a:t>базис. Аналогично вектор-столбцы матрицы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𝑉</m:t>
                    </m:r>
                  </m:oMath>
                </a14:m>
                <a:r>
                  <a:rPr lang="ru-RU" sz="2400" dirty="0"/>
                  <a:t> также образуют </a:t>
                </a:r>
                <a:r>
                  <a:rPr lang="ru-RU" sz="2400" dirty="0" smtClean="0"/>
                  <a:t>ортогональный </a:t>
                </a:r>
                <a:r>
                  <a:rPr lang="ru-RU" sz="2400" dirty="0"/>
                  <a:t>базис</a:t>
                </a:r>
                <a:r>
                  <a:rPr lang="ru-RU" sz="2400" dirty="0" smtClean="0"/>
                  <a:t>:</a:t>
                </a:r>
                <a:endParaRPr lang="en-US" sz="24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𝑈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 smtClean="0"/>
                  <a:t>где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dirty="0">
                            <a:latin typeface="Cambria Math" charset="0"/>
                          </a:rPr>
                          <m:t>m</m:t>
                        </m:r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2400" dirty="0"/>
                  <a:t>вектор-столбцы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𝑈</m:t>
                    </m:r>
                  </m:oMath>
                </a14:m>
                <a:r>
                  <a:rPr lang="ru-RU" sz="2400" dirty="0"/>
                  <a:t>. </a:t>
                </a:r>
                <a:endParaRPr lang="en-US" sz="2400" i="1" u="sng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𝑉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,</m:t>
                    </m:r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charset="0"/>
                          </a:rPr>
                          <m:t>n</m:t>
                        </m:r>
                        <m:r>
                          <a:rPr lang="en-US" sz="24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2400" dirty="0"/>
                  <a:t>вектор-столбцы матрицы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𝑉</m:t>
                    </m:r>
                  </m:oMath>
                </a14:m>
                <a:r>
                  <a:rPr lang="ru-RU" sz="2400" dirty="0" smtClean="0"/>
                  <a:t>. </a:t>
                </a:r>
                <a:endParaRPr lang="ru-RU" sz="2400" i="1" u="sng" dirty="0"/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5128" y="997598"/>
                <a:ext cx="10101942" cy="5617029"/>
              </a:xfrm>
              <a:blipFill rotWithShape="0">
                <a:blip r:embed="rId2"/>
                <a:stretch>
                  <a:fillRect l="-966" t="-1520" r="-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5326294" y="5781359"/>
                <a:ext cx="2510367" cy="10766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𝑆</m:t>
                      </m:r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sz="2400" i="1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2400" i="1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294" y="5781359"/>
                <a:ext cx="2510367" cy="10766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017330" y="6015692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2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808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Сингулярное разложение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63486" y="1240970"/>
                <a:ext cx="10428513" cy="5617029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 smtClean="0"/>
                  <a:t>В </a:t>
                </a:r>
                <a:r>
                  <a:rPr lang="ru-RU" sz="2400" dirty="0"/>
                  <a:t>зависимости от ранга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ru-RU" sz="2400" dirty="0"/>
                  <a:t> существуют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, …,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/>
                  <a:t>, </a:t>
                </a:r>
                <a:r>
                  <a:rPr lang="ru-RU" sz="2400" dirty="0" smtClean="0"/>
                  <a:t>количество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которых </a:t>
                </a:r>
                <a:r>
                  <a:rPr lang="ru-RU" sz="2400" dirty="0"/>
                  <a:t>соответствует рангу матрицы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b="0" i="0" smtClean="0">
                          <a:latin typeface="Cambria Math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b="0" i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r>
                  <a:rPr lang="ru-RU" sz="2400" dirty="0"/>
                  <a:t/>
                </a:r>
                <a:br>
                  <a:rPr lang="ru-RU" sz="2400" dirty="0"/>
                </a:br>
                <a:r>
                  <a:rPr lang="ru-RU" sz="2400" dirty="0" smtClean="0"/>
                  <a:t>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4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𝑖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r>
                      <a:rPr lang="ru-RU" sz="2400" i="1" dirty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ru-RU" sz="2400" i="1" dirty="0">
                            <a:latin typeface="Cambria Math" charset="0"/>
                          </a:rPr>
                          <m:t>1 2, 3, </m:t>
                        </m:r>
                        <m:r>
                          <a:rPr lang="en-US" sz="2400" i="1" dirty="0">
                            <a:latin typeface="Cambria Math" charset="0"/>
                          </a:rPr>
                          <m:t>…, </m:t>
                        </m:r>
                        <m:r>
                          <a:rPr lang="en-US" sz="2400" b="0" i="1" dirty="0" smtClean="0">
                            <a:latin typeface="Cambria Math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(так называемые </a:t>
                </a:r>
                <a:r>
                  <a:rPr lang="ru-RU" sz="2400" dirty="0"/>
                  <a:t>сингулярные значения) — это </a:t>
                </a:r>
                <a:r>
                  <a:rPr lang="ru-RU" sz="2400" dirty="0" smtClean="0"/>
                  <a:t>квадратные </a:t>
                </a:r>
                <a:r>
                  <a:rPr lang="ru-RU" sz="2400" dirty="0"/>
                  <a:t>корни из собственных значений матриц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𝐴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 smtClean="0"/>
                  <a:t>и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𝐴</m:t>
                    </m:r>
                  </m:oMath>
                </a14:m>
                <a:r>
                  <a:rPr lang="ru-RU" sz="2400" dirty="0"/>
                  <a:t>, а значит, они служат </a:t>
                </a:r>
                <a:r>
                  <a:rPr lang="ru-RU" sz="2400" dirty="0" smtClean="0"/>
                  <a:t>мерой </a:t>
                </a:r>
                <a:r>
                  <a:rPr lang="ru-RU" sz="2400" dirty="0"/>
                  <a:t>дисперсии данных. Каждое из слагаемых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bSup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r>
                      <a:rPr lang="ru-RU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𝑖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r>
                      <a:rPr lang="ru-RU" sz="2400" i="1" dirty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ru-RU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ru-RU" sz="2400" i="1" dirty="0">
                            <a:latin typeface="Cambria Math" charset="0"/>
                          </a:rPr>
                          <m:t>1 2, 3, </m:t>
                        </m:r>
                        <m:r>
                          <a:rPr lang="en-US" sz="2400" i="1" dirty="0">
                            <a:latin typeface="Cambria Math" charset="0"/>
                          </a:rPr>
                          <m:t>…, </m:t>
                        </m:r>
                        <m:r>
                          <a:rPr lang="en-US" sz="2400" i="1" dirty="0">
                            <a:latin typeface="Cambria Math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представляет </a:t>
                </a:r>
                <a:r>
                  <a:rPr lang="ru-RU" sz="2400" dirty="0"/>
                  <a:t>собой матрицу единичного ранга. Мы можем оставить только </a:t>
                </a:r>
                <a:r>
                  <a:rPr lang="ru-RU" sz="2400" dirty="0" err="1"/>
                  <a:t>одноранговые</a:t>
                </a:r>
                <a:r>
                  <a:rPr lang="ru-RU" sz="2400" dirty="0"/>
                  <a:t> </a:t>
                </a:r>
                <a:r>
                  <a:rPr lang="ru-RU" sz="2400" dirty="0" smtClean="0"/>
                  <a:t>матрицы </a:t>
                </a:r>
                <a:r>
                  <a:rPr lang="ru-RU" sz="2400" dirty="0"/>
                  <a:t>с сингулярными значениями существенной величины, которые </a:t>
                </a:r>
                <a:r>
                  <a:rPr lang="ru-RU" sz="2400" dirty="0" smtClean="0"/>
                  <a:t>объясняют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значительную </a:t>
                </a:r>
                <a:r>
                  <a:rPr lang="ru-RU" sz="2400" dirty="0"/>
                  <a:t>долю дисперсии</a:t>
                </a:r>
                <a:r>
                  <a:rPr lang="ru-RU" sz="2400" dirty="0" smtClean="0"/>
                  <a:t>.</a:t>
                </a:r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/>
                  <a:t>Если взять только первые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 err="1"/>
                  <a:t>одноранговых</a:t>
                </a:r>
                <a:r>
                  <a:rPr lang="ru-RU" sz="2400" dirty="0"/>
                  <a:t> матриц, соответствующих первым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ru-RU" sz="2400" dirty="0" smtClean="0"/>
                  <a:t>сингулярным </a:t>
                </a:r>
                <a:r>
                  <a:rPr lang="ru-RU" sz="2400" dirty="0"/>
                  <a:t>значениям наибольшей величины, то доля удержанной дисперсии </a:t>
                </a:r>
                <a:r>
                  <a:rPr lang="ru-RU" sz="2400" dirty="0" smtClean="0"/>
                  <a:t>вычисляется </a:t>
                </a:r>
                <a:r>
                  <a:rPr lang="ru-RU" sz="2400" dirty="0"/>
                  <a:t>по следующей формуле</a:t>
                </a:r>
                <a:r>
                  <a:rPr lang="ru-RU" sz="2400" dirty="0" smtClean="0"/>
                  <a:t>:</a:t>
                </a:r>
                <a:endParaRPr lang="en-US" sz="2400" dirty="0" smtClean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400" i="1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…+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3486" y="1240970"/>
                <a:ext cx="10428513" cy="5617029"/>
              </a:xfrm>
              <a:blipFill rotWithShape="0">
                <a:blip r:embed="rId2"/>
                <a:stretch>
                  <a:fillRect l="-877" t="-1520" r="-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63453" y="184021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3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26061" y="5696606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4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630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Сингулярное разложение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63486" y="1240970"/>
                <a:ext cx="10428513" cy="5617029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 smtClean="0"/>
                  <a:t>Сингулярное </a:t>
                </a:r>
                <a:r>
                  <a:rPr lang="ru-RU" sz="2400" dirty="0"/>
                  <a:t>разложение позволяет сжимать изображения. Аналогичный </a:t>
                </a:r>
                <a:r>
                  <a:rPr lang="ru-RU" sz="2400" dirty="0" smtClean="0"/>
                  <a:t>подход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используется </a:t>
                </a:r>
                <a:r>
                  <a:rPr lang="ru-RU" sz="2400" dirty="0"/>
                  <a:t>в </a:t>
                </a:r>
                <a:r>
                  <a:rPr lang="ru-RU" sz="2400" dirty="0" err="1"/>
                  <a:t>коллаборативной</a:t>
                </a:r>
                <a:r>
                  <a:rPr lang="ru-RU" sz="2400" dirty="0"/>
                  <a:t> фильтрации для разложения матрицы </a:t>
                </a:r>
                <a:r>
                  <a:rPr lang="ru-RU" sz="2400" dirty="0" smtClean="0"/>
                  <a:t>пользовательских </a:t>
                </a:r>
                <a:r>
                  <a:rPr lang="ru-RU" sz="2400" dirty="0"/>
                  <a:t>предпочтении на две матрицы, содержащие векторы пользователей и </a:t>
                </a:r>
                <a:r>
                  <a:rPr lang="ru-RU" sz="2400" dirty="0" smtClean="0"/>
                  <a:t>векторы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объектов</a:t>
                </a:r>
                <a:r>
                  <a:rPr lang="ru-RU" sz="2400" dirty="0"/>
                  <a:t>. Сингулярное разложение матрицы описывается формулой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𝑈𝑆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400" dirty="0" smtClean="0"/>
                  <a:t>. Матрицу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пользовательских </a:t>
                </a:r>
                <a:r>
                  <a:rPr lang="ru-RU" sz="2400" dirty="0"/>
                  <a:t>предпочтений можно разложить следующим образом</a:t>
                </a:r>
                <a:r>
                  <a:rPr lang="ru-RU" sz="2400" dirty="0" smtClean="0"/>
                  <a:t>:</a:t>
                </a:r>
                <a:endParaRPr lang="en-US" sz="2400" dirty="0" smtClean="0"/>
              </a:p>
              <a:p>
                <a:pPr marL="0" indent="45720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𝑈𝑆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𝑈𝑆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1/2</m:t>
                              </m:r>
                            </m:sup>
                          </m:sSup>
                          <m:r>
                            <a:rPr lang="en-US" sz="2400" i="1">
                              <a:latin typeface="Cambria Math" charset="0"/>
                            </a:rPr>
                            <m:t>𝑉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charset="0"/>
                        </a:rPr>
                        <m:t>′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charset="0"/>
                            </a:rPr>
                            <m:t>′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  <a:p>
                <a:pPr marL="0" indent="457200" algn="just">
                  <a:buNone/>
                </a:pP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𝑈</m:t>
                    </m:r>
                    <m:r>
                      <a:rPr lang="en-US" sz="2400" i="1">
                        <a:latin typeface="Cambria Math" charset="0"/>
                      </a:rPr>
                      <m:t>′</m:t>
                    </m:r>
                  </m:oMath>
                </a14:m>
                <a:r>
                  <a:rPr lang="ru-RU" sz="2400" dirty="0"/>
                  <a:t> — матрица векторов пользователей, равная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𝑈𝑆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ru-RU" sz="2400" dirty="0"/>
                  <a:t>‚ </a:t>
                </a:r>
                <a:r>
                  <a:rPr lang="ru-RU" sz="2400" dirty="0" smtClean="0"/>
                  <a:t>а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𝑉</m:t>
                    </m:r>
                    <m:r>
                      <a:rPr lang="en-US" sz="2400" i="1">
                        <a:latin typeface="Cambria Math" charset="0"/>
                      </a:rPr>
                      <m:t>′</m:t>
                    </m:r>
                  </m:oMath>
                </a14:m>
                <a:r>
                  <a:rPr lang="ru-RU" sz="2400" dirty="0"/>
                  <a:t> — матрица векторов </a:t>
                </a:r>
                <a:r>
                  <a:rPr lang="ru-RU" sz="2400" dirty="0" smtClean="0"/>
                  <a:t>объектов</a:t>
                </a:r>
                <a:r>
                  <a:rPr lang="ru-RU" sz="2400" dirty="0"/>
                  <a:t>, равная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1/2</m:t>
                            </m:r>
                          </m:sup>
                        </m:sSup>
                        <m:r>
                          <a:rPr lang="en-US" sz="24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400" dirty="0"/>
                  <a:t>.</a:t>
                </a:r>
              </a:p>
              <a:p>
                <a:pPr marL="0" indent="457200" algn="just">
                  <a:buNone/>
                </a:pPr>
                <a:r>
                  <a:rPr lang="ru-RU" sz="2400" dirty="0"/>
                  <a:t/>
                </a:r>
                <a:br>
                  <a:rPr lang="ru-RU" sz="2400" dirty="0"/>
                </a:br>
                <a:endParaRPr lang="ru-RU" sz="2400" dirty="0"/>
              </a:p>
              <a:p>
                <a:pPr marL="0" indent="457200" algn="just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3486" y="1240970"/>
                <a:ext cx="10428513" cy="5617029"/>
              </a:xfrm>
              <a:blipFill rotWithShape="0">
                <a:blip r:embed="rId2"/>
                <a:stretch>
                  <a:fillRect l="-877" t="-1520" r="-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61CA7-7281-4DB5-BFC5-B6C208FAC0A9}" type="slidenum">
              <a:rPr lang="en-US" smtClean="0"/>
              <a:t>46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463453" y="327544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5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237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9" y="1240971"/>
            <a:ext cx="5963291" cy="2796472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 err="1" smtClean="0"/>
              <a:t>Автокодировщик</a:t>
            </a:r>
            <a:r>
              <a:rPr lang="ru-RU" sz="2400" dirty="0" smtClean="0"/>
              <a:t> (</a:t>
            </a:r>
            <a:r>
              <a:rPr lang="en-US" sz="2400" dirty="0" err="1"/>
              <a:t>Autoencoders</a:t>
            </a:r>
            <a:r>
              <a:rPr lang="ru-RU" sz="2400" dirty="0" smtClean="0"/>
              <a:t>) </a:t>
            </a:r>
            <a:r>
              <a:rPr lang="ru-RU" sz="2400" dirty="0"/>
              <a:t>— это </a:t>
            </a:r>
            <a:r>
              <a:rPr lang="ru-RU" sz="2400" dirty="0" smtClean="0"/>
              <a:t>искусственная нейронная сеть, обучаемая </a:t>
            </a:r>
            <a:r>
              <a:rPr lang="ru-RU" sz="2400" i="1" u="sng" dirty="0"/>
              <a:t>без учителя</a:t>
            </a:r>
            <a:r>
              <a:rPr lang="ru-RU" sz="2400" dirty="0"/>
              <a:t>, </a:t>
            </a:r>
            <a:r>
              <a:rPr lang="ru-RU" sz="2400" dirty="0" smtClean="0"/>
              <a:t>которая используется </a:t>
            </a:r>
            <a:r>
              <a:rPr lang="ru-RU" sz="2400" dirty="0"/>
              <a:t>для генерирования неких значимых </a:t>
            </a:r>
            <a:r>
              <a:rPr lang="ru-RU" sz="2400" dirty="0" smtClean="0"/>
              <a:t>внутренних </a:t>
            </a:r>
            <a:r>
              <a:rPr lang="ru-RU" sz="2400" dirty="0"/>
              <a:t>представлений входных данных. </a:t>
            </a:r>
            <a:r>
              <a:rPr lang="ru-RU" sz="2400" dirty="0" err="1"/>
              <a:t>Автокодирующие</a:t>
            </a:r>
            <a:r>
              <a:rPr lang="ru-RU" sz="2400" dirty="0"/>
              <a:t> сети обычно содержат </a:t>
            </a:r>
            <a:r>
              <a:rPr lang="ru-RU" sz="2400" dirty="0" smtClean="0"/>
              <a:t>три слоя</a:t>
            </a:r>
            <a:r>
              <a:rPr lang="ru-RU" sz="2400" dirty="0"/>
              <a:t>: входной, скрытый и выходной. Комбинация </a:t>
            </a:r>
            <a:r>
              <a:rPr lang="ru-RU" sz="2400" i="1" u="sng" dirty="0"/>
              <a:t>входного и скрытого слоев </a:t>
            </a:r>
            <a:r>
              <a:rPr lang="ru-RU" sz="2400" dirty="0" smtClean="0"/>
              <a:t>действует </a:t>
            </a:r>
            <a:r>
              <a:rPr lang="ru-RU" sz="2400" dirty="0"/>
              <a:t>в качестве </a:t>
            </a:r>
            <a:r>
              <a:rPr lang="ru-RU" sz="2400" i="1" u="sng" dirty="0"/>
              <a:t>кодировщика</a:t>
            </a:r>
            <a:r>
              <a:rPr lang="ru-RU" sz="2400" dirty="0"/>
              <a:t>, а комбинация </a:t>
            </a:r>
            <a:r>
              <a:rPr lang="ru-RU" sz="2400" i="1" u="sng" dirty="0"/>
              <a:t>скрытого и выходного слоев </a:t>
            </a:r>
            <a:r>
              <a:rPr lang="ru-RU" sz="2400" dirty="0"/>
              <a:t>— в </a:t>
            </a:r>
            <a:r>
              <a:rPr lang="ru-RU" sz="2400" dirty="0" smtClean="0"/>
              <a:t>качестве </a:t>
            </a:r>
            <a:r>
              <a:rPr lang="ru-RU" sz="2400" i="1" u="sng" dirty="0" err="1" smtClean="0"/>
              <a:t>декодировщика</a:t>
            </a:r>
            <a:r>
              <a:rPr lang="ru-RU" sz="2400" dirty="0"/>
              <a:t>. Кодировщик пытается создать в скрытом слое некое “осмысленное” представление входа, </a:t>
            </a:r>
            <a:r>
              <a:rPr lang="ru-RU" sz="2400" dirty="0" err="1"/>
              <a:t>декодировщик</a:t>
            </a:r>
            <a:r>
              <a:rPr lang="ru-RU" sz="2400" dirty="0"/>
              <a:t> пытается реконструировать из него исходное представление в выходном слое. 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447816" y="623645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Нейронная сеть </a:t>
            </a:r>
            <a:r>
              <a:rPr lang="ru-RU" b="1" dirty="0" err="1" smtClean="0"/>
              <a:t>Автокодировщик</a:t>
            </a:r>
            <a:endParaRPr lang="ru-RU" b="1" dirty="0"/>
          </a:p>
        </p:txBody>
      </p:sp>
      <p:pic>
        <p:nvPicPr>
          <p:cNvPr id="6" name="Рисунок 20" descr="../Снимок%20экрана%202025-12-19%20в%2018.09.23.png"/>
          <p:cNvPicPr/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40971"/>
            <a:ext cx="6095999" cy="49954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63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411704" y="5044620"/>
                <a:ext cx="10780295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/>
                <a:r>
                  <a:rPr lang="ru-RU" sz="2400" dirty="0"/>
                  <a:t>Выход скрытого элемента и выход выходного слоя представим в виде:</a:t>
                </a:r>
              </a:p>
              <a:p>
                <a:pPr indent="457200" algn="ctr"/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h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𝑊𝑥</m:t>
                        </m:r>
                        <m:r>
                          <a:rPr lang="en-US" sz="2400" i="1">
                            <a:latin typeface="Cambria Math" charset="0"/>
                          </a:rPr>
                          <m:t>+</m:t>
                        </m:r>
                        <m:r>
                          <a:rPr lang="en-US" sz="2400" i="1">
                            <a:latin typeface="Cambria Math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𝑊</m:t>
                        </m:r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  <m:r>
                          <a:rPr lang="en-US" sz="2400" i="1">
                            <a:latin typeface="Cambria Math" charset="0"/>
                          </a:rPr>
                          <m:t>+</m:t>
                        </m:r>
                        <m:r>
                          <a:rPr lang="en-US" sz="2400" i="1">
                            <a:latin typeface="Cambria Math" charset="0"/>
                          </a:rPr>
                          <m:t>𝑏</m:t>
                        </m:r>
                        <m:r>
                          <a:rPr lang="en-US" sz="2400" i="1">
                            <a:latin typeface="Cambria Math" charset="0"/>
                          </a:rPr>
                          <m:t>′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,</m:t>
                    </m:r>
                  </m:oMath>
                </a14:m>
                <a:endParaRPr lang="ru-RU" sz="2400" dirty="0"/>
              </a:p>
              <a:p>
                <a:pPr algn="just"/>
                <a:r>
                  <a:rPr lang="ru-RU" sz="2400" dirty="0"/>
                  <a:t>  где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𝑓</m:t>
                        </m:r>
                      </m:e>
                      <m:sub>
                        <m:r>
                          <a:rPr lang="ru-RU" sz="24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— функции активации элементов    скрытого </a:t>
                </a:r>
                <a:r>
                  <a:rPr lang="en-US" sz="2400" dirty="0"/>
                  <a:t>  </a:t>
                </a:r>
                <a:r>
                  <a:rPr lang="en-US" sz="2400" dirty="0">
                    <a:solidFill>
                      <a:schemeClr val="bg1"/>
                    </a:solidFill>
                  </a:rPr>
                  <a:t>____</a:t>
                </a:r>
                <a:r>
                  <a:rPr lang="ru-RU" sz="2400" dirty="0"/>
                  <a:t>и выходного слоев соответственно. </a:t>
                </a: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704" y="5044620"/>
                <a:ext cx="10780295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905" t="-3113" r="-848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876800" y="1044679"/>
                <a:ext cx="7315199" cy="2796472"/>
              </a:xfrm>
            </p:spPr>
            <p:txBody>
              <a:bodyPr>
                <a:noAutofit/>
              </a:bodyPr>
              <a:lstStyle/>
              <a:p>
                <a:pPr marL="0" indent="457200" algn="just">
                  <a:buNone/>
                </a:pPr>
                <a:r>
                  <a:rPr lang="ru-RU" sz="2400" dirty="0" smtClean="0"/>
                  <a:t>Пусть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>
                            <a:latin typeface="Cambria Math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r>
                  <a:rPr lang="en-US" sz="2400" i="1" dirty="0" smtClean="0"/>
                  <a:t> </a:t>
                </a:r>
                <a:endParaRPr lang="ru-RU" sz="2400" i="1" dirty="0">
                  <a:latin typeface="Cambria Math" charset="0"/>
                </a:endParaRPr>
              </a:p>
              <a:p>
                <a:pPr marL="0" indent="457200" algn="ctr">
                  <a:buNone/>
                </a:pPr>
                <a:r>
                  <a:rPr lang="ru-RU" sz="2400" b="0" i="1" dirty="0" smtClean="0">
                    <a:latin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h</m:t>
                    </m:r>
                    <m:r>
                      <a:rPr lang="en-US" sz="2400" b="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charset="0"/>
                          </a:rPr>
                          <m:t>𝑑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en-US" sz="2400" i="1" dirty="0" smtClean="0"/>
              </a:p>
              <a:p>
                <a:pPr marL="0" indent="457200" algn="ctr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b="0" i="1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sz="2400" b="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>
                            <a:latin typeface="Cambria Math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i="1" dirty="0" smtClean="0"/>
              </a:p>
              <a:p>
                <a:pPr marL="0" indent="457200" algn="just">
                  <a:buNone/>
                </a:pPr>
                <a:r>
                  <a:rPr lang="en-US" sz="2400" dirty="0" smtClean="0"/>
                  <a:t> </a:t>
                </a:r>
                <a:r>
                  <a:rPr lang="ru-RU" sz="2400" dirty="0" smtClean="0"/>
                  <a:t>Веса</a:t>
                </a:r>
                <a:r>
                  <a:rPr lang="ru-RU" sz="2400" dirty="0"/>
                  <a:t>, связывающие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с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charset="0"/>
                      </a:rPr>
                      <m:t>h</m:t>
                    </m:r>
                  </m:oMath>
                </a14:m>
                <a:r>
                  <a:rPr lang="ru-RU" sz="2400" dirty="0" smtClean="0"/>
                  <a:t>, представим </a:t>
                </a:r>
                <a:r>
                  <a:rPr lang="ru-RU" sz="2400" dirty="0"/>
                  <a:t>матрицей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𝑊</m:t>
                    </m:r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charset="0"/>
                          </a:rPr>
                          <m:t>𝑑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400" dirty="0"/>
                  <a:t> </a:t>
                </a:r>
                <a:r>
                  <a:rPr lang="ru-RU" sz="2400" dirty="0" smtClean="0"/>
                  <a:t>смещения </a:t>
                </a:r>
                <a:r>
                  <a:rPr lang="ru-RU" sz="2400" dirty="0"/>
                  <a:t>на скрытом элементе — </a:t>
                </a:r>
                <a:r>
                  <a:rPr lang="ru-RU" sz="2400" dirty="0" smtClean="0"/>
                  <a:t>вектором</a:t>
                </a:r>
                <a:endParaRPr lang="en-US" sz="2400" dirty="0" smtClean="0"/>
              </a:p>
              <a:p>
                <a:pPr marL="0" indent="4572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r>
                        <a:rPr lang="en-US" sz="2400" b="0" i="1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>
                              <a:latin typeface="Cambria Math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400" b="0" i="1">
                              <a:latin typeface="Cambria Math" charset="0"/>
                            </a:rPr>
                            <m:t>]</m:t>
                          </m:r>
                          <m:r>
                            <m:rPr>
                              <m:nor/>
                            </m:rPr>
                            <a:rPr lang="ru-RU" sz="2400" dirty="0"/>
                            <m:t> </m:t>
                          </m:r>
                        </m:e>
                        <m:sup>
                          <m:r>
                            <a:rPr lang="en-US" sz="2400" b="0" i="1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𝜖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b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ℝ</m:t>
                          </m:r>
                          <m:r>
                            <m:rPr>
                              <m:nor/>
                            </m:rPr>
                            <a:rPr lang="ru-RU" sz="2400" dirty="0"/>
                            <m:t> </m:t>
                          </m:r>
                        </m:e>
                        <m:sup>
                          <m:r>
                            <a:rPr lang="en-US" sz="2400" b="0" i="1" dirty="0">
                              <a:latin typeface="Cambria Math" charset="0"/>
                            </a:rPr>
                            <m:t>𝑑</m:t>
                          </m:r>
                          <m:r>
                            <a:rPr lang="en-US" sz="2400" b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</m:t>
                          </m:r>
                          <m:r>
                            <a:rPr lang="en-US" sz="2400" b="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marL="0" indent="457200" algn="just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6800" y="1044679"/>
                <a:ext cx="7315199" cy="2796472"/>
              </a:xfrm>
              <a:blipFill rotWithShape="0">
                <a:blip r:embed="rId4"/>
                <a:stretch>
                  <a:fillRect t="-1961" r="-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447816" y="623645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Автокодировщики</a:t>
            </a:r>
            <a:endParaRPr lang="ru-RU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999362" y="3517645"/>
            <a:ext cx="66980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5117433" y="3760293"/>
                <a:ext cx="7074566" cy="1265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/>
                <a:r>
                  <a:rPr lang="ru-RU" sz="2400" dirty="0" smtClean="0"/>
                  <a:t>Веса</a:t>
                </a:r>
                <a:r>
                  <a:rPr lang="ru-RU" sz="2400" dirty="0"/>
                  <a:t>, связывающие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charset="0"/>
                      </a:rPr>
                      <m:t>h</m:t>
                    </m:r>
                  </m:oMath>
                </a14:m>
                <a:r>
                  <a:rPr lang="ru-RU" sz="2400" dirty="0"/>
                  <a:t> </a:t>
                </a:r>
                <a:r>
                  <a:rPr lang="ru-RU" sz="2400" dirty="0" smtClean="0"/>
                  <a:t>с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b="0" i="1"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400" dirty="0" smtClean="0"/>
                  <a:t>, представим матрицей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𝑊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′</m:t>
                    </m:r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ru-RU" sz="2400" dirty="0" smtClean="0"/>
                  <a:t>, </a:t>
                </a:r>
                <a:r>
                  <a:rPr lang="ru-RU" sz="2400" dirty="0"/>
                  <a:t>а смещения на выходных элементах — </a:t>
                </a:r>
                <a:r>
                  <a:rPr lang="ru-RU" sz="2400" dirty="0" smtClean="0"/>
                  <a:t>вектором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charset="0"/>
                      </a:rPr>
                      <m:t>𝑏</m:t>
                    </m:r>
                    <m:r>
                      <a:rPr lang="en-US" sz="2400" b="0" i="1" smtClean="0">
                        <a:latin typeface="Cambria Math" charset="0"/>
                      </a:rPr>
                      <m:t>′</m:t>
                    </m:r>
                    <m:r>
                      <a:rPr lang="en-US" sz="2400" b="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>
                            <a:latin typeface="Cambria Math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ru-RU" sz="2400" dirty="0"/>
                          <m:t> </m:t>
                        </m:r>
                      </m:e>
                      <m:sup>
                        <m:r>
                          <a:rPr lang="en-US" sz="2400" b="0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sz="2400" b="0" i="1">
                        <a:latin typeface="Cambria Math" charset="0"/>
                        <a:ea typeface="Cambria Math" charset="0"/>
                        <a:cs typeface="Cambria Math" charset="0"/>
                      </a:rPr>
                      <m:t>𝜖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ru-RU" sz="2400" i="1" dirty="0"/>
                          <m:t>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</m:t>
                        </m:r>
                      </m:sup>
                    </m:sSup>
                    <m:r>
                      <a:rPr lang="en-US" sz="2400" b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33" y="3760293"/>
                <a:ext cx="7074566" cy="1265667"/>
              </a:xfrm>
              <a:prstGeom prst="rect">
                <a:avLst/>
              </a:prstGeom>
              <a:blipFill rotWithShape="0">
                <a:blip r:embed="rId5"/>
                <a:stretch>
                  <a:fillRect l="-1292" t="-3865" r="-1292" b="-106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83104" y="5328581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 smtClean="0">
                <a:solidFill>
                  <a:srgbClr val="FF9300"/>
                </a:solidFill>
              </a:rPr>
              <a:t>6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45643" y="5368204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(2</a:t>
            </a:r>
            <a:r>
              <a:rPr lang="ru-RU" sz="2800" b="1" dirty="0">
                <a:solidFill>
                  <a:srgbClr val="FF9300"/>
                </a:solidFill>
              </a:rPr>
              <a:t>7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pic>
        <p:nvPicPr>
          <p:cNvPr id="13" name="Рисунок 20" descr="../Снимок%20экрана%202025-12-19%20в%2018.09.23.png"/>
          <p:cNvPicPr/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240970"/>
            <a:ext cx="4876801" cy="3784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993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75657" y="1278009"/>
                <a:ext cx="11016342" cy="2796472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    </a:t>
                </a:r>
                <a:r>
                  <a:rPr lang="ru-RU" sz="2400" dirty="0" smtClean="0">
                    <a:solidFill>
                      <a:schemeClr val="tx1"/>
                    </a:solidFill>
                  </a:rPr>
                  <a:t>На этапе обучения сети выполняется минимизация функции потерь </a:t>
                </a:r>
                <a:endParaRPr lang="ru-RU" sz="2400" i="1" dirty="0" smtClean="0">
                  <a:solidFill>
                    <a:schemeClr val="tx1"/>
                  </a:solidFill>
                  <a:latin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d>
                        <m:d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x-none" sz="2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𝑥</m:t>
                          </m:r>
                          <m:r>
                            <a:rPr lang="ru-RU" sz="2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ru-RU" sz="2400" b="0" i="1">
                          <a:solidFill>
                            <a:schemeClr val="tx1"/>
                          </a:solidFill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г</a:t>
                </a:r>
                <a:r>
                  <a:rPr lang="ru-RU" sz="2400" dirty="0" smtClean="0">
                    <a:solidFill>
                      <a:schemeClr val="tx1"/>
                    </a:solidFill>
                  </a:rPr>
                  <a:t>де функция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 smtClean="0">
                    <a:solidFill>
                      <a:schemeClr val="tx1"/>
                    </a:solidFill>
                  </a:rPr>
                  <a:t>штрафует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400" dirty="0" smtClean="0">
                    <a:solidFill>
                      <a:schemeClr val="tx1"/>
                    </a:solidFill>
                  </a:rPr>
                  <a:t> за отклонения от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по </a:t>
                </a:r>
                <a:r>
                  <a:rPr lang="ru-RU" sz="2400" dirty="0" smtClean="0">
                    <a:solidFill>
                      <a:schemeClr val="tx1"/>
                    </a:solidFill>
                  </a:rPr>
                  <a:t>методу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 smtClean="0">
                    <a:solidFill>
                      <a:schemeClr val="tx1"/>
                    </a:solidFill>
                  </a:rPr>
                  <a:t>среднеквадратической ошибки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:</a:t>
                </a:r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r>
                        <a:rPr lang="ru-RU" sz="2400" b="0" i="1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ru-RU" sz="2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𝑘</m:t>
                          </m:r>
                          <m:r>
                            <a:rPr lang="ru-RU" sz="2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(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>
                                          <a:latin typeface="Cambria Math" charset="0"/>
                                        </a:rPr>
                                        <m:t>(</m:t>
                                      </m:r>
                                      <m:r>
                                        <a:rPr lang="en-US" sz="2400" b="0" i="1">
                                          <a:latin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>
                                          <a:latin typeface="Cambria Math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5657" y="1278009"/>
                <a:ext cx="11016342" cy="2796472"/>
              </a:xfrm>
              <a:blipFill rotWithShape="0">
                <a:blip r:embed="rId3"/>
                <a:stretch>
                  <a:fillRect l="-885" t="-3057" r="-8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447816" y="623645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Автокодировщики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451757" y="3678910"/>
                <a:ext cx="11740242" cy="32049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 smtClean="0"/>
                  <a:t>где</a:t>
                </a:r>
                <a:r>
                  <a:rPr lang="en-US" sz="2400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2400" i="1" dirty="0"/>
                  <a:t> – </a:t>
                </a:r>
                <a:r>
                  <a:rPr lang="ru-RU" sz="2400" dirty="0"/>
                  <a:t>евклидова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𝑙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−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норма расстояния между реконструированным выходным и первоначальным входным векторами</a:t>
                </a:r>
                <a:r>
                  <a:rPr lang="en-US" sz="2400" i="1" dirty="0"/>
                  <a:t>;</a:t>
                </a:r>
                <a:r>
                  <a:rPr lang="ru-RU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𝑚</m:t>
                    </m:r>
                    <m:r>
                      <a:rPr lang="en-US" sz="2400" i="1"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количество точек данных, на которых тренируется модель.</a:t>
                </a:r>
                <a:endParaRPr lang="en-US" sz="2400" dirty="0"/>
              </a:p>
              <a:p>
                <a:pPr algn="just"/>
                <a:r>
                  <a:rPr lang="ru-RU" sz="2400" dirty="0"/>
                  <a:t>    Пусть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=[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𝑊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sSup>
                      <m:sSupPr>
                        <m:ctrlP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𝑊</m:t>
                        </m:r>
                      </m:e>
                      <m:sup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′</m:t>
                        </m:r>
                      </m:sup>
                    </m:sSup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𝑏</m:t>
                    </m:r>
                    <m:r>
                      <a:rPr lang="en-US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′]</m:t>
                    </m:r>
                  </m:oMath>
                </a14:m>
                <a:r>
                  <a:rPr lang="ru-RU" sz="2400" dirty="0"/>
                  <a:t>, то для получения модели: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ru-RU" sz="2400" dirty="0"/>
                            <m:t> </m:t>
                          </m:r>
                        </m:e>
                      </m:acc>
                      <m:r>
                        <a:rPr lang="ru-RU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𝑎𝑟𝑔𝑚𝑖𝑛</m:t>
                      </m:r>
                      <m:r>
                        <a:rPr lang="ru-RU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r>
                        <a:rPr lang="en-US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</m:d>
                      <m:r>
                        <a:rPr lang="en-US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24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4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charset="0"/>
                            </a:rPr>
                            <m:t>𝑘</m:t>
                          </m:r>
                          <m:r>
                            <a:rPr lang="ru-RU" sz="24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ru-RU" sz="24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24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p>
                          <m:r>
                            <a:rPr lang="ru-RU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ru-RU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+1</m:t>
                          </m:r>
                          <m: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e>
                        <m:sup>
                          <m:r>
                            <a:rPr lang="ru-RU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𝜀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sz="24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ru-RU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  <m:r>
                                <a:rPr lang="en-US" sz="24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4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7" y="3678910"/>
                <a:ext cx="11740242" cy="3204980"/>
              </a:xfrm>
              <a:prstGeom prst="rect">
                <a:avLst/>
              </a:prstGeom>
              <a:blipFill rotWithShape="0">
                <a:blip r:embed="rId4"/>
                <a:stretch>
                  <a:fillRect l="-779" r="-8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522676" y="289408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</a:t>
            </a:r>
            <a:r>
              <a:rPr lang="ru-RU" sz="2800" b="1" dirty="0" smtClean="0">
                <a:solidFill>
                  <a:srgbClr val="FF9300"/>
                </a:solidFill>
              </a:rPr>
              <a:t>29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60169" y="5556591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(3</a:t>
            </a:r>
            <a:r>
              <a:rPr lang="ru-RU" sz="2800" b="1" dirty="0" smtClean="0">
                <a:solidFill>
                  <a:srgbClr val="FF9300"/>
                </a:solidFill>
              </a:rPr>
              <a:t>0</a:t>
            </a:r>
            <a:r>
              <a:rPr lang="en-US" sz="2800" b="1" dirty="0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93723" y="6250810"/>
            <a:ext cx="1037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9300"/>
                </a:solidFill>
              </a:rPr>
              <a:t>(3</a:t>
            </a:r>
            <a:r>
              <a:rPr lang="ru-RU" sz="2800" b="1" smtClean="0">
                <a:solidFill>
                  <a:srgbClr val="FF9300"/>
                </a:solidFill>
              </a:rPr>
              <a:t>1</a:t>
            </a:r>
            <a:r>
              <a:rPr lang="en-US" sz="2800" b="1" smtClean="0">
                <a:solidFill>
                  <a:srgbClr val="FF9300"/>
                </a:solidFill>
              </a:rPr>
              <a:t>)</a:t>
            </a:r>
            <a:endParaRPr lang="ru-RU" sz="2800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93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63485" y="1278009"/>
                <a:ext cx="10428513" cy="4126748"/>
              </a:xfrm>
            </p:spPr>
            <p:txBody>
              <a:bodyPr>
                <a:noAutofit/>
              </a:bodyPr>
              <a:lstStyle/>
              <a:p>
                <a:pPr algn="just">
                  <a:buFont typeface="Wingdings" charset="2"/>
                  <a:buChar char="ü"/>
                </a:pPr>
                <a:r>
                  <a:rPr lang="en-US" sz="2400" dirty="0" smtClean="0"/>
                  <a:t> </a:t>
                </a:r>
                <a:r>
                  <a:rPr lang="ru-RU" sz="2400" dirty="0" smtClean="0"/>
                  <a:t>Если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𝑑</m:t>
                    </m:r>
                    <m:r>
                      <a:rPr lang="en-US" sz="2400" b="0" i="1" smtClean="0">
                        <a:latin typeface="Cambria Math" charset="0"/>
                      </a:rPr>
                      <m:t>&lt;</m:t>
                    </m:r>
                    <m:r>
                      <a:rPr lang="en-US" sz="2400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ru-RU" sz="2400" dirty="0" smtClean="0"/>
                  <a:t>‚ где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𝑑</m:t>
                    </m:r>
                    <m:r>
                      <a:rPr lang="en-US" sz="2400" b="0" i="1" smtClean="0">
                        <a:latin typeface="Cambria Math" charset="0"/>
                      </a:rPr>
                      <m:t>−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ru-RU" sz="2400" dirty="0"/>
                  <a:t>размер скрытого слоя,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latin typeface="Cambria Math" charset="0"/>
                      </a:rPr>
                      <m:t>−</m:t>
                    </m:r>
                  </m:oMath>
                </a14:m>
                <a:r>
                  <a:rPr lang="ru-RU" sz="2400" dirty="0" smtClean="0"/>
                  <a:t>размер </a:t>
                </a:r>
                <a:r>
                  <a:rPr lang="ru-RU" sz="2400" dirty="0"/>
                  <a:t>входного слоя, то </a:t>
                </a:r>
                <a:r>
                  <a:rPr lang="ru-RU" sz="2400" dirty="0" err="1" smtClean="0"/>
                  <a:t>Автокодировщик</a:t>
                </a:r>
                <a:r>
                  <a:rPr lang="ru-RU" sz="2400" dirty="0" smtClean="0"/>
                  <a:t> работает </a:t>
                </a:r>
                <a:r>
                  <a:rPr lang="ru-RU" sz="2400" dirty="0"/>
                  <a:t>как сеть сжатия </a:t>
                </a:r>
                <a:r>
                  <a:rPr lang="ru-RU" sz="2400" dirty="0" smtClean="0"/>
                  <a:t>данных. </a:t>
                </a:r>
                <a:r>
                  <a:rPr lang="ru-RU" sz="2400" dirty="0"/>
                  <a:t>Такой </a:t>
                </a:r>
                <a:r>
                  <a:rPr lang="ru-RU" sz="2400" dirty="0" err="1"/>
                  <a:t>А</a:t>
                </a:r>
                <a:r>
                  <a:rPr lang="ru-RU" sz="2400" dirty="0" err="1" smtClean="0"/>
                  <a:t>втокодировщик</a:t>
                </a:r>
                <a:r>
                  <a:rPr lang="ru-RU" sz="2400" dirty="0" smtClean="0"/>
                  <a:t> можно </a:t>
                </a:r>
                <a:r>
                  <a:rPr lang="ru-RU" sz="2400" dirty="0"/>
                  <a:t>использовать для </a:t>
                </a:r>
                <a:r>
                  <a:rPr lang="ru-RU" sz="2400" dirty="0" smtClean="0"/>
                  <a:t>подавления шумов </a:t>
                </a:r>
                <a:r>
                  <a:rPr lang="ru-RU" sz="2400" dirty="0"/>
                  <a:t>во входном сигнале.</a:t>
                </a:r>
              </a:p>
              <a:p>
                <a:pPr algn="just">
                  <a:buFont typeface="Wingdings" charset="2"/>
                  <a:buChar char="ü"/>
                </a:pPr>
                <a:r>
                  <a:rPr lang="en-US" sz="2400" dirty="0" smtClean="0"/>
                  <a:t> </a:t>
                </a:r>
                <a:r>
                  <a:rPr lang="ru-RU" sz="2400" dirty="0" smtClean="0"/>
                  <a:t>Если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𝑑</m:t>
                    </m:r>
                    <m:r>
                      <a:rPr lang="en-US" sz="2400" i="1">
                        <a:latin typeface="Cambria Math" charset="0"/>
                      </a:rPr>
                      <m:t>&lt;</m:t>
                    </m:r>
                    <m:r>
                      <a:rPr lang="en-US" sz="2400" i="1">
                        <a:latin typeface="Cambria Math" charset="0"/>
                      </a:rPr>
                      <m:t>𝑛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/>
                  <a:t>и все функции активации линейны, то сеть учится выполнению </a:t>
                </a:r>
                <a:r>
                  <a:rPr lang="ru-RU" sz="2400" dirty="0" smtClean="0"/>
                  <a:t>линейного </a:t>
                </a:r>
                <a:r>
                  <a:rPr lang="ru-RU" sz="2400" dirty="0"/>
                  <a:t>анализа главных компонент (РСА).</a:t>
                </a:r>
              </a:p>
              <a:p>
                <a:pPr algn="just">
                  <a:buFont typeface="Wingdings" charset="2"/>
                  <a:buChar char="ü"/>
                </a:pPr>
                <a:r>
                  <a:rPr lang="ru-RU" sz="2400" dirty="0" smtClean="0"/>
                  <a:t> </a:t>
                </a: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𝑑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en-US" sz="2400" i="1">
                        <a:latin typeface="Cambria Math" charset="0"/>
                      </a:rPr>
                      <m:t>𝑛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2400" dirty="0"/>
                  <a:t>все функции активации линейны, то сеть может обучаться </a:t>
                </a:r>
                <a:r>
                  <a:rPr lang="ru-RU" sz="2400" dirty="0" smtClean="0"/>
                  <a:t>тождественной </a:t>
                </a:r>
                <a:r>
                  <a:rPr lang="ru-RU" sz="2400" dirty="0"/>
                  <a:t>функции, что не принесет никакой пользы. Но если </a:t>
                </a:r>
                <a:r>
                  <a:rPr lang="ru-RU" sz="2400" dirty="0" err="1" smtClean="0"/>
                  <a:t>регуляризовать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функцию </a:t>
                </a:r>
                <a:r>
                  <a:rPr lang="ru-RU" sz="2400" dirty="0"/>
                  <a:t>стоимости для получения разреженного скрытого представления, </a:t>
                </a:r>
                <a:r>
                  <a:rPr lang="ru-RU" sz="2400" dirty="0" smtClean="0"/>
                  <a:t>то</a:t>
                </a:r>
                <a:r>
                  <a:rPr lang="en-US" sz="2400" dirty="0" smtClean="0"/>
                  <a:t> </a:t>
                </a:r>
                <a:r>
                  <a:rPr lang="ru-RU" sz="2400" dirty="0" smtClean="0"/>
                  <a:t>сеть </a:t>
                </a:r>
                <a:r>
                  <a:rPr lang="ru-RU" sz="2400" dirty="0"/>
                  <a:t>сможет обучаться интересным представлениям данных</a:t>
                </a:r>
                <a:r>
                  <a:rPr lang="ru-RU" sz="2400" dirty="0" smtClean="0"/>
                  <a:t>.</a:t>
                </a:r>
                <a:endParaRPr lang="ru-RU" sz="2400" dirty="0"/>
              </a:p>
              <a:p>
                <a:pPr marL="0" indent="0" algn="just">
                  <a:buNone/>
                </a:pP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63485" y="1278009"/>
                <a:ext cx="10428513" cy="4126748"/>
              </a:xfrm>
              <a:blipFill rotWithShape="0">
                <a:blip r:embed="rId3"/>
                <a:stretch>
                  <a:fillRect l="-760" t="-2068" r="-8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447816" y="623645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Автокодировщики</a:t>
            </a:r>
            <a:endParaRPr lang="ru-RU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946485" y="5404757"/>
            <a:ext cx="107465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>
                <a:ea typeface="Calibri" charset="0"/>
              </a:rPr>
              <a:t>Паттанаяк</a:t>
            </a:r>
            <a:r>
              <a:rPr lang="ru-RU" dirty="0">
                <a:ea typeface="Calibri" charset="0"/>
              </a:rPr>
              <a:t> </a:t>
            </a:r>
            <a:r>
              <a:rPr lang="ru-RU" dirty="0" err="1">
                <a:ea typeface="Calibri" charset="0"/>
              </a:rPr>
              <a:t>Сантану</a:t>
            </a:r>
            <a:r>
              <a:rPr lang="ru-RU" dirty="0">
                <a:ea typeface="Calibri" charset="0"/>
              </a:rPr>
              <a:t> Глубокое обучение и </a:t>
            </a:r>
            <a:r>
              <a:rPr lang="ru-RU" dirty="0" err="1">
                <a:ea typeface="Calibri" charset="0"/>
              </a:rPr>
              <a:t>TensorFlow</a:t>
            </a:r>
            <a:r>
              <a:rPr lang="ru-RU" dirty="0">
                <a:ea typeface="Calibri" charset="0"/>
              </a:rPr>
              <a:t> для профессионалов / Диалектика/Вильямс. 2019. – 480 с. ISBN 978-5-907144-25-5. </a:t>
            </a:r>
          </a:p>
          <a:p>
            <a:pPr marL="342900" lvl="0" indent="-342900" algn="just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a typeface="Calibri" charset="0"/>
              </a:rPr>
              <a:t> Гудфеллоу Я., </a:t>
            </a:r>
            <a:r>
              <a:rPr lang="ru-RU" dirty="0" err="1">
                <a:ea typeface="Calibri" charset="0"/>
              </a:rPr>
              <a:t>Бенджио</a:t>
            </a:r>
            <a:r>
              <a:rPr lang="ru-RU" dirty="0">
                <a:ea typeface="Calibri" charset="0"/>
              </a:rPr>
              <a:t> И., </a:t>
            </a:r>
            <a:r>
              <a:rPr lang="ru-RU" dirty="0" err="1">
                <a:ea typeface="Calibri" charset="0"/>
              </a:rPr>
              <a:t>Курвилль</a:t>
            </a:r>
            <a:r>
              <a:rPr lang="ru-RU" dirty="0">
                <a:ea typeface="Calibri" charset="0"/>
              </a:rPr>
              <a:t> А. Глубокое обучение / Москва, «ДМК Пресс». 2018. — 651 с. ISBN 978-5-97060-618-6. Попов, А. М.  </a:t>
            </a:r>
            <a:endParaRPr lang="ru-RU" dirty="0">
              <a:effectLst/>
              <a:ea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68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447816" y="623645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0971"/>
          </a:xfrm>
        </p:spPr>
        <p:txBody>
          <a:bodyPr>
            <a:noAutofit/>
          </a:bodyPr>
          <a:lstStyle/>
          <a:p>
            <a:pPr algn="ctr"/>
            <a:r>
              <a:rPr lang="ru-RU" b="1" dirty="0" smtClean="0"/>
              <a:t>Методы снижения размерности данных.</a:t>
            </a:r>
            <a:br>
              <a:rPr lang="ru-RU" b="1" dirty="0" smtClean="0"/>
            </a:br>
            <a:r>
              <a:rPr lang="ru-RU" b="1" dirty="0" smtClean="0"/>
              <a:t>Автокодировщики</a:t>
            </a:r>
            <a:endParaRPr lang="ru-RU" b="1" dirty="0"/>
          </a:p>
        </p:txBody>
      </p:sp>
      <p:pic>
        <p:nvPicPr>
          <p:cNvPr id="7" name="Рисунок 9" descr="рис7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796" y="1240971"/>
            <a:ext cx="6821020" cy="5617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832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22508</TotalTime>
  <Words>2601</Words>
  <Application>Microsoft Macintosh PowerPoint</Application>
  <PresentationFormat>Широкоэкранный</PresentationFormat>
  <Paragraphs>466</Paragraphs>
  <Slides>52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Helvetica</vt:lpstr>
      <vt:lpstr>Mangal</vt:lpstr>
      <vt:lpstr>Times</vt:lpstr>
      <vt:lpstr>Times New Roman</vt:lpstr>
      <vt:lpstr>Wingdings</vt:lpstr>
      <vt:lpstr>Office Theme</vt:lpstr>
      <vt:lpstr>ТЕМА №1  ВВЕДЕНИЕ</vt:lpstr>
      <vt:lpstr>Актуальность </vt:lpstr>
      <vt:lpstr>Дедукция и индукция </vt:lpstr>
      <vt:lpstr>Этапы интеллектуального анализа данных </vt:lpstr>
      <vt:lpstr>Этапы интеллектуального анализа данных </vt:lpstr>
      <vt:lpstr>Анализ предметной области и постановка задачи</vt:lpstr>
      <vt:lpstr>Подготовка данных </vt:lpstr>
      <vt:lpstr>Подготовка данных </vt:lpstr>
      <vt:lpstr>Презентация PowerPoint</vt:lpstr>
      <vt:lpstr>Построение моделей</vt:lpstr>
      <vt:lpstr>Построение моделей</vt:lpstr>
      <vt:lpstr>Построение моделей</vt:lpstr>
      <vt:lpstr>Построение моделей</vt:lpstr>
      <vt:lpstr>Построение моделей</vt:lpstr>
      <vt:lpstr>Построение моделей</vt:lpstr>
      <vt:lpstr>Задачи интеллектуального анализа данных</vt:lpstr>
      <vt:lpstr>Задачи интеллектуального анализа данных</vt:lpstr>
      <vt:lpstr>Задачи интеллектуального анализа данных</vt:lpstr>
      <vt:lpstr>Задачи интеллектуального анализа данных</vt:lpstr>
      <vt:lpstr>Домашнее задание: первичный анализ и предобработка природного временного ряда.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ТЕМА №2  МЕТОДЫ СНИЖЕНИЯ РАЗМЕРНОСТИ</vt:lpstr>
      <vt:lpstr>Методы снижения размерности</vt:lpstr>
      <vt:lpstr>Задача оптимизации с ограничениями</vt:lpstr>
      <vt:lpstr>Задача оптимизации с ограничениями. Функция Лагранжа </vt:lpstr>
      <vt:lpstr>Презентация PowerPoint</vt:lpstr>
      <vt:lpstr>Задача оптимизации с ограничениями. Функция Лагранжа </vt:lpstr>
      <vt:lpstr>Задача оптимизации с ограничениями. Функция Лагранжа </vt:lpstr>
      <vt:lpstr>Задача оптимизации с ограничениями. Функция Лагранжа </vt:lpstr>
      <vt:lpstr>Задача оптимизации с ограничениями. Функция Лагранжа 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Метод главных компонент</vt:lpstr>
      <vt:lpstr>Методы снижения размерности данных. Сингулярное разложение</vt:lpstr>
      <vt:lpstr>Методы снижения размерности данных. Сингулярное разложение</vt:lpstr>
      <vt:lpstr>Методы снижения размерности данных. Сингулярное разложение</vt:lpstr>
      <vt:lpstr>Методы снижения размерности данных. Нейронная сеть Автокодировщик</vt:lpstr>
      <vt:lpstr>Методы снижения размерности данных. Автокодировщики</vt:lpstr>
      <vt:lpstr>Методы снижения размерности данных. Автокодировщики</vt:lpstr>
      <vt:lpstr>Методы снижения размерности данных. Автокодировщики</vt:lpstr>
      <vt:lpstr>Методы снижения размерности данных. Автокодировщики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 PRESENTATION</dc:title>
  <dc:creator>User</dc:creator>
  <cp:lastModifiedBy>Пользователь Microsoft Office</cp:lastModifiedBy>
  <cp:revision>360</cp:revision>
  <dcterms:created xsi:type="dcterms:W3CDTF">2020-05-19T07:23:02Z</dcterms:created>
  <dcterms:modified xsi:type="dcterms:W3CDTF">2026-09-20T10:04:44Z</dcterms:modified>
</cp:coreProperties>
</file>