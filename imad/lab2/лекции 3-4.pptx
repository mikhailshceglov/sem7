
<file path=[Content_Types].xml><?xml version="1.0" encoding="utf-8"?>
<Types xmlns="http://schemas.openxmlformats.org/package/2006/content-types">
  <Default Extension="xml" ContentType="application/xml"/>
  <Default Extension="wmf" ContentType="image/x-wmf"/>
  <Default Extension="jpeg" ContentType="image/jpeg"/>
  <Default Extension="rels" ContentType="application/vnd.openxmlformats-package.relationships+xml"/>
  <Default Extension="vml" ContentType="application/vnd.openxmlformats-officedocument.vmlDrawing"/>
  <Default Extension="bin" ContentType="application/vnd.openxmlformats-officedocument.oleObject"/>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21" r:id="rId2"/>
    <p:sldId id="345" r:id="rId3"/>
    <p:sldId id="346" r:id="rId4"/>
    <p:sldId id="322" r:id="rId5"/>
    <p:sldId id="323" r:id="rId6"/>
    <p:sldId id="324" r:id="rId7"/>
    <p:sldId id="325" r:id="rId8"/>
    <p:sldId id="405" r:id="rId9"/>
    <p:sldId id="406" r:id="rId10"/>
    <p:sldId id="407" r:id="rId11"/>
    <p:sldId id="409" r:id="rId12"/>
    <p:sldId id="410" r:id="rId13"/>
    <p:sldId id="413" r:id="rId14"/>
    <p:sldId id="411" r:id="rId15"/>
    <p:sldId id="412" r:id="rId16"/>
    <p:sldId id="414" r:id="rId17"/>
    <p:sldId id="416" r:id="rId18"/>
    <p:sldId id="417" r:id="rId19"/>
    <p:sldId id="418" r:id="rId20"/>
    <p:sldId id="419" r:id="rId21"/>
    <p:sldId id="420" r:id="rId22"/>
    <p:sldId id="421" r:id="rId23"/>
    <p:sldId id="423" r:id="rId24"/>
    <p:sldId id="422" r:id="rId25"/>
    <p:sldId id="424" r:id="rId26"/>
    <p:sldId id="430" r:id="rId27"/>
    <p:sldId id="332" r:id="rId28"/>
    <p:sldId id="400" r:id="rId29"/>
    <p:sldId id="333" r:id="rId30"/>
    <p:sldId id="431" r:id="rId31"/>
    <p:sldId id="432" r:id="rId32"/>
    <p:sldId id="433" r:id="rId33"/>
    <p:sldId id="434" r:id="rId34"/>
    <p:sldId id="435" r:id="rId35"/>
    <p:sldId id="436" r:id="rId36"/>
    <p:sldId id="438" r:id="rId37"/>
    <p:sldId id="439" r:id="rId38"/>
    <p:sldId id="440" r:id="rId39"/>
    <p:sldId id="441" r:id="rId40"/>
    <p:sldId id="442" r:id="rId41"/>
    <p:sldId id="445" r:id="rId42"/>
    <p:sldId id="443" r:id="rId43"/>
    <p:sldId id="444" r:id="rId44"/>
    <p:sldId id="34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BB01"/>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857" autoAdjust="0"/>
    <p:restoredTop sz="94303"/>
  </p:normalViewPr>
  <p:slideViewPr>
    <p:cSldViewPr snapToGrid="0">
      <p:cViewPr>
        <p:scale>
          <a:sx n="68" d="100"/>
          <a:sy n="68" d="100"/>
        </p:scale>
        <p:origin x="1704"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5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 Id="rId2" Type="http://schemas.openxmlformats.org/officeDocument/2006/relationships/image" Target="../media/image4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932881-EECD-5B41-8BE9-C8EBFB8C8A63}" type="datetimeFigureOut">
              <a:rPr lang="ru-RU" smtClean="0"/>
              <a:t>06.10.26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798A79-2C59-9943-847C-D8919DC1D811}" type="slidenum">
              <a:rPr lang="ru-RU" smtClean="0"/>
              <a:t>‹#›</a:t>
            </a:fld>
            <a:endParaRPr lang="ru-RU"/>
          </a:p>
        </p:txBody>
      </p:sp>
    </p:spTree>
    <p:extLst>
      <p:ext uri="{BB962C8B-B14F-4D97-AF65-F5344CB8AC3E}">
        <p14:creationId xmlns:p14="http://schemas.microsoft.com/office/powerpoint/2010/main" val="1496051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2"/>
            <a:ext cx="12192000" cy="6857536"/>
          </a:xfrm>
          <a:prstGeom prst="rect">
            <a:avLst/>
          </a:prstGeom>
        </p:spPr>
      </p:pic>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6876726-2FB8-4EC1-AB17-501AA6BCA867}"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3497404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876726-2FB8-4EC1-AB17-501AA6BCA867}"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32827700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6876726-2FB8-4EC1-AB17-501AA6BCA867}"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5600311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6876726-2FB8-4EC1-AB17-501AA6BCA867}"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69295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6876726-2FB8-4EC1-AB17-501AA6BCA867}" type="datetimeFigureOut">
              <a:rPr lang="en-US" smtClean="0"/>
              <a:t>10/6/26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136803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6876726-2FB8-4EC1-AB17-501AA6BCA867}" type="datetimeFigureOut">
              <a:rPr lang="en-US" smtClean="0"/>
              <a:t>10/6/26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380787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876726-2FB8-4EC1-AB17-501AA6BCA867}" type="datetimeFigureOut">
              <a:rPr lang="en-US" smtClean="0"/>
              <a:t>10/6/26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17486180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876726-2FB8-4EC1-AB17-501AA6BCA867}"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1792391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6876726-2FB8-4EC1-AB17-501AA6BCA867}" type="datetimeFigureOut">
              <a:rPr lang="en-US" smtClean="0"/>
              <a:t>10/6/26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6709018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876726-2FB8-4EC1-AB17-501AA6BCA867}"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2204699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6876726-2FB8-4EC1-AB17-501AA6BCA867}" type="datetimeFigureOut">
              <a:rPr lang="en-US" smtClean="0"/>
              <a:t>10/6/26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561CA7-7281-4DB5-BFC5-B6C208FAC0A9}" type="slidenum">
              <a:rPr lang="en-US" smtClean="0"/>
              <a:t>‹#›</a:t>
            </a:fld>
            <a:endParaRPr lang="en-US"/>
          </a:p>
        </p:txBody>
      </p:sp>
    </p:spTree>
    <p:extLst>
      <p:ext uri="{BB962C8B-B14F-4D97-AF65-F5344CB8AC3E}">
        <p14:creationId xmlns:p14="http://schemas.microsoft.com/office/powerpoint/2010/main" val="10188054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07696"/>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876726-2FB8-4EC1-AB17-501AA6BCA867}" type="datetimeFigureOut">
              <a:rPr lang="en-US" smtClean="0"/>
              <a:t>10/6/26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561CA7-7281-4DB5-BFC5-B6C208FAC0A9}" type="slidenum">
              <a:rPr lang="en-US" smtClean="0"/>
              <a:t>‹#›</a:t>
            </a:fld>
            <a:endParaRPr lang="en-US"/>
          </a:p>
        </p:txBody>
      </p:sp>
      <p:pic>
        <p:nvPicPr>
          <p:cNvPr id="7" name="Picture 6"/>
          <p:cNvPicPr>
            <a:picLocks noChangeAspect="1"/>
          </p:cNvPicPr>
          <p:nvPr userDrawn="1"/>
        </p:nvPicPr>
        <p:blipFill rotWithShape="1">
          <a:blip r:embed="rId13" cstate="print">
            <a:extLst>
              <a:ext uri="{28A0092B-C50C-407E-A947-70E740481C1C}">
                <a14:useLocalDpi xmlns:a14="http://schemas.microsoft.com/office/drawing/2010/main" val="0"/>
              </a:ext>
            </a:extLst>
          </a:blip>
          <a:srcRect l="21034"/>
          <a:stretch/>
        </p:blipFill>
        <p:spPr>
          <a:xfrm>
            <a:off x="0" y="0"/>
            <a:ext cx="9628202" cy="6858000"/>
          </a:xfrm>
          <a:prstGeom prst="rect">
            <a:avLst/>
          </a:prstGeom>
        </p:spPr>
      </p:pic>
    </p:spTree>
    <p:extLst>
      <p:ext uri="{BB962C8B-B14F-4D97-AF65-F5344CB8AC3E}">
        <p14:creationId xmlns:p14="http://schemas.microsoft.com/office/powerpoint/2010/main" val="25912343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 Id="rId3" Type="http://schemas.openxmlformats.org/officeDocument/2006/relationships/image" Target="../media/image2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png"/><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8.png"/><Relationship Id="rId3" Type="http://schemas.openxmlformats.org/officeDocument/2006/relationships/image" Target="../media/image3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0.png"/><Relationship Id="rId3"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oleObject" Target="../embeddings/oleObject1.bin"/><Relationship Id="rId7" Type="http://schemas.openxmlformats.org/officeDocument/2006/relationships/image" Target="../media/image41.wmf"/><Relationship Id="rId8" Type="http://schemas.openxmlformats.org/officeDocument/2006/relationships/oleObject" Target="../embeddings/oleObject2.bin"/><Relationship Id="rId9" Type="http://schemas.openxmlformats.org/officeDocument/2006/relationships/image" Target="../media/image42.wmf"/><Relationship Id="rId1" Type="http://schemas.openxmlformats.org/officeDocument/2006/relationships/vmlDrawing" Target="../drawings/vmlDrawing1.vml"/><Relationship Id="rId2"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55671" y="1388192"/>
            <a:ext cx="7252491" cy="2387600"/>
          </a:xfrm>
        </p:spPr>
        <p:txBody>
          <a:bodyPr>
            <a:normAutofit fontScale="90000"/>
          </a:bodyPr>
          <a:lstStyle/>
          <a:p>
            <a:pPr algn="r"/>
            <a:r>
              <a:rPr lang="ru-RU" b="1" dirty="0" smtClean="0">
                <a:latin typeface="+mn-lt"/>
              </a:rPr>
              <a:t>ТЕМА №3</a:t>
            </a:r>
            <a:r>
              <a:rPr lang="en-US" b="1" dirty="0" smtClean="0">
                <a:latin typeface="+mn-lt"/>
              </a:rPr>
              <a:t> </a:t>
            </a:r>
            <a:br>
              <a:rPr lang="en-US" b="1" dirty="0" smtClean="0">
                <a:latin typeface="+mn-lt"/>
              </a:rPr>
            </a:br>
            <a:r>
              <a:rPr lang="ru-RU" b="1" dirty="0" smtClean="0">
                <a:solidFill>
                  <a:srgbClr val="F8BB01"/>
                </a:solidFill>
                <a:latin typeface="+mn-lt"/>
              </a:rPr>
              <a:t>КЛАССИФИКАЦИЯ ДАННЫХ </a:t>
            </a:r>
            <a:endParaRPr lang="en-US" b="1" dirty="0">
              <a:solidFill>
                <a:srgbClr val="F8BB01"/>
              </a:solidFill>
              <a:latin typeface="+mn-lt"/>
            </a:endParaRPr>
          </a:p>
        </p:txBody>
      </p:sp>
      <p:sp>
        <p:nvSpPr>
          <p:cNvPr id="5" name="Subtitle 2"/>
          <p:cNvSpPr>
            <a:spLocks noGrp="1"/>
          </p:cNvSpPr>
          <p:nvPr>
            <p:ph type="subTitle" idx="1"/>
          </p:nvPr>
        </p:nvSpPr>
        <p:spPr>
          <a:xfrm>
            <a:off x="2664162" y="5094645"/>
            <a:ext cx="9144000" cy="1655762"/>
          </a:xfrm>
        </p:spPr>
        <p:txBody>
          <a:bodyPr/>
          <a:lstStyle/>
          <a:p>
            <a:pPr algn="r"/>
            <a:r>
              <a:rPr lang="ru-RU" smtClean="0"/>
              <a:t>Доцент, к.т.н. </a:t>
            </a:r>
            <a:r>
              <a:rPr lang="ru-RU" dirty="0" err="1" smtClean="0"/>
              <a:t>Мандрикова</a:t>
            </a:r>
            <a:r>
              <a:rPr lang="ru-RU" dirty="0" smtClean="0"/>
              <a:t> Богдана Сергеевна</a:t>
            </a:r>
            <a:endParaRPr lang="en-US" dirty="0"/>
          </a:p>
        </p:txBody>
      </p:sp>
    </p:spTree>
    <p:extLst>
      <p:ext uri="{BB962C8B-B14F-4D97-AF65-F5344CB8AC3E}">
        <p14:creationId xmlns:p14="http://schemas.microsoft.com/office/powerpoint/2010/main" val="12720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828800" y="876968"/>
            <a:ext cx="10363200" cy="4351338"/>
          </a:xfrm>
        </p:spPr>
        <p:txBody>
          <a:bodyPr>
            <a:noAutofit/>
          </a:bodyPr>
          <a:lstStyle/>
          <a:p>
            <a:r>
              <a:rPr lang="ru-RU" sz="2400" i="1" dirty="0"/>
              <a:t>Классификация</a:t>
            </a:r>
            <a:r>
              <a:rPr lang="ru-RU" sz="2400" dirty="0"/>
              <a:t> </a:t>
            </a:r>
            <a:r>
              <a:rPr lang="ru-RU" sz="2400" i="1" dirty="0"/>
              <a:t>данных</a:t>
            </a:r>
            <a:r>
              <a:rPr lang="ru-RU" sz="2400" dirty="0"/>
              <a:t> – это упорядочивание объектов в группы или категории на основе их общих характеристик или </a:t>
            </a:r>
            <a:r>
              <a:rPr lang="ru-RU" sz="2400" dirty="0" smtClean="0"/>
              <a:t>критериев.</a:t>
            </a:r>
            <a:endParaRPr lang="ru-RU" sz="2400" dirty="0"/>
          </a:p>
          <a:p>
            <a:r>
              <a:rPr lang="ru-RU" sz="2400" i="1" dirty="0"/>
              <a:t>Классификатор</a:t>
            </a:r>
            <a:r>
              <a:rPr lang="ru-RU" sz="2400" dirty="0"/>
              <a:t> – это математический метод, решающий какому из заранее определенных классов, принадлежит объект по вектору признаков. При решении задачи классификации (построении классификатора) набор исходных данных разбивают на два множества: обучающее и </a:t>
            </a:r>
            <a:r>
              <a:rPr lang="ru-RU" sz="2400" dirty="0" smtClean="0"/>
              <a:t>тестовое. </a:t>
            </a:r>
            <a:endParaRPr lang="ru-RU" sz="2400" dirty="0"/>
          </a:p>
          <a:p>
            <a:r>
              <a:rPr lang="ru-RU" sz="2400" i="1" dirty="0"/>
              <a:t>Обучающее множество</a:t>
            </a:r>
            <a:r>
              <a:rPr lang="ru-RU" sz="2400" b="1" dirty="0"/>
              <a:t> </a:t>
            </a:r>
            <a:r>
              <a:rPr lang="ru-RU" sz="2400" dirty="0"/>
              <a:t>– данные, которые применяются для обучения модели и включают входные и выходные значения примеров. Выходные значения или классы предназначены для обучения модели. </a:t>
            </a:r>
          </a:p>
          <a:p>
            <a:r>
              <a:rPr lang="ru-RU" sz="2400" i="1" dirty="0"/>
              <a:t>Тестовое множество</a:t>
            </a:r>
            <a:r>
              <a:rPr lang="ru-RU" sz="2400" dirty="0"/>
              <a:t> также содержит входные и выходные значения примеров, но используется для проверки работоспособности модели. </a:t>
            </a:r>
          </a:p>
        </p:txBody>
      </p:sp>
      <p:sp>
        <p:nvSpPr>
          <p:cNvPr id="4" name="Заголовок 1"/>
          <p:cNvSpPr txBox="1">
            <a:spLocks/>
          </p:cNvSpPr>
          <p:nvPr/>
        </p:nvSpPr>
        <p:spPr>
          <a:xfrm>
            <a:off x="1" y="0"/>
            <a:ext cx="12191999" cy="7497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b="1" dirty="0" smtClean="0"/>
              <a:t>Постановка задачи классификации </a:t>
            </a:r>
            <a:endParaRPr lang="ru-RU" b="1" dirty="0"/>
          </a:p>
        </p:txBody>
      </p:sp>
    </p:spTree>
    <p:extLst>
      <p:ext uri="{BB962C8B-B14F-4D97-AF65-F5344CB8AC3E}">
        <p14:creationId xmlns:p14="http://schemas.microsoft.com/office/powerpoint/2010/main" val="20984371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828800" y="749715"/>
            <a:ext cx="10363200" cy="4351338"/>
          </a:xfrm>
        </p:spPr>
        <p:txBody>
          <a:bodyPr>
            <a:noAutofit/>
          </a:bodyPr>
          <a:lstStyle/>
          <a:p>
            <a:pPr marL="0" indent="457200" algn="just">
              <a:buNone/>
            </a:pPr>
            <a:r>
              <a:rPr lang="ru-RU" sz="2400" dirty="0" smtClean="0"/>
              <a:t>Процесс </a:t>
            </a:r>
            <a:r>
              <a:rPr lang="ru-RU" sz="2400" dirty="0"/>
              <a:t>классификации состоит из двух этапов: </a:t>
            </a:r>
            <a:r>
              <a:rPr lang="ru-RU" sz="2400" dirty="0" smtClean="0"/>
              <a:t>конструирования </a:t>
            </a:r>
            <a:r>
              <a:rPr lang="ru-RU" sz="2400" dirty="0"/>
              <a:t>модели и ее использования. </a:t>
            </a:r>
          </a:p>
          <a:p>
            <a:pPr marL="0" indent="457200" algn="just">
              <a:buNone/>
            </a:pPr>
            <a:r>
              <a:rPr lang="ru-RU" sz="2400" dirty="0"/>
              <a:t>1. </a:t>
            </a:r>
            <a:r>
              <a:rPr lang="ru-RU" sz="2400" dirty="0" smtClean="0"/>
              <a:t>Конструирование модели: </a:t>
            </a:r>
            <a:endParaRPr lang="ru-RU" sz="2400" dirty="0"/>
          </a:p>
          <a:p>
            <a:pPr marL="0" indent="457200" algn="just">
              <a:buNone/>
            </a:pPr>
            <a:r>
              <a:rPr lang="ru-RU" sz="2400" dirty="0" err="1"/>
              <a:t>a</a:t>
            </a:r>
            <a:r>
              <a:rPr lang="ru-RU" sz="2400" dirty="0"/>
              <a:t>) </a:t>
            </a:r>
            <a:r>
              <a:rPr lang="ru-RU" sz="2400" dirty="0" err="1"/>
              <a:t>каждыи</a:t>
            </a:r>
            <a:r>
              <a:rPr lang="ru-RU" sz="2400" dirty="0"/>
              <a:t>̆ пример набора данных относится к одному </a:t>
            </a:r>
            <a:r>
              <a:rPr lang="ru-RU" sz="2400" dirty="0" smtClean="0"/>
              <a:t>предопределенному </a:t>
            </a:r>
            <a:r>
              <a:rPr lang="ru-RU" sz="2400" dirty="0"/>
              <a:t>классу; </a:t>
            </a:r>
          </a:p>
          <a:p>
            <a:pPr marL="0" indent="457200" algn="just">
              <a:buNone/>
            </a:pPr>
            <a:r>
              <a:rPr lang="ru-RU" sz="2400" dirty="0" err="1"/>
              <a:t>b</a:t>
            </a:r>
            <a:r>
              <a:rPr lang="ru-RU" sz="2400" dirty="0"/>
              <a:t>) на этом этапе используется обучающее множество, на нем происходит конструирование модели; </a:t>
            </a:r>
          </a:p>
          <a:p>
            <a:pPr marL="0" indent="457200" algn="just">
              <a:buNone/>
            </a:pPr>
            <a:r>
              <a:rPr lang="ru-RU" sz="2400" dirty="0" err="1"/>
              <a:t>c</a:t>
            </a:r>
            <a:r>
              <a:rPr lang="ru-RU" sz="2400" dirty="0"/>
              <a:t>) полученная модель представлена классификационными правилами, деревом решений или </a:t>
            </a:r>
            <a:r>
              <a:rPr lang="ru-RU" sz="2400" dirty="0" err="1"/>
              <a:t>математическои</a:t>
            </a:r>
            <a:r>
              <a:rPr lang="ru-RU" sz="2400" dirty="0"/>
              <a:t>̆ </a:t>
            </a:r>
            <a:r>
              <a:rPr lang="ru-RU" sz="2400" dirty="0" err="1"/>
              <a:t>формулои</a:t>
            </a:r>
            <a:r>
              <a:rPr lang="ru-RU" sz="2400" dirty="0"/>
              <a:t>̆. </a:t>
            </a:r>
          </a:p>
          <a:p>
            <a:pPr marL="0" indent="457200" algn="just">
              <a:buNone/>
            </a:pPr>
            <a:endParaRPr lang="ru-RU" sz="2400" dirty="0" smtClean="0"/>
          </a:p>
          <a:p>
            <a:pPr marL="0" indent="457200" algn="just">
              <a:buNone/>
            </a:pPr>
            <a:r>
              <a:rPr lang="ru-RU" sz="2400" dirty="0" smtClean="0"/>
              <a:t>2</a:t>
            </a:r>
            <a:r>
              <a:rPr lang="ru-RU" sz="2400" dirty="0"/>
              <a:t>. Использование </a:t>
            </a:r>
            <a:r>
              <a:rPr lang="ru-RU" sz="2400" dirty="0" smtClean="0"/>
              <a:t>модели: </a:t>
            </a:r>
            <a:endParaRPr lang="ru-RU" sz="2400" dirty="0"/>
          </a:p>
          <a:p>
            <a:pPr marL="457200" indent="-457200" algn="just">
              <a:buAutoNum type="alphaLcParenR"/>
            </a:pPr>
            <a:r>
              <a:rPr lang="ru-RU" sz="2400" dirty="0" smtClean="0"/>
              <a:t>оценка </a:t>
            </a:r>
            <a:r>
              <a:rPr lang="ru-RU" sz="2400" dirty="0"/>
              <a:t>правильности (точности) </a:t>
            </a:r>
            <a:r>
              <a:rPr lang="ru-RU" sz="2400" dirty="0" smtClean="0"/>
              <a:t>модели;</a:t>
            </a:r>
          </a:p>
          <a:p>
            <a:pPr marL="457200" indent="-457200" algn="just">
              <a:buAutoNum type="alphaLcParenR"/>
            </a:pPr>
            <a:r>
              <a:rPr lang="ru-RU" sz="2400" dirty="0"/>
              <a:t>если точность модели допустима, возможно использование </a:t>
            </a:r>
            <a:r>
              <a:rPr lang="ru-RU" sz="2400" dirty="0" smtClean="0"/>
              <a:t>модели </a:t>
            </a:r>
            <a:r>
              <a:rPr lang="ru-RU" sz="2400" dirty="0"/>
              <a:t>для классификации новых примеров, класс которых </a:t>
            </a:r>
            <a:r>
              <a:rPr lang="ru-RU" sz="2400" dirty="0" smtClean="0"/>
              <a:t>неизвестен</a:t>
            </a:r>
            <a:r>
              <a:rPr lang="ru-RU" sz="2400" dirty="0"/>
              <a:t>. </a:t>
            </a:r>
          </a:p>
        </p:txBody>
      </p:sp>
      <p:sp>
        <p:nvSpPr>
          <p:cNvPr id="4" name="Заголовок 1"/>
          <p:cNvSpPr txBox="1">
            <a:spLocks/>
          </p:cNvSpPr>
          <p:nvPr/>
        </p:nvSpPr>
        <p:spPr>
          <a:xfrm>
            <a:off x="1" y="0"/>
            <a:ext cx="12191999" cy="7497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b="1" smtClean="0"/>
              <a:t>Постановка задачи классификации </a:t>
            </a:r>
            <a:endParaRPr lang="ru-RU" b="1" dirty="0"/>
          </a:p>
        </p:txBody>
      </p:sp>
    </p:spTree>
    <p:extLst>
      <p:ext uri="{BB962C8B-B14F-4D97-AF65-F5344CB8AC3E}">
        <p14:creationId xmlns:p14="http://schemas.microsoft.com/office/powerpoint/2010/main" val="11404051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Прямоугольник 16"/>
              <p:cNvSpPr/>
              <p:nvPr/>
            </p:nvSpPr>
            <p:spPr>
              <a:xfrm>
                <a:off x="1943100" y="749715"/>
                <a:ext cx="10248900" cy="4327210"/>
              </a:xfrm>
              <a:prstGeom prst="rect">
                <a:avLst/>
              </a:prstGeom>
            </p:spPr>
            <p:txBody>
              <a:bodyPr wrap="square">
                <a:spAutoFit/>
              </a:bodyPr>
              <a:lstStyle/>
              <a:p>
                <a:pPr indent="457200" algn="just"/>
                <a:r>
                  <a:rPr lang="ru-RU" sz="2400" dirty="0" smtClean="0"/>
                  <a:t>Для каждого класса </a:t>
                </a:r>
                <a14:m>
                  <m:oMath xmlns:m="http://schemas.openxmlformats.org/officeDocument/2006/math">
                    <m:sSub>
                      <m:sSubPr>
                        <m:ctrlPr>
                          <a:rPr lang="en-US" sz="2400" i="1" dirty="0" smtClean="0">
                            <a:latin typeface="Cambria Math" charset="0"/>
                          </a:rPr>
                        </m:ctrlPr>
                      </m:sSubPr>
                      <m:e>
                        <m:r>
                          <a:rPr lang="en-US" sz="2400" i="1" dirty="0" smtClean="0">
                            <a:latin typeface="Cambria Math" charset="0"/>
                            <a:ea typeface="Cambria Math" charset="0"/>
                            <a:cs typeface="Cambria Math" charset="0"/>
                          </a:rPr>
                          <m:t>𝜔</m:t>
                        </m:r>
                      </m:e>
                      <m:sub>
                        <m:r>
                          <a:rPr lang="ru-RU" sz="2400" b="0" i="1" dirty="0" smtClean="0">
                            <a:latin typeface="Cambria Math" charset="0"/>
                          </a:rPr>
                          <m:t>𝑖</m:t>
                        </m:r>
                      </m:sub>
                    </m:sSub>
                    <m:r>
                      <a:rPr lang="ru-RU" sz="2400" i="1" dirty="0">
                        <a:latin typeface="Cambria Math" charset="0"/>
                      </a:rPr>
                      <m:t> </m:t>
                    </m:r>
                  </m:oMath>
                </a14:m>
                <a:r>
                  <a:rPr lang="ru-RU" sz="2400" dirty="0"/>
                  <a:t>из </a:t>
                </a:r>
                <a:r>
                  <a:rPr lang="ru-RU" sz="2400" dirty="0" smtClean="0"/>
                  <a:t>исходного множества </a:t>
                </a:r>
                <a14:m>
                  <m:oMath xmlns:m="http://schemas.openxmlformats.org/officeDocument/2006/math">
                    <m:r>
                      <a:rPr lang="ru-RU" sz="2400" i="1" dirty="0" smtClean="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 </m:t>
                    </m:r>
                    <m:r>
                      <a:rPr lang="ru-RU" sz="2400" i="1" dirty="0" err="1">
                        <a:latin typeface="Cambria Math" charset="0"/>
                      </a:rPr>
                      <m:t>𝑖</m:t>
                    </m:r>
                    <m:r>
                      <a:rPr lang="ru-RU" sz="2400" i="1" dirty="0">
                        <a:latin typeface="Cambria Math" charset="0"/>
                      </a:rPr>
                      <m:t> = 1, …, </m:t>
                    </m:r>
                    <m:r>
                      <a:rPr lang="ru-RU" sz="2400" i="1" dirty="0" err="1">
                        <a:latin typeface="Cambria Math" charset="0"/>
                      </a:rPr>
                      <m:t>𝑀</m:t>
                    </m:r>
                    <m:r>
                      <a:rPr lang="ru-RU" sz="2400" i="1" dirty="0">
                        <a:latin typeface="Cambria Math" charset="0"/>
                      </a:rPr>
                      <m:t>} </m:t>
                    </m:r>
                  </m:oMath>
                </a14:m>
                <a:r>
                  <a:rPr lang="ru-RU" sz="2400" dirty="0"/>
                  <a:t>(</a:t>
                </a:r>
                <a14:m>
                  <m:oMath xmlns:m="http://schemas.openxmlformats.org/officeDocument/2006/math">
                    <m:r>
                      <a:rPr lang="ru-RU" sz="2400" i="1" dirty="0" smtClean="0">
                        <a:latin typeface="Cambria Math" charset="0"/>
                      </a:rPr>
                      <m:t>𝑀</m:t>
                    </m:r>
                    <m:r>
                      <a:rPr lang="ru-RU" sz="2400" i="1" dirty="0">
                        <a:latin typeface="Cambria Math" charset="0"/>
                      </a:rPr>
                      <m:t> </m:t>
                    </m:r>
                  </m:oMath>
                </a14:m>
                <a:r>
                  <a:rPr lang="ru-RU" sz="2400" dirty="0"/>
                  <a:t>– количество </a:t>
                </a:r>
                <a:r>
                  <a:rPr lang="ru-RU" sz="2400" dirty="0" smtClean="0"/>
                  <a:t>предопределенных </a:t>
                </a:r>
                <a:r>
                  <a:rPr lang="ru-RU" sz="2400" dirty="0"/>
                  <a:t>типов) введем понятие вероятности появления класса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oMath>
                </a14:m>
                <a:r>
                  <a:rPr lang="ru-RU" sz="2400" dirty="0" smtClean="0"/>
                  <a:t> в пространстве </a:t>
                </a:r>
                <a:r>
                  <a:rPr lang="ru-RU" sz="2400" dirty="0"/>
                  <a:t>признаков </a:t>
                </a:r>
                <a14:m>
                  <m:oMath xmlns:m="http://schemas.openxmlformats.org/officeDocument/2006/math">
                    <m:r>
                      <a:rPr lang="el-GR" sz="2400" i="1" dirty="0" smtClean="0">
                        <a:latin typeface="Cambria Math" charset="0"/>
                        <a:ea typeface="Cambria Math" charset="0"/>
                        <a:cs typeface="Cambria Math" charset="0"/>
                      </a:rPr>
                      <m:t>𝛺</m:t>
                    </m:r>
                    <m:r>
                      <a:rPr lang="ru-RU" sz="2400" i="1" dirty="0" smtClean="0">
                        <a:latin typeface="Cambria Math" charset="0"/>
                      </a:rPr>
                      <m:t>(</m:t>
                    </m:r>
                    <m:r>
                      <a:rPr lang="ru-RU" sz="2400" b="1" i="1" dirty="0" err="1">
                        <a:latin typeface="Cambria Math" charset="0"/>
                      </a:rPr>
                      <m:t>𝒙</m:t>
                    </m:r>
                    <m:r>
                      <a:rPr lang="ru-RU" sz="2400" i="1" dirty="0">
                        <a:latin typeface="Cambria Math" charset="0"/>
                      </a:rPr>
                      <m:t>)</m:t>
                    </m:r>
                  </m:oMath>
                </a14:m>
                <a:r>
                  <a:rPr lang="ru-RU" sz="2400" dirty="0"/>
                  <a:t>. </a:t>
                </a:r>
                <a:r>
                  <a:rPr lang="ru-RU" sz="2400" dirty="0" smtClean="0"/>
                  <a:t>Вероятность </a:t>
                </a:r>
                <a14:m>
                  <m:oMath xmlns:m="http://schemas.openxmlformats.org/officeDocument/2006/math">
                    <m:r>
                      <a:rPr lang="ru-RU" sz="2400" i="1" dirty="0" smtClean="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 </m:t>
                    </m:r>
                  </m:oMath>
                </a14:m>
                <a:r>
                  <a:rPr lang="ru-RU" sz="2400" dirty="0"/>
                  <a:t>называется </a:t>
                </a:r>
                <a:r>
                  <a:rPr lang="ru-RU" sz="2400" i="1" dirty="0" err="1"/>
                  <a:t>априорнои</a:t>
                </a:r>
                <a:r>
                  <a:rPr lang="ru-RU" sz="2400" i="1" dirty="0"/>
                  <a:t>̆ вероятностью </a:t>
                </a:r>
                <a:r>
                  <a:rPr lang="ru-RU" sz="2400" dirty="0"/>
                  <a:t>класса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oMath>
                </a14:m>
                <a:r>
                  <a:rPr lang="ru-RU" sz="2400" dirty="0" smtClean="0"/>
                  <a:t>. Пусть </a:t>
                </a:r>
                <a:r>
                  <a:rPr lang="ru-RU" sz="2400" dirty="0"/>
                  <a:t>для каждого класса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oMath>
                </a14:m>
                <a:r>
                  <a:rPr lang="ru-RU" sz="2400" dirty="0" smtClean="0"/>
                  <a:t> известна </a:t>
                </a:r>
                <a:r>
                  <a:rPr lang="ru-RU" sz="2400" dirty="0"/>
                  <a:t>многомерная </a:t>
                </a:r>
                <a:r>
                  <a:rPr lang="ru-RU" sz="2400" dirty="0" smtClean="0"/>
                  <a:t>(</a:t>
                </a:r>
                <a:r>
                  <a:rPr lang="ru-RU" sz="2400" i="1" dirty="0" smtClean="0"/>
                  <a:t>Р-</a:t>
                </a:r>
                <a:r>
                  <a:rPr lang="ru-RU" sz="2400" dirty="0" smtClean="0"/>
                  <a:t>мерная</a:t>
                </a:r>
                <a:r>
                  <a:rPr lang="ru-RU" sz="2400" dirty="0"/>
                  <a:t>) функция </a:t>
                </a:r>
                <a14:m>
                  <m:oMath xmlns:m="http://schemas.openxmlformats.org/officeDocument/2006/math">
                    <m:r>
                      <a:rPr lang="ru-RU" sz="2400" i="1" dirty="0" smtClean="0">
                        <a:latin typeface="Cambria Math" charset="0"/>
                      </a:rPr>
                      <m:t>𝑝</m:t>
                    </m:r>
                    <m:r>
                      <a:rPr lang="ru-RU" sz="2400" i="1" dirty="0">
                        <a:latin typeface="Cambria Math" charset="0"/>
                      </a:rPr>
                      <m:t>(</m:t>
                    </m:r>
                    <m:r>
                      <a:rPr lang="ru-RU" sz="2400" b="1" i="1" dirty="0" err="1">
                        <a:latin typeface="Cambria Math" charset="0"/>
                      </a:rPr>
                      <m:t>𝒙</m:t>
                    </m:r>
                    <m:r>
                      <a:rPr lang="ru-RU" sz="2400" b="1" i="1" dirty="0">
                        <a:latin typeface="Cambria Math" charset="0"/>
                      </a:rPr>
                      <m:t> </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m:t>
                    </m:r>
                  </m:oMath>
                </a14:m>
                <a:r>
                  <a:rPr lang="ru-RU" sz="2400" dirty="0"/>
                  <a:t>, описывающая условную плотность распределения (УПР) вектора признаков </a:t>
                </a:r>
                <a14:m>
                  <m:oMath xmlns:m="http://schemas.openxmlformats.org/officeDocument/2006/math">
                    <m:r>
                      <a:rPr lang="ru-RU" sz="2400" b="1" i="1" dirty="0" smtClean="0">
                        <a:latin typeface="Cambria Math" charset="0"/>
                      </a:rPr>
                      <m:t>𝒙</m:t>
                    </m:r>
                  </m:oMath>
                </a14:m>
                <a:r>
                  <a:rPr lang="ru-RU" sz="2400" b="1" dirty="0"/>
                  <a:t> </a:t>
                </a:r>
                <a:r>
                  <a:rPr lang="ru-RU" sz="2400" dirty="0"/>
                  <a:t>в классе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oMath>
                </a14:m>
                <a:r>
                  <a:rPr lang="ru-RU" sz="2400" dirty="0"/>
                  <a:t>, для </a:t>
                </a:r>
                <a:r>
                  <a:rPr lang="ru-RU" sz="2400" dirty="0" err="1"/>
                  <a:t>которои</a:t>
                </a:r>
                <a:r>
                  <a:rPr lang="ru-RU" sz="2400" dirty="0"/>
                  <a:t>̆ справедливо </a:t>
                </a:r>
              </a:p>
              <a:p>
                <a:pPr indent="457200" algn="just"/>
                <a14:m>
                  <m:oMathPara xmlns:m="http://schemas.openxmlformats.org/officeDocument/2006/math">
                    <m:oMathParaPr>
                      <m:jc m:val="centerGroup"/>
                    </m:oMathParaPr>
                    <m:oMath xmlns:m="http://schemas.openxmlformats.org/officeDocument/2006/math">
                      <m:nary>
                        <m:naryPr>
                          <m:ctrlPr>
                            <a:rPr lang="is-IS" sz="2400" i="1" dirty="0" smtClean="0">
                              <a:latin typeface="Cambria Math" charset="0"/>
                            </a:rPr>
                          </m:ctrlPr>
                        </m:naryPr>
                        <m:sub>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sub>
                        <m:sup/>
                        <m:e>
                          <m:r>
                            <a:rPr lang="ru-RU" sz="2400" i="1" dirty="0">
                              <a:latin typeface="Cambria Math" charset="0"/>
                            </a:rPr>
                            <m:t>𝑝</m:t>
                          </m:r>
                          <m:r>
                            <a:rPr lang="ru-RU" sz="2400" i="1" dirty="0">
                              <a:latin typeface="Cambria Math" charset="0"/>
                            </a:rPr>
                            <m:t>(</m:t>
                          </m:r>
                          <m:r>
                            <a:rPr lang="ru-RU" sz="2400" b="1" i="1" dirty="0" err="1">
                              <a:latin typeface="Cambria Math" charset="0"/>
                            </a:rPr>
                            <m:t>𝒙</m:t>
                          </m:r>
                          <m:r>
                            <a:rPr lang="ru-RU" sz="2400" b="1" i="1" dirty="0">
                              <a:latin typeface="Cambria Math" charset="0"/>
                            </a:rPr>
                            <m:t> </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m:t>
                          </m:r>
                          <m:r>
                            <a:rPr lang="ru-RU" sz="2400" i="1" dirty="0" err="1">
                              <a:latin typeface="Cambria Math" charset="0"/>
                            </a:rPr>
                            <m:t>𝑑</m:t>
                          </m:r>
                          <m:r>
                            <a:rPr lang="ru-RU" sz="2400" b="1" i="1" dirty="0" err="1">
                              <a:latin typeface="Cambria Math" charset="0"/>
                            </a:rPr>
                            <m:t>𝒙</m:t>
                          </m:r>
                        </m:e>
                      </m:nary>
                      <m:r>
                        <a:rPr lang="ru-RU" sz="2400" b="0" i="1" dirty="0" smtClean="0">
                          <a:latin typeface="Cambria Math" charset="0"/>
                        </a:rPr>
                        <m:t>=</m:t>
                      </m:r>
                      <m:r>
                        <a:rPr lang="ru-RU" sz="2400" i="1" dirty="0">
                          <a:latin typeface="Cambria Math" charset="0"/>
                        </a:rPr>
                        <m:t>1,</m:t>
                      </m:r>
                    </m:oMath>
                  </m:oMathPara>
                </a14:m>
                <a:endParaRPr lang="ru-RU" sz="2400" dirty="0"/>
              </a:p>
              <a:p>
                <a:pPr indent="457200" algn="just"/>
                <a:r>
                  <a:rPr lang="ru-RU" sz="2400" dirty="0"/>
                  <a:t>Априорная вероятность </a:t>
                </a:r>
                <a14:m>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 </m:t>
                    </m:r>
                  </m:oMath>
                </a14:m>
                <a:r>
                  <a:rPr lang="ru-RU" sz="2400" dirty="0"/>
                  <a:t>и УПР </a:t>
                </a:r>
                <a14:m>
                  <m:oMath xmlns:m="http://schemas.openxmlformats.org/officeDocument/2006/math">
                    <m:r>
                      <a:rPr lang="ru-RU" sz="2400" i="1" dirty="0">
                        <a:latin typeface="Cambria Math" charset="0"/>
                      </a:rPr>
                      <m:t>𝑝</m:t>
                    </m:r>
                    <m:r>
                      <a:rPr lang="ru-RU" sz="2400" i="1" dirty="0">
                        <a:latin typeface="Cambria Math" charset="0"/>
                      </a:rPr>
                      <m:t>(</m:t>
                    </m:r>
                    <m:r>
                      <a:rPr lang="ru-RU" sz="2400" b="1" i="1" dirty="0" err="1">
                        <a:latin typeface="Cambria Math" charset="0"/>
                      </a:rPr>
                      <m:t>𝒙</m:t>
                    </m:r>
                    <m:r>
                      <a:rPr lang="ru-RU" sz="2400" b="1" i="1" dirty="0">
                        <a:latin typeface="Cambria Math" charset="0"/>
                      </a:rPr>
                      <m:t> </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m:t>
                    </m:r>
                  </m:oMath>
                </a14:m>
                <a:r>
                  <a:rPr lang="ru-RU" sz="2400" dirty="0"/>
                  <a:t> являются наиболее полными вероятностными характеристиками класса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oMath>
                </a14:m>
                <a:r>
                  <a:rPr lang="ru-RU" sz="2400" dirty="0" smtClean="0"/>
                  <a:t>. </a:t>
                </a:r>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43100" y="749715"/>
                <a:ext cx="10248900" cy="4327210"/>
              </a:xfrm>
              <a:prstGeom prst="rect">
                <a:avLst/>
              </a:prstGeom>
              <a:blipFill rotWithShape="0">
                <a:blip r:embed="rId2"/>
                <a:stretch>
                  <a:fillRect l="-952" t="-11127" r="-892" b="-4648"/>
                </a:stretch>
              </a:blipFill>
            </p:spPr>
            <p:txBody>
              <a:bodyPr/>
              <a:lstStyle/>
              <a:p>
                <a:r>
                  <a:rPr lang="ru-RU">
                    <a:noFill/>
                  </a:rPr>
                  <a:t> </a:t>
                </a:r>
              </a:p>
            </p:txBody>
          </p:sp>
        </mc:Fallback>
      </mc:AlternateContent>
      <p:sp>
        <p:nvSpPr>
          <p:cNvPr id="2" name="Прямоугольник 1"/>
          <p:cNvSpPr/>
          <p:nvPr/>
        </p:nvSpPr>
        <p:spPr>
          <a:xfrm>
            <a:off x="6005208" y="3316093"/>
            <a:ext cx="335721" cy="30884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Заголовок 1"/>
          <p:cNvSpPr txBox="1">
            <a:spLocks/>
          </p:cNvSpPr>
          <p:nvPr/>
        </p:nvSpPr>
        <p:spPr>
          <a:xfrm>
            <a:off x="1" y="0"/>
            <a:ext cx="12191999" cy="74971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b="1" smtClean="0"/>
              <a:t>Постановка задачи классификации </a:t>
            </a:r>
            <a:endParaRPr lang="ru-RU" b="1" dirty="0"/>
          </a:p>
        </p:txBody>
      </p:sp>
      <p:sp>
        <p:nvSpPr>
          <p:cNvPr id="9" name="TextBox 8"/>
          <p:cNvSpPr txBox="1"/>
          <p:nvPr/>
        </p:nvSpPr>
        <p:spPr>
          <a:xfrm>
            <a:off x="8640593" y="3624942"/>
            <a:ext cx="992222" cy="523220"/>
          </a:xfrm>
          <a:prstGeom prst="rect">
            <a:avLst/>
          </a:prstGeom>
          <a:noFill/>
        </p:spPr>
        <p:txBody>
          <a:bodyPr wrap="square" rtlCol="0">
            <a:spAutoFit/>
          </a:bodyPr>
          <a:lstStyle/>
          <a:p>
            <a:r>
              <a:rPr lang="ru-RU" sz="2800" b="1" dirty="0" smtClean="0">
                <a:solidFill>
                  <a:schemeClr val="accent2">
                    <a:lumMod val="75000"/>
                  </a:schemeClr>
                </a:solidFill>
              </a:rPr>
              <a:t>(1)</a:t>
            </a:r>
            <a:endParaRPr lang="ru-RU" sz="2800" b="1" dirty="0">
              <a:solidFill>
                <a:schemeClr val="accent2">
                  <a:lumMod val="75000"/>
                </a:schemeClr>
              </a:solidFill>
            </a:endParaRPr>
          </a:p>
        </p:txBody>
      </p:sp>
    </p:spTree>
    <p:extLst>
      <p:ext uri="{BB962C8B-B14F-4D97-AF65-F5344CB8AC3E}">
        <p14:creationId xmlns:p14="http://schemas.microsoft.com/office/powerpoint/2010/main" val="45731294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136828"/>
            <a:ext cx="12191999" cy="548993"/>
          </a:xfrm>
        </p:spPr>
        <p:txBody>
          <a:bodyPr>
            <a:noAutofit/>
          </a:bodyPr>
          <a:lstStyle/>
          <a:p>
            <a:pPr algn="ctr"/>
            <a:r>
              <a:rPr lang="ru-RU" b="1" dirty="0"/>
              <a:t>Постановка задачи классификации </a:t>
            </a:r>
          </a:p>
        </p:txBody>
      </p:sp>
      <mc:AlternateContent xmlns:mc="http://schemas.openxmlformats.org/markup-compatibility/2006" xmlns:a14="http://schemas.microsoft.com/office/drawing/2010/main">
        <mc:Choice Requires="a14">
          <p:sp>
            <p:nvSpPr>
              <p:cNvPr id="17" name="Прямоугольник 16"/>
              <p:cNvSpPr/>
              <p:nvPr/>
            </p:nvSpPr>
            <p:spPr>
              <a:xfrm>
                <a:off x="1943100" y="685821"/>
                <a:ext cx="10248900" cy="6215932"/>
              </a:xfrm>
              <a:prstGeom prst="rect">
                <a:avLst/>
              </a:prstGeom>
            </p:spPr>
            <p:txBody>
              <a:bodyPr wrap="square">
                <a:spAutoFit/>
              </a:bodyPr>
              <a:lstStyle/>
              <a:p>
                <a:pPr indent="457200" algn="just"/>
                <a:r>
                  <a:rPr lang="ru-RU" sz="2400" dirty="0" smtClean="0"/>
                  <a:t>Задача </a:t>
                </a:r>
                <a:r>
                  <a:rPr lang="ru-RU" sz="2400" dirty="0"/>
                  <a:t>классификации может быть </a:t>
                </a:r>
                <a:r>
                  <a:rPr lang="ru-RU" sz="2400" dirty="0" smtClean="0"/>
                  <a:t>сформулирована </a:t>
                </a:r>
                <a:r>
                  <a:rPr lang="ru-RU" sz="2400" dirty="0"/>
                  <a:t>в виде задачи статистических решений (испытание </a:t>
                </a:r>
                <a14:m>
                  <m:oMath xmlns:m="http://schemas.openxmlformats.org/officeDocument/2006/math">
                    <m:r>
                      <a:rPr lang="ru-RU" sz="2400" i="1" dirty="0" smtClean="0">
                        <a:latin typeface="Cambria Math" charset="0"/>
                      </a:rPr>
                      <m:t>𝑀</m:t>
                    </m:r>
                  </m:oMath>
                </a14:m>
                <a:r>
                  <a:rPr lang="ru-RU" sz="2400" i="1" dirty="0"/>
                  <a:t> </a:t>
                </a:r>
                <a:r>
                  <a:rPr lang="ru-RU" sz="2400" dirty="0" smtClean="0"/>
                  <a:t>статистических </a:t>
                </a:r>
                <a:r>
                  <a:rPr lang="ru-RU" sz="2400" dirty="0"/>
                  <a:t>гипотез) с помощью определения </a:t>
                </a:r>
                <a:r>
                  <a:rPr lang="ru-RU" sz="2400" i="1" u="sng" dirty="0" err="1"/>
                  <a:t>дискриминантнои</a:t>
                </a:r>
                <a:r>
                  <a:rPr lang="ru-RU" sz="2400" i="1" u="sng" dirty="0"/>
                  <a:t>̆ функции </a:t>
                </a:r>
                <a14:m>
                  <m:oMath xmlns:m="http://schemas.openxmlformats.org/officeDocument/2006/math">
                    <m:r>
                      <a:rPr lang="ru-RU" sz="2400" i="1" dirty="0">
                        <a:latin typeface="Cambria Math" charset="0"/>
                      </a:rPr>
                      <m:t> </m:t>
                    </m:r>
                    <m:r>
                      <a:rPr lang="ru-RU" sz="2400" i="1" dirty="0" smtClean="0">
                        <a:latin typeface="Cambria Math" charset="0"/>
                        <a:ea typeface="Cambria Math" charset="0"/>
                        <a:cs typeface="Cambria Math" charset="0"/>
                      </a:rPr>
                      <m:t>𝜙</m:t>
                    </m:r>
                    <m:r>
                      <a:rPr lang="ru-RU" sz="2400" i="1" dirty="0" smtClean="0">
                        <a:latin typeface="Cambria Math" charset="0"/>
                      </a:rPr>
                      <m:t>(</m:t>
                    </m:r>
                    <m:r>
                      <a:rPr lang="ru-RU" sz="2400" b="1" i="1" dirty="0" err="1">
                        <a:latin typeface="Cambria Math" charset="0"/>
                      </a:rPr>
                      <m:t>𝒙</m:t>
                    </m:r>
                    <m:r>
                      <a:rPr lang="ru-RU" sz="2400" i="1" dirty="0">
                        <a:latin typeface="Cambria Math" charset="0"/>
                      </a:rPr>
                      <m:t>),</m:t>
                    </m:r>
                  </m:oMath>
                </a14:m>
                <a:r>
                  <a:rPr lang="ru-RU" sz="2400" dirty="0"/>
                  <a:t> </a:t>
                </a:r>
                <a:r>
                  <a:rPr lang="ru-RU" sz="2400" dirty="0" err="1"/>
                  <a:t>принимающеи</a:t>
                </a:r>
                <a:r>
                  <a:rPr lang="ru-RU" sz="2400" dirty="0"/>
                  <a:t>̆ значение </a:t>
                </a:r>
                <a14:m>
                  <m:oMath xmlns:m="http://schemas.openxmlformats.org/officeDocument/2006/math">
                    <m:sSub>
                      <m:sSubPr>
                        <m:ctrlPr>
                          <a:rPr lang="en-US" sz="2400" i="1" smtClean="0">
                            <a:latin typeface="Cambria Math" charset="0"/>
                          </a:rPr>
                        </m:ctrlPr>
                      </m:sSubPr>
                      <m:e>
                        <m:r>
                          <a:rPr lang="en-US" sz="2400" i="1" smtClean="0">
                            <a:latin typeface="Cambria Math" charset="0"/>
                            <a:ea typeface="Cambria Math" charset="0"/>
                            <a:cs typeface="Cambria Math" charset="0"/>
                          </a:rPr>
                          <m:t>𝜙</m:t>
                        </m:r>
                      </m:e>
                      <m:sub>
                        <m:r>
                          <a:rPr lang="ru-RU" sz="2400" b="0" i="1" smtClean="0">
                            <a:latin typeface="Cambria Math" charset="0"/>
                          </a:rPr>
                          <m:t>𝑖</m:t>
                        </m:r>
                      </m:sub>
                    </m:sSub>
                    <m:r>
                      <a:rPr lang="ru-RU" sz="2400" b="0" i="1" smtClean="0">
                        <a:latin typeface="Cambria Math" charset="0"/>
                      </a:rPr>
                      <m:t> </m:t>
                    </m:r>
                  </m:oMath>
                </a14:m>
                <a:r>
                  <a:rPr lang="ru-RU" sz="2400" dirty="0" smtClean="0"/>
                  <a:t>в </a:t>
                </a:r>
                <a:r>
                  <a:rPr lang="ru-RU" sz="2400" dirty="0"/>
                  <a:t>случае, когда </a:t>
                </a:r>
                <a:r>
                  <a:rPr lang="ru-RU" sz="2400" dirty="0" smtClean="0"/>
                  <a:t>принимается </a:t>
                </a:r>
                <a:r>
                  <a:rPr lang="ru-RU" sz="2400" dirty="0"/>
                  <a:t>гипотеза </a:t>
                </a:r>
                <a14:m>
                  <m:oMath xmlns:m="http://schemas.openxmlformats.org/officeDocument/2006/math">
                    <m:sSub>
                      <m:sSubPr>
                        <m:ctrlPr>
                          <a:rPr lang="en-US" sz="2400" i="1" dirty="0" smtClean="0">
                            <a:latin typeface="Cambria Math" charset="0"/>
                          </a:rPr>
                        </m:ctrlPr>
                      </m:sSubPr>
                      <m:e>
                        <m:r>
                          <a:rPr lang="ru-RU" sz="2400" i="1" dirty="0">
                            <a:latin typeface="Cambria Math" charset="0"/>
                          </a:rPr>
                          <m:t>𝐻</m:t>
                        </m:r>
                      </m:e>
                      <m:sub>
                        <m:r>
                          <a:rPr lang="ru-RU" sz="2400" i="1" dirty="0">
                            <a:latin typeface="Cambria Math" charset="0"/>
                          </a:rPr>
                          <m:t>𝑖</m:t>
                        </m:r>
                      </m:sub>
                    </m:sSub>
                    <m:r>
                      <a:rPr lang="ru-RU" sz="2400" i="1" dirty="0" smtClean="0">
                        <a:latin typeface="Cambria Math" charset="0"/>
                      </a:rPr>
                      <m:t>:</m:t>
                    </m:r>
                    <m:r>
                      <a:rPr lang="ru-RU" sz="2400" b="1" i="1" dirty="0" err="1">
                        <a:latin typeface="Cambria Math" charset="0"/>
                      </a:rPr>
                      <m:t>𝒙</m:t>
                    </m:r>
                    <m:r>
                      <a:rPr lang="ru-RU" sz="2400" i="1" dirty="0">
                        <a:latin typeface="Cambria Math" charset="0"/>
                        <a:ea typeface="Cambria Math" charset="0"/>
                        <a:cs typeface="Cambria Math" charset="0"/>
                      </a:rPr>
                      <m:t>𝜖</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m:t>
                    </m:r>
                  </m:oMath>
                </a14:m>
                <a:r>
                  <a:rPr lang="ru-RU" sz="2400" dirty="0"/>
                  <a:t> Полагается, что принятие классификатором решения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oMath>
                </a14:m>
                <a:r>
                  <a:rPr lang="ru-RU" sz="2400" dirty="0"/>
                  <a:t>, когда в </a:t>
                </a:r>
                <a:r>
                  <a:rPr lang="ru-RU" sz="2400" dirty="0" err="1"/>
                  <a:t>действительности</a:t>
                </a:r>
                <a:r>
                  <a:rPr lang="ru-RU" sz="2400" dirty="0"/>
                  <a:t> </a:t>
                </a:r>
                <a:r>
                  <a:rPr lang="ru-RU" sz="2400" dirty="0" err="1"/>
                  <a:t>входнои</a:t>
                </a:r>
                <a:r>
                  <a:rPr lang="ru-RU" sz="2400" dirty="0"/>
                  <a:t>̆ образ принадлежит к классу </a:t>
                </a:r>
                <a14:m>
                  <m:oMath xmlns:m="http://schemas.openxmlformats.org/officeDocument/2006/math">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𝑗</m:t>
                        </m:r>
                      </m:sub>
                    </m:sSub>
                  </m:oMath>
                </a14:m>
                <a:r>
                  <a:rPr lang="ru-RU" sz="2400" dirty="0"/>
                  <a:t>, приводит к потере, </a:t>
                </a:r>
                <a:r>
                  <a:rPr lang="ru-RU" sz="2400" dirty="0" err="1"/>
                  <a:t>определяемои</a:t>
                </a:r>
                <a:r>
                  <a:rPr lang="ru-RU" sz="2400" dirty="0"/>
                  <a:t>̆ </a:t>
                </a:r>
                <a:r>
                  <a:rPr lang="ru-RU" sz="2400" i="1" u="sng" dirty="0" err="1"/>
                  <a:t>функциеи</a:t>
                </a:r>
                <a:r>
                  <a:rPr lang="ru-RU" sz="2400" i="1" u="sng" dirty="0"/>
                  <a:t>̆ потерь</a:t>
                </a:r>
                <a:r>
                  <a:rPr lang="ru-RU" sz="2400" i="1" dirty="0"/>
                  <a:t> </a:t>
                </a:r>
                <a14:m>
                  <m:oMath xmlns:m="http://schemas.openxmlformats.org/officeDocument/2006/math">
                    <m:r>
                      <a:rPr lang="ru-RU" sz="2400" i="1" dirty="0" smtClean="0">
                        <a:latin typeface="Cambria Math" charset="0"/>
                      </a:rPr>
                      <m:t>𝐿</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r>
                      <a:rPr lang="ru-RU" sz="2400" i="1" dirty="0">
                        <a:latin typeface="Cambria Math" charset="0"/>
                      </a:rPr>
                      <m:t>).</m:t>
                    </m:r>
                  </m:oMath>
                </a14:m>
                <a:r>
                  <a:rPr lang="ru-RU" sz="2400" dirty="0"/>
                  <a:t> Тогда </a:t>
                </a:r>
                <a:r>
                  <a:rPr lang="ru-RU" sz="2400" dirty="0" err="1"/>
                  <a:t>условныи</a:t>
                </a:r>
                <a:r>
                  <a:rPr lang="ru-RU" sz="2400" dirty="0"/>
                  <a:t>̆ риск </a:t>
                </a:r>
                <a14:m>
                  <m:oMath xmlns:m="http://schemas.openxmlformats.org/officeDocument/2006/math">
                    <m:r>
                      <a:rPr lang="ru-RU" sz="2400" i="1" dirty="0" smtClean="0">
                        <a:latin typeface="Cambria Math" charset="0"/>
                      </a:rPr>
                      <m:t>𝑅</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dirty="0">
                        <a:latin typeface="Cambria Math" charset="0"/>
                      </a:rPr>
                      <m:t>| </m:t>
                    </m:r>
                    <m:r>
                      <a:rPr lang="ru-RU" sz="2400" b="1" i="1" dirty="0" err="1">
                        <a:latin typeface="Cambria Math" charset="0"/>
                      </a:rPr>
                      <m:t>𝒙</m:t>
                    </m:r>
                    <m:r>
                      <a:rPr lang="ru-RU" sz="2400" i="1" dirty="0">
                        <a:latin typeface="Cambria Math" charset="0"/>
                      </a:rPr>
                      <m:t>) </m:t>
                    </m:r>
                  </m:oMath>
                </a14:m>
                <a:r>
                  <a:rPr lang="ru-RU" sz="2400" dirty="0"/>
                  <a:t>принятия решения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oMath>
                </a14:m>
                <a:r>
                  <a:rPr lang="ru-RU" sz="2400" i="1" dirty="0"/>
                  <a:t> </a:t>
                </a:r>
                <a:r>
                  <a:rPr lang="ru-RU" sz="2400" dirty="0"/>
                  <a:t>в случае </a:t>
                </a:r>
                <a14:m>
                  <m:oMath xmlns:m="http://schemas.openxmlformats.org/officeDocument/2006/math">
                    <m:r>
                      <a:rPr lang="ru-RU" sz="2400" b="1" i="1" dirty="0">
                        <a:latin typeface="Cambria Math" charset="0"/>
                      </a:rPr>
                      <m:t>𝒙</m:t>
                    </m:r>
                    <m:r>
                      <a:rPr lang="ru-RU" sz="2400" i="1" dirty="0">
                        <a:latin typeface="Cambria Math" charset="0"/>
                        <a:ea typeface="Cambria Math" charset="0"/>
                        <a:cs typeface="Cambria Math" charset="0"/>
                      </a:rPr>
                      <m:t>𝜖</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𝑗</m:t>
                        </m:r>
                      </m:sub>
                    </m:sSub>
                  </m:oMath>
                </a14:m>
                <a:r>
                  <a:rPr lang="ru-RU" sz="2400" i="1" dirty="0"/>
                  <a:t> </a:t>
                </a:r>
                <a:r>
                  <a:rPr lang="ru-RU" sz="2400" dirty="0"/>
                  <a:t>находится как </a:t>
                </a:r>
              </a:p>
              <a:p>
                <a:pPr indent="457200" algn="just"/>
                <a14:m>
                  <m:oMathPara xmlns:m="http://schemas.openxmlformats.org/officeDocument/2006/math">
                    <m:oMathParaPr>
                      <m:jc m:val="centerGroup"/>
                    </m:oMathParaPr>
                    <m:oMath xmlns:m="http://schemas.openxmlformats.org/officeDocument/2006/math">
                      <m:r>
                        <a:rPr lang="ru-RU" sz="2400" b="0" i="1" smtClean="0">
                          <a:latin typeface="Cambria Math" charset="0"/>
                        </a:rPr>
                        <m:t>𝑅</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dirty="0">
                          <a:latin typeface="Cambria Math" charset="0"/>
                        </a:rPr>
                        <m:t>| </m:t>
                      </m:r>
                      <m:r>
                        <a:rPr lang="ru-RU" sz="2400" b="1" i="1" dirty="0" err="1">
                          <a:latin typeface="Cambria Math" charset="0"/>
                        </a:rPr>
                        <m:t>𝒙</m:t>
                      </m:r>
                      <m:r>
                        <a:rPr lang="ru-RU" sz="2400" i="1" dirty="0">
                          <a:latin typeface="Cambria Math" charset="0"/>
                        </a:rPr>
                        <m:t>)</m:t>
                      </m:r>
                      <m:r>
                        <a:rPr lang="ru-RU" sz="2400" b="0" i="1" dirty="0" smtClean="0">
                          <a:latin typeface="Cambria Math" charset="0"/>
                        </a:rPr>
                        <m:t>=</m:t>
                      </m:r>
                      <m:nary>
                        <m:naryPr>
                          <m:chr m:val="∑"/>
                          <m:ctrlPr>
                            <a:rPr lang="is-IS" sz="2400" b="0" i="1" dirty="0" smtClean="0">
                              <a:latin typeface="Cambria Math" charset="0"/>
                            </a:rPr>
                          </m:ctrlPr>
                        </m:naryPr>
                        <m:sub>
                          <m:r>
                            <m:rPr>
                              <m:brk m:alnAt="23"/>
                            </m:rPr>
                            <a:rPr lang="ru-RU" sz="2400" b="0" i="1" dirty="0" smtClean="0">
                              <a:latin typeface="Cambria Math" charset="0"/>
                            </a:rPr>
                            <m:t>𝑗</m:t>
                          </m:r>
                          <m:r>
                            <a:rPr lang="ru-RU" sz="2400" b="0" i="1" dirty="0" smtClean="0">
                              <a:latin typeface="Cambria Math" charset="0"/>
                            </a:rPr>
                            <m:t>=1</m:t>
                          </m:r>
                        </m:sub>
                        <m:sup>
                          <m:r>
                            <a:rPr lang="ru-RU" sz="2400" b="0" i="1" dirty="0" smtClean="0">
                              <a:latin typeface="Cambria Math" charset="0"/>
                            </a:rPr>
                            <m:t>𝑀</m:t>
                          </m:r>
                        </m:sup>
                        <m:e>
                          <m:r>
                            <a:rPr lang="ru-RU" sz="2400" i="1" dirty="0">
                              <a:latin typeface="Cambria Math" charset="0"/>
                            </a:rPr>
                            <m:t>𝐿</m:t>
                          </m:r>
                          <m:d>
                            <m:dPr>
                              <m:ctrlPr>
                                <a:rPr lang="ru-RU" sz="2400" i="1" dirty="0">
                                  <a:latin typeface="Cambria Math" charset="0"/>
                                </a:rPr>
                              </m:ctrlPr>
                            </m:dPr>
                            <m:e>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e>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e>
                          </m:d>
                        </m:e>
                      </m:nary>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𝑗</m:t>
                          </m:r>
                        </m:sub>
                      </m:sSub>
                      <m:d>
                        <m:dPr>
                          <m:begChr m:val="|"/>
                          <m:ctrlPr>
                            <a:rPr lang="ru-RU" sz="2400" i="1" dirty="0" smtClean="0">
                              <a:latin typeface="Cambria Math" charset="0"/>
                            </a:rPr>
                          </m:ctrlPr>
                        </m:dPr>
                        <m:e>
                          <m:r>
                            <a:rPr lang="ru-RU" sz="2400" b="1" i="1" dirty="0" err="1">
                              <a:latin typeface="Cambria Math" charset="0"/>
                            </a:rPr>
                            <m:t>𝒙</m:t>
                          </m:r>
                        </m:e>
                      </m:d>
                      <m:r>
                        <a:rPr lang="ru-RU" sz="2400" b="0" i="1" dirty="0" smtClean="0">
                          <a:latin typeface="Cambria Math" charset="0"/>
                        </a:rPr>
                        <m:t>,</m:t>
                      </m:r>
                    </m:oMath>
                  </m:oMathPara>
                </a14:m>
                <a:endParaRPr lang="ru-RU" sz="2400" dirty="0" smtClean="0"/>
              </a:p>
              <a:p>
                <a:pPr indent="457200" algn="just"/>
                <a:r>
                  <a:rPr lang="ru-RU" sz="2400" dirty="0" smtClean="0"/>
                  <a:t>где </a:t>
                </a:r>
                <a14:m>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d>
                      <m:dPr>
                        <m:begChr m:val="|"/>
                        <m:ctrlPr>
                          <a:rPr lang="ru-RU" sz="2400" i="1" dirty="0">
                            <a:latin typeface="Cambria Math" charset="0"/>
                          </a:rPr>
                        </m:ctrlPr>
                      </m:dPr>
                      <m:e>
                        <m:r>
                          <a:rPr lang="ru-RU" sz="2400" b="1" i="1" dirty="0" err="1">
                            <a:latin typeface="Cambria Math" charset="0"/>
                          </a:rPr>
                          <m:t>𝒙</m:t>
                        </m:r>
                      </m:e>
                    </m:d>
                  </m:oMath>
                </a14:m>
                <a:r>
                  <a:rPr lang="ru-RU" sz="2400" dirty="0"/>
                  <a:t> носит название </a:t>
                </a:r>
                <a:r>
                  <a:rPr lang="ru-RU" sz="2400" i="1" u="sng" dirty="0" err="1"/>
                  <a:t>апостериорнои</a:t>
                </a:r>
                <a:r>
                  <a:rPr lang="ru-RU" sz="2400" i="1" u="sng" dirty="0"/>
                  <a:t>̆ вероятности </a:t>
                </a:r>
                <a:r>
                  <a:rPr lang="ru-RU" sz="2400" dirty="0"/>
                  <a:t>события </a:t>
                </a:r>
                <a14:m>
                  <m:oMath xmlns:m="http://schemas.openxmlformats.org/officeDocument/2006/math">
                    <m:r>
                      <a:rPr lang="ru-RU" sz="2400" b="1" i="1" dirty="0">
                        <a:latin typeface="Cambria Math" charset="0"/>
                      </a:rPr>
                      <m:t>𝒙</m:t>
                    </m:r>
                    <m:r>
                      <a:rPr lang="ru-RU" sz="2400" i="1" dirty="0">
                        <a:latin typeface="Cambria Math" charset="0"/>
                        <a:ea typeface="Cambria Math" charset="0"/>
                        <a:cs typeface="Cambria Math" charset="0"/>
                      </a:rPr>
                      <m:t>𝜖</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oMath>
                </a14:m>
                <a:r>
                  <a:rPr lang="ru-RU" sz="2400" dirty="0" smtClean="0"/>
                  <a:t> и </a:t>
                </a:r>
                <a:r>
                  <a:rPr lang="ru-RU" sz="2400" dirty="0"/>
                  <a:t>вычисляется исходя из </a:t>
                </a:r>
                <a:r>
                  <a:rPr lang="ru-RU" sz="2400" dirty="0" err="1"/>
                  <a:t>априорнои</a:t>
                </a:r>
                <a:r>
                  <a:rPr lang="ru-RU" sz="2400" dirty="0"/>
                  <a:t>̆ вероятности </a:t>
                </a:r>
                <a14:m>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𝑖</m:t>
                        </m:r>
                      </m:sub>
                    </m:sSub>
                    <m:r>
                      <a:rPr lang="ru-RU" sz="2400" b="0" i="1" dirty="0" smtClean="0">
                        <a:latin typeface="Cambria Math" charset="0"/>
                        <a:ea typeface="Cambria Math" charset="0"/>
                        <a:cs typeface="Cambria Math" charset="0"/>
                      </a:rPr>
                      <m:t>)</m:t>
                    </m:r>
                  </m:oMath>
                </a14:m>
                <a:r>
                  <a:rPr lang="ru-RU" sz="2400" dirty="0" smtClean="0"/>
                  <a:t> и УПР </a:t>
                </a:r>
                <a14:m>
                  <m:oMath xmlns:m="http://schemas.openxmlformats.org/officeDocument/2006/math">
                    <m:r>
                      <a:rPr lang="ru-RU" sz="2400" i="1" dirty="0">
                        <a:latin typeface="Cambria Math" charset="0"/>
                      </a:rPr>
                      <m:t>𝑝</m:t>
                    </m:r>
                    <m:r>
                      <a:rPr lang="ru-RU" sz="2400" i="1" dirty="0">
                        <a:latin typeface="Cambria Math" charset="0"/>
                      </a:rPr>
                      <m:t>(</m:t>
                    </m:r>
                    <m:r>
                      <a:rPr lang="ru-RU" sz="2400" b="1" i="1" dirty="0" err="1">
                        <a:latin typeface="Cambria Math" charset="0"/>
                      </a:rPr>
                      <m:t>𝒙</m:t>
                    </m:r>
                    <m:r>
                      <a:rPr lang="ru-RU" sz="2400" b="1" i="1" dirty="0">
                        <a:latin typeface="Cambria Math" charset="0"/>
                      </a:rPr>
                      <m:t> </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i="1" dirty="0">
                        <a:latin typeface="Cambria Math" charset="0"/>
                      </a:rPr>
                      <m:t>) </m:t>
                    </m:r>
                  </m:oMath>
                </a14:m>
                <a:r>
                  <a:rPr lang="ru-RU" sz="2400" dirty="0"/>
                  <a:t>согласно теореме </a:t>
                </a:r>
                <a:r>
                  <a:rPr lang="ru-RU" sz="2400" dirty="0" err="1"/>
                  <a:t>Баи</a:t>
                </a:r>
                <a:r>
                  <a:rPr lang="ru-RU" sz="2400" dirty="0" err="1" smtClean="0"/>
                  <a:t>̆еса</a:t>
                </a:r>
                <a:r>
                  <a:rPr lang="ru-RU" sz="2400" dirty="0" smtClean="0"/>
                  <a:t>: </a:t>
                </a:r>
              </a:p>
              <a:p>
                <a:pPr indent="457200" algn="just"/>
                <a14:m>
                  <m:oMathPara xmlns:m="http://schemas.openxmlformats.org/officeDocument/2006/math">
                    <m:oMathParaPr>
                      <m:jc m:val="centerGroup"/>
                    </m:oMathParaPr>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d>
                        <m:dPr>
                          <m:begChr m:val="|"/>
                          <m:ctrlPr>
                            <a:rPr lang="ru-RU" sz="2400" i="1" dirty="0">
                              <a:latin typeface="Cambria Math" charset="0"/>
                            </a:rPr>
                          </m:ctrlPr>
                        </m:dPr>
                        <m:e>
                          <m:r>
                            <a:rPr lang="ru-RU" sz="2400" b="1" i="1" dirty="0" err="1">
                              <a:latin typeface="Cambria Math" charset="0"/>
                            </a:rPr>
                            <m:t>𝒙</m:t>
                          </m:r>
                        </m:e>
                      </m:d>
                      <m:r>
                        <a:rPr lang="ru-RU" sz="2400" b="0" i="1" dirty="0" smtClean="0">
                          <a:latin typeface="Cambria Math" charset="0"/>
                        </a:rPr>
                        <m:t>=</m:t>
                      </m:r>
                      <m:f>
                        <m:fPr>
                          <m:ctrlPr>
                            <a:rPr lang="mr-IN" sz="2400" b="0" i="1" dirty="0" smtClean="0">
                              <a:latin typeface="Cambria Math" charset="0"/>
                            </a:rPr>
                          </m:ctrlPr>
                        </m:fPr>
                        <m:num>
                          <m:r>
                            <a:rPr lang="ru-RU" sz="2400" i="1" dirty="0">
                              <a:latin typeface="Cambria Math" charset="0"/>
                            </a:rPr>
                            <m:t>𝑝</m:t>
                          </m:r>
                          <m:d>
                            <m:dPr>
                              <m:ctrlPr>
                                <a:rPr lang="ru-RU" sz="2400" i="1" dirty="0">
                                  <a:latin typeface="Cambria Math" charset="0"/>
                                </a:rPr>
                              </m:ctrlPr>
                            </m:dPr>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𝑗</m:t>
                                  </m:r>
                                </m:sub>
                              </m:sSub>
                            </m:e>
                          </m:d>
                          <m:r>
                            <a:rPr lang="ru-RU" sz="2400" i="1" dirty="0">
                              <a:latin typeface="Cambria Math" charset="0"/>
                            </a:rPr>
                            <m:t>𝑝</m:t>
                          </m:r>
                          <m:d>
                            <m:dPr>
                              <m:ctrlPr>
                                <a:rPr lang="ru-RU" sz="2400" i="1" dirty="0">
                                  <a:latin typeface="Cambria Math" charset="0"/>
                                </a:rPr>
                              </m:ctrlPr>
                            </m:dPr>
                            <m:e>
                              <m:r>
                                <a:rPr lang="ru-RU" sz="2400" b="1" i="1" dirty="0" err="1">
                                  <a:latin typeface="Cambria Math" charset="0"/>
                                </a:rPr>
                                <m:t>𝒙</m:t>
                              </m:r>
                              <m:r>
                                <a:rPr lang="ru-RU" sz="2400" b="1" i="1" dirty="0">
                                  <a:latin typeface="Cambria Math" charset="0"/>
                                </a:rPr>
                                <m:t> </m:t>
                              </m:r>
                            </m:e>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𝑗</m:t>
                                  </m:r>
                                </m:sub>
                              </m:sSub>
                            </m:e>
                          </m:d>
                        </m:num>
                        <m:den>
                          <m:nary>
                            <m:naryPr>
                              <m:chr m:val="∑"/>
                              <m:ctrlPr>
                                <a:rPr lang="is-IS" sz="2400" b="0" i="1" dirty="0" smtClean="0">
                                  <a:latin typeface="Cambria Math" charset="0"/>
                                </a:rPr>
                              </m:ctrlPr>
                            </m:naryPr>
                            <m:sub>
                              <m:r>
                                <m:rPr>
                                  <m:brk m:alnAt="23"/>
                                </m:rPr>
                                <a:rPr lang="ru-RU" sz="2400" b="0" i="1" dirty="0" smtClean="0">
                                  <a:latin typeface="Cambria Math" charset="0"/>
                                </a:rPr>
                                <m:t>𝑘</m:t>
                              </m:r>
                              <m:r>
                                <a:rPr lang="ru-RU" sz="2400" b="0" i="1" dirty="0" smtClean="0">
                                  <a:latin typeface="Cambria Math" charset="0"/>
                                </a:rPr>
                                <m:t>=1</m:t>
                              </m:r>
                            </m:sub>
                            <m:sup>
                              <m:r>
                                <a:rPr lang="ru-RU" sz="2400" b="0" i="1" dirty="0" smtClean="0">
                                  <a:latin typeface="Cambria Math" charset="0"/>
                                </a:rPr>
                                <m:t>𝑀</m:t>
                              </m:r>
                            </m:sup>
                            <m:e>
                              <m:r>
                                <a:rPr lang="ru-RU" sz="2400" i="1" dirty="0">
                                  <a:latin typeface="Cambria Math" charset="0"/>
                                </a:rPr>
                                <m:t>𝑝</m:t>
                              </m:r>
                              <m:d>
                                <m:dPr>
                                  <m:ctrlPr>
                                    <a:rPr lang="ru-RU" sz="2400" i="1" dirty="0">
                                      <a:latin typeface="Cambria Math" charset="0"/>
                                    </a:rPr>
                                  </m:ctrlPr>
                                </m:dPr>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𝑘</m:t>
                                      </m:r>
                                    </m:sub>
                                  </m:sSub>
                                </m:e>
                              </m:d>
                              <m:r>
                                <a:rPr lang="ru-RU" sz="2400" i="1" dirty="0">
                                  <a:latin typeface="Cambria Math" charset="0"/>
                                </a:rPr>
                                <m:t>𝑝</m:t>
                              </m:r>
                              <m:d>
                                <m:dPr>
                                  <m:ctrlPr>
                                    <a:rPr lang="ru-RU" sz="2400" i="1" dirty="0">
                                      <a:latin typeface="Cambria Math" charset="0"/>
                                    </a:rPr>
                                  </m:ctrlPr>
                                </m:dPr>
                                <m:e>
                                  <m:r>
                                    <a:rPr lang="ru-RU" sz="2400" b="1" i="1" dirty="0" err="1">
                                      <a:latin typeface="Cambria Math" charset="0"/>
                                    </a:rPr>
                                    <m:t>𝒙</m:t>
                                  </m:r>
                                  <m:r>
                                    <a:rPr lang="ru-RU" sz="2400" b="1" i="1" dirty="0">
                                      <a:latin typeface="Cambria Math" charset="0"/>
                                    </a:rPr>
                                    <m:t> </m:t>
                                  </m:r>
                                </m:e>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𝑘</m:t>
                                      </m:r>
                                    </m:sub>
                                  </m:sSub>
                                </m:e>
                              </m:d>
                            </m:e>
                          </m:nary>
                        </m:den>
                      </m:f>
                      <m:r>
                        <a:rPr lang="ru-RU" sz="2400" b="0" i="1" dirty="0" smtClean="0">
                          <a:latin typeface="Cambria Math" charset="0"/>
                        </a:rPr>
                        <m:t>.</m:t>
                      </m:r>
                    </m:oMath>
                  </m:oMathPara>
                </a14:m>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43100" y="685821"/>
                <a:ext cx="10248900" cy="6215932"/>
              </a:xfrm>
              <a:prstGeom prst="rect">
                <a:avLst/>
              </a:prstGeom>
              <a:blipFill rotWithShape="0">
                <a:blip r:embed="rId2"/>
                <a:stretch>
                  <a:fillRect l="-952" t="-785" r="-892"/>
                </a:stretch>
              </a:blipFill>
            </p:spPr>
            <p:txBody>
              <a:bodyPr/>
              <a:lstStyle/>
              <a:p>
                <a:r>
                  <a:rPr lang="ru-RU">
                    <a:noFill/>
                  </a:rPr>
                  <a:t> </a:t>
                </a:r>
              </a:p>
            </p:txBody>
          </p:sp>
        </mc:Fallback>
      </mc:AlternateContent>
      <p:sp>
        <p:nvSpPr>
          <p:cNvPr id="2" name="Прямоугольник 1"/>
          <p:cNvSpPr/>
          <p:nvPr/>
        </p:nvSpPr>
        <p:spPr>
          <a:xfrm>
            <a:off x="6031149" y="3677055"/>
            <a:ext cx="369651" cy="23346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p:cNvSpPr txBox="1"/>
          <p:nvPr/>
        </p:nvSpPr>
        <p:spPr>
          <a:xfrm>
            <a:off x="9496627" y="4046706"/>
            <a:ext cx="992222" cy="523220"/>
          </a:xfrm>
          <a:prstGeom prst="rect">
            <a:avLst/>
          </a:prstGeom>
          <a:noFill/>
        </p:spPr>
        <p:txBody>
          <a:bodyPr wrap="square" rtlCol="0">
            <a:spAutoFit/>
          </a:bodyPr>
          <a:lstStyle/>
          <a:p>
            <a:r>
              <a:rPr lang="ru-RU" sz="2800" b="1" dirty="0" smtClean="0">
                <a:solidFill>
                  <a:schemeClr val="accent2">
                    <a:lumMod val="75000"/>
                  </a:schemeClr>
                </a:solidFill>
              </a:rPr>
              <a:t>(2)</a:t>
            </a:r>
            <a:endParaRPr lang="ru-RU" sz="2800" b="1" dirty="0">
              <a:solidFill>
                <a:schemeClr val="accent2">
                  <a:lumMod val="75000"/>
                </a:schemeClr>
              </a:solidFill>
            </a:endParaRPr>
          </a:p>
        </p:txBody>
      </p:sp>
      <p:sp>
        <p:nvSpPr>
          <p:cNvPr id="6" name="TextBox 5"/>
          <p:cNvSpPr txBox="1"/>
          <p:nvPr/>
        </p:nvSpPr>
        <p:spPr>
          <a:xfrm>
            <a:off x="9357198" y="6047361"/>
            <a:ext cx="992222" cy="523220"/>
          </a:xfrm>
          <a:prstGeom prst="rect">
            <a:avLst/>
          </a:prstGeom>
          <a:noFill/>
        </p:spPr>
        <p:txBody>
          <a:bodyPr wrap="square" rtlCol="0">
            <a:spAutoFit/>
          </a:bodyPr>
          <a:lstStyle/>
          <a:p>
            <a:r>
              <a:rPr lang="ru-RU" sz="2800" b="1" dirty="0" smtClean="0">
                <a:solidFill>
                  <a:schemeClr val="accent2">
                    <a:lumMod val="75000"/>
                  </a:schemeClr>
                </a:solidFill>
              </a:rPr>
              <a:t>(3)</a:t>
            </a:r>
            <a:endParaRPr lang="ru-RU" sz="2800" b="1" dirty="0">
              <a:solidFill>
                <a:schemeClr val="accent2">
                  <a:lumMod val="75000"/>
                </a:schemeClr>
              </a:solidFill>
            </a:endParaRPr>
          </a:p>
        </p:txBody>
      </p:sp>
    </p:spTree>
    <p:extLst>
      <p:ext uri="{BB962C8B-B14F-4D97-AF65-F5344CB8AC3E}">
        <p14:creationId xmlns:p14="http://schemas.microsoft.com/office/powerpoint/2010/main" val="5438229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92223"/>
            <a:ext cx="12191999" cy="548993"/>
          </a:xfrm>
        </p:spPr>
        <p:txBody>
          <a:bodyPr>
            <a:noAutofit/>
          </a:bodyPr>
          <a:lstStyle/>
          <a:p>
            <a:pPr algn="ctr"/>
            <a:r>
              <a:rPr lang="ru-RU" b="1" dirty="0"/>
              <a:t>Постановка задачи классификации </a:t>
            </a:r>
          </a:p>
        </p:txBody>
      </p:sp>
      <mc:AlternateContent xmlns:mc="http://schemas.openxmlformats.org/markup-compatibility/2006" xmlns:a14="http://schemas.microsoft.com/office/drawing/2010/main">
        <mc:Choice Requires="a14">
          <p:sp>
            <p:nvSpPr>
              <p:cNvPr id="17" name="Прямоугольник 16"/>
              <p:cNvSpPr/>
              <p:nvPr/>
            </p:nvSpPr>
            <p:spPr>
              <a:xfrm>
                <a:off x="1943100" y="685821"/>
                <a:ext cx="10248900" cy="5946564"/>
              </a:xfrm>
              <a:prstGeom prst="rect">
                <a:avLst/>
              </a:prstGeom>
            </p:spPr>
            <p:txBody>
              <a:bodyPr wrap="square">
                <a:spAutoFit/>
              </a:bodyPr>
              <a:lstStyle/>
              <a:p>
                <a:pPr indent="457200" algn="just"/>
                <a:r>
                  <a:rPr lang="ru-RU" sz="2400" dirty="0" smtClean="0"/>
                  <a:t>Задача классификации сводится к выбору наименьшего условного риска:</a:t>
                </a:r>
              </a:p>
              <a:p>
                <a:pPr indent="457200" algn="ctr"/>
                <a14:m>
                  <m:oMath xmlns:m="http://schemas.openxmlformats.org/officeDocument/2006/math">
                    <m:r>
                      <a:rPr lang="ru-RU" sz="2400" i="1" dirty="0">
                        <a:latin typeface="Cambria Math" charset="0"/>
                        <a:ea typeface="Cambria Math" charset="0"/>
                        <a:cs typeface="Cambria Math" charset="0"/>
                      </a:rPr>
                      <m:t>𝜙</m:t>
                    </m:r>
                    <m:d>
                      <m:dPr>
                        <m:ctrlPr>
                          <a:rPr lang="ru-RU" sz="2400" i="1" dirty="0">
                            <a:latin typeface="Cambria Math" charset="0"/>
                            <a:ea typeface="Cambria Math" charset="0"/>
                            <a:cs typeface="Cambria Math" charset="0"/>
                          </a:rPr>
                        </m:ctrlPr>
                      </m:dPr>
                      <m:e>
                        <m:r>
                          <a:rPr lang="ru-RU" sz="2400" b="1" i="1" dirty="0" err="1">
                            <a:latin typeface="Cambria Math" charset="0"/>
                          </a:rPr>
                          <m:t>𝒙</m:t>
                        </m:r>
                      </m:e>
                    </m:d>
                    <m:r>
                      <a:rPr lang="ru-RU" sz="2400" b="0" i="1" dirty="0" smtClean="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b="0" i="1" smtClean="0">
                        <a:latin typeface="Cambria Math" charset="0"/>
                      </a:rPr>
                      <m:t>:(</m:t>
                    </m:r>
                    <m:r>
                      <a:rPr lang="ru-RU" sz="2400" i="1" dirty="0">
                        <a:latin typeface="Cambria Math" charset="0"/>
                      </a:rPr>
                      <m:t> </m:t>
                    </m:r>
                    <m:r>
                      <a:rPr lang="ru-RU" sz="2400" b="1" i="1" dirty="0" err="1">
                        <a:latin typeface="Cambria Math" charset="0"/>
                      </a:rPr>
                      <m:t>𝒙</m:t>
                    </m:r>
                    <m:r>
                      <a:rPr lang="ru-RU" sz="2400" b="1" i="1" dirty="0" smtClean="0">
                        <a:latin typeface="Cambria Math" charset="0"/>
                      </a:rPr>
                      <m:t> </m:t>
                    </m:r>
                    <m:r>
                      <a:rPr lang="ru-RU" sz="2400" b="1" i="1" dirty="0" smtClean="0">
                        <a:latin typeface="Cambria Math" charset="0"/>
                        <a:ea typeface="Cambria Math" charset="0"/>
                        <a:cs typeface="Cambria Math" charset="0"/>
                      </a:rPr>
                      <m:t>𝝐</m:t>
                    </m:r>
                    <m:r>
                      <a:rPr lang="ru-RU" sz="2400" b="1" i="1" dirty="0" smtClean="0">
                        <a:latin typeface="Cambria Math" charset="0"/>
                        <a:ea typeface="Cambria Math" charset="0"/>
                        <a:cs typeface="Cambria Math" charset="0"/>
                      </a:rPr>
                      <m:t> </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rPr>
                          <m:t>𝑖</m:t>
                        </m:r>
                      </m:sub>
                    </m:sSub>
                    <m:r>
                      <a:rPr lang="ru-RU" sz="2400" b="0" i="0" dirty="0" smtClean="0">
                        <a:latin typeface="Cambria Math" charset="0"/>
                      </a:rPr>
                      <m:t>)</m:t>
                    </m:r>
                  </m:oMath>
                </a14:m>
                <a:r>
                  <a:rPr lang="ru-RU" sz="2400" dirty="0" smtClean="0"/>
                  <a:t>, если </a:t>
                </a:r>
                <a14:m>
                  <m:oMath xmlns:m="http://schemas.openxmlformats.org/officeDocument/2006/math">
                    <m:r>
                      <a:rPr lang="ru-RU" sz="2400" i="1">
                        <a:latin typeface="Cambria Math" charset="0"/>
                      </a:rPr>
                      <m:t>𝑅</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dirty="0">
                        <a:latin typeface="Cambria Math" charset="0"/>
                      </a:rPr>
                      <m:t>| </m:t>
                    </m:r>
                    <m:r>
                      <a:rPr lang="ru-RU" sz="2400" b="1" i="1" dirty="0" err="1">
                        <a:latin typeface="Cambria Math" charset="0"/>
                      </a:rPr>
                      <m:t>𝒙</m:t>
                    </m:r>
                    <m:r>
                      <a:rPr lang="ru-RU" sz="2400" i="1" dirty="0">
                        <a:latin typeface="Cambria Math" charset="0"/>
                      </a:rPr>
                      <m:t>)</m:t>
                    </m:r>
                    <m:r>
                      <a:rPr lang="ru-RU" sz="2400" b="0" i="1" dirty="0" smtClean="0">
                        <a:latin typeface="Cambria Math" charset="0"/>
                      </a:rPr>
                      <m:t>&lt;</m:t>
                    </m:r>
                    <m:r>
                      <a:rPr lang="ru-RU" sz="2400" i="1">
                        <a:latin typeface="Cambria Math" charset="0"/>
                      </a:rPr>
                      <m:t>𝑅</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b="0" i="1" smtClean="0">
                            <a:latin typeface="Cambria Math" charset="0"/>
                            <a:ea typeface="Cambria Math" charset="0"/>
                            <a:cs typeface="Cambria Math" charset="0"/>
                          </a:rPr>
                          <m:t>𝑗</m:t>
                        </m:r>
                      </m:sub>
                    </m:sSub>
                    <m:d>
                      <m:dPr>
                        <m:begChr m:val="|"/>
                        <m:ctrlPr>
                          <a:rPr lang="ru-RU" sz="2400" i="1" dirty="0">
                            <a:latin typeface="Cambria Math" charset="0"/>
                          </a:rPr>
                        </m:ctrlPr>
                      </m:dPr>
                      <m:e>
                        <m:r>
                          <a:rPr lang="ru-RU" sz="2400" i="1" dirty="0">
                            <a:latin typeface="Cambria Math" charset="0"/>
                          </a:rPr>
                          <m:t> </m:t>
                        </m:r>
                        <m:r>
                          <a:rPr lang="ru-RU" sz="2400" b="1" i="1" dirty="0" err="1">
                            <a:latin typeface="Cambria Math" charset="0"/>
                          </a:rPr>
                          <m:t>𝒙</m:t>
                        </m:r>
                      </m:e>
                    </m:d>
                    <m:r>
                      <a:rPr lang="ru-RU" sz="2400" b="0" i="1" dirty="0" smtClean="0">
                        <a:latin typeface="Cambria Math" charset="0"/>
                      </a:rPr>
                      <m:t>, </m:t>
                    </m:r>
                    <m:r>
                      <a:rPr lang="ru-RU" sz="2400" b="0" i="1" dirty="0" smtClean="0">
                        <a:latin typeface="Cambria Math" charset="0"/>
                        <a:ea typeface="Cambria Math" charset="0"/>
                        <a:cs typeface="Cambria Math" charset="0"/>
                      </a:rPr>
                      <m:t>∀</m:t>
                    </m:r>
                    <m:r>
                      <a:rPr lang="ru-RU" sz="2400" b="0" i="1" dirty="0" smtClean="0">
                        <a:latin typeface="Cambria Math" charset="0"/>
                        <a:ea typeface="Cambria Math" charset="0"/>
                        <a:cs typeface="Cambria Math" charset="0"/>
                      </a:rPr>
                      <m:t>𝑖</m:t>
                    </m:r>
                    <m:r>
                      <a:rPr lang="ru-RU" sz="2400" b="0" i="1" dirty="0" smtClean="0">
                        <a:latin typeface="Cambria Math" charset="0"/>
                        <a:ea typeface="Cambria Math" charset="0"/>
                        <a:cs typeface="Cambria Math" charset="0"/>
                      </a:rPr>
                      <m:t>≠</m:t>
                    </m:r>
                    <m:r>
                      <a:rPr lang="ru-RU" sz="2400" b="0" i="1" dirty="0" smtClean="0">
                        <a:latin typeface="Cambria Math" charset="0"/>
                        <a:ea typeface="Cambria Math" charset="0"/>
                        <a:cs typeface="Cambria Math" charset="0"/>
                      </a:rPr>
                      <m:t>𝑗</m:t>
                    </m:r>
                    <m:r>
                      <a:rPr lang="ru-RU" sz="2400" b="0" i="1" dirty="0" smtClean="0">
                        <a:latin typeface="Cambria Math" charset="0"/>
                        <a:ea typeface="Cambria Math" charset="0"/>
                        <a:cs typeface="Cambria Math" charset="0"/>
                      </a:rPr>
                      <m:t>.</m:t>
                    </m:r>
                  </m:oMath>
                </a14:m>
                <a:endParaRPr lang="ru-RU" sz="2400" b="0" dirty="0" smtClean="0">
                  <a:ea typeface="Cambria Math" charset="0"/>
                  <a:cs typeface="Cambria Math" charset="0"/>
                </a:endParaRPr>
              </a:p>
              <a:p>
                <a:pPr indent="457200" algn="just"/>
                <a:r>
                  <a:rPr lang="ru-RU" sz="2400" dirty="0" smtClean="0"/>
                  <a:t>Правило </a:t>
                </a:r>
                <a:r>
                  <a:rPr lang="ru-RU" sz="2400" b="1" dirty="0" smtClean="0">
                    <a:solidFill>
                      <a:schemeClr val="accent2">
                        <a:lumMod val="75000"/>
                      </a:schemeClr>
                    </a:solidFill>
                  </a:rPr>
                  <a:t>(4) </a:t>
                </a:r>
                <a:r>
                  <a:rPr lang="ru-RU" sz="2400" dirty="0"/>
                  <a:t>носит название </a:t>
                </a:r>
                <a:r>
                  <a:rPr lang="ru-RU" sz="2400" i="1" dirty="0" err="1"/>
                  <a:t>байесовского</a:t>
                </a:r>
                <a:r>
                  <a:rPr lang="ru-RU" sz="2400" i="1" dirty="0"/>
                  <a:t> решающего правила классификации. </a:t>
                </a:r>
                <a:r>
                  <a:rPr lang="ru-RU" sz="2400" dirty="0"/>
                  <a:t>При использовании </a:t>
                </a:r>
                <a:r>
                  <a:rPr lang="ru-RU" sz="2400" dirty="0" smtClean="0"/>
                  <a:t>нуль-</a:t>
                </a:r>
                <a:r>
                  <a:rPr lang="ru-RU" sz="2400" dirty="0" err="1" smtClean="0"/>
                  <a:t>единичнои</a:t>
                </a:r>
                <a:r>
                  <a:rPr lang="ru-RU" sz="2400" dirty="0"/>
                  <a:t>̆ функции потерь </a:t>
                </a:r>
              </a:p>
              <a:p>
                <a:pPr indent="457200" algn="just"/>
                <a14:m>
                  <m:oMathPara xmlns:m="http://schemas.openxmlformats.org/officeDocument/2006/math">
                    <m:oMathParaPr>
                      <m:jc m:val="centerGroup"/>
                    </m:oMathParaPr>
                    <m:oMath xmlns:m="http://schemas.openxmlformats.org/officeDocument/2006/math">
                      <m:r>
                        <a:rPr lang="ru-RU" sz="2400" i="1" dirty="0">
                          <a:latin typeface="Cambria Math" charset="0"/>
                        </a:rPr>
                        <m:t>𝐿</m:t>
                      </m:r>
                      <m:d>
                        <m:dPr>
                          <m:ctrlPr>
                            <a:rPr lang="ru-RU" sz="2400" i="1" dirty="0">
                              <a:latin typeface="Cambria Math" charset="0"/>
                            </a:rPr>
                          </m:ctrlPr>
                        </m:dPr>
                        <m:e>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e>
                        <m:e>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e>
                      </m:d>
                      <m:r>
                        <a:rPr lang="ru-RU" sz="2400" b="0" i="1" dirty="0" smtClean="0">
                          <a:latin typeface="Cambria Math" charset="0"/>
                        </a:rPr>
                        <m:t>=</m:t>
                      </m:r>
                      <m:d>
                        <m:dPr>
                          <m:begChr m:val="{"/>
                          <m:endChr m:val=""/>
                          <m:ctrlPr>
                            <a:rPr lang="mr-IN" sz="2400" b="0" i="1" dirty="0" smtClean="0">
                              <a:latin typeface="Cambria Math" charset="0"/>
                            </a:rPr>
                          </m:ctrlPr>
                        </m:dPr>
                        <m:e>
                          <m:eqArr>
                            <m:eqArrPr>
                              <m:ctrlPr>
                                <a:rPr lang="mr-IN" sz="2400" b="0" i="1" dirty="0" smtClean="0">
                                  <a:latin typeface="Cambria Math" charset="0"/>
                                </a:rPr>
                              </m:ctrlPr>
                            </m:eqArrPr>
                            <m:e>
                              <m:r>
                                <a:rPr lang="ru-RU" sz="2400" b="0" i="1" dirty="0" smtClean="0">
                                  <a:latin typeface="Cambria Math" charset="0"/>
                                </a:rPr>
                                <m:t>0, </m:t>
                              </m:r>
                              <m:r>
                                <a:rPr lang="ru-RU" sz="2400" b="0" i="1" dirty="0" smtClean="0">
                                  <a:latin typeface="Cambria Math" charset="0"/>
                                </a:rPr>
                                <m:t>𝑖</m:t>
                              </m:r>
                              <m:r>
                                <a:rPr lang="ru-RU" sz="2400" b="0" i="1" dirty="0" smtClean="0">
                                  <a:latin typeface="Cambria Math" charset="0"/>
                                </a:rPr>
                                <m:t>=</m:t>
                              </m:r>
                              <m:r>
                                <a:rPr lang="ru-RU" sz="2400" b="0" i="1" dirty="0" smtClean="0">
                                  <a:latin typeface="Cambria Math" charset="0"/>
                                </a:rPr>
                                <m:t>𝑗</m:t>
                              </m:r>
                            </m:e>
                            <m:e>
                              <m:r>
                                <a:rPr lang="ru-RU" sz="2400" b="0" i="1" dirty="0" smtClean="0">
                                  <a:latin typeface="Cambria Math" charset="0"/>
                                </a:rPr>
                                <m:t>1, </m:t>
                              </m:r>
                              <m:r>
                                <a:rPr lang="ru-RU" sz="2400" b="0" i="1" dirty="0" smtClean="0">
                                  <a:latin typeface="Cambria Math" charset="0"/>
                                </a:rPr>
                                <m:t>𝑖</m:t>
                              </m:r>
                              <m:r>
                                <a:rPr lang="ru-RU" sz="2400" b="0" i="1" dirty="0" smtClean="0">
                                  <a:latin typeface="Cambria Math" charset="0"/>
                                  <a:ea typeface="Cambria Math" charset="0"/>
                                  <a:cs typeface="Cambria Math" charset="0"/>
                                </a:rPr>
                                <m:t>≠</m:t>
                              </m:r>
                              <m:r>
                                <a:rPr lang="ru-RU" sz="2400" b="0" i="1" dirty="0" smtClean="0">
                                  <a:latin typeface="Cambria Math" charset="0"/>
                                  <a:ea typeface="Cambria Math" charset="0"/>
                                  <a:cs typeface="Cambria Math" charset="0"/>
                                </a:rPr>
                                <m:t>𝑗</m:t>
                              </m:r>
                            </m:e>
                          </m:eqArr>
                        </m:e>
                      </m:d>
                      <m:r>
                        <a:rPr lang="ru-RU" sz="2400" b="0" i="1" dirty="0" smtClean="0">
                          <a:latin typeface="Cambria Math" charset="0"/>
                        </a:rPr>
                        <m:t>      </m:t>
                      </m:r>
                      <m:r>
                        <a:rPr lang="ru-RU" sz="2400" b="0" i="1" dirty="0" smtClean="0">
                          <a:latin typeface="Cambria Math" charset="0"/>
                        </a:rPr>
                        <m:t>𝑖</m:t>
                      </m:r>
                      <m:r>
                        <a:rPr lang="ru-RU" sz="2400" b="0" i="1" dirty="0" smtClean="0">
                          <a:latin typeface="Cambria Math" charset="0"/>
                        </a:rPr>
                        <m:t>,</m:t>
                      </m:r>
                      <m:r>
                        <a:rPr lang="ru-RU" sz="2400" b="0" i="1" dirty="0" smtClean="0">
                          <a:latin typeface="Cambria Math" charset="0"/>
                        </a:rPr>
                        <m:t>𝑗</m:t>
                      </m:r>
                      <m:r>
                        <a:rPr lang="ru-RU" sz="2400" b="0" i="1" dirty="0" smtClean="0">
                          <a:latin typeface="Cambria Math" charset="0"/>
                        </a:rPr>
                        <m:t>=1,…,</m:t>
                      </m:r>
                      <m:r>
                        <a:rPr lang="ru-RU" sz="2400" b="0" i="1" dirty="0" smtClean="0">
                          <a:latin typeface="Cambria Math" charset="0"/>
                        </a:rPr>
                        <m:t>𝑀</m:t>
                      </m:r>
                      <m:r>
                        <a:rPr lang="ru-RU" sz="2400" b="0" i="1" dirty="0" smtClean="0">
                          <a:latin typeface="Cambria Math" charset="0"/>
                        </a:rPr>
                        <m:t>.</m:t>
                      </m:r>
                    </m:oMath>
                  </m:oMathPara>
                </a14:m>
                <a:endParaRPr lang="ru-RU" sz="2400" i="1" dirty="0" smtClean="0"/>
              </a:p>
              <a:p>
                <a:pPr indent="457200" algn="just"/>
                <a:r>
                  <a:rPr lang="ru-RU" sz="2400" dirty="0" smtClean="0"/>
                  <a:t>риск является </a:t>
                </a:r>
                <a:r>
                  <a:rPr lang="ru-RU" sz="2400" dirty="0" err="1"/>
                  <a:t>среднеи</a:t>
                </a:r>
                <a:r>
                  <a:rPr lang="ru-RU" sz="2400" dirty="0"/>
                  <a:t>̆ </a:t>
                </a:r>
                <a:r>
                  <a:rPr lang="ru-RU" sz="2400" dirty="0" smtClean="0"/>
                  <a:t>вероятностью </a:t>
                </a:r>
                <a:r>
                  <a:rPr lang="ru-RU" sz="2400" dirty="0"/>
                  <a:t>ошибки </a:t>
                </a:r>
                <a:r>
                  <a:rPr lang="ru-RU" sz="2400" dirty="0" smtClean="0"/>
                  <a:t>и определяется </a:t>
                </a:r>
                <a:r>
                  <a:rPr lang="ru-RU" sz="2400" dirty="0"/>
                  <a:t>как </a:t>
                </a:r>
              </a:p>
              <a:p>
                <a:pPr indent="457200" algn="just"/>
                <a14:m>
                  <m:oMathPara xmlns:m="http://schemas.openxmlformats.org/officeDocument/2006/math">
                    <m:oMathParaPr>
                      <m:jc m:val="centerGroup"/>
                    </m:oMathParaPr>
                    <m:oMath xmlns:m="http://schemas.openxmlformats.org/officeDocument/2006/math">
                      <m:r>
                        <a:rPr lang="ru-RU" sz="2400" i="1">
                          <a:latin typeface="Cambria Math" charset="0"/>
                        </a:rPr>
                        <m:t>𝑅</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dirty="0">
                          <a:latin typeface="Cambria Math" charset="0"/>
                        </a:rPr>
                        <m:t>| </m:t>
                      </m:r>
                      <m:r>
                        <a:rPr lang="ru-RU" sz="2400" b="1" i="1" dirty="0" err="1">
                          <a:latin typeface="Cambria Math" charset="0"/>
                        </a:rPr>
                        <m:t>𝒙</m:t>
                      </m:r>
                      <m:r>
                        <a:rPr lang="ru-RU" sz="2400" i="1" dirty="0">
                          <a:latin typeface="Cambria Math" charset="0"/>
                        </a:rPr>
                        <m:t>)=</m:t>
                      </m:r>
                      <m:nary>
                        <m:naryPr>
                          <m:chr m:val="∑"/>
                          <m:supHide m:val="on"/>
                          <m:ctrlPr>
                            <a:rPr lang="ru-RU" sz="2400" i="1" dirty="0" smtClean="0">
                              <a:latin typeface="Cambria Math" charset="0"/>
                            </a:rPr>
                          </m:ctrlPr>
                        </m:naryPr>
                        <m:sub>
                          <m:r>
                            <m:rPr>
                              <m:brk m:alnAt="7"/>
                            </m:rPr>
                            <a:rPr lang="ru-RU" sz="2400" b="0" i="1" dirty="0" smtClean="0">
                              <a:latin typeface="Cambria Math" charset="0"/>
                            </a:rPr>
                            <m:t>𝑖</m:t>
                          </m:r>
                          <m:r>
                            <a:rPr lang="ru-RU" sz="2400" b="0" i="1" dirty="0" smtClean="0">
                              <a:latin typeface="Cambria Math" charset="0"/>
                              <a:ea typeface="Cambria Math" charset="0"/>
                              <a:cs typeface="Cambria Math" charset="0"/>
                            </a:rPr>
                            <m:t>≠</m:t>
                          </m:r>
                          <m:r>
                            <a:rPr lang="ru-RU" sz="2400" b="0" i="1" dirty="0" smtClean="0">
                              <a:latin typeface="Cambria Math" charset="0"/>
                              <a:ea typeface="Cambria Math" charset="0"/>
                              <a:cs typeface="Cambria Math" charset="0"/>
                            </a:rPr>
                            <m:t>𝑗</m:t>
                          </m:r>
                        </m:sub>
                        <m:sup/>
                        <m:e>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d>
                            <m:dPr>
                              <m:begChr m:val="|"/>
                              <m:ctrlPr>
                                <a:rPr lang="ru-RU" sz="2400" i="1" dirty="0">
                                  <a:latin typeface="Cambria Math" charset="0"/>
                                </a:rPr>
                              </m:ctrlPr>
                            </m:dPr>
                            <m:e>
                              <m:r>
                                <a:rPr lang="ru-RU" sz="2400" b="1" i="1" dirty="0" err="1">
                                  <a:latin typeface="Cambria Math" charset="0"/>
                                </a:rPr>
                                <m:t>𝒙</m:t>
                              </m:r>
                            </m:e>
                          </m:d>
                          <m:r>
                            <a:rPr lang="ru-RU" sz="2400" b="0" i="1" dirty="0" smtClean="0">
                              <a:latin typeface="Cambria Math" charset="0"/>
                            </a:rPr>
                            <m:t>=1−</m:t>
                          </m:r>
                          <m:r>
                            <a:rPr lang="ru-RU" sz="2400" i="1" dirty="0">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b="0" i="1" dirty="0" smtClean="0">
                                  <a:latin typeface="Cambria Math" charset="0"/>
                                  <a:ea typeface="Cambria Math" charset="0"/>
                                  <a:cs typeface="Cambria Math" charset="0"/>
                                </a:rPr>
                                <m:t>𝑖</m:t>
                              </m:r>
                            </m:sub>
                          </m:sSub>
                          <m:d>
                            <m:dPr>
                              <m:begChr m:val="|"/>
                              <m:ctrlPr>
                                <a:rPr lang="ru-RU" sz="2400" i="1" dirty="0">
                                  <a:latin typeface="Cambria Math" charset="0"/>
                                </a:rPr>
                              </m:ctrlPr>
                            </m:dPr>
                            <m:e>
                              <m:r>
                                <a:rPr lang="ru-RU" sz="2400" b="1" i="1" dirty="0" err="1">
                                  <a:latin typeface="Cambria Math" charset="0"/>
                                </a:rPr>
                                <m:t>𝒙</m:t>
                              </m:r>
                            </m:e>
                          </m:d>
                          <m:r>
                            <a:rPr lang="ru-RU" sz="2400" i="1" dirty="0">
                              <a:latin typeface="Cambria Math" charset="0"/>
                            </a:rPr>
                            <m:t>,</m:t>
                          </m:r>
                        </m:e>
                      </m:nary>
                      <m:r>
                        <a:rPr lang="ru-RU" sz="2400" i="1" dirty="0">
                          <a:latin typeface="Cambria Math" charset="0"/>
                        </a:rPr>
                        <m:t>𝑖</m:t>
                      </m:r>
                      <m:r>
                        <a:rPr lang="ru-RU" sz="2400" i="1" dirty="0">
                          <a:latin typeface="Cambria Math" charset="0"/>
                        </a:rPr>
                        <m:t>,</m:t>
                      </m:r>
                      <m:r>
                        <a:rPr lang="ru-RU" sz="2400" i="1" dirty="0">
                          <a:latin typeface="Cambria Math" charset="0"/>
                        </a:rPr>
                        <m:t>𝑗</m:t>
                      </m:r>
                      <m:r>
                        <a:rPr lang="ru-RU" sz="2400" i="1" dirty="0">
                          <a:latin typeface="Cambria Math" charset="0"/>
                        </a:rPr>
                        <m:t>=1,…,</m:t>
                      </m:r>
                      <m:r>
                        <a:rPr lang="ru-RU" sz="2400" i="1" dirty="0">
                          <a:latin typeface="Cambria Math" charset="0"/>
                        </a:rPr>
                        <m:t>𝑀</m:t>
                      </m:r>
                      <m:r>
                        <a:rPr lang="ru-RU" sz="2400" i="1" dirty="0">
                          <a:latin typeface="Cambria Math" charset="0"/>
                        </a:rPr>
                        <m:t>.</m:t>
                      </m:r>
                    </m:oMath>
                  </m:oMathPara>
                </a14:m>
                <a:endParaRPr lang="ru-RU" sz="2400" dirty="0" smtClean="0"/>
              </a:p>
              <a:p>
                <a:pPr indent="457200" algn="just"/>
                <a:r>
                  <a:rPr lang="ru-RU" sz="2400" dirty="0" smtClean="0"/>
                  <a:t>Исходя </a:t>
                </a:r>
                <a:r>
                  <a:rPr lang="ru-RU" sz="2400" dirty="0"/>
                  <a:t>из </a:t>
                </a:r>
                <a:r>
                  <a:rPr lang="ru-RU" sz="2400" b="1" dirty="0" smtClean="0">
                    <a:solidFill>
                      <a:schemeClr val="accent2">
                        <a:lumMod val="75000"/>
                      </a:schemeClr>
                    </a:solidFill>
                  </a:rPr>
                  <a:t>(4)</a:t>
                </a:r>
                <a:r>
                  <a:rPr lang="ru-RU" sz="2400" dirty="0" smtClean="0"/>
                  <a:t> </a:t>
                </a:r>
                <a:r>
                  <a:rPr lang="ru-RU" sz="2400" dirty="0"/>
                  <a:t>и </a:t>
                </a:r>
                <a:r>
                  <a:rPr lang="ru-RU" sz="2400" b="1" dirty="0" smtClean="0">
                    <a:solidFill>
                      <a:schemeClr val="accent2">
                        <a:lumMod val="75000"/>
                      </a:schemeClr>
                    </a:solidFill>
                  </a:rPr>
                  <a:t>(6)</a:t>
                </a:r>
                <a:r>
                  <a:rPr lang="ru-RU" sz="2400" dirty="0" smtClean="0"/>
                  <a:t>, </a:t>
                </a:r>
                <a:r>
                  <a:rPr lang="ru-RU" sz="2400" dirty="0"/>
                  <a:t>дискриминантная функция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a:latin typeface="Cambria Math" charset="0"/>
                      </a:rPr>
                      <m:t> </m:t>
                    </m:r>
                    <m:r>
                      <a:rPr lang="ru-RU" sz="2400" b="0" i="1" smtClean="0">
                        <a:latin typeface="Cambria Math" charset="0"/>
                      </a:rPr>
                      <m:t>(</m:t>
                    </m:r>
                    <m:r>
                      <a:rPr lang="ru-RU" sz="2400" b="0" i="1" smtClean="0">
                        <a:latin typeface="Cambria Math" charset="0"/>
                      </a:rPr>
                      <m:t>𝑥</m:t>
                    </m:r>
                    <m:r>
                      <a:rPr lang="ru-RU" sz="2400" b="0" i="1" smtClean="0">
                        <a:latin typeface="Cambria Math" charset="0"/>
                      </a:rPr>
                      <m:t>)</m:t>
                    </m:r>
                  </m:oMath>
                </a14:m>
                <a:r>
                  <a:rPr lang="ru-RU" sz="2400" dirty="0" smtClean="0"/>
                  <a:t> </a:t>
                </a:r>
                <a:r>
                  <a:rPr lang="ru-RU" sz="2400" dirty="0"/>
                  <a:t>при использовании нуль-</a:t>
                </a:r>
                <a:r>
                  <a:rPr lang="ru-RU" sz="2400" dirty="0" err="1"/>
                  <a:t>единичнои</a:t>
                </a:r>
                <a:r>
                  <a:rPr lang="ru-RU" sz="2400" dirty="0"/>
                  <a:t>̆ функции </a:t>
                </a:r>
                <a:r>
                  <a:rPr lang="ru-RU" sz="2400" dirty="0" smtClean="0"/>
                  <a:t>потерь: </a:t>
                </a:r>
                <a:endParaRPr lang="ru-RU" sz="2400" dirty="0"/>
              </a:p>
              <a:p>
                <a:pPr indent="457200" algn="just"/>
                <a14:m>
                  <m:oMathPara xmlns:m="http://schemas.openxmlformats.org/officeDocument/2006/math">
                    <m:oMathParaPr>
                      <m:jc m:val="centerGroup"/>
                    </m:oMathParaPr>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𝜙</m:t>
                          </m:r>
                        </m:e>
                        <m:sub>
                          <m:r>
                            <a:rPr lang="ru-RU" sz="2400" i="1">
                              <a:latin typeface="Cambria Math" charset="0"/>
                            </a:rPr>
                            <m:t>𝑖</m:t>
                          </m:r>
                        </m:sub>
                      </m:sSub>
                      <m:r>
                        <a:rPr lang="ru-RU" sz="2400" i="1">
                          <a:latin typeface="Cambria Math" charset="0"/>
                        </a:rPr>
                        <m:t> (</m:t>
                      </m:r>
                      <m:r>
                        <a:rPr lang="ru-RU" sz="2400" i="1">
                          <a:latin typeface="Cambria Math" charset="0"/>
                        </a:rPr>
                        <m:t>𝑥</m:t>
                      </m:r>
                      <m:r>
                        <a:rPr lang="ru-RU" sz="2400" i="1">
                          <a:latin typeface="Cambria Math" charset="0"/>
                        </a:rPr>
                        <m:t>)= </m:t>
                      </m:r>
                      <m:r>
                        <a:rPr lang="ru-RU" sz="2400" i="1" dirty="0" err="1">
                          <a:latin typeface="Cambria Math" charset="0"/>
                        </a:rPr>
                        <m:t>𝑝</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𝑖</m:t>
                          </m:r>
                        </m:sub>
                      </m:sSub>
                      <m:r>
                        <a:rPr lang="ru-RU" sz="2400" i="1" dirty="0">
                          <a:latin typeface="Cambria Math" charset="0"/>
                        </a:rPr>
                        <m:t>) </m:t>
                      </m:r>
                      <m:r>
                        <a:rPr lang="ru-RU" sz="2400" i="1" dirty="0" err="1">
                          <a:latin typeface="Cambria Math" charset="0"/>
                        </a:rPr>
                        <m:t>𝑝</m:t>
                      </m:r>
                      <m:r>
                        <a:rPr lang="ru-RU" sz="2400" i="1" dirty="0">
                          <a:latin typeface="Cambria Math" charset="0"/>
                        </a:rPr>
                        <m:t>( </m:t>
                      </m:r>
                      <m:r>
                        <a:rPr lang="ru-RU" sz="2400" b="1" i="1" dirty="0" err="1">
                          <a:latin typeface="Cambria Math" charset="0"/>
                        </a:rPr>
                        <m:t>𝒙</m:t>
                      </m:r>
                      <m:r>
                        <a:rPr lang="ru-RU"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𝑖</m:t>
                          </m:r>
                        </m:sub>
                      </m:sSub>
                      <m:r>
                        <a:rPr lang="ru-RU" sz="2400" i="1" dirty="0">
                          <a:latin typeface="Cambria Math" charset="0"/>
                        </a:rPr>
                        <m:t>), </m:t>
                      </m:r>
                      <m:r>
                        <a:rPr lang="ru-RU" sz="2400" b="0" i="1" dirty="0" smtClean="0">
                          <a:latin typeface="Cambria Math" charset="0"/>
                        </a:rPr>
                        <m:t>   </m:t>
                      </m:r>
                      <m:r>
                        <a:rPr lang="ru-RU" sz="2400" i="1" dirty="0" err="1">
                          <a:latin typeface="Cambria Math" charset="0"/>
                        </a:rPr>
                        <m:t>𝑖</m:t>
                      </m:r>
                      <m:r>
                        <a:rPr lang="ru-RU" sz="2400" i="1" dirty="0">
                          <a:latin typeface="Cambria Math" charset="0"/>
                        </a:rPr>
                        <m:t>, </m:t>
                      </m:r>
                      <m:r>
                        <a:rPr lang="ru-RU" sz="2400" i="1" dirty="0" err="1">
                          <a:latin typeface="Cambria Math" charset="0"/>
                        </a:rPr>
                        <m:t>𝑗</m:t>
                      </m:r>
                      <m:r>
                        <a:rPr lang="ru-RU" sz="2400" i="1" dirty="0">
                          <a:latin typeface="Cambria Math" charset="0"/>
                        </a:rPr>
                        <m:t> = 1, …, </m:t>
                      </m:r>
                      <m:r>
                        <a:rPr lang="ru-RU" sz="2400" i="1" dirty="0" err="1">
                          <a:latin typeface="Cambria Math" charset="0"/>
                        </a:rPr>
                        <m:t>𝑀</m:t>
                      </m:r>
                      <m:r>
                        <a:rPr lang="ru-RU" sz="2400" i="1" dirty="0">
                          <a:latin typeface="Cambria Math" charset="0"/>
                        </a:rPr>
                        <m:t>, </m:t>
                      </m:r>
                    </m:oMath>
                  </m:oMathPara>
                </a14:m>
                <a:endParaRPr lang="ru-RU" sz="2400" dirty="0" smtClean="0"/>
              </a:p>
              <a:p>
                <a:r>
                  <a:rPr lang="mr-IN" sz="2400" dirty="0" err="1"/>
                  <a:t>и</a:t>
                </a:r>
                <a:r>
                  <a:rPr lang="mr-IN" sz="2400" dirty="0"/>
                  <a:t> </a:t>
                </a:r>
                <a:r>
                  <a:rPr lang="mr-IN" sz="2400" dirty="0" err="1"/>
                  <a:t>согласно</a:t>
                </a:r>
                <a:r>
                  <a:rPr lang="mr-IN" sz="2400" b="1" dirty="0">
                    <a:solidFill>
                      <a:schemeClr val="accent2">
                        <a:lumMod val="75000"/>
                      </a:schemeClr>
                    </a:solidFill>
                  </a:rPr>
                  <a:t> </a:t>
                </a:r>
                <a:r>
                  <a:rPr lang="mr-IN" sz="2400" b="1" dirty="0" smtClean="0">
                    <a:solidFill>
                      <a:schemeClr val="accent2">
                        <a:lumMod val="75000"/>
                      </a:schemeClr>
                    </a:solidFill>
                  </a:rPr>
                  <a:t>(</a:t>
                </a:r>
                <a:r>
                  <a:rPr lang="ru-RU" sz="2400" b="1" dirty="0" smtClean="0">
                    <a:solidFill>
                      <a:schemeClr val="accent2">
                        <a:lumMod val="75000"/>
                      </a:schemeClr>
                    </a:solidFill>
                  </a:rPr>
                  <a:t>3</a:t>
                </a:r>
                <a:r>
                  <a:rPr lang="mr-IN" sz="2400" b="1" dirty="0" smtClean="0">
                    <a:solidFill>
                      <a:schemeClr val="accent2">
                        <a:lumMod val="75000"/>
                      </a:schemeClr>
                    </a:solidFill>
                  </a:rPr>
                  <a:t>) </a:t>
                </a:r>
                <a:r>
                  <a:rPr lang="mr-IN" sz="2400" dirty="0" err="1"/>
                  <a:t>и</a:t>
                </a:r>
                <a:r>
                  <a:rPr lang="mr-IN" sz="2400" dirty="0"/>
                  <a:t> </a:t>
                </a:r>
                <a:r>
                  <a:rPr lang="mr-IN" sz="2400" b="1" dirty="0" smtClean="0">
                    <a:solidFill>
                      <a:schemeClr val="accent2">
                        <a:lumMod val="75000"/>
                      </a:schemeClr>
                    </a:solidFill>
                  </a:rPr>
                  <a:t>(</a:t>
                </a:r>
                <a:r>
                  <a:rPr lang="ru-RU" sz="2400" b="1" dirty="0">
                    <a:solidFill>
                      <a:schemeClr val="accent2">
                        <a:lumMod val="75000"/>
                      </a:schemeClr>
                    </a:solidFill>
                  </a:rPr>
                  <a:t>7</a:t>
                </a:r>
                <a:r>
                  <a:rPr lang="mr-IN" sz="2400" b="1" dirty="0" smtClean="0">
                    <a:solidFill>
                      <a:schemeClr val="accent2">
                        <a:lumMod val="75000"/>
                      </a:schemeClr>
                    </a:solidFill>
                  </a:rPr>
                  <a:t>) </a:t>
                </a:r>
                <a:r>
                  <a:rPr lang="mr-IN" sz="2400" dirty="0" err="1"/>
                  <a:t>байесовское</a:t>
                </a:r>
                <a:r>
                  <a:rPr lang="mr-IN" sz="2400" dirty="0"/>
                  <a:t> </a:t>
                </a:r>
                <a:r>
                  <a:rPr lang="mr-IN" sz="2400" dirty="0" err="1"/>
                  <a:t>решающее</a:t>
                </a:r>
                <a:r>
                  <a:rPr lang="mr-IN" sz="2400" dirty="0"/>
                  <a:t> </a:t>
                </a:r>
                <a:r>
                  <a:rPr lang="mr-IN" sz="2400" dirty="0" err="1"/>
                  <a:t>правило</a:t>
                </a:r>
                <a:r>
                  <a:rPr lang="mr-IN" sz="2400" dirty="0"/>
                  <a:t> </a:t>
                </a:r>
                <a:r>
                  <a:rPr lang="mr-IN" sz="2400" dirty="0" err="1" smtClean="0"/>
                  <a:t>можно</a:t>
                </a:r>
                <a:r>
                  <a:rPr lang="mr-IN" sz="2400" dirty="0" smtClean="0"/>
                  <a:t> </a:t>
                </a:r>
                <a:r>
                  <a:rPr lang="mr-IN" sz="2400" dirty="0" err="1"/>
                  <a:t>записать</a:t>
                </a:r>
                <a:r>
                  <a:rPr lang="mr-IN" sz="2400" dirty="0"/>
                  <a:t>: </a:t>
                </a:r>
              </a:p>
              <a:p>
                <a:pPr/>
                <a14:m>
                  <m:oMathPara xmlns:m="http://schemas.openxmlformats.org/officeDocument/2006/math">
                    <m:oMathParaPr>
                      <m:jc m:val="centerGroup"/>
                    </m:oMathParaPr>
                    <m:oMath xmlns:m="http://schemas.openxmlformats.org/officeDocument/2006/math">
                      <m:r>
                        <a:rPr lang="mr-IN" sz="2400" b="1" i="1" dirty="0" err="1">
                          <a:latin typeface="Cambria Math" charset="0"/>
                        </a:rPr>
                        <m:t>𝒙</m:t>
                      </m:r>
                      <m:sSub>
                        <m:sSubPr>
                          <m:ctrlPr>
                            <a:rPr lang="en-US" sz="2400" i="1" dirty="0">
                              <a:latin typeface="Cambria Math" charset="0"/>
                            </a:rPr>
                          </m:ctrlPr>
                        </m:sSubPr>
                        <m:e>
                          <m:r>
                            <a:rPr lang="en-US" sz="2400" i="1" dirty="0" smtClean="0">
                              <a:latin typeface="Cambria Math" charset="0"/>
                              <a:ea typeface="Cambria Math" charset="0"/>
                              <a:cs typeface="Cambria Math" charset="0"/>
                            </a:rPr>
                            <m:t>∈</m:t>
                          </m:r>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𝑖</m:t>
                          </m:r>
                        </m:sub>
                      </m:sSub>
                      <m:r>
                        <a:rPr lang="mr-IN" sz="2400" i="1" dirty="0">
                          <a:latin typeface="Cambria Math" charset="0"/>
                        </a:rPr>
                        <m:t>, </m:t>
                      </m:r>
                      <m:r>
                        <a:rPr lang="mr-IN" sz="2400" i="1" dirty="0" err="1">
                          <a:latin typeface="Cambria Math" charset="0"/>
                        </a:rPr>
                        <m:t>если</m:t>
                      </m:r>
                      <m:r>
                        <a:rPr lang="mr-IN" sz="2400" i="1" dirty="0">
                          <a:latin typeface="Cambria Math" charset="0"/>
                        </a:rPr>
                        <m:t> </m:t>
                      </m:r>
                      <m:r>
                        <a:rPr lang="mr-IN" sz="2400" i="1" dirty="0" err="1">
                          <a:latin typeface="Cambria Math" charset="0"/>
                        </a:rPr>
                        <m:t>𝑝</m:t>
                      </m:r>
                      <m:r>
                        <a:rPr lang="mr-IN"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𝑖</m:t>
                          </m:r>
                        </m:sub>
                      </m:sSub>
                      <m:r>
                        <a:rPr lang="mr-IN" sz="2400" i="1" dirty="0">
                          <a:latin typeface="Cambria Math" charset="0"/>
                        </a:rPr>
                        <m:t>) </m:t>
                      </m:r>
                      <m:r>
                        <a:rPr lang="mr-IN" sz="2400" i="1" dirty="0" err="1">
                          <a:latin typeface="Cambria Math" charset="0"/>
                        </a:rPr>
                        <m:t>𝑝</m:t>
                      </m:r>
                      <m:r>
                        <a:rPr lang="mr-IN" sz="2400" i="1" dirty="0">
                          <a:latin typeface="Cambria Math" charset="0"/>
                        </a:rPr>
                        <m:t>( </m:t>
                      </m:r>
                      <m:r>
                        <a:rPr lang="mr-IN" sz="2400" b="1" i="1" dirty="0" err="1">
                          <a:latin typeface="Cambria Math" charset="0"/>
                        </a:rPr>
                        <m:t>𝒙</m:t>
                      </m:r>
                      <m:r>
                        <a:rPr lang="mr-IN"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𝑖</m:t>
                          </m:r>
                        </m:sub>
                      </m:sSub>
                      <m:r>
                        <a:rPr lang="mr-IN" sz="2400" i="1" dirty="0">
                          <a:latin typeface="Cambria Math" charset="0"/>
                        </a:rPr>
                        <m:t>) &gt; </m:t>
                      </m:r>
                      <m:r>
                        <a:rPr lang="mr-IN" sz="2400" i="1" dirty="0" err="1">
                          <a:latin typeface="Cambria Math" charset="0"/>
                        </a:rPr>
                        <m:t>𝑝</m:t>
                      </m:r>
                      <m:r>
                        <a:rPr lang="mr-IN"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r>
                        <a:rPr lang="mr-IN" sz="2400" i="1" dirty="0">
                          <a:latin typeface="Cambria Math" charset="0"/>
                        </a:rPr>
                        <m:t>) </m:t>
                      </m:r>
                      <m:r>
                        <a:rPr lang="mr-IN" sz="2400" i="1" dirty="0" err="1">
                          <a:latin typeface="Cambria Math" charset="0"/>
                        </a:rPr>
                        <m:t>𝑝</m:t>
                      </m:r>
                      <m:r>
                        <a:rPr lang="mr-IN" sz="2400" i="1" dirty="0">
                          <a:latin typeface="Cambria Math" charset="0"/>
                        </a:rPr>
                        <m:t>( </m:t>
                      </m:r>
                      <m:r>
                        <a:rPr lang="mr-IN" sz="2400" b="1" i="1" dirty="0" err="1">
                          <a:latin typeface="Cambria Math" charset="0"/>
                        </a:rPr>
                        <m:t>𝒙</m:t>
                      </m:r>
                      <m:r>
                        <a:rPr lang="mr-IN" sz="2400" i="1" dirty="0">
                          <a:latin typeface="Cambria Math" charset="0"/>
                        </a:rPr>
                        <m:t>|</m:t>
                      </m:r>
                      <m:sSub>
                        <m:sSubPr>
                          <m:ctrlPr>
                            <a:rPr lang="en-US" sz="2400" i="1" dirty="0">
                              <a:latin typeface="Cambria Math" charset="0"/>
                            </a:rPr>
                          </m:ctrlPr>
                        </m:sSubPr>
                        <m:e>
                          <m:r>
                            <a:rPr lang="en-US" sz="2400" i="1" dirty="0">
                              <a:latin typeface="Cambria Math" charset="0"/>
                              <a:ea typeface="Cambria Math" charset="0"/>
                              <a:cs typeface="Cambria Math" charset="0"/>
                            </a:rPr>
                            <m:t>𝜔</m:t>
                          </m:r>
                        </m:e>
                        <m:sub>
                          <m:r>
                            <a:rPr lang="ru-RU" sz="2400" i="1" dirty="0">
                              <a:latin typeface="Cambria Math" charset="0"/>
                              <a:ea typeface="Cambria Math" charset="0"/>
                              <a:cs typeface="Cambria Math" charset="0"/>
                            </a:rPr>
                            <m:t>𝑗</m:t>
                          </m:r>
                        </m:sub>
                      </m:sSub>
                      <m:r>
                        <a:rPr lang="mr-IN" sz="2400" i="1" dirty="0">
                          <a:latin typeface="Cambria Math" charset="0"/>
                        </a:rPr>
                        <m:t>), </m:t>
                      </m:r>
                      <m:r>
                        <a:rPr lang="ru-RU" sz="2400" b="0" i="1" dirty="0" smtClean="0">
                          <a:latin typeface="Cambria Math" charset="0"/>
                        </a:rPr>
                        <m:t> </m:t>
                      </m:r>
                      <m:r>
                        <a:rPr lang="mr-IN" sz="2400" i="1" dirty="0">
                          <a:latin typeface="Cambria Math" charset="0"/>
                        </a:rPr>
                        <m:t> </m:t>
                      </m:r>
                      <m:r>
                        <a:rPr lang="mr-IN" sz="2400" i="1" dirty="0" err="1">
                          <a:latin typeface="Cambria Math" charset="0"/>
                        </a:rPr>
                        <m:t>𝑖</m:t>
                      </m:r>
                      <m:r>
                        <a:rPr lang="mr-IN" sz="2400" i="1" dirty="0">
                          <a:latin typeface="Cambria Math" charset="0"/>
                        </a:rPr>
                        <m:t> </m:t>
                      </m:r>
                      <m:r>
                        <a:rPr lang="mr-IN" sz="2400" i="1" dirty="0" smtClean="0">
                          <a:latin typeface="Cambria Math" charset="0"/>
                          <a:ea typeface="Cambria Math" charset="0"/>
                          <a:cs typeface="Cambria Math" charset="0"/>
                        </a:rPr>
                        <m:t>≠</m:t>
                      </m:r>
                      <m:r>
                        <a:rPr lang="mr-IN" sz="2400" i="1" dirty="0" err="1">
                          <a:latin typeface="Cambria Math" charset="0"/>
                        </a:rPr>
                        <m:t>𝑗</m:t>
                      </m:r>
                      <m:r>
                        <a:rPr lang="mr-IN" sz="2400" i="1" dirty="0">
                          <a:latin typeface="Cambria Math" charset="0"/>
                        </a:rPr>
                        <m:t>.</m:t>
                      </m:r>
                      <m:r>
                        <a:rPr lang="mr-IN" sz="2400" i="1" dirty="0" smtClean="0">
                          <a:latin typeface="Cambria Math" charset="0"/>
                        </a:rPr>
                        <m:t>  </m:t>
                      </m:r>
                    </m:oMath>
                  </m:oMathPara>
                </a14:m>
                <a:endParaRPr lang="mr-IN" sz="2400" dirty="0"/>
              </a:p>
              <a:p>
                <a:pPr indent="457200" algn="just"/>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43100" y="685821"/>
                <a:ext cx="10248900" cy="5946564"/>
              </a:xfrm>
              <a:prstGeom prst="rect">
                <a:avLst/>
              </a:prstGeom>
              <a:blipFill rotWithShape="0">
                <a:blip r:embed="rId2"/>
                <a:stretch>
                  <a:fillRect l="-952" t="-1846" r="-892" b="-3282"/>
                </a:stretch>
              </a:blipFill>
            </p:spPr>
            <p:txBody>
              <a:bodyPr/>
              <a:lstStyle/>
              <a:p>
                <a:r>
                  <a:rPr lang="ru-RU">
                    <a:noFill/>
                  </a:rPr>
                  <a:t> </a:t>
                </a:r>
              </a:p>
            </p:txBody>
          </p:sp>
        </mc:Fallback>
      </mc:AlternateContent>
      <p:sp>
        <p:nvSpPr>
          <p:cNvPr id="5" name="TextBox 4"/>
          <p:cNvSpPr txBox="1"/>
          <p:nvPr/>
        </p:nvSpPr>
        <p:spPr>
          <a:xfrm>
            <a:off x="10994686" y="1050587"/>
            <a:ext cx="992222" cy="523220"/>
          </a:xfrm>
          <a:prstGeom prst="rect">
            <a:avLst/>
          </a:prstGeom>
          <a:noFill/>
        </p:spPr>
        <p:txBody>
          <a:bodyPr wrap="square" rtlCol="0">
            <a:spAutoFit/>
          </a:bodyPr>
          <a:lstStyle/>
          <a:p>
            <a:r>
              <a:rPr lang="ru-RU" sz="2800" b="1" smtClean="0">
                <a:solidFill>
                  <a:schemeClr val="accent2">
                    <a:lumMod val="75000"/>
                  </a:schemeClr>
                </a:solidFill>
              </a:rPr>
              <a:t>(4)</a:t>
            </a:r>
            <a:endParaRPr lang="ru-RU" sz="2800" b="1" dirty="0">
              <a:solidFill>
                <a:schemeClr val="accent2">
                  <a:lumMod val="75000"/>
                </a:schemeClr>
              </a:solidFill>
            </a:endParaRPr>
          </a:p>
        </p:txBody>
      </p:sp>
      <p:sp>
        <p:nvSpPr>
          <p:cNvPr id="6" name="TextBox 5"/>
          <p:cNvSpPr txBox="1"/>
          <p:nvPr/>
        </p:nvSpPr>
        <p:spPr>
          <a:xfrm>
            <a:off x="10102171" y="2455387"/>
            <a:ext cx="992222" cy="523220"/>
          </a:xfrm>
          <a:prstGeom prst="rect">
            <a:avLst/>
          </a:prstGeom>
          <a:noFill/>
        </p:spPr>
        <p:txBody>
          <a:bodyPr wrap="square" rtlCol="0">
            <a:spAutoFit/>
          </a:bodyPr>
          <a:lstStyle/>
          <a:p>
            <a:r>
              <a:rPr lang="ru-RU" sz="2800" b="1" dirty="0" smtClean="0">
                <a:solidFill>
                  <a:schemeClr val="accent2">
                    <a:lumMod val="75000"/>
                  </a:schemeClr>
                </a:solidFill>
              </a:rPr>
              <a:t>(5)</a:t>
            </a:r>
            <a:endParaRPr lang="ru-RU" sz="2800" b="1" dirty="0">
              <a:solidFill>
                <a:schemeClr val="accent2">
                  <a:lumMod val="75000"/>
                </a:schemeClr>
              </a:solidFill>
            </a:endParaRPr>
          </a:p>
        </p:txBody>
      </p:sp>
      <p:sp>
        <p:nvSpPr>
          <p:cNvPr id="8" name="TextBox 7"/>
          <p:cNvSpPr txBox="1"/>
          <p:nvPr/>
        </p:nvSpPr>
        <p:spPr>
          <a:xfrm>
            <a:off x="11163298" y="3579876"/>
            <a:ext cx="992222" cy="523220"/>
          </a:xfrm>
          <a:prstGeom prst="rect">
            <a:avLst/>
          </a:prstGeom>
          <a:noFill/>
        </p:spPr>
        <p:txBody>
          <a:bodyPr wrap="square" rtlCol="0">
            <a:spAutoFit/>
          </a:bodyPr>
          <a:lstStyle/>
          <a:p>
            <a:r>
              <a:rPr lang="ru-RU" sz="2800" b="1" smtClean="0">
                <a:solidFill>
                  <a:schemeClr val="accent2">
                    <a:lumMod val="75000"/>
                  </a:schemeClr>
                </a:solidFill>
              </a:rPr>
              <a:t>(6)</a:t>
            </a:r>
            <a:endParaRPr lang="ru-RU" sz="2800" b="1" dirty="0">
              <a:solidFill>
                <a:schemeClr val="accent2">
                  <a:lumMod val="75000"/>
                </a:schemeClr>
              </a:solidFill>
            </a:endParaRPr>
          </a:p>
        </p:txBody>
      </p:sp>
      <p:sp>
        <p:nvSpPr>
          <p:cNvPr id="9" name="TextBox 8"/>
          <p:cNvSpPr txBox="1"/>
          <p:nvPr/>
        </p:nvSpPr>
        <p:spPr>
          <a:xfrm>
            <a:off x="10171076" y="4984676"/>
            <a:ext cx="992222" cy="523220"/>
          </a:xfrm>
          <a:prstGeom prst="rect">
            <a:avLst/>
          </a:prstGeom>
          <a:noFill/>
        </p:spPr>
        <p:txBody>
          <a:bodyPr wrap="square" rtlCol="0">
            <a:spAutoFit/>
          </a:bodyPr>
          <a:lstStyle/>
          <a:p>
            <a:r>
              <a:rPr lang="ru-RU" sz="2800" b="1" smtClean="0">
                <a:solidFill>
                  <a:schemeClr val="accent2">
                    <a:lumMod val="75000"/>
                  </a:schemeClr>
                </a:solidFill>
              </a:rPr>
              <a:t>(7)</a:t>
            </a:r>
            <a:endParaRPr lang="ru-RU" sz="2800" b="1" dirty="0">
              <a:solidFill>
                <a:schemeClr val="accent2">
                  <a:lumMod val="75000"/>
                </a:schemeClr>
              </a:solidFill>
            </a:endParaRPr>
          </a:p>
        </p:txBody>
      </p:sp>
      <p:sp>
        <p:nvSpPr>
          <p:cNvPr id="10" name="TextBox 9"/>
          <p:cNvSpPr txBox="1"/>
          <p:nvPr/>
        </p:nvSpPr>
        <p:spPr>
          <a:xfrm>
            <a:off x="11490797" y="5585945"/>
            <a:ext cx="992222" cy="523220"/>
          </a:xfrm>
          <a:prstGeom prst="rect">
            <a:avLst/>
          </a:prstGeom>
          <a:noFill/>
        </p:spPr>
        <p:txBody>
          <a:bodyPr wrap="square" rtlCol="0">
            <a:spAutoFit/>
          </a:bodyPr>
          <a:lstStyle/>
          <a:p>
            <a:r>
              <a:rPr lang="ru-RU" sz="2800" b="1" dirty="0" smtClean="0">
                <a:solidFill>
                  <a:schemeClr val="accent2">
                    <a:lumMod val="75000"/>
                  </a:schemeClr>
                </a:solidFill>
              </a:rPr>
              <a:t>(</a:t>
            </a:r>
            <a:r>
              <a:rPr lang="en-US" sz="2800" b="1" dirty="0" smtClean="0">
                <a:solidFill>
                  <a:schemeClr val="accent2">
                    <a:lumMod val="75000"/>
                  </a:schemeClr>
                </a:solidFill>
              </a:rPr>
              <a:t>8</a:t>
            </a:r>
            <a:r>
              <a:rPr lang="ru-RU" sz="2800" b="1" dirty="0" smtClean="0">
                <a:solidFill>
                  <a:schemeClr val="accent2">
                    <a:lumMod val="75000"/>
                  </a:schemeClr>
                </a:solidFill>
              </a:rPr>
              <a:t>)</a:t>
            </a:r>
            <a:endParaRPr lang="ru-RU" sz="2800" b="1" dirty="0">
              <a:solidFill>
                <a:schemeClr val="accent2">
                  <a:lumMod val="75000"/>
                </a:schemeClr>
              </a:solidFill>
            </a:endParaRPr>
          </a:p>
        </p:txBody>
      </p:sp>
    </p:spTree>
    <p:extLst>
      <p:ext uri="{BB962C8B-B14F-4D97-AF65-F5344CB8AC3E}">
        <p14:creationId xmlns:p14="http://schemas.microsoft.com/office/powerpoint/2010/main" val="20571583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Постановка задачи классификации </a:t>
            </a:r>
          </a:p>
        </p:txBody>
      </p:sp>
      <mc:AlternateContent xmlns:mc="http://schemas.openxmlformats.org/markup-compatibility/2006" xmlns:a14="http://schemas.microsoft.com/office/drawing/2010/main">
        <mc:Choice Requires="a14">
          <p:sp>
            <p:nvSpPr>
              <p:cNvPr id="17" name="Прямоугольник 16"/>
              <p:cNvSpPr/>
              <p:nvPr/>
            </p:nvSpPr>
            <p:spPr>
              <a:xfrm>
                <a:off x="1943100" y="685821"/>
                <a:ext cx="10248900" cy="5513369"/>
              </a:xfrm>
              <a:prstGeom prst="rect">
                <a:avLst/>
              </a:prstGeom>
            </p:spPr>
            <p:txBody>
              <a:bodyPr wrap="square">
                <a:spAutoFit/>
              </a:bodyPr>
              <a:lstStyle/>
              <a:p>
                <a:pPr indent="457200" algn="just"/>
                <a:r>
                  <a:rPr lang="ru-RU" sz="2400" dirty="0" smtClean="0"/>
                  <a:t>При </a:t>
                </a:r>
                <a:r>
                  <a:rPr lang="ru-RU" sz="2400" i="1" dirty="0"/>
                  <a:t>параметрическом подходе </a:t>
                </a:r>
                <a:r>
                  <a:rPr lang="ru-RU" sz="2400" dirty="0" smtClean="0"/>
                  <a:t>в </a:t>
                </a:r>
                <a:r>
                  <a:rPr lang="ru-RU" sz="2400" dirty="0"/>
                  <a:t>случае гауссова распределения </a:t>
                </a:r>
                <a:r>
                  <a:rPr lang="ru-RU" sz="2400" dirty="0" smtClean="0"/>
                  <a:t>используется </a:t>
                </a:r>
                <a:r>
                  <a:rPr lang="ru-RU" sz="2400" dirty="0"/>
                  <a:t>оценка </a:t>
                </a:r>
                <a:r>
                  <a:rPr lang="ru-RU" sz="2400" dirty="0" smtClean="0"/>
                  <a:t>вида: </a:t>
                </a:r>
                <a:endParaRPr lang="ru-RU" sz="2400" dirty="0"/>
              </a:p>
              <a:p>
                <a:pPr indent="457200" algn="just"/>
                <a14:m>
                  <m:oMathPara xmlns:m="http://schemas.openxmlformats.org/officeDocument/2006/math">
                    <m:oMathParaPr>
                      <m:jc m:val="centerGroup"/>
                    </m:oMathParaPr>
                    <m:oMath xmlns:m="http://schemas.openxmlformats.org/officeDocument/2006/math">
                      <m:acc>
                        <m:accPr>
                          <m:chr m:val="̂"/>
                          <m:ctrlPr>
                            <a:rPr lang="ru-RU" sz="2400" i="1" smtClean="0">
                              <a:latin typeface="Cambria Math" charset="0"/>
                            </a:rPr>
                          </m:ctrlPr>
                        </m:accPr>
                        <m:e>
                          <m:r>
                            <a:rPr lang="en-US" sz="2400" b="0" i="1" smtClean="0">
                              <a:latin typeface="Cambria Math" charset="0"/>
                            </a:rPr>
                            <m:t>𝑝</m:t>
                          </m:r>
                        </m:e>
                      </m:acc>
                      <m:d>
                        <m:dPr>
                          <m:ctrlPr>
                            <a:rPr lang="en-US" sz="2400" b="0" i="1" smtClean="0">
                              <a:latin typeface="Cambria Math" charset="0"/>
                            </a:rPr>
                          </m:ctrlPr>
                        </m:dPr>
                        <m:e>
                          <m:r>
                            <a:rPr lang="en-US" sz="2400" b="0" i="1" smtClean="0">
                              <a:latin typeface="Cambria Math" charset="0"/>
                            </a:rPr>
                            <m:t>𝑥</m:t>
                          </m:r>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ea typeface="Cambria Math" charset="0"/>
                                  <a:cs typeface="Cambria Math" charset="0"/>
                                </a:rPr>
                                <m:t>𝜔</m:t>
                              </m:r>
                            </m:e>
                            <m:sub>
                              <m:r>
                                <a:rPr lang="en-US" sz="2400" b="0" i="1" smtClean="0">
                                  <a:latin typeface="Cambria Math" charset="0"/>
                                </a:rPr>
                                <m:t>𝑖</m:t>
                              </m:r>
                            </m:sub>
                          </m:sSub>
                        </m:e>
                      </m:d>
                      <m:r>
                        <a:rPr lang="en-US" sz="2400" b="0" i="1" smtClean="0">
                          <a:latin typeface="Cambria Math" charset="0"/>
                        </a:rPr>
                        <m:t>=</m:t>
                      </m:r>
                      <m:sSup>
                        <m:sSupPr>
                          <m:ctrlPr>
                            <a:rPr lang="en-US" sz="2400" b="0" i="1" smtClean="0">
                              <a:latin typeface="Cambria Math" charset="0"/>
                            </a:rPr>
                          </m:ctrlPr>
                        </m:sSupPr>
                        <m:e>
                          <m:r>
                            <a:rPr lang="en-US" sz="2400" b="0" i="1" smtClean="0">
                              <a:latin typeface="Cambria Math" charset="0"/>
                            </a:rPr>
                            <m:t>(2</m:t>
                          </m:r>
                          <m:r>
                            <a:rPr lang="en-US" sz="2400" b="0" i="1" smtClean="0">
                              <a:latin typeface="Cambria Math" charset="0"/>
                              <a:ea typeface="Cambria Math" charset="0"/>
                              <a:cs typeface="Cambria Math" charset="0"/>
                            </a:rPr>
                            <m:t>𝜋</m:t>
                          </m:r>
                          <m:r>
                            <a:rPr lang="en-US" sz="2400" b="0" i="1" smtClean="0">
                              <a:latin typeface="Cambria Math" charset="0"/>
                              <a:ea typeface="Cambria Math" charset="0"/>
                              <a:cs typeface="Cambria Math" charset="0"/>
                            </a:rPr>
                            <m:t>)</m:t>
                          </m:r>
                        </m:e>
                        <m:sup>
                          <m:r>
                            <a:rPr lang="en-US" sz="2400" b="0" i="1" smtClean="0">
                              <a:latin typeface="Cambria Math" charset="0"/>
                            </a:rPr>
                            <m:t>−</m:t>
                          </m:r>
                          <m:r>
                            <a:rPr lang="en-US" sz="2400" b="0" i="1" smtClean="0">
                              <a:latin typeface="Cambria Math" charset="0"/>
                            </a:rPr>
                            <m:t>𝑃</m:t>
                          </m:r>
                          <m:r>
                            <a:rPr lang="en-US" sz="2400" b="0" i="1" smtClean="0">
                              <a:latin typeface="Cambria Math" charset="0"/>
                            </a:rPr>
                            <m:t>/2</m:t>
                          </m:r>
                        </m:sup>
                      </m:sSup>
                      <m:sSup>
                        <m:sSupPr>
                          <m:ctrlPr>
                            <a:rPr lang="en-US" sz="2400" b="0" i="1" smtClean="0">
                              <a:latin typeface="Cambria Math" charset="0"/>
                            </a:rPr>
                          </m:ctrlPr>
                        </m:sSupPr>
                        <m:e>
                          <m:d>
                            <m:dPr>
                              <m:begChr m:val="|"/>
                              <m:endChr m:val="|"/>
                              <m:ctrlPr>
                                <a:rPr lang="hr-HR" sz="2400" b="0" i="1" smtClean="0">
                                  <a:latin typeface="Cambria Math" charset="0"/>
                                </a:rPr>
                              </m:ctrlPr>
                            </m:dPr>
                            <m:e>
                              <m:sSub>
                                <m:sSubPr>
                                  <m:ctrlPr>
                                    <a:rPr lang="en-US" sz="2400" b="0" i="1" smtClean="0">
                                      <a:latin typeface="Cambria Math" charset="0"/>
                                      <a:ea typeface="Cambria Math" charset="0"/>
                                      <a:cs typeface="Cambria Math" charset="0"/>
                                    </a:rPr>
                                  </m:ctrlPr>
                                </m:sSubPr>
                                <m:e>
                                  <m:r>
                                    <m:rPr>
                                      <m:sty m:val="p"/>
                                    </m:rPr>
                                    <a:rPr lang="el-GR" sz="2400" i="1">
                                      <a:latin typeface="Cambria Math" charset="0"/>
                                      <a:ea typeface="Cambria Math" charset="0"/>
                                      <a:cs typeface="Cambria Math" charset="0"/>
                                    </a:rPr>
                                    <m:t>Σ</m:t>
                                  </m:r>
                                </m:e>
                                <m:sub>
                                  <m:r>
                                    <a:rPr lang="en-US" sz="2400" b="0" i="1" smtClean="0">
                                      <a:latin typeface="Cambria Math" charset="0"/>
                                      <a:ea typeface="Cambria Math" charset="0"/>
                                      <a:cs typeface="Cambria Math" charset="0"/>
                                    </a:rPr>
                                    <m:t>𝑖</m:t>
                                  </m:r>
                                </m:sub>
                              </m:sSub>
                            </m:e>
                          </m:d>
                        </m:e>
                        <m:sup>
                          <m:r>
                            <a:rPr lang="en-US" sz="2400" b="0" i="1" smtClean="0">
                              <a:latin typeface="Cambria Math" charset="0"/>
                            </a:rPr>
                            <m:t>−1/2</m:t>
                          </m:r>
                        </m:sup>
                      </m:sSup>
                      <m:sSup>
                        <m:sSupPr>
                          <m:ctrlPr>
                            <a:rPr lang="en-US" sz="2400" b="0" i="1" smtClean="0">
                              <a:latin typeface="Cambria Math" charset="0"/>
                            </a:rPr>
                          </m:ctrlPr>
                        </m:sSupPr>
                        <m:e>
                          <m:r>
                            <a:rPr lang="en-US" sz="2400" b="0" i="1" smtClean="0">
                              <a:latin typeface="Cambria Math" charset="0"/>
                            </a:rPr>
                            <m:t>𝑒</m:t>
                          </m:r>
                        </m:e>
                        <m:sup>
                          <m:r>
                            <a:rPr lang="en-US" sz="2400" b="0" i="1" smtClean="0">
                              <a:latin typeface="Cambria Math" charset="0"/>
                            </a:rPr>
                            <m:t>−1/2</m:t>
                          </m:r>
                          <m:sSup>
                            <m:sSupPr>
                              <m:ctrlPr>
                                <a:rPr lang="en-US" sz="2400" b="0" i="1" smtClean="0">
                                  <a:latin typeface="Cambria Math" charset="0"/>
                                  <a:ea typeface="Cambria Math" charset="0"/>
                                  <a:cs typeface="Cambria Math" charset="0"/>
                                </a:rPr>
                              </m:ctrlPr>
                            </m:sSupPr>
                            <m:e>
                              <m:r>
                                <a:rPr lang="en-US" sz="2400" i="1" smtClean="0">
                                  <a:latin typeface="Cambria Math" charset="0"/>
                                </a:rPr>
                                <m:t>(</m:t>
                              </m:r>
                              <m:r>
                                <a:rPr lang="en-US" sz="2400" i="1" smtClean="0">
                                  <a:latin typeface="Cambria Math" charset="0"/>
                                </a:rPr>
                                <m:t>𝑥</m:t>
                              </m:r>
                              <m:r>
                                <a:rPr lang="en-US" sz="2400" i="1" smtClean="0">
                                  <a:latin typeface="Cambria Math" charset="0"/>
                                </a:rPr>
                                <m:t>−</m:t>
                              </m:r>
                              <m:sSub>
                                <m:sSubPr>
                                  <m:ctrlPr>
                                    <a:rPr lang="en-US" sz="2400" i="1">
                                      <a:latin typeface="Cambria Math" charset="0"/>
                                      <a:ea typeface="Cambria Math" charset="0"/>
                                      <a:cs typeface="Cambria Math" charset="0"/>
                                    </a:rPr>
                                  </m:ctrlPr>
                                </m:sSubPr>
                                <m:e>
                                  <m:acc>
                                    <m:accPr>
                                      <m:chr m:val="̂"/>
                                      <m:ctrlPr>
                                        <a:rPr lang="en-US" sz="2400" i="1">
                                          <a:latin typeface="Cambria Math" charset="0"/>
                                          <a:ea typeface="Cambria Math" charset="0"/>
                                          <a:cs typeface="Cambria Math" charset="0"/>
                                        </a:rPr>
                                      </m:ctrlPr>
                                    </m:accPr>
                                    <m:e>
                                      <m:r>
                                        <a:rPr lang="en-US" sz="2400" i="1">
                                          <a:latin typeface="Cambria Math" charset="0"/>
                                          <a:ea typeface="Cambria Math" charset="0"/>
                                          <a:cs typeface="Cambria Math" charset="0"/>
                                        </a:rPr>
                                        <m:t>𝜇</m:t>
                                      </m:r>
                                    </m:e>
                                  </m:acc>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e>
                            <m:sup>
                              <m:r>
                                <a:rPr lang="en-US" sz="2400" b="0" i="1" smtClean="0">
                                  <a:latin typeface="Cambria Math" charset="0"/>
                                  <a:ea typeface="Cambria Math" charset="0"/>
                                  <a:cs typeface="Cambria Math" charset="0"/>
                                </a:rPr>
                                <m:t>𝑡</m:t>
                              </m:r>
                            </m:sup>
                          </m:sSup>
                          <m:sSubSup>
                            <m:sSubSupPr>
                              <m:ctrlPr>
                                <a:rPr lang="en-US" sz="2400" b="0" i="1" smtClean="0">
                                  <a:latin typeface="Cambria Math" charset="0"/>
                                  <a:ea typeface="Cambria Math" charset="0"/>
                                  <a:cs typeface="Cambria Math" charset="0"/>
                                </a:rPr>
                              </m:ctrlPr>
                            </m:sSubSupPr>
                            <m:e>
                              <m:r>
                                <a:rPr lang="en-US" sz="2400" b="0" i="1" smtClean="0">
                                  <a:latin typeface="Cambria Math" charset="0"/>
                                  <a:ea typeface="Cambria Math" charset="0"/>
                                  <a:cs typeface="Cambria Math" charset="0"/>
                                </a:rPr>
                                <m:t> </m:t>
                              </m:r>
                              <m:r>
                                <m:rPr>
                                  <m:sty m:val="p"/>
                                </m:rPr>
                                <a:rPr lang="el-GR" sz="2400" b="0" i="1" smtClean="0">
                                  <a:latin typeface="Cambria Math" charset="0"/>
                                  <a:ea typeface="Cambria Math" charset="0"/>
                                  <a:cs typeface="Cambria Math" charset="0"/>
                                </a:rPr>
                                <m:t>Σ</m:t>
                              </m:r>
                            </m:e>
                            <m:sub>
                              <m:r>
                                <a:rPr lang="en-US" sz="2400" b="0" i="1" smtClean="0">
                                  <a:latin typeface="Cambria Math" charset="0"/>
                                  <a:ea typeface="Cambria Math" charset="0"/>
                                  <a:cs typeface="Cambria Math" charset="0"/>
                                </a:rPr>
                                <m:t>𝑖</m:t>
                              </m:r>
                            </m:sub>
                            <m:sup>
                              <m:r>
                                <a:rPr lang="en-US" sz="2400" b="0" i="1" smtClean="0">
                                  <a:latin typeface="Cambria Math" charset="0"/>
                                  <a:ea typeface="Cambria Math" charset="0"/>
                                  <a:cs typeface="Cambria Math" charset="0"/>
                                </a:rPr>
                                <m:t>−1</m:t>
                              </m:r>
                            </m:sup>
                          </m:sSubSup>
                          <m:r>
                            <a:rPr lang="en-US" sz="2400" i="1">
                              <a:latin typeface="Cambria Math" charset="0"/>
                            </a:rPr>
                            <m:t>(</m:t>
                          </m:r>
                          <m:r>
                            <a:rPr lang="en-US" sz="2400" i="1">
                              <a:latin typeface="Cambria Math" charset="0"/>
                            </a:rPr>
                            <m:t>𝑥</m:t>
                          </m:r>
                          <m:r>
                            <a:rPr lang="en-US" sz="2400" i="1">
                              <a:latin typeface="Cambria Math" charset="0"/>
                            </a:rPr>
                            <m:t>−</m:t>
                          </m:r>
                          <m:sSub>
                            <m:sSubPr>
                              <m:ctrlPr>
                                <a:rPr lang="en-US" sz="2400" i="1">
                                  <a:latin typeface="Cambria Math" charset="0"/>
                                  <a:ea typeface="Cambria Math" charset="0"/>
                                  <a:cs typeface="Cambria Math" charset="0"/>
                                </a:rPr>
                              </m:ctrlPr>
                            </m:sSubPr>
                            <m:e>
                              <m:acc>
                                <m:accPr>
                                  <m:chr m:val="̂"/>
                                  <m:ctrlPr>
                                    <a:rPr lang="en-US" sz="2400" i="1">
                                      <a:latin typeface="Cambria Math" charset="0"/>
                                      <a:ea typeface="Cambria Math" charset="0"/>
                                      <a:cs typeface="Cambria Math" charset="0"/>
                                    </a:rPr>
                                  </m:ctrlPr>
                                </m:accPr>
                                <m:e>
                                  <m:r>
                                    <a:rPr lang="en-US" sz="2400" i="1">
                                      <a:latin typeface="Cambria Math" charset="0"/>
                                      <a:ea typeface="Cambria Math" charset="0"/>
                                      <a:cs typeface="Cambria Math" charset="0"/>
                                    </a:rPr>
                                    <m:t>𝜇</m:t>
                                  </m:r>
                                </m:e>
                              </m:acc>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sup>
                      </m:sSup>
                      <m:r>
                        <a:rPr lang="en-US" sz="2400" b="0" i="1" smtClean="0">
                          <a:latin typeface="Cambria Math" charset="0"/>
                        </a:rPr>
                        <m:t>,</m:t>
                      </m:r>
                      <m:r>
                        <a:rPr lang="ru-RU" sz="2400" i="1" dirty="0" smtClean="0">
                          <a:latin typeface="Cambria Math" charset="0"/>
                        </a:rPr>
                        <m:t>𝑖</m:t>
                      </m:r>
                      <m:r>
                        <a:rPr lang="ru-RU" sz="2400" i="1" dirty="0" smtClean="0">
                          <a:latin typeface="Cambria Math" charset="0"/>
                        </a:rPr>
                        <m:t> = 1, …, </m:t>
                      </m:r>
                      <m:r>
                        <a:rPr lang="ru-RU" sz="2400" i="1" dirty="0" err="1">
                          <a:latin typeface="Cambria Math" charset="0"/>
                        </a:rPr>
                        <m:t>𝑀</m:t>
                      </m:r>
                      <m:r>
                        <a:rPr lang="en-US" sz="2400" b="0" i="0" dirty="0" smtClean="0">
                          <a:latin typeface="Cambria Math" charset="0"/>
                        </a:rPr>
                        <m:t>,</m:t>
                      </m:r>
                    </m:oMath>
                  </m:oMathPara>
                </a14:m>
                <a:endParaRPr lang="en-US" sz="2400" dirty="0" smtClean="0"/>
              </a:p>
              <a:p>
                <a:pPr indent="457200" algn="just"/>
                <a:r>
                  <a:rPr lang="ru-RU" sz="2400" dirty="0" smtClean="0"/>
                  <a:t>где </a:t>
                </a:r>
                <a14:m>
                  <m:oMath xmlns:m="http://schemas.openxmlformats.org/officeDocument/2006/math">
                    <m:sSub>
                      <m:sSubPr>
                        <m:ctrlPr>
                          <a:rPr lang="en-US" sz="2400" i="1">
                            <a:latin typeface="Cambria Math" charset="0"/>
                            <a:ea typeface="Cambria Math" charset="0"/>
                            <a:cs typeface="Cambria Math" charset="0"/>
                          </a:rPr>
                        </m:ctrlPr>
                      </m:sSubPr>
                      <m:e>
                        <m:acc>
                          <m:accPr>
                            <m:chr m:val="̂"/>
                            <m:ctrlPr>
                              <a:rPr lang="en-US" sz="2400" i="1">
                                <a:latin typeface="Cambria Math" charset="0"/>
                                <a:ea typeface="Cambria Math" charset="0"/>
                                <a:cs typeface="Cambria Math" charset="0"/>
                              </a:rPr>
                            </m:ctrlPr>
                          </m:accPr>
                          <m:e>
                            <m:r>
                              <a:rPr lang="en-US" sz="2400" i="1">
                                <a:latin typeface="Cambria Math" charset="0"/>
                                <a:ea typeface="Cambria Math" charset="0"/>
                                <a:cs typeface="Cambria Math" charset="0"/>
                              </a:rPr>
                              <m:t>𝜇</m:t>
                            </m:r>
                          </m:e>
                        </m:acc>
                      </m:e>
                      <m:sub>
                        <m:r>
                          <a:rPr lang="en-US" sz="2400" i="1">
                            <a:latin typeface="Cambria Math" charset="0"/>
                            <a:ea typeface="Cambria Math" charset="0"/>
                            <a:cs typeface="Cambria Math" charset="0"/>
                          </a:rPr>
                          <m:t>𝑖</m:t>
                        </m:r>
                      </m:sub>
                    </m:sSub>
                  </m:oMath>
                </a14:m>
                <a:r>
                  <a:rPr lang="ru-RU" sz="2400" i="1" dirty="0" smtClean="0"/>
                  <a:t> </a:t>
                </a:r>
                <a:r>
                  <a:rPr lang="ru-RU" sz="2400" dirty="0"/>
                  <a:t>– </a:t>
                </a:r>
                <a:r>
                  <a:rPr lang="ru-RU" sz="2400" dirty="0" smtClean="0"/>
                  <a:t>оценка выборочного вектора </a:t>
                </a:r>
                <a:r>
                  <a:rPr lang="ru-RU" sz="2400" dirty="0"/>
                  <a:t>средних типа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oMath>
                </a14:m>
                <a:r>
                  <a:rPr lang="ru-RU" sz="2400" dirty="0" smtClean="0"/>
                  <a:t>; </a:t>
                </a:r>
                <a14:m>
                  <m:oMath xmlns:m="http://schemas.openxmlformats.org/officeDocument/2006/math">
                    <m:sSub>
                      <m:sSubPr>
                        <m:ctrlPr>
                          <a:rPr lang="en-US" sz="2400" i="1">
                            <a:latin typeface="Cambria Math" charset="0"/>
                            <a:ea typeface="Cambria Math" charset="0"/>
                            <a:cs typeface="Cambria Math" charset="0"/>
                          </a:rPr>
                        </m:ctrlPr>
                      </m:sSubPr>
                      <m:e>
                        <m:r>
                          <m:rPr>
                            <m:sty m:val="p"/>
                          </m:rPr>
                          <a:rPr lang="el-GR" sz="2400" i="1">
                            <a:latin typeface="Cambria Math" charset="0"/>
                            <a:ea typeface="Cambria Math" charset="0"/>
                            <a:cs typeface="Cambria Math" charset="0"/>
                          </a:rPr>
                          <m:t>Σ</m:t>
                        </m:r>
                      </m:e>
                      <m:sub>
                        <m:r>
                          <a:rPr lang="en-US" sz="2400" i="1">
                            <a:latin typeface="Cambria Math" charset="0"/>
                            <a:ea typeface="Cambria Math" charset="0"/>
                            <a:cs typeface="Cambria Math" charset="0"/>
                          </a:rPr>
                          <m:t>𝑖</m:t>
                        </m:r>
                      </m:sub>
                    </m:sSub>
                  </m:oMath>
                </a14:m>
                <a:r>
                  <a:rPr lang="ru-RU" sz="2400" i="1" dirty="0" smtClean="0"/>
                  <a:t> </a:t>
                </a:r>
                <a:r>
                  <a:rPr lang="ru-RU" sz="2400" dirty="0"/>
                  <a:t>– выборочная </a:t>
                </a:r>
                <a:r>
                  <a:rPr lang="ru-RU" sz="2400" dirty="0" smtClean="0"/>
                  <a:t>ковариационная </a:t>
                </a:r>
                <a:r>
                  <a:rPr lang="ru-RU" sz="2400" dirty="0"/>
                  <a:t>матрица типа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oMath>
                </a14:m>
                <a:r>
                  <a:rPr lang="ru-RU" sz="2400" dirty="0" smtClean="0"/>
                  <a:t>; </a:t>
                </a:r>
                <a:r>
                  <a:rPr lang="ru-RU" sz="2400" i="1" dirty="0" err="1"/>
                  <a:t>P</a:t>
                </a:r>
                <a:r>
                  <a:rPr lang="ru-RU" sz="2400" i="1" dirty="0"/>
                  <a:t> </a:t>
                </a:r>
                <a:r>
                  <a:rPr lang="ru-RU" sz="2400" dirty="0"/>
                  <a:t>– количество признаков; </a:t>
                </a:r>
                <a14:m>
                  <m:oMath xmlns:m="http://schemas.openxmlformats.org/officeDocument/2006/math">
                    <m:d>
                      <m:dPr>
                        <m:begChr m:val="|"/>
                        <m:endChr m:val="|"/>
                        <m:ctrlPr>
                          <a:rPr lang="hr-HR" sz="2400" i="1">
                            <a:latin typeface="Cambria Math" charset="0"/>
                          </a:rPr>
                        </m:ctrlPr>
                      </m:dPr>
                      <m:e>
                        <m:sSub>
                          <m:sSubPr>
                            <m:ctrlPr>
                              <a:rPr lang="en-US" sz="2400" i="1">
                                <a:latin typeface="Cambria Math" charset="0"/>
                                <a:ea typeface="Cambria Math" charset="0"/>
                                <a:cs typeface="Cambria Math" charset="0"/>
                              </a:rPr>
                            </m:ctrlPr>
                          </m:sSubPr>
                          <m:e>
                            <m:r>
                              <m:rPr>
                                <m:sty m:val="p"/>
                              </m:rPr>
                              <a:rPr lang="el-GR" sz="2400" i="1">
                                <a:latin typeface="Cambria Math" charset="0"/>
                                <a:ea typeface="Cambria Math" charset="0"/>
                                <a:cs typeface="Cambria Math" charset="0"/>
                              </a:rPr>
                              <m:t>Σ</m:t>
                            </m:r>
                          </m:e>
                          <m:sub>
                            <m:r>
                              <a:rPr lang="en-US" sz="2400" i="1">
                                <a:latin typeface="Cambria Math" charset="0"/>
                                <a:ea typeface="Cambria Math" charset="0"/>
                                <a:cs typeface="Cambria Math" charset="0"/>
                              </a:rPr>
                              <m:t>𝑖</m:t>
                            </m:r>
                          </m:sub>
                        </m:sSub>
                      </m:e>
                    </m:d>
                  </m:oMath>
                </a14:m>
                <a:r>
                  <a:rPr lang="ru-RU" sz="2400" dirty="0"/>
                  <a:t> – </a:t>
                </a:r>
                <a:r>
                  <a:rPr lang="ru-RU" sz="2400" dirty="0" smtClean="0"/>
                  <a:t>детерминант </a:t>
                </a:r>
                <a:r>
                  <a:rPr lang="ru-RU" sz="2400" dirty="0" err="1"/>
                  <a:t>выборочнои</a:t>
                </a:r>
                <a:r>
                  <a:rPr lang="ru-RU" sz="2400" dirty="0"/>
                  <a:t>̆ </a:t>
                </a:r>
                <a:r>
                  <a:rPr lang="ru-RU" sz="2400" dirty="0" err="1"/>
                  <a:t>ковариационнои</a:t>
                </a:r>
                <a:r>
                  <a:rPr lang="ru-RU" sz="2400" dirty="0"/>
                  <a:t>̆ матрицы типа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oMath>
                </a14:m>
                <a:r>
                  <a:rPr lang="ru-RU" sz="2400" dirty="0"/>
                  <a:t>; </a:t>
                </a:r>
                <a14:m>
                  <m:oMath xmlns:m="http://schemas.openxmlformats.org/officeDocument/2006/math">
                    <m:sSubSup>
                      <m:sSubSupPr>
                        <m:ctrlPr>
                          <a:rPr lang="en-US" sz="2400" i="1">
                            <a:latin typeface="Cambria Math" charset="0"/>
                            <a:ea typeface="Cambria Math" charset="0"/>
                            <a:cs typeface="Cambria Math" charset="0"/>
                          </a:rPr>
                        </m:ctrlPr>
                      </m:sSubSupPr>
                      <m:e>
                        <m:r>
                          <a:rPr lang="en-US" sz="2400" i="1">
                            <a:latin typeface="Cambria Math" charset="0"/>
                            <a:ea typeface="Cambria Math" charset="0"/>
                            <a:cs typeface="Cambria Math" charset="0"/>
                          </a:rPr>
                          <m:t> </m:t>
                        </m:r>
                        <m:r>
                          <m:rPr>
                            <m:sty m:val="p"/>
                          </m:rPr>
                          <a:rPr lang="el-GR" sz="2400" i="1">
                            <a:latin typeface="Cambria Math" charset="0"/>
                            <a:ea typeface="Cambria Math" charset="0"/>
                            <a:cs typeface="Cambria Math" charset="0"/>
                          </a:rPr>
                          <m:t>Σ</m:t>
                        </m:r>
                      </m:e>
                      <m:sub>
                        <m:r>
                          <a:rPr lang="en-US" sz="2400" i="1">
                            <a:latin typeface="Cambria Math" charset="0"/>
                            <a:ea typeface="Cambria Math" charset="0"/>
                            <a:cs typeface="Cambria Math" charset="0"/>
                          </a:rPr>
                          <m:t>𝑖</m:t>
                        </m:r>
                      </m:sub>
                      <m:sup>
                        <m:r>
                          <a:rPr lang="en-US" sz="2400" i="1">
                            <a:latin typeface="Cambria Math" charset="0"/>
                            <a:ea typeface="Cambria Math" charset="0"/>
                            <a:cs typeface="Cambria Math" charset="0"/>
                          </a:rPr>
                          <m:t>−1</m:t>
                        </m:r>
                      </m:sup>
                    </m:sSubSup>
                  </m:oMath>
                </a14:m>
                <a:r>
                  <a:rPr lang="ru-RU" sz="2400" dirty="0"/>
                  <a:t>– </a:t>
                </a:r>
                <a:r>
                  <a:rPr lang="ru-RU" sz="2400" dirty="0" smtClean="0"/>
                  <a:t>обратная </a:t>
                </a:r>
                <a:r>
                  <a:rPr lang="ru-RU" sz="2400" dirty="0"/>
                  <a:t>выборочная ковариационная матрица типа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oMath>
                </a14:m>
                <a:r>
                  <a:rPr lang="ru-RU" sz="2400" dirty="0" smtClean="0"/>
                  <a:t>. </a:t>
                </a:r>
                <a:r>
                  <a:rPr lang="ru-RU" sz="2400" dirty="0"/>
                  <a:t>При этом вычисление </a:t>
                </a:r>
                <a:r>
                  <a:rPr lang="ru-RU" sz="2400" dirty="0" err="1"/>
                  <a:t>априорнои</a:t>
                </a:r>
                <a:r>
                  <a:rPr lang="ru-RU" sz="2400" dirty="0"/>
                  <a:t>̆ вероятности </a:t>
                </a:r>
                <a14:m>
                  <m:oMath xmlns:m="http://schemas.openxmlformats.org/officeDocument/2006/math">
                    <m:r>
                      <a:rPr lang="ru-RU" sz="2400" i="1" dirty="0" smtClean="0">
                        <a:latin typeface="Cambria Math" charset="0"/>
                      </a:rPr>
                      <m:t>𝑝</m:t>
                    </m:r>
                    <m:r>
                      <a:rPr lang="ru-RU" sz="2400" i="1" dirty="0" smtClean="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r>
                      <a:rPr lang="ru-RU" sz="2400" i="1" dirty="0" smtClean="0">
                        <a:latin typeface="Cambria Math" charset="0"/>
                      </a:rPr>
                      <m:t>) </m:t>
                    </m:r>
                  </m:oMath>
                </a14:m>
                <a:r>
                  <a:rPr lang="ru-RU" sz="2400" dirty="0"/>
                  <a:t>в выражении </a:t>
                </a:r>
                <a:r>
                  <a:rPr lang="ru-RU" sz="2400" b="1" dirty="0">
                    <a:solidFill>
                      <a:schemeClr val="accent2">
                        <a:lumMod val="75000"/>
                      </a:schemeClr>
                    </a:solidFill>
                  </a:rPr>
                  <a:t>(</a:t>
                </a:r>
                <a:r>
                  <a:rPr lang="ru-RU" sz="2400" b="1" dirty="0" smtClean="0">
                    <a:solidFill>
                      <a:schemeClr val="accent2">
                        <a:lumMod val="75000"/>
                      </a:schemeClr>
                    </a:solidFill>
                  </a:rPr>
                  <a:t>3) </a:t>
                </a:r>
                <a:r>
                  <a:rPr lang="ru-RU" sz="2400" dirty="0" smtClean="0"/>
                  <a:t>производится </a:t>
                </a:r>
                <a:r>
                  <a:rPr lang="ru-RU" sz="2400" dirty="0"/>
                  <a:t>с помощью простых способов, в которых </a:t>
                </a:r>
                <a14:m>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r>
                      <a:rPr lang="ru-RU" sz="2400" i="1" dirty="0">
                        <a:latin typeface="Cambria Math" charset="0"/>
                      </a:rPr>
                      <m:t>) </m:t>
                    </m:r>
                  </m:oMath>
                </a14:m>
                <a:r>
                  <a:rPr lang="ru-RU" sz="2400" dirty="0" smtClean="0"/>
                  <a:t>принимается </a:t>
                </a:r>
                <a:r>
                  <a:rPr lang="ru-RU" sz="2400" dirty="0" err="1"/>
                  <a:t>равнои</a:t>
                </a:r>
                <a:r>
                  <a:rPr lang="ru-RU" sz="2400" dirty="0"/>
                  <a:t>̆ для всех классов:</a:t>
                </a:r>
                <a:br>
                  <a:rPr lang="ru-RU" sz="2400" dirty="0"/>
                </a:br>
                <a14:m>
                  <m:oMathPara xmlns:m="http://schemas.openxmlformats.org/officeDocument/2006/math">
                    <m:oMathParaPr>
                      <m:jc m:val="centerGroup"/>
                    </m:oMathParaPr>
                    <m:oMath xmlns:m="http://schemas.openxmlformats.org/officeDocument/2006/math">
                      <m:r>
                        <a:rPr lang="ru-RU" sz="2400" i="1" dirty="0" smtClean="0">
                          <a:latin typeface="Cambria Math" charset="0"/>
                        </a:rPr>
                        <m:t>𝑝</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r>
                        <a:rPr lang="ru-RU" sz="2400" i="1" dirty="0">
                          <a:latin typeface="Cambria Math" charset="0"/>
                        </a:rPr>
                        <m:t>) = </m:t>
                      </m:r>
                      <m:r>
                        <a:rPr lang="ru-RU" sz="2400" i="1" dirty="0" err="1">
                          <a:latin typeface="Cambria Math" charset="0"/>
                        </a:rPr>
                        <m:t>𝑝</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b="0" i="1" smtClean="0">
                              <a:latin typeface="Cambria Math" charset="0"/>
                              <a:ea typeface="Cambria Math" charset="0"/>
                              <a:cs typeface="Cambria Math" charset="0"/>
                            </a:rPr>
                            <m:t>𝑗</m:t>
                          </m:r>
                        </m:sub>
                      </m:sSub>
                      <m:r>
                        <a:rPr lang="ru-RU" sz="2400" i="1" dirty="0">
                          <a:latin typeface="Cambria Math" charset="0"/>
                        </a:rPr>
                        <m:t>)</m:t>
                      </m:r>
                      <m:r>
                        <a:rPr lang="en-US" sz="2400" b="0" i="1" dirty="0" smtClean="0">
                          <a:latin typeface="Cambria Math" charset="0"/>
                        </a:rPr>
                        <m:t>,</m:t>
                      </m:r>
                      <m:r>
                        <a:rPr lang="ru-RU" sz="2400" i="1" dirty="0">
                          <a:latin typeface="Cambria Math" charset="0"/>
                        </a:rPr>
                        <m:t> </m:t>
                      </m:r>
                      <m:r>
                        <a:rPr lang="en-US" sz="2400" b="0" i="1" dirty="0" smtClean="0">
                          <a:latin typeface="Cambria Math" charset="0"/>
                        </a:rPr>
                        <m:t> </m:t>
                      </m:r>
                      <m:r>
                        <a:rPr lang="en-US" sz="2400" b="0" i="1" dirty="0" smtClean="0">
                          <a:latin typeface="Cambria Math" charset="0"/>
                          <a:ea typeface="Cambria Math" charset="0"/>
                          <a:cs typeface="Cambria Math" charset="0"/>
                        </a:rPr>
                        <m:t>∀</m:t>
                      </m:r>
                      <m:r>
                        <a:rPr lang="ru-RU" sz="2400" i="1" dirty="0" err="1">
                          <a:latin typeface="Cambria Math" charset="0"/>
                        </a:rPr>
                        <m:t>𝑖</m:t>
                      </m:r>
                      <m:r>
                        <a:rPr lang="ru-RU" sz="2400" i="1" dirty="0">
                          <a:latin typeface="Cambria Math" charset="0"/>
                        </a:rPr>
                        <m:t>, </m:t>
                      </m:r>
                      <m:r>
                        <a:rPr lang="ru-RU" sz="2400" i="1" dirty="0" err="1">
                          <a:latin typeface="Cambria Math" charset="0"/>
                        </a:rPr>
                        <m:t>𝑗</m:t>
                      </m:r>
                      <m:r>
                        <a:rPr lang="ru-RU" sz="2400" i="1" dirty="0">
                          <a:latin typeface="Cambria Math" charset="0"/>
                        </a:rPr>
                        <m:t> = 1, …, </m:t>
                      </m:r>
                      <m:r>
                        <a:rPr lang="ru-RU" sz="2400" i="1" dirty="0" err="1">
                          <a:latin typeface="Cambria Math" charset="0"/>
                        </a:rPr>
                        <m:t>𝑀</m:t>
                      </m:r>
                      <m:r>
                        <a:rPr lang="ru-RU" sz="2400" i="1" dirty="0">
                          <a:latin typeface="Cambria Math" charset="0"/>
                        </a:rPr>
                        <m:t>, </m:t>
                      </m:r>
                    </m:oMath>
                  </m:oMathPara>
                </a14:m>
                <a:endParaRPr lang="ru-RU" sz="2400" dirty="0" smtClean="0"/>
              </a:p>
              <a:p>
                <a:pPr indent="457200" algn="just"/>
                <a:r>
                  <a:rPr lang="ru-RU" sz="2400" dirty="0" smtClean="0"/>
                  <a:t>либо </a:t>
                </a:r>
                <a:r>
                  <a:rPr lang="ru-RU" sz="2400" dirty="0" err="1"/>
                  <a:t>пропорциональнои</a:t>
                </a:r>
                <a:r>
                  <a:rPr lang="ru-RU" sz="2400" dirty="0"/>
                  <a:t>̆ размеру имеющихся обучающих данных: </a:t>
                </a:r>
              </a:p>
              <a:p>
                <a:pPr indent="457200" algn="just"/>
                <a14:m>
                  <m:oMathPara xmlns:m="http://schemas.openxmlformats.org/officeDocument/2006/math">
                    <m:oMathParaPr>
                      <m:jc m:val="centerGroup"/>
                    </m:oMathParaPr>
                    <m:oMath xmlns:m="http://schemas.openxmlformats.org/officeDocument/2006/math">
                      <m:r>
                        <a:rPr lang="ru-RU" sz="2400" i="1" dirty="0">
                          <a:latin typeface="Cambria Math" charset="0"/>
                        </a:rPr>
                        <m:t>𝑝</m:t>
                      </m:r>
                      <m:r>
                        <a:rPr lang="ru-RU" sz="2400" i="1" dirty="0">
                          <a:latin typeface="Cambria Math" charset="0"/>
                        </a:rPr>
                        <m:t>(</m:t>
                      </m:r>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i="1">
                              <a:latin typeface="Cambria Math" charset="0"/>
                            </a:rPr>
                            <m:t>𝑖</m:t>
                          </m:r>
                        </m:sub>
                      </m:sSub>
                      <m:r>
                        <a:rPr lang="ru-RU" sz="2400" i="1" dirty="0">
                          <a:latin typeface="Cambria Math" charset="0"/>
                        </a:rPr>
                        <m:t>) = </m:t>
                      </m:r>
                      <m:f>
                        <m:fPr>
                          <m:ctrlPr>
                            <a:rPr lang="mr-IN" sz="2400" i="1" dirty="0" smtClean="0">
                              <a:latin typeface="Cambria Math" charset="0"/>
                            </a:rPr>
                          </m:ctrlPr>
                        </m:fPr>
                        <m:num>
                          <m:sSub>
                            <m:sSubPr>
                              <m:ctrlPr>
                                <a:rPr lang="en-US" sz="2400" i="1" dirty="0" smtClean="0">
                                  <a:latin typeface="Cambria Math" charset="0"/>
                                </a:rPr>
                              </m:ctrlPr>
                            </m:sSubPr>
                            <m:e>
                              <m:r>
                                <a:rPr lang="en-US" sz="2400" b="0" i="1" dirty="0" smtClean="0">
                                  <a:latin typeface="Cambria Math" charset="0"/>
                                </a:rPr>
                                <m:t>𝑁</m:t>
                              </m:r>
                            </m:e>
                            <m:sub>
                              <m:r>
                                <a:rPr lang="en-US" sz="2400" b="0" i="1" dirty="0" smtClean="0">
                                  <a:latin typeface="Cambria Math" charset="0"/>
                                </a:rPr>
                                <m:t>𝑖</m:t>
                              </m:r>
                            </m:sub>
                          </m:sSub>
                        </m:num>
                        <m:den>
                          <m:nary>
                            <m:naryPr>
                              <m:chr m:val="∑"/>
                              <m:ctrlPr>
                                <a:rPr lang="is-IS" sz="2400" i="1" dirty="0" smtClean="0">
                                  <a:latin typeface="Cambria Math" charset="0"/>
                                </a:rPr>
                              </m:ctrlPr>
                            </m:naryPr>
                            <m:sub>
                              <m:r>
                                <m:rPr>
                                  <m:brk m:alnAt="23"/>
                                </m:rPr>
                                <a:rPr lang="en-US" sz="2400" b="0" i="1" dirty="0" smtClean="0">
                                  <a:latin typeface="Cambria Math" charset="0"/>
                                </a:rPr>
                                <m:t>𝑘</m:t>
                              </m:r>
                              <m:r>
                                <a:rPr lang="en-US" sz="2400" b="0" i="1" dirty="0" smtClean="0">
                                  <a:latin typeface="Cambria Math" charset="0"/>
                                </a:rPr>
                                <m:t>=1</m:t>
                              </m:r>
                            </m:sub>
                            <m:sup>
                              <m:r>
                                <a:rPr lang="en-US" sz="2400" b="0" i="1" dirty="0" smtClean="0">
                                  <a:latin typeface="Cambria Math" charset="0"/>
                                </a:rPr>
                                <m:t>𝑀</m:t>
                              </m:r>
                            </m:sup>
                            <m:e>
                              <m:sSub>
                                <m:sSubPr>
                                  <m:ctrlPr>
                                    <a:rPr lang="en-US" sz="2400" i="1" dirty="0" smtClean="0">
                                      <a:latin typeface="Cambria Math" charset="0"/>
                                    </a:rPr>
                                  </m:ctrlPr>
                                </m:sSubPr>
                                <m:e>
                                  <m:r>
                                    <a:rPr lang="en-US" sz="2400" b="0" i="1" dirty="0" smtClean="0">
                                      <a:latin typeface="Cambria Math" charset="0"/>
                                    </a:rPr>
                                    <m:t>𝑁</m:t>
                                  </m:r>
                                </m:e>
                                <m:sub>
                                  <m:r>
                                    <a:rPr lang="en-US" sz="2400" b="0" i="1" dirty="0" smtClean="0">
                                      <a:latin typeface="Cambria Math" charset="0"/>
                                    </a:rPr>
                                    <m:t>𝑘</m:t>
                                  </m:r>
                                </m:sub>
                              </m:sSub>
                            </m:e>
                          </m:nary>
                        </m:den>
                      </m:f>
                      <m:r>
                        <a:rPr lang="en-US" sz="2400" b="0" i="1" dirty="0" smtClean="0">
                          <a:latin typeface="Cambria Math" charset="0"/>
                        </a:rPr>
                        <m:t>,  </m:t>
                      </m:r>
                      <m:r>
                        <a:rPr lang="ru-RU" sz="2400" i="1" dirty="0">
                          <a:latin typeface="Cambria Math" charset="0"/>
                        </a:rPr>
                        <m:t>𝑖</m:t>
                      </m:r>
                      <m:r>
                        <a:rPr lang="ru-RU" sz="2400" i="1" dirty="0">
                          <a:latin typeface="Cambria Math" charset="0"/>
                        </a:rPr>
                        <m:t>= 1, …, </m:t>
                      </m:r>
                      <m:r>
                        <a:rPr lang="ru-RU" sz="2400" i="1" dirty="0" err="1">
                          <a:latin typeface="Cambria Math" charset="0"/>
                        </a:rPr>
                        <m:t>𝑀</m:t>
                      </m:r>
                      <m:r>
                        <a:rPr lang="ru-RU" sz="2400" i="1" dirty="0">
                          <a:latin typeface="Cambria Math" charset="0"/>
                        </a:rPr>
                        <m:t>,</m:t>
                      </m:r>
                    </m:oMath>
                  </m:oMathPara>
                </a14:m>
                <a:r>
                  <a:rPr lang="ru-RU" sz="2400" dirty="0"/>
                  <a:t/>
                </a:r>
                <a:br>
                  <a:rPr lang="ru-RU" sz="2400" dirty="0"/>
                </a:br>
                <a:r>
                  <a:rPr lang="ru-RU" sz="2400" dirty="0"/>
                  <a:t>где </a:t>
                </a:r>
                <a14:m>
                  <m:oMath xmlns:m="http://schemas.openxmlformats.org/officeDocument/2006/math">
                    <m:sSub>
                      <m:sSubPr>
                        <m:ctrlPr>
                          <a:rPr lang="en-US" sz="2400" i="1" dirty="0">
                            <a:latin typeface="Cambria Math" charset="0"/>
                          </a:rPr>
                        </m:ctrlPr>
                      </m:sSubPr>
                      <m:e>
                        <m:r>
                          <a:rPr lang="en-US" sz="2400" i="1" dirty="0">
                            <a:latin typeface="Cambria Math" charset="0"/>
                          </a:rPr>
                          <m:t>𝑁</m:t>
                        </m:r>
                      </m:e>
                      <m:sub>
                        <m:r>
                          <a:rPr lang="en-US" sz="2400" i="1" dirty="0">
                            <a:latin typeface="Cambria Math" charset="0"/>
                          </a:rPr>
                          <m:t>𝑘</m:t>
                        </m:r>
                      </m:sub>
                    </m:sSub>
                  </m:oMath>
                </a14:m>
                <a:r>
                  <a:rPr lang="ru-RU" sz="2400" dirty="0" smtClean="0"/>
                  <a:t>– размер </a:t>
                </a:r>
                <a:r>
                  <a:rPr lang="ru-RU" sz="2400" dirty="0" err="1"/>
                  <a:t>обучающеи</a:t>
                </a:r>
                <a:r>
                  <a:rPr lang="ru-RU" sz="2400" dirty="0"/>
                  <a:t>̆ выборки, </a:t>
                </a:r>
                <a:r>
                  <a:rPr lang="ru-RU" sz="2400" dirty="0" err="1"/>
                  <a:t>соответствующии</a:t>
                </a:r>
                <a:r>
                  <a:rPr lang="ru-RU" sz="2400" dirty="0"/>
                  <a:t>̆ </a:t>
                </a:r>
                <a:r>
                  <a:rPr lang="ru-RU" sz="2400" dirty="0" smtClean="0"/>
                  <a:t>типу </a:t>
                </a:r>
                <a14:m>
                  <m:oMath xmlns:m="http://schemas.openxmlformats.org/officeDocument/2006/math">
                    <m:sSub>
                      <m:sSubPr>
                        <m:ctrlPr>
                          <a:rPr lang="en-US" sz="2400" i="1">
                            <a:latin typeface="Cambria Math" charset="0"/>
                          </a:rPr>
                        </m:ctrlPr>
                      </m:sSubPr>
                      <m:e>
                        <m:r>
                          <a:rPr lang="en-US" sz="2400" i="1">
                            <a:latin typeface="Cambria Math" charset="0"/>
                            <a:ea typeface="Cambria Math" charset="0"/>
                            <a:cs typeface="Cambria Math" charset="0"/>
                          </a:rPr>
                          <m:t>𝜔</m:t>
                        </m:r>
                      </m:e>
                      <m:sub>
                        <m:r>
                          <a:rPr lang="en-US" sz="2400" b="0" i="1" smtClean="0">
                            <a:latin typeface="Cambria Math" charset="0"/>
                            <a:ea typeface="Cambria Math" charset="0"/>
                            <a:cs typeface="Cambria Math" charset="0"/>
                          </a:rPr>
                          <m:t>𝑘</m:t>
                        </m:r>
                      </m:sub>
                    </m:sSub>
                  </m:oMath>
                </a14:m>
                <a:r>
                  <a:rPr lang="ru-RU" sz="2400" dirty="0" smtClean="0"/>
                  <a:t>. </a:t>
                </a:r>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43100" y="685821"/>
                <a:ext cx="10248900" cy="5513369"/>
              </a:xfrm>
              <a:prstGeom prst="rect">
                <a:avLst/>
              </a:prstGeom>
              <a:blipFill rotWithShape="0">
                <a:blip r:embed="rId2"/>
                <a:stretch>
                  <a:fillRect l="-952" t="-885" r="-892"/>
                </a:stretch>
              </a:blipFill>
            </p:spPr>
            <p:txBody>
              <a:bodyPr/>
              <a:lstStyle/>
              <a:p>
                <a:r>
                  <a:rPr lang="ru-RU">
                    <a:noFill/>
                  </a:rPr>
                  <a:t> </a:t>
                </a:r>
              </a:p>
            </p:txBody>
          </p:sp>
        </mc:Fallback>
      </mc:AlternateContent>
      <p:sp>
        <p:nvSpPr>
          <p:cNvPr id="4" name="TextBox 3"/>
          <p:cNvSpPr txBox="1"/>
          <p:nvPr/>
        </p:nvSpPr>
        <p:spPr>
          <a:xfrm>
            <a:off x="11374066" y="1410461"/>
            <a:ext cx="992222" cy="523220"/>
          </a:xfrm>
          <a:prstGeom prst="rect">
            <a:avLst/>
          </a:prstGeom>
          <a:noFill/>
        </p:spPr>
        <p:txBody>
          <a:bodyPr wrap="square" rtlCol="0">
            <a:spAutoFit/>
          </a:bodyPr>
          <a:lstStyle/>
          <a:p>
            <a:r>
              <a:rPr lang="ru-RU" sz="2800" b="1" dirty="0" smtClean="0">
                <a:solidFill>
                  <a:schemeClr val="accent2">
                    <a:lumMod val="75000"/>
                  </a:schemeClr>
                </a:solidFill>
              </a:rPr>
              <a:t>(</a:t>
            </a:r>
            <a:r>
              <a:rPr lang="en-US" sz="2800" b="1" dirty="0">
                <a:solidFill>
                  <a:schemeClr val="accent2">
                    <a:lumMod val="75000"/>
                  </a:schemeClr>
                </a:solidFill>
              </a:rPr>
              <a:t>9</a:t>
            </a:r>
            <a:r>
              <a:rPr lang="ru-RU" sz="2800" b="1" dirty="0" smtClean="0">
                <a:solidFill>
                  <a:schemeClr val="accent2">
                    <a:lumMod val="75000"/>
                  </a:schemeClr>
                </a:solidFill>
              </a:rPr>
              <a:t>)</a:t>
            </a:r>
            <a:endParaRPr lang="ru-RU" sz="2800" b="1" dirty="0">
              <a:solidFill>
                <a:schemeClr val="accent2">
                  <a:lumMod val="75000"/>
                </a:schemeClr>
              </a:solidFill>
            </a:endParaRPr>
          </a:p>
        </p:txBody>
      </p:sp>
      <p:sp>
        <p:nvSpPr>
          <p:cNvPr id="5" name="TextBox 4"/>
          <p:cNvSpPr txBox="1"/>
          <p:nvPr/>
        </p:nvSpPr>
        <p:spPr>
          <a:xfrm>
            <a:off x="10790811" y="4068430"/>
            <a:ext cx="992222" cy="523220"/>
          </a:xfrm>
          <a:prstGeom prst="rect">
            <a:avLst/>
          </a:prstGeom>
          <a:noFill/>
        </p:spPr>
        <p:txBody>
          <a:bodyPr wrap="square" rtlCol="0">
            <a:spAutoFit/>
          </a:bodyPr>
          <a:lstStyle/>
          <a:p>
            <a:r>
              <a:rPr lang="ru-RU" sz="2800" b="1" dirty="0" smtClean="0">
                <a:solidFill>
                  <a:schemeClr val="accent2">
                    <a:lumMod val="75000"/>
                  </a:schemeClr>
                </a:solidFill>
              </a:rPr>
              <a:t>(</a:t>
            </a:r>
            <a:r>
              <a:rPr lang="en-US" sz="2800" b="1" dirty="0" smtClean="0">
                <a:solidFill>
                  <a:schemeClr val="accent2">
                    <a:lumMod val="75000"/>
                  </a:schemeClr>
                </a:solidFill>
              </a:rPr>
              <a:t>10</a:t>
            </a:r>
            <a:r>
              <a:rPr lang="ru-RU" sz="2800" b="1" dirty="0" smtClean="0">
                <a:solidFill>
                  <a:schemeClr val="accent2">
                    <a:lumMod val="75000"/>
                  </a:schemeClr>
                </a:solidFill>
              </a:rPr>
              <a:t>)</a:t>
            </a:r>
            <a:endParaRPr lang="ru-RU" sz="2800" b="1" dirty="0">
              <a:solidFill>
                <a:schemeClr val="accent2">
                  <a:lumMod val="75000"/>
                </a:schemeClr>
              </a:solidFill>
            </a:endParaRPr>
          </a:p>
        </p:txBody>
      </p:sp>
      <p:sp>
        <p:nvSpPr>
          <p:cNvPr id="6" name="TextBox 5"/>
          <p:cNvSpPr txBox="1"/>
          <p:nvPr/>
        </p:nvSpPr>
        <p:spPr>
          <a:xfrm>
            <a:off x="10890520" y="5054680"/>
            <a:ext cx="992222" cy="523220"/>
          </a:xfrm>
          <a:prstGeom prst="rect">
            <a:avLst/>
          </a:prstGeom>
          <a:noFill/>
        </p:spPr>
        <p:txBody>
          <a:bodyPr wrap="square" rtlCol="0">
            <a:spAutoFit/>
          </a:bodyPr>
          <a:lstStyle/>
          <a:p>
            <a:r>
              <a:rPr lang="ru-RU" sz="2800" b="1" dirty="0" smtClean="0">
                <a:solidFill>
                  <a:schemeClr val="accent2">
                    <a:lumMod val="75000"/>
                  </a:schemeClr>
                </a:solidFill>
              </a:rPr>
              <a:t>(</a:t>
            </a:r>
            <a:r>
              <a:rPr lang="en-US" sz="2800" b="1" dirty="0" smtClean="0">
                <a:solidFill>
                  <a:schemeClr val="accent2">
                    <a:lumMod val="75000"/>
                  </a:schemeClr>
                </a:solidFill>
              </a:rPr>
              <a:t>11</a:t>
            </a:r>
            <a:r>
              <a:rPr lang="ru-RU" sz="2800" b="1" dirty="0" smtClean="0">
                <a:solidFill>
                  <a:schemeClr val="accent2">
                    <a:lumMod val="75000"/>
                  </a:schemeClr>
                </a:solidFill>
              </a:rPr>
              <a:t>)</a:t>
            </a:r>
            <a:endParaRPr lang="ru-RU" sz="2800" b="1" dirty="0">
              <a:solidFill>
                <a:schemeClr val="accent2">
                  <a:lumMod val="75000"/>
                </a:schemeClr>
              </a:solidFill>
            </a:endParaRPr>
          </a:p>
        </p:txBody>
      </p:sp>
    </p:spTree>
    <p:extLst>
      <p:ext uri="{BB962C8B-B14F-4D97-AF65-F5344CB8AC3E}">
        <p14:creationId xmlns:p14="http://schemas.microsoft.com/office/powerpoint/2010/main" val="18317389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1943100" y="685821"/>
                <a:ext cx="10248900" cy="1569660"/>
              </a:xfrm>
              <a:prstGeom prst="rect">
                <a:avLst/>
              </a:prstGeom>
            </p:spPr>
            <p:txBody>
              <a:bodyPr wrap="square">
                <a:spAutoFit/>
              </a:bodyPr>
              <a:lstStyle/>
              <a:p>
                <a:pPr indent="457200" algn="just"/>
                <a:r>
                  <a:rPr lang="ru-RU" sz="2400" i="1" dirty="0"/>
                  <a:t>Метод </a:t>
                </a:r>
                <a:r>
                  <a:rPr lang="ru-RU" sz="2400" i="1" dirty="0" err="1"/>
                  <a:t>k</a:t>
                </a:r>
                <a:r>
                  <a:rPr lang="ru-RU" sz="2400" i="1" dirty="0"/>
                  <a:t> ближайших соседей (</a:t>
                </a:r>
                <a:r>
                  <a:rPr lang="ru-RU" sz="2400" i="1" dirty="0" err="1"/>
                  <a:t>kNN</a:t>
                </a:r>
                <a:r>
                  <a:rPr lang="ru-RU" sz="2400" i="1" dirty="0"/>
                  <a:t>, </a:t>
                </a:r>
                <a:r>
                  <a:rPr lang="ru-RU" sz="2400" i="1" dirty="0" err="1"/>
                  <a:t>k</a:t>
                </a:r>
                <a:r>
                  <a:rPr lang="ru-RU" sz="2400" i="1" dirty="0"/>
                  <a:t> </a:t>
                </a:r>
                <a:r>
                  <a:rPr lang="ru-RU" sz="2400" i="1" dirty="0" err="1"/>
                  <a:t>Nearest</a:t>
                </a:r>
                <a:r>
                  <a:rPr lang="ru-RU" sz="2400" i="1" dirty="0"/>
                  <a:t> </a:t>
                </a:r>
                <a:r>
                  <a:rPr lang="ru-RU" sz="2400" i="1" dirty="0" err="1"/>
                  <a:t>Neighbours</a:t>
                </a:r>
                <a:r>
                  <a:rPr lang="ru-RU" sz="2400" i="1" dirty="0"/>
                  <a:t>) </a:t>
                </a:r>
                <a:r>
                  <a:rPr lang="ru-RU" sz="2400" dirty="0"/>
                  <a:t>— это алгоритм классификации, в котором для повышения надежности решения объект относится к тому классу, который наиболее часто встречается среди его </a:t>
                </a:r>
                <a14:m>
                  <m:oMath xmlns:m="http://schemas.openxmlformats.org/officeDocument/2006/math">
                    <m:r>
                      <a:rPr lang="ru-RU" sz="2400" i="1">
                        <a:latin typeface="Cambria Math" charset="0"/>
                      </a:rPr>
                      <m:t>𝑘</m:t>
                    </m:r>
                  </m:oMath>
                </a14:m>
                <a:r>
                  <a:rPr lang="ru-RU" sz="2400" dirty="0"/>
                  <a:t> ближайших соседей в обучающей выборке. </a:t>
                </a: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43100" y="685821"/>
                <a:ext cx="10248900" cy="1569660"/>
              </a:xfrm>
              <a:prstGeom prst="rect">
                <a:avLst/>
              </a:prstGeom>
              <a:blipFill rotWithShape="0">
                <a:blip r:embed="rId2"/>
                <a:stretch>
                  <a:fillRect l="-952" t="-3113" r="-892" b="-8171"/>
                </a:stretch>
              </a:blipFill>
            </p:spPr>
            <p:txBody>
              <a:bodyPr/>
              <a:lstStyle/>
              <a:p>
                <a:r>
                  <a:rPr lang="ru-RU">
                    <a:noFill/>
                  </a:rPr>
                  <a:t> </a:t>
                </a:r>
              </a:p>
            </p:txBody>
          </p:sp>
        </mc:Fallback>
      </mc:AlternateContent>
      <p:pic>
        <p:nvPicPr>
          <p:cNvPr id="8" name="Рисунок 5" descr="SimpleKnnExample.png"/>
          <p:cNvPicPr/>
          <p:nvPr/>
        </p:nvPicPr>
        <p:blipFill>
          <a:blip r:embed="rId3">
            <a:extLst>
              <a:ext uri="{28A0092B-C50C-407E-A947-70E740481C1C}">
                <a14:useLocalDpi xmlns:a14="http://schemas.microsoft.com/office/drawing/2010/main" val="0"/>
              </a:ext>
            </a:extLst>
          </a:blip>
          <a:srcRect/>
          <a:stretch>
            <a:fillRect/>
          </a:stretch>
        </p:blipFill>
        <p:spPr bwMode="auto">
          <a:xfrm>
            <a:off x="2791895" y="2327778"/>
            <a:ext cx="7925724" cy="4130112"/>
          </a:xfrm>
          <a:prstGeom prst="rect">
            <a:avLst/>
          </a:prstGeom>
          <a:noFill/>
          <a:ln>
            <a:noFill/>
          </a:ln>
        </p:spPr>
      </p:pic>
      <p:sp>
        <p:nvSpPr>
          <p:cNvPr id="2" name="Прямоугольник 1"/>
          <p:cNvSpPr/>
          <p:nvPr/>
        </p:nvSpPr>
        <p:spPr>
          <a:xfrm>
            <a:off x="3714022" y="6457890"/>
            <a:ext cx="6279283" cy="400110"/>
          </a:xfrm>
          <a:prstGeom prst="rect">
            <a:avLst/>
          </a:prstGeom>
        </p:spPr>
        <p:txBody>
          <a:bodyPr wrap="none">
            <a:spAutoFit/>
          </a:bodyPr>
          <a:lstStyle/>
          <a:p>
            <a:r>
              <a:rPr lang="ru-RU" sz="2000" i="1" dirty="0">
                <a:latin typeface="Times" charset="0"/>
                <a:ea typeface="Calibri" charset="0"/>
                <a:cs typeface="Times New Roman" charset="0"/>
              </a:rPr>
              <a:t>Рис. </a:t>
            </a:r>
            <a:r>
              <a:rPr lang="ru-RU" sz="2000" i="1" dirty="0" smtClean="0">
                <a:latin typeface="Times" charset="0"/>
                <a:ea typeface="Calibri" charset="0"/>
                <a:cs typeface="Times New Roman" charset="0"/>
              </a:rPr>
              <a:t> </a:t>
            </a:r>
            <a:r>
              <a:rPr lang="ru-RU" sz="2000" i="1" dirty="0">
                <a:solidFill>
                  <a:srgbClr val="2C2D2E"/>
                </a:solidFill>
                <a:latin typeface="Times" charset="0"/>
                <a:ea typeface="Calibri" charset="0"/>
                <a:cs typeface="Times New Roman" charset="0"/>
              </a:rPr>
              <a:t>Классификация, методом 5 ближайших соседей </a:t>
            </a:r>
            <a:endParaRPr lang="ru-RU" sz="2000" dirty="0"/>
          </a:p>
        </p:txBody>
      </p:sp>
    </p:spTree>
    <p:extLst>
      <p:ext uri="{BB962C8B-B14F-4D97-AF65-F5344CB8AC3E}">
        <p14:creationId xmlns:p14="http://schemas.microsoft.com/office/powerpoint/2010/main" val="15025326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1" y="685821"/>
                <a:ext cx="12191999" cy="6102504"/>
              </a:xfrm>
              <a:prstGeom prst="rect">
                <a:avLst/>
              </a:prstGeom>
              <a:solidFill>
                <a:schemeClr val="bg1"/>
              </a:solidFill>
            </p:spPr>
            <p:txBody>
              <a:bodyPr wrap="square">
                <a:spAutoFit/>
              </a:bodyPr>
              <a:lstStyle/>
              <a:p>
                <a:r>
                  <a:rPr lang="ru-RU" sz="2400" dirty="0"/>
                  <a:t>Алгоритм</a:t>
                </a:r>
                <a14:m>
                  <m:oMath xmlns:m="http://schemas.openxmlformats.org/officeDocument/2006/math">
                    <m:r>
                      <a:rPr lang="ru-RU" sz="2400" i="1">
                        <a:latin typeface="Cambria Math" charset="0"/>
                      </a:rPr>
                      <m:t> </m:t>
                    </m:r>
                    <m:r>
                      <a:rPr lang="ru-RU" sz="2400" i="1">
                        <a:latin typeface="Cambria Math" charset="0"/>
                      </a:rPr>
                      <m:t>𝑘</m:t>
                    </m:r>
                  </m:oMath>
                </a14:m>
                <a:r>
                  <a:rPr lang="ru-RU" sz="2400" dirty="0"/>
                  <a:t>-ближайших соседей работает следующим образом:</a:t>
                </a:r>
              </a:p>
              <a:p>
                <a:pPr marL="457200" lvl="0" indent="-457200">
                  <a:buFont typeface="+mj-lt"/>
                  <a:buAutoNum type="arabicPeriod"/>
                </a:pPr>
                <a:r>
                  <a:rPr lang="ru-RU" sz="2400" i="1" dirty="0"/>
                  <a:t>Обучающая выборка: </a:t>
                </a:r>
                <a:r>
                  <a:rPr lang="ru-RU" sz="2400" dirty="0"/>
                  <a:t>задана обучающая выборка </a:t>
                </a:r>
                <a14:m>
                  <m:oMath xmlns:m="http://schemas.openxmlformats.org/officeDocument/2006/math">
                    <m:sSub>
                      <m:sSubPr>
                        <m:ctrlPr>
                          <a:rPr lang="ru-RU" sz="2400" i="1">
                            <a:latin typeface="Cambria Math" charset="0"/>
                          </a:rPr>
                        </m:ctrlPr>
                      </m:sSubPr>
                      <m:e>
                        <m:r>
                          <a:rPr lang="ru-RU" sz="2400" i="1">
                            <a:latin typeface="Cambria Math" charset="0"/>
                          </a:rPr>
                          <m:t>𝑋</m:t>
                        </m:r>
                      </m:e>
                      <m:sub>
                        <m:r>
                          <a:rPr lang="ru-RU" sz="2400" i="1" baseline="-25000">
                            <a:latin typeface="Cambria Math" charset="0"/>
                          </a:rPr>
                          <m:t>𝑚</m:t>
                        </m:r>
                      </m:sub>
                    </m:sSub>
                  </m:oMath>
                </a14:m>
                <a:r>
                  <a:rPr lang="ru-RU" sz="2400" dirty="0"/>
                  <a:t>, состоящая из пар "объект-класс" </a:t>
                </a:r>
                <a14:m>
                  <m:oMath xmlns:m="http://schemas.openxmlformats.org/officeDocument/2006/math">
                    <m:r>
                      <a:rPr lang="ru-RU" sz="2400" i="1">
                        <a:latin typeface="Cambria Math" charset="0"/>
                      </a:rPr>
                      <m:t>(</m:t>
                    </m:r>
                    <m:sSub>
                      <m:sSubPr>
                        <m:ctrlPr>
                          <a:rPr lang="ru-RU" sz="2400" i="1">
                            <a:latin typeface="Cambria Math" charset="0"/>
                          </a:rPr>
                        </m:ctrlPr>
                      </m:sSubPr>
                      <m:e>
                        <m:r>
                          <a:rPr lang="ru-RU" sz="2400" i="1">
                            <a:latin typeface="Cambria Math" charset="0"/>
                          </a:rPr>
                          <m:t>𝑥</m:t>
                        </m:r>
                      </m:e>
                      <m:sub>
                        <m:r>
                          <a:rPr lang="ru-RU" sz="2400" i="1" baseline="-25000">
                            <a:latin typeface="Cambria Math" charset="0"/>
                          </a:rPr>
                          <m:t>1</m:t>
                        </m:r>
                      </m:sub>
                    </m:sSub>
                    <m:r>
                      <a:rPr lang="ru-RU" sz="2400" i="1">
                        <a:latin typeface="Cambria Math" charset="0"/>
                      </a:rPr>
                      <m:t>, </m:t>
                    </m:r>
                    <m:sSub>
                      <m:sSubPr>
                        <m:ctrlPr>
                          <a:rPr lang="ru-RU" sz="2400" i="1">
                            <a:latin typeface="Cambria Math" charset="0"/>
                          </a:rPr>
                        </m:ctrlPr>
                      </m:sSubPr>
                      <m:e>
                        <m:r>
                          <a:rPr lang="ru-RU" sz="2400" i="1">
                            <a:latin typeface="Cambria Math" charset="0"/>
                          </a:rPr>
                          <m:t>𝑦</m:t>
                        </m:r>
                      </m:e>
                      <m:sub>
                        <m:r>
                          <a:rPr lang="ru-RU" sz="2400" i="1" baseline="-25000">
                            <a:latin typeface="Cambria Math" charset="0"/>
                          </a:rPr>
                          <m:t>1</m:t>
                        </m:r>
                      </m:sub>
                    </m:sSub>
                    <m:r>
                      <a:rPr lang="ru-RU" sz="2400" i="1">
                        <a:latin typeface="Cambria Math" charset="0"/>
                      </a:rPr>
                      <m:t>), …, (</m:t>
                    </m:r>
                    <m:sSub>
                      <m:sSubPr>
                        <m:ctrlPr>
                          <a:rPr lang="ru-RU" sz="2400" i="1">
                            <a:latin typeface="Cambria Math" charset="0"/>
                          </a:rPr>
                        </m:ctrlPr>
                      </m:sSubPr>
                      <m:e>
                        <m:r>
                          <a:rPr lang="ru-RU" sz="2400" i="1">
                            <a:latin typeface="Cambria Math" charset="0"/>
                          </a:rPr>
                          <m:t>𝑥</m:t>
                        </m:r>
                      </m:e>
                      <m:sub>
                        <m:r>
                          <a:rPr lang="ru-RU" sz="2400" i="1" baseline="-25000">
                            <a:latin typeface="Cambria Math" charset="0"/>
                          </a:rPr>
                          <m:t>𝑚</m:t>
                        </m:r>
                      </m:sub>
                    </m:sSub>
                    <m:r>
                      <a:rPr lang="ru-RU" sz="2400" i="1">
                        <a:latin typeface="Cambria Math" charset="0"/>
                      </a:rPr>
                      <m:t>,</m:t>
                    </m:r>
                    <m:sSub>
                      <m:sSubPr>
                        <m:ctrlPr>
                          <a:rPr lang="ru-RU" sz="2400" i="1">
                            <a:latin typeface="Cambria Math" charset="0"/>
                          </a:rPr>
                        </m:ctrlPr>
                      </m:sSubPr>
                      <m:e>
                        <m:r>
                          <a:rPr lang="ru-RU" sz="2400" i="1">
                            <a:latin typeface="Cambria Math" charset="0"/>
                          </a:rPr>
                          <m:t> </m:t>
                        </m:r>
                        <m:r>
                          <a:rPr lang="ru-RU" sz="2400" i="1">
                            <a:latin typeface="Cambria Math" charset="0"/>
                          </a:rPr>
                          <m:t>𝑦</m:t>
                        </m:r>
                      </m:e>
                      <m:sub>
                        <m:r>
                          <a:rPr lang="ru-RU" sz="2400" i="1" baseline="-25000">
                            <a:latin typeface="Cambria Math" charset="0"/>
                          </a:rPr>
                          <m:t>𝑚</m:t>
                        </m:r>
                      </m:sub>
                    </m:sSub>
                    <m:r>
                      <a:rPr lang="ru-RU" sz="2400" i="1">
                        <a:latin typeface="Cambria Math" charset="0"/>
                      </a:rPr>
                      <m:t>)</m:t>
                    </m:r>
                  </m:oMath>
                </a14:m>
                <a:r>
                  <a:rPr lang="ru-RU" sz="2400" dirty="0"/>
                  <a:t>.</a:t>
                </a:r>
              </a:p>
              <a:p>
                <a:pPr marL="457200" lvl="0" indent="-457200">
                  <a:buFont typeface="+mj-lt"/>
                  <a:buAutoNum type="arabicPeriod"/>
                </a:pPr>
                <a:r>
                  <a:rPr lang="ru-RU" sz="2400" i="1" dirty="0"/>
                  <a:t>Функция расстояния:</a:t>
                </a:r>
                <a:r>
                  <a:rPr lang="ru-RU" sz="2400" dirty="0"/>
                  <a:t> определяется функция расстояния </a:t>
                </a:r>
                <a14:m>
                  <m:oMath xmlns:m="http://schemas.openxmlformats.org/officeDocument/2006/math">
                    <m:r>
                      <a:rPr lang="ru-RU" sz="2400" i="1">
                        <a:latin typeface="Cambria Math" charset="0"/>
                      </a:rPr>
                      <m:t>𝜌</m:t>
                    </m:r>
                    <m:r>
                      <a:rPr lang="ru-RU" sz="2400" i="1">
                        <a:latin typeface="Cambria Math" charset="0"/>
                      </a:rPr>
                      <m:t>(</m:t>
                    </m:r>
                    <m:r>
                      <a:rPr lang="ru-RU" sz="2400" i="1">
                        <a:latin typeface="Cambria Math" charset="0"/>
                      </a:rPr>
                      <m:t>𝑥</m:t>
                    </m:r>
                    <m:r>
                      <a:rPr lang="ru-RU" sz="2400" i="1">
                        <a:latin typeface="Cambria Math" charset="0"/>
                      </a:rPr>
                      <m:t>, </m:t>
                    </m:r>
                    <m:r>
                      <a:rPr lang="ru-RU" sz="2400" i="1">
                        <a:latin typeface="Cambria Math" charset="0"/>
                      </a:rPr>
                      <m:t>𝑥</m:t>
                    </m:r>
                    <m:r>
                      <a:rPr lang="ru-RU" sz="2400" i="1">
                        <a:latin typeface="Cambria Math" charset="0"/>
                      </a:rPr>
                      <m:t>′)</m:t>
                    </m:r>
                  </m:oMath>
                </a14:m>
                <a:r>
                  <a:rPr lang="ru-RU" sz="2400" dirty="0"/>
                  <a:t>, которая измеряет степень различия между объектами. Чем больше значение функции, тем менее похожи объекты.</a:t>
                </a:r>
              </a:p>
              <a:p>
                <a:pPr marL="457200" lvl="0" indent="-457200">
                  <a:buFont typeface="+mj-lt"/>
                  <a:buAutoNum type="arabicPeriod"/>
                </a:pPr>
                <a:r>
                  <a:rPr lang="ru-RU" sz="2400" i="1" dirty="0"/>
                  <a:t>Сортировка по расстоянию:</a:t>
                </a:r>
                <a:r>
                  <a:rPr lang="ru-RU" sz="2400" dirty="0"/>
                  <a:t> для любого объекта </a:t>
                </a:r>
                <a14:m>
                  <m:oMath xmlns:m="http://schemas.openxmlformats.org/officeDocument/2006/math">
                    <m:r>
                      <a:rPr lang="ru-RU" sz="2400" i="1">
                        <a:latin typeface="Cambria Math" charset="0"/>
                      </a:rPr>
                      <m:t>𝑢</m:t>
                    </m:r>
                  </m:oMath>
                </a14:m>
                <a:r>
                  <a:rPr lang="ru-RU" sz="2400" dirty="0"/>
                  <a:t>, объекты обучающей выборки сортируются по возрастанию расстояния до </a:t>
                </a:r>
                <a14:m>
                  <m:oMath xmlns:m="http://schemas.openxmlformats.org/officeDocument/2006/math">
                    <m:r>
                      <a:rPr lang="ru-RU" sz="2400" i="1">
                        <a:latin typeface="Cambria Math" charset="0"/>
                      </a:rPr>
                      <m:t>𝑢</m:t>
                    </m:r>
                  </m:oMath>
                </a14:m>
                <a:r>
                  <a:rPr lang="ru-RU" sz="2400" dirty="0"/>
                  <a:t>. Обозначим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baseline="-25000">
                            <a:latin typeface="Cambria Math" charset="0"/>
                          </a:rPr>
                          <m:t>𝑖</m:t>
                        </m:r>
                        <m:r>
                          <a:rPr lang="ru-RU" sz="2400" i="1" baseline="-25000">
                            <a:latin typeface="Cambria Math" charset="0"/>
                          </a:rPr>
                          <m:t>,</m:t>
                        </m:r>
                        <m:r>
                          <a:rPr lang="ru-RU" sz="2400" i="1" baseline="-25000">
                            <a:latin typeface="Cambria Math" charset="0"/>
                          </a:rPr>
                          <m:t>𝑢</m:t>
                        </m:r>
                      </m:sub>
                    </m:sSub>
                  </m:oMath>
                </a14:m>
                <a:r>
                  <a:rPr lang="ru-RU" sz="2400" dirty="0"/>
                  <a:t> как </a:t>
                </a:r>
                <a14:m>
                  <m:oMath xmlns:m="http://schemas.openxmlformats.org/officeDocument/2006/math">
                    <m:r>
                      <a:rPr lang="ru-RU" sz="2400" i="1">
                        <a:latin typeface="Cambria Math" charset="0"/>
                      </a:rPr>
                      <m:t>𝑖</m:t>
                    </m:r>
                  </m:oMath>
                </a14:m>
                <a:r>
                  <a:rPr lang="ru-RU" sz="2400" dirty="0"/>
                  <a:t>-го ближайшего соседа объекта </a:t>
                </a:r>
                <a14:m>
                  <m:oMath xmlns:m="http://schemas.openxmlformats.org/officeDocument/2006/math">
                    <m:r>
                      <a:rPr lang="ru-RU" sz="2400" i="1">
                        <a:latin typeface="Cambria Math" charset="0"/>
                      </a:rPr>
                      <m:t>𝑢</m:t>
                    </m:r>
                  </m:oMath>
                </a14:m>
                <a:r>
                  <a:rPr lang="ru-RU" sz="2400" dirty="0"/>
                  <a:t>, и </a:t>
                </a:r>
                <a14:m>
                  <m:oMath xmlns:m="http://schemas.openxmlformats.org/officeDocument/2006/math">
                    <m:sSub>
                      <m:sSubPr>
                        <m:ctrlPr>
                          <a:rPr lang="ru-RU" sz="2400" i="1">
                            <a:latin typeface="Cambria Math" charset="0"/>
                          </a:rPr>
                        </m:ctrlPr>
                      </m:sSubPr>
                      <m:e>
                        <m:r>
                          <a:rPr lang="ru-RU" sz="2400" i="1">
                            <a:latin typeface="Cambria Math" charset="0"/>
                          </a:rPr>
                          <m:t>𝑦</m:t>
                        </m:r>
                      </m:e>
                      <m:sub>
                        <m:r>
                          <a:rPr lang="ru-RU" sz="2400" i="1" baseline="-25000">
                            <a:latin typeface="Cambria Math" charset="0"/>
                          </a:rPr>
                          <m:t>𝑖</m:t>
                        </m:r>
                        <m:r>
                          <a:rPr lang="ru-RU" sz="2400" i="1" baseline="-25000">
                            <a:latin typeface="Cambria Math" charset="0"/>
                          </a:rPr>
                          <m:t>,</m:t>
                        </m:r>
                        <m:r>
                          <a:rPr lang="ru-RU" sz="2400" i="1" baseline="-25000">
                            <a:latin typeface="Cambria Math" charset="0"/>
                          </a:rPr>
                          <m:t>𝑢</m:t>
                        </m:r>
                      </m:sub>
                    </m:sSub>
                  </m:oMath>
                </a14:m>
                <a:r>
                  <a:rPr lang="ru-RU" sz="2400" dirty="0"/>
                  <a:t> как соответствующий ответ для этого соседа.</a:t>
                </a:r>
              </a:p>
              <a:p>
                <a:pPr marL="457200" lvl="0" indent="-457200">
                  <a:buFont typeface="+mj-lt"/>
                  <a:buAutoNum type="arabicPeriod"/>
                </a:pPr>
                <a:r>
                  <a:rPr lang="ru-RU" sz="2400" i="1" dirty="0"/>
                  <a:t>Общая формула:</a:t>
                </a:r>
                <a:r>
                  <a:rPr lang="ru-RU" sz="2400" dirty="0"/>
                  <a:t> классификация объекта </a:t>
                </a:r>
                <a14:m>
                  <m:oMath xmlns:m="http://schemas.openxmlformats.org/officeDocument/2006/math">
                    <m:r>
                      <a:rPr lang="ru-RU" sz="2400" i="1">
                        <a:latin typeface="Cambria Math" charset="0"/>
                      </a:rPr>
                      <m:t>𝑢</m:t>
                    </m:r>
                  </m:oMath>
                </a14:m>
                <a:r>
                  <a:rPr lang="ru-RU" sz="2400" dirty="0"/>
                  <a:t> производится по следующей общей формуле: </a:t>
                </a:r>
              </a:p>
              <a:p>
                <a:endParaRPr lang="ru-RU" sz="2400" dirty="0" smtClean="0"/>
              </a:p>
              <a:p>
                <a:endParaRPr lang="ru-RU" sz="2400" dirty="0"/>
              </a:p>
              <a:p>
                <a:r>
                  <a:rPr lang="ru-RU" sz="2400" dirty="0" smtClean="0"/>
                  <a:t>где </a:t>
                </a:r>
                <a14:m>
                  <m:oMath xmlns:m="http://schemas.openxmlformats.org/officeDocument/2006/math">
                    <m:r>
                      <a:rPr lang="ru-RU" sz="2400" i="1">
                        <a:latin typeface="Cambria Math" charset="0"/>
                      </a:rPr>
                      <m:t>𝑤</m:t>
                    </m:r>
                    <m:r>
                      <a:rPr lang="ru-RU" sz="2400" i="1">
                        <a:latin typeface="Cambria Math" charset="0"/>
                      </a:rPr>
                      <m:t>(</m:t>
                    </m:r>
                    <m:r>
                      <a:rPr lang="ru-RU" sz="2400" i="1">
                        <a:latin typeface="Cambria Math" charset="0"/>
                      </a:rPr>
                      <m:t>𝑖</m:t>
                    </m:r>
                    <m:r>
                      <a:rPr lang="ru-RU" sz="2400" i="1">
                        <a:latin typeface="Cambria Math" charset="0"/>
                      </a:rPr>
                      <m:t>, </m:t>
                    </m:r>
                    <m:r>
                      <a:rPr lang="ru-RU" sz="2400" i="1">
                        <a:latin typeface="Cambria Math" charset="0"/>
                      </a:rPr>
                      <m:t>𝑢</m:t>
                    </m:r>
                    <m:r>
                      <a:rPr lang="ru-RU" sz="2400" i="1">
                        <a:latin typeface="Cambria Math" charset="0"/>
                      </a:rPr>
                      <m:t>)</m:t>
                    </m:r>
                  </m:oMath>
                </a14:m>
                <a:r>
                  <a:rPr lang="ru-RU" sz="2400" dirty="0"/>
                  <a:t> – весовая функция, определяющая вклад </a:t>
                </a:r>
                <a14:m>
                  <m:oMath xmlns:m="http://schemas.openxmlformats.org/officeDocument/2006/math">
                    <m:r>
                      <a:rPr lang="ru-RU" sz="2400" i="1">
                        <a:latin typeface="Cambria Math" charset="0"/>
                      </a:rPr>
                      <m:t>𝑖</m:t>
                    </m:r>
                  </m:oMath>
                </a14:m>
                <a:r>
                  <a:rPr lang="ru-RU" sz="2400" dirty="0"/>
                  <a:t>-го соседа в классификацию объекта </a:t>
                </a:r>
                <a14:m>
                  <m:oMath xmlns:m="http://schemas.openxmlformats.org/officeDocument/2006/math">
                    <m:r>
                      <a:rPr lang="ru-RU" sz="2400" i="1">
                        <a:latin typeface="Cambria Math" charset="0"/>
                      </a:rPr>
                      <m:t>𝑢</m:t>
                    </m:r>
                  </m:oMath>
                </a14:m>
                <a:r>
                  <a:rPr lang="ru-RU" sz="2400" dirty="0"/>
                  <a:t>. Эта функция должна быть неотрицательной и не возрастать с увеличением </a:t>
                </a:r>
                <a14:m>
                  <m:oMath xmlns:m="http://schemas.openxmlformats.org/officeDocument/2006/math">
                    <m:r>
                      <a:rPr lang="ru-RU" sz="2400" i="1">
                        <a:latin typeface="Cambria Math" charset="0"/>
                      </a:rPr>
                      <m:t>𝑖</m:t>
                    </m:r>
                  </m:oMath>
                </a14:m>
                <a:r>
                  <a:rPr lang="ru-RU" sz="2400" dirty="0"/>
                  <a:t> (чем дальше сосед, тем меньше его вклад).</a:t>
                </a: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 y="685821"/>
                <a:ext cx="12191999" cy="6102504"/>
              </a:xfrm>
              <a:prstGeom prst="rect">
                <a:avLst/>
              </a:prstGeom>
              <a:blipFill rotWithShape="0">
                <a:blip r:embed="rId2"/>
                <a:stretch>
                  <a:fillRect l="-800" t="-7892" r="-1150" b="-1299"/>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 name="Прямоугольник 3"/>
              <p:cNvSpPr/>
              <p:nvPr/>
            </p:nvSpPr>
            <p:spPr>
              <a:xfrm>
                <a:off x="3102167" y="4765183"/>
                <a:ext cx="6061403" cy="687304"/>
              </a:xfrm>
              <a:prstGeom prst="rect">
                <a:avLst/>
              </a:prstGeom>
            </p:spPr>
            <p:txBody>
              <a:bodyPr wrap="none">
                <a:spAutoFit/>
              </a:bodyPr>
              <a:lstStyle/>
              <a:p>
                <a14:m>
                  <m:oMath xmlns:m="http://schemas.openxmlformats.org/officeDocument/2006/math">
                    <m:r>
                      <a:rPr lang="ru-RU" sz="2800" i="1" smtClean="0">
                        <a:latin typeface="Cambria Math" charset="0"/>
                        <a:ea typeface="Calibri" charset="0"/>
                        <a:cs typeface="Times New Roman" charset="0"/>
                      </a:rPr>
                      <m:t>𝑎</m:t>
                    </m:r>
                    <m:d>
                      <m:dPr>
                        <m:ctrlPr>
                          <a:rPr lang="ru-RU" sz="2800" i="1">
                            <a:effectLst/>
                            <a:latin typeface="Cambria Math" charset="0"/>
                          </a:rPr>
                        </m:ctrlPr>
                      </m:dPr>
                      <m:e>
                        <m:r>
                          <a:rPr lang="ru-RU" sz="2800" i="1">
                            <a:effectLst/>
                            <a:latin typeface="Cambria Math" charset="0"/>
                            <a:ea typeface="Calibri" charset="0"/>
                            <a:cs typeface="Times New Roman" charset="0"/>
                          </a:rPr>
                          <m:t>𝑢</m:t>
                        </m:r>
                      </m:e>
                    </m:d>
                    <m:r>
                      <a:rPr lang="ru-RU" sz="2800" i="1">
                        <a:effectLst/>
                        <a:latin typeface="Cambria Math" charset="0"/>
                        <a:ea typeface="Calibri" charset="0"/>
                        <a:cs typeface="Times New Roman" charset="0"/>
                      </a:rPr>
                      <m:t>= </m:t>
                    </m:r>
                    <m:r>
                      <a:rPr lang="ru-RU" sz="2800" i="1">
                        <a:effectLst/>
                        <a:latin typeface="Cambria Math" charset="0"/>
                        <a:ea typeface="Calibri" charset="0"/>
                        <a:cs typeface="Times New Roman" charset="0"/>
                      </a:rPr>
                      <m:t>𝑎𝑟𝑔</m:t>
                    </m:r>
                    <m:func>
                      <m:funcPr>
                        <m:ctrlPr>
                          <a:rPr lang="ru-RU" sz="2800" i="1">
                            <a:effectLst/>
                            <a:latin typeface="Cambria Math" charset="0"/>
                          </a:rPr>
                        </m:ctrlPr>
                      </m:funcPr>
                      <m:fName>
                        <m:limLow>
                          <m:limLowPr>
                            <m:ctrlPr>
                              <a:rPr lang="ru-RU" sz="2800" i="1">
                                <a:effectLst/>
                                <a:latin typeface="Cambria Math" charset="0"/>
                              </a:rPr>
                            </m:ctrlPr>
                          </m:limLowPr>
                          <m:e>
                            <m:r>
                              <m:rPr>
                                <m:sty m:val="p"/>
                              </m:rPr>
                              <a:rPr lang="ru-RU" sz="2800">
                                <a:effectLst/>
                                <a:latin typeface="Cambria Math" charset="0"/>
                                <a:ea typeface="Calibri" charset="0"/>
                                <a:cs typeface="Times New Roman" charset="0"/>
                              </a:rPr>
                              <m:t>max</m:t>
                            </m:r>
                          </m:e>
                          <m:lim>
                            <m:r>
                              <a:rPr lang="ru-RU" sz="2800" i="1" baseline="-25000">
                                <a:effectLst/>
                                <a:latin typeface="Cambria Math" charset="0"/>
                                <a:ea typeface="Calibri" charset="0"/>
                                <a:cs typeface="Times New Roman" charset="0"/>
                              </a:rPr>
                              <m:t>𝑦</m:t>
                            </m:r>
                            <m:r>
                              <a:rPr lang="ru-RU" sz="2800" i="1" baseline="-25000">
                                <a:effectLst/>
                                <a:latin typeface="Cambria Math" charset="0"/>
                                <a:ea typeface="MS Mincho" charset="-128"/>
                                <a:cs typeface="MS Mincho" charset="-128"/>
                              </a:rPr>
                              <m:t>∈</m:t>
                            </m:r>
                            <m:r>
                              <a:rPr lang="ru-RU" sz="2800" i="1" baseline="-25000">
                                <a:effectLst/>
                                <a:latin typeface="Cambria Math" charset="0"/>
                                <a:ea typeface="Calibri" charset="0"/>
                                <a:cs typeface="Times New Roman" charset="0"/>
                              </a:rPr>
                              <m:t>𝑌</m:t>
                            </m:r>
                          </m:lim>
                        </m:limLow>
                      </m:fName>
                      <m:e>
                        <m:nary>
                          <m:naryPr>
                            <m:chr m:val="∑"/>
                            <m:limLoc m:val="undOvr"/>
                            <m:ctrlPr>
                              <a:rPr lang="ru-RU" sz="2800" i="1">
                                <a:effectLst/>
                                <a:latin typeface="Cambria Math" charset="0"/>
                              </a:rPr>
                            </m:ctrlPr>
                          </m:naryPr>
                          <m:sub>
                            <m:r>
                              <a:rPr lang="ru-RU" sz="2800" i="1" baseline="-25000">
                                <a:effectLst/>
                                <a:latin typeface="Cambria Math" charset="0"/>
                                <a:ea typeface="Calibri" charset="0"/>
                                <a:cs typeface="Times New Roman" charset="0"/>
                              </a:rPr>
                              <m:t>𝑖</m:t>
                            </m:r>
                            <m:r>
                              <a:rPr lang="ru-RU" sz="2800" i="1" baseline="-25000">
                                <a:effectLst/>
                                <a:latin typeface="Cambria Math" charset="0"/>
                                <a:ea typeface="Calibri" charset="0"/>
                                <a:cs typeface="Times New Roman" charset="0"/>
                              </a:rPr>
                              <m:t>=1</m:t>
                            </m:r>
                          </m:sub>
                          <m:sup>
                            <m:r>
                              <a:rPr lang="ru-RU" sz="2800" i="1" baseline="30000">
                                <a:effectLst/>
                                <a:latin typeface="Cambria Math" charset="0"/>
                                <a:ea typeface="Calibri" charset="0"/>
                                <a:cs typeface="Times New Roman" charset="0"/>
                              </a:rPr>
                              <m:t>𝑚</m:t>
                            </m:r>
                          </m:sup>
                          <m:e>
                            <m:d>
                              <m:dPr>
                                <m:begChr m:val="["/>
                                <m:endChr m:val="]"/>
                                <m:ctrlPr>
                                  <a:rPr lang="ru-RU" sz="2800" i="1">
                                    <a:effectLst/>
                                    <a:latin typeface="Cambria Math" charset="0"/>
                                  </a:rPr>
                                </m:ctrlPr>
                              </m:dPr>
                              <m:e>
                                <m:sSub>
                                  <m:sSubPr>
                                    <m:ctrlPr>
                                      <a:rPr lang="ru-RU" sz="2800" i="1">
                                        <a:effectLst/>
                                        <a:latin typeface="Cambria Math" charset="0"/>
                                      </a:rPr>
                                    </m:ctrlPr>
                                  </m:sSubPr>
                                  <m:e>
                                    <m:r>
                                      <a:rPr lang="ru-RU" sz="2800" i="1">
                                        <a:effectLst/>
                                        <a:latin typeface="Cambria Math" charset="0"/>
                                        <a:ea typeface="Calibri" charset="0"/>
                                        <a:cs typeface="Times New Roman" charset="0"/>
                                      </a:rPr>
                                      <m:t>𝑦</m:t>
                                    </m:r>
                                  </m:e>
                                  <m:sub>
                                    <m:r>
                                      <a:rPr lang="ru-RU" sz="2800" i="1" baseline="-25000">
                                        <a:effectLst/>
                                        <a:latin typeface="Cambria Math" charset="0"/>
                                        <a:ea typeface="Calibri" charset="0"/>
                                        <a:cs typeface="Times New Roman" charset="0"/>
                                      </a:rPr>
                                      <m:t>𝑖</m:t>
                                    </m:r>
                                    <m:r>
                                      <a:rPr lang="ru-RU" sz="2800" i="1" baseline="-25000">
                                        <a:effectLst/>
                                        <a:latin typeface="Cambria Math" charset="0"/>
                                        <a:ea typeface="Calibri" charset="0"/>
                                        <a:cs typeface="Times New Roman" charset="0"/>
                                      </a:rPr>
                                      <m:t>,</m:t>
                                    </m:r>
                                    <m:r>
                                      <a:rPr lang="ru-RU" sz="2800" i="1" baseline="-25000">
                                        <a:effectLst/>
                                        <a:latin typeface="Cambria Math" charset="0"/>
                                        <a:ea typeface="Calibri" charset="0"/>
                                        <a:cs typeface="Times New Roman" charset="0"/>
                                      </a:rPr>
                                      <m:t>𝑢</m:t>
                                    </m:r>
                                  </m:sub>
                                </m:sSub>
                                <m:r>
                                  <a:rPr lang="ru-RU" sz="2800" i="1">
                                    <a:effectLst/>
                                    <a:latin typeface="Cambria Math" charset="0"/>
                                    <a:ea typeface="Calibri" charset="0"/>
                                    <a:cs typeface="Times New Roman" charset="0"/>
                                  </a:rPr>
                                  <m:t> = </m:t>
                                </m:r>
                                <m:r>
                                  <a:rPr lang="ru-RU" sz="2800" i="1">
                                    <a:effectLst/>
                                    <a:latin typeface="Cambria Math" charset="0"/>
                                    <a:ea typeface="Calibri" charset="0"/>
                                    <a:cs typeface="Times New Roman" charset="0"/>
                                  </a:rPr>
                                  <m:t>𝑦</m:t>
                                </m:r>
                              </m:e>
                            </m:d>
                            <m:r>
                              <a:rPr lang="ru-RU" sz="2800" i="1">
                                <a:effectLst/>
                                <a:latin typeface="Cambria Math" charset="0"/>
                                <a:ea typeface="Calibri" charset="0"/>
                                <a:cs typeface="Times New Roman" charset="0"/>
                              </a:rPr>
                              <m:t>𝑤</m:t>
                            </m:r>
                            <m:d>
                              <m:dPr>
                                <m:ctrlPr>
                                  <a:rPr lang="ru-RU" sz="2800" i="1">
                                    <a:effectLst/>
                                    <a:latin typeface="Cambria Math" charset="0"/>
                                  </a:rPr>
                                </m:ctrlPr>
                              </m:dPr>
                              <m:e>
                                <m:r>
                                  <a:rPr lang="ru-RU" sz="2800" i="1">
                                    <a:effectLst/>
                                    <a:latin typeface="Cambria Math" charset="0"/>
                                    <a:ea typeface="Calibri" charset="0"/>
                                    <a:cs typeface="Times New Roman" charset="0"/>
                                  </a:rPr>
                                  <m:t>𝑖</m:t>
                                </m:r>
                                <m:r>
                                  <a:rPr lang="ru-RU" sz="2800" i="1">
                                    <a:effectLst/>
                                    <a:latin typeface="Cambria Math" charset="0"/>
                                    <a:ea typeface="Calibri" charset="0"/>
                                    <a:cs typeface="Times New Roman" charset="0"/>
                                  </a:rPr>
                                  <m:t>, </m:t>
                                </m:r>
                                <m:r>
                                  <a:rPr lang="ru-RU" sz="2800" i="1">
                                    <a:effectLst/>
                                    <a:latin typeface="Cambria Math" charset="0"/>
                                    <a:ea typeface="Calibri" charset="0"/>
                                    <a:cs typeface="Times New Roman" charset="0"/>
                                  </a:rPr>
                                  <m:t>𝑢</m:t>
                                </m:r>
                              </m:e>
                            </m:d>
                            <m:r>
                              <a:rPr lang="ru-RU" sz="2800" b="0" i="1" smtClean="0">
                                <a:effectLst/>
                                <a:latin typeface="Cambria Math" charset="0"/>
                                <a:ea typeface="Calibri" charset="0"/>
                                <a:cs typeface="Times New Roman" charset="0"/>
                              </a:rPr>
                              <m:t>,</m:t>
                            </m:r>
                          </m:e>
                        </m:nary>
                      </m:e>
                    </m:func>
                  </m:oMath>
                </a14:m>
                <a:r>
                  <a:rPr lang="ru-RU" sz="2800" dirty="0">
                    <a:effectLst/>
                  </a:rPr>
                  <a:t> </a:t>
                </a:r>
                <a:endParaRPr lang="ru-RU" sz="2800" dirty="0"/>
              </a:p>
            </p:txBody>
          </p:sp>
        </mc:Choice>
        <mc:Fallback xmlns="">
          <p:sp>
            <p:nvSpPr>
              <p:cNvPr id="4" name="Прямоугольник 3"/>
              <p:cNvSpPr>
                <a:spLocks noRot="1" noChangeAspect="1" noMove="1" noResize="1" noEditPoints="1" noAdjustHandles="1" noChangeArrowheads="1" noChangeShapeType="1" noTextEdit="1"/>
              </p:cNvSpPr>
              <p:nvPr/>
            </p:nvSpPr>
            <p:spPr>
              <a:xfrm>
                <a:off x="3102167" y="4765183"/>
                <a:ext cx="6061403" cy="687304"/>
              </a:xfrm>
              <a:prstGeom prst="rect">
                <a:avLst/>
              </a:prstGeom>
              <a:blipFill rotWithShape="0">
                <a:blip r:embed="rId3"/>
                <a:stretch>
                  <a:fillRect b="-12500"/>
                </a:stretch>
              </a:blipFill>
            </p:spPr>
            <p:txBody>
              <a:bodyPr/>
              <a:lstStyle/>
              <a:p>
                <a:r>
                  <a:rPr lang="ru-RU">
                    <a:noFill/>
                  </a:rPr>
                  <a:t> </a:t>
                </a:r>
              </a:p>
            </p:txBody>
          </p:sp>
        </mc:Fallback>
      </mc:AlternateContent>
      <p:sp>
        <p:nvSpPr>
          <p:cNvPr id="9" name="TextBox 8"/>
          <p:cNvSpPr txBox="1"/>
          <p:nvPr/>
        </p:nvSpPr>
        <p:spPr>
          <a:xfrm>
            <a:off x="9380697" y="4765183"/>
            <a:ext cx="992222" cy="523220"/>
          </a:xfrm>
          <a:prstGeom prst="rect">
            <a:avLst/>
          </a:prstGeom>
          <a:noFill/>
        </p:spPr>
        <p:txBody>
          <a:bodyPr wrap="square" rtlCol="0">
            <a:spAutoFit/>
          </a:bodyPr>
          <a:lstStyle/>
          <a:p>
            <a:r>
              <a:rPr lang="ru-RU" sz="2800" b="1" dirty="0" smtClean="0">
                <a:solidFill>
                  <a:schemeClr val="accent2">
                    <a:lumMod val="75000"/>
                  </a:schemeClr>
                </a:solidFill>
              </a:rPr>
              <a:t>(</a:t>
            </a:r>
            <a:r>
              <a:rPr lang="en-US" sz="2800" b="1" dirty="0" smtClean="0">
                <a:solidFill>
                  <a:schemeClr val="accent2">
                    <a:lumMod val="75000"/>
                  </a:schemeClr>
                </a:solidFill>
              </a:rPr>
              <a:t>1</a:t>
            </a:r>
            <a:r>
              <a:rPr lang="ru-RU" sz="2800" b="1" dirty="0" smtClean="0">
                <a:solidFill>
                  <a:schemeClr val="accent2">
                    <a:lumMod val="75000"/>
                  </a:schemeClr>
                </a:solidFill>
              </a:rPr>
              <a:t>2)</a:t>
            </a:r>
            <a:endParaRPr lang="ru-RU" sz="2800" b="1" dirty="0">
              <a:solidFill>
                <a:schemeClr val="accent2">
                  <a:lumMod val="75000"/>
                </a:schemeClr>
              </a:solidFill>
            </a:endParaRPr>
          </a:p>
        </p:txBody>
      </p:sp>
    </p:spTree>
    <p:extLst>
      <p:ext uri="{BB962C8B-B14F-4D97-AF65-F5344CB8AC3E}">
        <p14:creationId xmlns:p14="http://schemas.microsoft.com/office/powerpoint/2010/main" val="184685903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Рисунок 12" descr="KnnExample.png"/>
          <p:cNvPicPr/>
          <p:nvPr/>
        </p:nvPicPr>
        <p:blipFill>
          <a:blip r:embed="rId2">
            <a:extLst>
              <a:ext uri="{28A0092B-C50C-407E-A947-70E740481C1C}">
                <a14:useLocalDpi xmlns:a14="http://schemas.microsoft.com/office/drawing/2010/main" val="0"/>
              </a:ext>
            </a:extLst>
          </a:blip>
          <a:srcRect/>
          <a:stretch>
            <a:fillRect/>
          </a:stretch>
        </p:blipFill>
        <p:spPr bwMode="auto">
          <a:xfrm>
            <a:off x="3253564" y="3358507"/>
            <a:ext cx="6514213" cy="3268660"/>
          </a:xfrm>
          <a:prstGeom prst="rect">
            <a:avLst/>
          </a:prstGeom>
          <a:noFill/>
          <a:ln>
            <a:noFill/>
          </a:ln>
        </p:spPr>
      </p:pic>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1828801" y="546564"/>
                <a:ext cx="10363200" cy="3046988"/>
              </a:xfrm>
              <a:prstGeom prst="rect">
                <a:avLst/>
              </a:prstGeom>
              <a:noFill/>
            </p:spPr>
            <p:txBody>
              <a:bodyPr wrap="square">
                <a:spAutoFit/>
              </a:bodyPr>
              <a:lstStyle/>
              <a:p>
                <a:pPr algn="just"/>
                <a:r>
                  <a:rPr lang="ru-RU" sz="2400" dirty="0" smtClean="0"/>
                  <a:t>Различные варианты метода </a:t>
                </a:r>
                <a14:m>
                  <m:oMath xmlns:m="http://schemas.openxmlformats.org/officeDocument/2006/math">
                    <m:r>
                      <a:rPr lang="ru-RU" sz="2400" i="1">
                        <a:latin typeface="Cambria Math" charset="0"/>
                      </a:rPr>
                      <m:t>𝑘</m:t>
                    </m:r>
                  </m:oMath>
                </a14:m>
                <a:r>
                  <a:rPr lang="ru-RU" sz="2400" dirty="0"/>
                  <a:t>-ближайших соседей получаются путем задания разных весовых </a:t>
                </a:r>
                <a:r>
                  <a:rPr lang="ru-RU" sz="2400" dirty="0" smtClean="0"/>
                  <a:t>функций:</a:t>
                </a:r>
                <a:endParaRPr lang="ru-RU" sz="2400" dirty="0"/>
              </a:p>
              <a:p>
                <a:pPr marL="342900" lvl="0" indent="-342900" algn="just">
                  <a:buFont typeface="Wingdings" charset="2"/>
                  <a:buChar char="ü"/>
                </a:pPr>
                <a:r>
                  <a:rPr lang="ru-RU" sz="2400" i="1" dirty="0"/>
                  <a:t>Простейший метод: </a:t>
                </a:r>
                <a:r>
                  <a:rPr lang="ru-RU" sz="2400" dirty="0" smtClean="0"/>
                  <a:t>учитывается </a:t>
                </a:r>
                <a:r>
                  <a:rPr lang="ru-RU" sz="2400" dirty="0"/>
                  <a:t>только ближайший </a:t>
                </a:r>
                <a:r>
                  <a:rPr lang="ru-RU" sz="2400" dirty="0" smtClean="0"/>
                  <a:t>сосед.</a:t>
                </a:r>
                <a:endParaRPr lang="ru-RU" sz="2400" dirty="0"/>
              </a:p>
              <a:p>
                <a:pPr marL="342900" lvl="0" indent="-342900" algn="just">
                  <a:buFont typeface="Wingdings" charset="2"/>
                  <a:buChar char="ü"/>
                </a:pPr>
                <a:r>
                  <a:rPr lang="ru-RU" sz="2400" i="1" dirty="0"/>
                  <a:t>Метод </a:t>
                </a:r>
                <a:r>
                  <a:rPr lang="ru-RU" sz="2400" i="1" dirty="0" err="1"/>
                  <a:t>k</a:t>
                </a:r>
                <a:r>
                  <a:rPr lang="ru-RU" sz="2400" i="1" dirty="0"/>
                  <a:t>-ближайших соседей:</a:t>
                </a:r>
                <a:r>
                  <a:rPr lang="ru-RU" sz="2400" dirty="0"/>
                  <a:t> </a:t>
                </a:r>
                <a:r>
                  <a:rPr lang="ru-RU" sz="2400" dirty="0" smtClean="0"/>
                  <a:t>учитываются </a:t>
                </a:r>
                <a14:m>
                  <m:oMath xmlns:m="http://schemas.openxmlformats.org/officeDocument/2006/math">
                    <m:r>
                      <a:rPr lang="ru-RU" sz="2400" i="1">
                        <a:latin typeface="Cambria Math" charset="0"/>
                      </a:rPr>
                      <m:t>𝑘</m:t>
                    </m:r>
                  </m:oMath>
                </a14:m>
                <a:r>
                  <a:rPr lang="ru-RU" sz="2400" dirty="0"/>
                  <a:t> ближайших соседей с равным </a:t>
                </a:r>
                <a:r>
                  <a:rPr lang="ru-RU" sz="2400" dirty="0" smtClean="0"/>
                  <a:t>весом.</a:t>
                </a:r>
                <a:endParaRPr lang="ru-RU" sz="2400" dirty="0"/>
              </a:p>
              <a:p>
                <a:pPr marL="342900" lvl="0" indent="-342900" algn="just">
                  <a:buFont typeface="Wingdings" charset="2"/>
                  <a:buChar char="ü"/>
                </a:pPr>
                <a:r>
                  <a:rPr lang="ru-RU" sz="2400" i="1" dirty="0"/>
                  <a:t>Метод </a:t>
                </a:r>
                <a:r>
                  <a:rPr lang="ru-RU" sz="2400" i="1" dirty="0" err="1"/>
                  <a:t>k</a:t>
                </a:r>
                <a:r>
                  <a:rPr lang="ru-RU" sz="2400" i="1" dirty="0"/>
                  <a:t> экспоненциально взвешенных ближайших соседей:</a:t>
                </a:r>
                <a:r>
                  <a:rPr lang="ru-RU" sz="2400" dirty="0"/>
                  <a:t> </a:t>
                </a:r>
                <a14:m>
                  <m:oMath xmlns:m="http://schemas.openxmlformats.org/officeDocument/2006/math">
                    <m:r>
                      <a:rPr lang="ru-RU" sz="2400" i="1">
                        <a:latin typeface="Cambria Math" charset="0"/>
                      </a:rPr>
                      <m:t>𝑤</m:t>
                    </m:r>
                    <m:d>
                      <m:dPr>
                        <m:ctrlPr>
                          <a:rPr lang="ru-RU" sz="2400" i="1">
                            <a:latin typeface="Cambria Math" charset="0"/>
                          </a:rPr>
                        </m:ctrlPr>
                      </m:dPr>
                      <m:e>
                        <m:r>
                          <a:rPr lang="ru-RU" sz="2400" i="1">
                            <a:latin typeface="Cambria Math" charset="0"/>
                          </a:rPr>
                          <m:t>𝑖</m:t>
                        </m:r>
                        <m:r>
                          <a:rPr lang="ru-RU" sz="2400" i="1">
                            <a:latin typeface="Cambria Math" charset="0"/>
                          </a:rPr>
                          <m:t>, </m:t>
                        </m:r>
                        <m:r>
                          <a:rPr lang="ru-RU" sz="2400" i="1">
                            <a:latin typeface="Cambria Math" charset="0"/>
                          </a:rPr>
                          <m:t>𝑢</m:t>
                        </m:r>
                      </m:e>
                    </m:d>
                    <m:r>
                      <a:rPr lang="ru-RU" sz="2400" b="0" i="1" smtClean="0">
                        <a:latin typeface="Cambria Math" charset="0"/>
                      </a:rPr>
                      <m:t>=</m:t>
                    </m:r>
                    <m:sSup>
                      <m:sSupPr>
                        <m:ctrlPr>
                          <a:rPr lang="ru-RU" sz="2400" i="1">
                            <a:latin typeface="Cambria Math" charset="0"/>
                          </a:rPr>
                        </m:ctrlPr>
                      </m:sSupPr>
                      <m:e>
                        <m:r>
                          <a:rPr lang="ru-RU" sz="2400" i="1">
                            <a:latin typeface="Cambria Math" charset="0"/>
                          </a:rPr>
                          <m:t>𝑞</m:t>
                        </m:r>
                      </m:e>
                      <m:sup>
                        <m:r>
                          <a:rPr lang="ru-RU" sz="2400" i="1" baseline="30000">
                            <a:latin typeface="Cambria Math" charset="0"/>
                          </a:rPr>
                          <m:t>𝑖</m:t>
                        </m:r>
                      </m:sup>
                    </m:sSup>
                  </m:oMath>
                </a14:m>
                <a:r>
                  <a:rPr lang="ru-RU" sz="2400" dirty="0"/>
                  <a:t>, где </a:t>
                </a:r>
                <a14:m>
                  <m:oMath xmlns:m="http://schemas.openxmlformats.org/officeDocument/2006/math">
                    <m:r>
                      <a:rPr lang="ru-RU" sz="2400" i="1">
                        <a:latin typeface="Cambria Math" charset="0"/>
                      </a:rPr>
                      <m:t>𝑞</m:t>
                    </m:r>
                    <m:r>
                      <a:rPr lang="ru-RU" sz="2400" i="1">
                        <a:latin typeface="Cambria Math" charset="0"/>
                      </a:rPr>
                      <m:t> &lt; 1 </m:t>
                    </m:r>
                  </m:oMath>
                </a14:m>
                <a:r>
                  <a:rPr lang="ru-RU" sz="2400" dirty="0"/>
                  <a:t>(вес экспоненциально убывает с увеличением расстояния</a:t>
                </a:r>
                <a:r>
                  <a:rPr lang="ru-RU" sz="2400" dirty="0" smtClean="0"/>
                  <a:t>).</a:t>
                </a:r>
              </a:p>
              <a:p>
                <a:pPr lvl="0" algn="just"/>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828801" y="546564"/>
                <a:ext cx="10363200" cy="3046988"/>
              </a:xfrm>
              <a:prstGeom prst="rect">
                <a:avLst/>
              </a:prstGeom>
              <a:blipFill rotWithShape="0">
                <a:blip r:embed="rId3"/>
                <a:stretch>
                  <a:fillRect l="-882" t="-1603" r="-882" b="-7214"/>
                </a:stretch>
              </a:blipFill>
            </p:spPr>
            <p:txBody>
              <a:bodyPr/>
              <a:lstStyle/>
              <a:p>
                <a:r>
                  <a:rPr lang="ru-RU">
                    <a:noFill/>
                  </a:rPr>
                  <a:t> </a:t>
                </a:r>
              </a:p>
            </p:txBody>
          </p:sp>
        </mc:Fallback>
      </mc:AlternateContent>
      <p:sp>
        <p:nvSpPr>
          <p:cNvPr id="8" name="Прямоугольник 7"/>
          <p:cNvSpPr/>
          <p:nvPr/>
        </p:nvSpPr>
        <p:spPr>
          <a:xfrm>
            <a:off x="956929" y="6396335"/>
            <a:ext cx="11426456" cy="461665"/>
          </a:xfrm>
          <a:prstGeom prst="rect">
            <a:avLst/>
          </a:prstGeom>
        </p:spPr>
        <p:txBody>
          <a:bodyPr wrap="square">
            <a:spAutoFit/>
          </a:bodyPr>
          <a:lstStyle/>
          <a:p>
            <a:pPr algn="ctr">
              <a:lnSpc>
                <a:spcPct val="120000"/>
              </a:lnSpc>
              <a:spcAft>
                <a:spcPts val="0"/>
              </a:spcAft>
            </a:pPr>
            <a:r>
              <a:rPr lang="ru-RU" sz="2000" i="1" dirty="0">
                <a:latin typeface="Times" charset="0"/>
                <a:ea typeface="Calibri" charset="0"/>
                <a:cs typeface="Times New Roman" charset="0"/>
              </a:rPr>
              <a:t>Рис. </a:t>
            </a:r>
            <a:r>
              <a:rPr lang="ru-RU" sz="2000" i="1" dirty="0" smtClean="0">
                <a:latin typeface="Times" charset="0"/>
                <a:ea typeface="Calibri" charset="0"/>
                <a:cs typeface="Times New Roman" charset="0"/>
              </a:rPr>
              <a:t> </a:t>
            </a:r>
            <a:r>
              <a:rPr lang="ru-RU" sz="2000" i="1" dirty="0">
                <a:solidFill>
                  <a:srgbClr val="2C2D2E"/>
                </a:solidFill>
                <a:latin typeface="Times" charset="0"/>
                <a:ea typeface="Calibri" charset="0"/>
                <a:cs typeface="Times New Roman" charset="0"/>
              </a:rPr>
              <a:t>Классификация</a:t>
            </a:r>
            <a:r>
              <a:rPr lang="ru-RU" sz="2000" dirty="0">
                <a:solidFill>
                  <a:srgbClr val="222222"/>
                </a:solidFill>
                <a:latin typeface="Helvetica" charset="0"/>
                <a:ea typeface="Times New Roman" charset="0"/>
                <a:cs typeface="Times New Roman" charset="0"/>
              </a:rPr>
              <a:t> </a:t>
            </a:r>
            <a:r>
              <a:rPr lang="ru-RU" sz="2000" i="1" dirty="0">
                <a:solidFill>
                  <a:srgbClr val="2C2D2E"/>
                </a:solidFill>
                <a:latin typeface="Times" charset="0"/>
                <a:ea typeface="Calibri" charset="0"/>
                <a:cs typeface="Times New Roman" charset="0"/>
              </a:rPr>
              <a:t>методом с постоянной шириной окна, и неравномерным разбросом точек</a:t>
            </a:r>
            <a:endParaRPr lang="ru-RU" dirty="0">
              <a:effectLst/>
              <a:latin typeface="Calibri" charset="0"/>
              <a:ea typeface="Calibri" charset="0"/>
              <a:cs typeface="Times New Roman" charset="0"/>
            </a:endParaRPr>
          </a:p>
        </p:txBody>
      </p:sp>
    </p:spTree>
    <p:extLst>
      <p:ext uri="{BB962C8B-B14F-4D97-AF65-F5344CB8AC3E}">
        <p14:creationId xmlns:p14="http://schemas.microsoft.com/office/powerpoint/2010/main" val="68878381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1892595" y="674155"/>
                <a:ext cx="10299405" cy="6344622"/>
              </a:xfrm>
              <a:prstGeom prst="rect">
                <a:avLst/>
              </a:prstGeom>
              <a:noFill/>
            </p:spPr>
            <p:txBody>
              <a:bodyPr wrap="square">
                <a:spAutoFit/>
              </a:bodyPr>
              <a:lstStyle/>
              <a:p>
                <a:pPr algn="just"/>
                <a:r>
                  <a:rPr lang="ru-RU" sz="2800" dirty="0" smtClean="0"/>
                  <a:t>Взвешенный </a:t>
                </a:r>
                <a:r>
                  <a:rPr lang="ru-RU" sz="2800" i="1" dirty="0" err="1"/>
                  <a:t>kNN</a:t>
                </a:r>
                <a:r>
                  <a:rPr lang="ru-RU" sz="2800" dirty="0"/>
                  <a:t> </a:t>
                </a:r>
                <a:r>
                  <a:rPr lang="ru-RU" sz="2800" dirty="0" smtClean="0"/>
                  <a:t>выполняет взвешивание </a:t>
                </a:r>
                <a:r>
                  <a:rPr lang="ru-RU" sz="2800" dirty="0"/>
                  <a:t>вклада каждого соседа в зависимости от его расстояния до классифицируемого объекта: чем ближе сосед, тем больше его вес. Это достигается путем умножения индикаторов в формуле классификации на веса, зависящие от расстояния. Рассмотрим два способа вычисления таких весов:</a:t>
                </a:r>
              </a:p>
              <a:p>
                <a:pPr lvl="0" algn="just"/>
                <a:r>
                  <a:rPr lang="ru-RU" sz="2800" dirty="0"/>
                  <a:t>Вес фиксированной ширины </a:t>
                </a:r>
                <a14:m>
                  <m:oMath xmlns:m="http://schemas.openxmlformats.org/officeDocument/2006/math">
                    <m:r>
                      <a:rPr lang="ru-RU" sz="2800" i="1">
                        <a:latin typeface="Cambria Math" charset="0"/>
                      </a:rPr>
                      <m:t>h</m:t>
                    </m:r>
                    <m:r>
                      <a:rPr lang="ru-RU" sz="2800" i="1">
                        <a:latin typeface="Cambria Math" charset="0"/>
                      </a:rPr>
                      <m:t>:</m:t>
                    </m:r>
                  </m:oMath>
                </a14:m>
                <a:r>
                  <a:rPr lang="ru-RU" sz="2800" dirty="0"/>
                  <a:t> </a:t>
                </a:r>
              </a:p>
              <a:p>
                <a:pPr algn="just"/>
                <a14:m>
                  <m:oMathPara xmlns:m="http://schemas.openxmlformats.org/officeDocument/2006/math">
                    <m:oMathParaPr>
                      <m:jc m:val="centerGroup"/>
                    </m:oMathParaPr>
                    <m:oMath xmlns:m="http://schemas.openxmlformats.org/officeDocument/2006/math">
                      <m:r>
                        <a:rPr lang="ru-RU" sz="2800" i="1">
                          <a:latin typeface="Cambria Math" charset="0"/>
                        </a:rPr>
                        <m:t>𝑤</m:t>
                      </m:r>
                      <m:r>
                        <a:rPr lang="ru-RU" sz="2800" i="1">
                          <a:latin typeface="Cambria Math" charset="0"/>
                        </a:rPr>
                        <m:t>(</m:t>
                      </m:r>
                      <m:r>
                        <a:rPr lang="ru-RU" sz="2800" i="1">
                          <a:latin typeface="Cambria Math" charset="0"/>
                        </a:rPr>
                        <m:t>𝑖</m:t>
                      </m:r>
                      <m:r>
                        <a:rPr lang="ru-RU" sz="2800" i="1">
                          <a:latin typeface="Cambria Math" charset="0"/>
                        </a:rPr>
                        <m:t>, </m:t>
                      </m:r>
                      <m:r>
                        <a:rPr lang="ru-RU" sz="2800" i="1">
                          <a:latin typeface="Cambria Math" charset="0"/>
                        </a:rPr>
                        <m:t>𝑢</m:t>
                      </m:r>
                      <m:r>
                        <a:rPr lang="ru-RU" sz="2800" i="1">
                          <a:latin typeface="Cambria Math" charset="0"/>
                        </a:rPr>
                        <m:t>) = </m:t>
                      </m:r>
                      <m:r>
                        <a:rPr lang="ru-RU" sz="2800" i="1">
                          <a:latin typeface="Cambria Math" charset="0"/>
                        </a:rPr>
                        <m:t>𝐾</m:t>
                      </m:r>
                      <m:d>
                        <m:dPr>
                          <m:ctrlPr>
                            <a:rPr lang="ru-RU" sz="2800" i="1">
                              <a:latin typeface="Cambria Math" charset="0"/>
                            </a:rPr>
                          </m:ctrlPr>
                        </m:dPr>
                        <m:e>
                          <m:f>
                            <m:fPr>
                              <m:ctrlPr>
                                <a:rPr lang="ru-RU" sz="2800" i="1">
                                  <a:latin typeface="Cambria Math" charset="0"/>
                                </a:rPr>
                              </m:ctrlPr>
                            </m:fPr>
                            <m:num>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e>
                              </m:d>
                            </m:num>
                            <m:den>
                              <m:r>
                                <a:rPr lang="ru-RU" sz="2800" i="1">
                                  <a:latin typeface="Cambria Math" charset="0"/>
                                </a:rPr>
                                <m:t>h</m:t>
                              </m:r>
                            </m:den>
                          </m:f>
                        </m:e>
                      </m:d>
                      <m:r>
                        <a:rPr lang="ru-RU" sz="2800" i="1">
                          <a:latin typeface="Cambria Math" charset="0"/>
                        </a:rPr>
                        <m:t>. </m:t>
                      </m:r>
                    </m:oMath>
                  </m:oMathPara>
                </a14:m>
                <a:endParaRPr lang="ru-RU" sz="2800" dirty="0"/>
              </a:p>
              <a:p>
                <a:pPr lvl="0" algn="just"/>
                <a:r>
                  <a:rPr lang="ru-RU" sz="2800" dirty="0"/>
                  <a:t>Вес переменной ширины: </a:t>
                </a:r>
              </a:p>
              <a:p>
                <a:pPr algn="just"/>
                <a14:m>
                  <m:oMathPara xmlns:m="http://schemas.openxmlformats.org/officeDocument/2006/math">
                    <m:oMathParaPr>
                      <m:jc m:val="centerGroup"/>
                    </m:oMathParaPr>
                    <m:oMath xmlns:m="http://schemas.openxmlformats.org/officeDocument/2006/math">
                      <m:r>
                        <a:rPr lang="ru-RU" sz="2800" i="1">
                          <a:latin typeface="Cambria Math" charset="0"/>
                        </a:rPr>
                        <m:t>𝑤</m:t>
                      </m:r>
                      <m:r>
                        <a:rPr lang="ru-RU" sz="2800" i="1">
                          <a:latin typeface="Cambria Math" charset="0"/>
                        </a:rPr>
                        <m:t>(</m:t>
                      </m:r>
                      <m:r>
                        <a:rPr lang="ru-RU" sz="2800" i="1">
                          <a:latin typeface="Cambria Math" charset="0"/>
                        </a:rPr>
                        <m:t>𝑖</m:t>
                      </m:r>
                      <m:r>
                        <a:rPr lang="ru-RU" sz="2800" i="1">
                          <a:latin typeface="Cambria Math" charset="0"/>
                        </a:rPr>
                        <m:t>, </m:t>
                      </m:r>
                      <m:r>
                        <a:rPr lang="ru-RU" sz="2800" i="1">
                          <a:latin typeface="Cambria Math" charset="0"/>
                        </a:rPr>
                        <m:t>𝑢</m:t>
                      </m:r>
                      <m:r>
                        <a:rPr lang="ru-RU" sz="2800" i="1">
                          <a:latin typeface="Cambria Math" charset="0"/>
                        </a:rPr>
                        <m:t>) = </m:t>
                      </m:r>
                      <m:r>
                        <a:rPr lang="ru-RU" sz="2800" i="1">
                          <a:latin typeface="Cambria Math" charset="0"/>
                        </a:rPr>
                        <m:t>𝐾</m:t>
                      </m:r>
                      <m:d>
                        <m:dPr>
                          <m:ctrlPr>
                            <a:rPr lang="ru-RU" sz="2800" i="1">
                              <a:latin typeface="Cambria Math" charset="0"/>
                            </a:rPr>
                          </m:ctrlPr>
                        </m:dPr>
                        <m:e>
                          <m:f>
                            <m:fPr>
                              <m:ctrlPr>
                                <a:rPr lang="ru-RU" sz="2800" i="1">
                                  <a:latin typeface="Cambria Math" charset="0"/>
                                </a:rPr>
                              </m:ctrlPr>
                            </m:fPr>
                            <m:num>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e>
                              </m:d>
                            </m:num>
                            <m:den>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𝑘</m:t>
                                      </m:r>
                                      <m:r>
                                        <a:rPr lang="ru-RU" sz="2800" i="1" baseline="-25000">
                                          <a:latin typeface="Cambria Math" charset="0"/>
                                        </a:rPr>
                                        <m:t>+1;</m:t>
                                      </m:r>
                                      <m:r>
                                        <a:rPr lang="ru-RU" sz="2800" i="1" baseline="-25000">
                                          <a:latin typeface="Cambria Math" charset="0"/>
                                        </a:rPr>
                                        <m:t>𝑢</m:t>
                                      </m:r>
                                    </m:sub>
                                  </m:sSub>
                                </m:e>
                              </m:d>
                            </m:den>
                          </m:f>
                        </m:e>
                      </m:d>
                      <m:r>
                        <a:rPr lang="ru-RU" sz="2800" i="1">
                          <a:latin typeface="Cambria Math" charset="0"/>
                        </a:rPr>
                        <m:t>.</m:t>
                      </m:r>
                    </m:oMath>
                  </m:oMathPara>
                </a14:m>
                <a:endParaRPr lang="ru-RU" sz="2800" dirty="0"/>
              </a:p>
              <a:p>
                <a:pPr algn="just"/>
                <a:r>
                  <a:rPr lang="ru-RU" sz="2800" dirty="0"/>
                  <a:t>где </a:t>
                </a:r>
                <a14:m>
                  <m:oMath xmlns:m="http://schemas.openxmlformats.org/officeDocument/2006/math">
                    <m:r>
                      <a:rPr lang="ru-RU" sz="2800" i="1">
                        <a:latin typeface="Cambria Math" charset="0"/>
                      </a:rPr>
                      <m:t>𝐾</m:t>
                    </m:r>
                    <m:r>
                      <a:rPr lang="ru-RU" sz="2800" i="1">
                        <a:latin typeface="Cambria Math" charset="0"/>
                      </a:rPr>
                      <m:t> −</m:t>
                    </m:r>
                  </m:oMath>
                </a14:m>
                <a:r>
                  <a:rPr lang="ru-RU" sz="2800" dirty="0"/>
                  <a:t> функция ядра, </a:t>
                </a:r>
                <a14:m>
                  <m:oMath xmlns:m="http://schemas.openxmlformats.org/officeDocument/2006/math">
                    <m:r>
                      <a:rPr lang="ru-RU" sz="2800" i="1">
                        <a:latin typeface="Cambria Math" charset="0"/>
                      </a:rPr>
                      <m:t>𝜌</m:t>
                    </m:r>
                    <m:r>
                      <a:rPr lang="ru-RU" sz="2800" i="1">
                        <a:latin typeface="Cambria Math" charset="0"/>
                      </a:rPr>
                      <m:t>(</m:t>
                    </m:r>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r>
                      <a:rPr lang="ru-RU" sz="2800" i="1">
                        <a:latin typeface="Cambria Math" charset="0"/>
                      </a:rPr>
                      <m:t>) </m:t>
                    </m:r>
                  </m:oMath>
                </a14:m>
                <a:r>
                  <a:rPr lang="ru-RU" sz="2800" dirty="0"/>
                  <a:t>— расстояние от объекта </a:t>
                </a:r>
                <a14:m>
                  <m:oMath xmlns:m="http://schemas.openxmlformats.org/officeDocument/2006/math">
                    <m:r>
                      <a:rPr lang="ru-RU" sz="2800" i="1">
                        <a:latin typeface="Cambria Math" charset="0"/>
                      </a:rPr>
                      <m:t>𝑢</m:t>
                    </m:r>
                  </m:oMath>
                </a14:m>
                <a:r>
                  <a:rPr lang="ru-RU" sz="2800" dirty="0"/>
                  <a:t> до </a:t>
                </a:r>
                <a14:m>
                  <m:oMath xmlns:m="http://schemas.openxmlformats.org/officeDocument/2006/math">
                    <m:r>
                      <a:rPr lang="ru-RU" sz="2800" i="1">
                        <a:latin typeface="Cambria Math" charset="0"/>
                      </a:rPr>
                      <m:t>𝑖</m:t>
                    </m:r>
                  </m:oMath>
                </a14:m>
                <a:r>
                  <a:rPr lang="ru-RU" sz="2800" dirty="0"/>
                  <a:t>-го соседа</a:t>
                </a:r>
                <a:r>
                  <a:rPr lang="ru-RU" sz="2800" dirty="0" smtClean="0"/>
                  <a:t>.</a:t>
                </a:r>
                <a:endParaRPr lang="ru-RU" sz="28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892595" y="674155"/>
                <a:ext cx="10299405" cy="6344622"/>
              </a:xfrm>
              <a:prstGeom prst="rect">
                <a:avLst/>
              </a:prstGeom>
              <a:blipFill rotWithShape="0">
                <a:blip r:embed="rId2"/>
                <a:stretch>
                  <a:fillRect l="-1183" t="-962" r="-1183" b="-1827"/>
                </a:stretch>
              </a:blipFill>
            </p:spPr>
            <p:txBody>
              <a:bodyPr/>
              <a:lstStyle/>
              <a:p>
                <a:r>
                  <a:rPr lang="ru-RU">
                    <a:noFill/>
                  </a:rPr>
                  <a:t> </a:t>
                </a:r>
              </a:p>
            </p:txBody>
          </p:sp>
        </mc:Fallback>
      </mc:AlternateContent>
    </p:spTree>
    <p:extLst>
      <p:ext uri="{BB962C8B-B14F-4D97-AF65-F5344CB8AC3E}">
        <p14:creationId xmlns:p14="http://schemas.microsoft.com/office/powerpoint/2010/main" val="1730796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1977657" y="652890"/>
                <a:ext cx="10214344" cy="5794663"/>
              </a:xfrm>
              <a:prstGeom prst="rect">
                <a:avLst/>
              </a:prstGeom>
              <a:noFill/>
            </p:spPr>
            <p:txBody>
              <a:bodyPr wrap="square">
                <a:spAutoFit/>
              </a:bodyPr>
              <a:lstStyle/>
              <a:p>
                <a:pPr algn="just"/>
                <a:r>
                  <a:rPr lang="ru-RU" sz="2800" dirty="0" smtClean="0"/>
                  <a:t>В </a:t>
                </a:r>
                <a:r>
                  <a:rPr lang="ru-RU" sz="2800" dirty="0"/>
                  <a:t>явном виде классификаторы выглядят так:</a:t>
                </a:r>
              </a:p>
              <a:p>
                <a:pPr lvl="0" algn="just"/>
                <a:r>
                  <a:rPr lang="ru-RU" sz="2800" dirty="0"/>
                  <a:t>Фиксированной ширины </a:t>
                </a:r>
                <a14:m>
                  <m:oMath xmlns:m="http://schemas.openxmlformats.org/officeDocument/2006/math">
                    <m:sSub>
                      <m:sSubPr>
                        <m:ctrlPr>
                          <a:rPr lang="ru-RU" sz="2800" i="1">
                            <a:latin typeface="Cambria Math" charset="0"/>
                          </a:rPr>
                        </m:ctrlPr>
                      </m:sSubPr>
                      <m:e>
                        <m:r>
                          <a:rPr lang="ru-RU" sz="2800" i="1">
                            <a:latin typeface="Cambria Math" charset="0"/>
                          </a:rPr>
                          <m:t>𝑎</m:t>
                        </m:r>
                      </m:e>
                      <m:sub>
                        <m:r>
                          <a:rPr lang="ru-RU" sz="2800" i="1">
                            <a:latin typeface="Cambria Math" charset="0"/>
                          </a:rPr>
                          <m:t>h</m:t>
                        </m:r>
                      </m:sub>
                    </m:sSub>
                  </m:oMath>
                </a14:m>
                <a:r>
                  <a:rPr lang="ru-RU" sz="2800" dirty="0"/>
                  <a:t>:</a:t>
                </a:r>
              </a:p>
              <a:p>
                <a:pPr algn="just"/>
                <a14:m>
                  <m:oMathPara xmlns:m="http://schemas.openxmlformats.org/officeDocument/2006/math">
                    <m:oMathParaPr>
                      <m:jc m:val="centerGroup"/>
                    </m:oMathParaPr>
                    <m:oMath xmlns:m="http://schemas.openxmlformats.org/officeDocument/2006/math">
                      <m:r>
                        <a:rPr lang="ru-RU" sz="2800" i="1">
                          <a:latin typeface="Cambria Math" charset="0"/>
                        </a:rPr>
                        <m:t> </m:t>
                      </m:r>
                      <m:sSub>
                        <m:sSubPr>
                          <m:ctrlPr>
                            <a:rPr lang="ru-RU" sz="2800" i="1">
                              <a:latin typeface="Cambria Math" charset="0"/>
                            </a:rPr>
                          </m:ctrlPr>
                        </m:sSubPr>
                        <m:e>
                          <m:r>
                            <a:rPr lang="ru-RU" sz="2800" i="1">
                              <a:latin typeface="Cambria Math" charset="0"/>
                            </a:rPr>
                            <m:t>𝑎</m:t>
                          </m:r>
                        </m:e>
                        <m:sub>
                          <m:r>
                            <a:rPr lang="ru-RU" sz="2800" i="1">
                              <a:latin typeface="Cambria Math" charset="0"/>
                            </a:rPr>
                            <m:t>h</m:t>
                          </m:r>
                        </m:sub>
                      </m:sSub>
                      <m:r>
                        <a:rPr lang="ru-RU" sz="2800" i="1">
                          <a:latin typeface="Cambria Math" charset="0"/>
                        </a:rPr>
                        <m:t>=</m:t>
                      </m:r>
                      <m:r>
                        <a:rPr lang="ru-RU" sz="2800" i="1">
                          <a:latin typeface="Cambria Math" charset="0"/>
                        </a:rPr>
                        <m:t>𝑎</m:t>
                      </m:r>
                      <m:r>
                        <a:rPr lang="ru-RU" sz="2800" i="1">
                          <a:latin typeface="Cambria Math" charset="0"/>
                        </a:rPr>
                        <m:t>(</m:t>
                      </m:r>
                      <m:r>
                        <a:rPr lang="ru-RU" sz="2800" i="1">
                          <a:latin typeface="Cambria Math" charset="0"/>
                        </a:rPr>
                        <m:t>𝑢</m:t>
                      </m:r>
                      <m:r>
                        <a:rPr lang="ru-RU" sz="2800" i="1">
                          <a:latin typeface="Cambria Math" charset="0"/>
                        </a:rPr>
                        <m:t>, </m:t>
                      </m:r>
                      <m:sSup>
                        <m:sSupPr>
                          <m:ctrlPr>
                            <a:rPr lang="ru-RU" sz="2800" i="1">
                              <a:latin typeface="Cambria Math" charset="0"/>
                            </a:rPr>
                          </m:ctrlPr>
                        </m:sSupPr>
                        <m:e>
                          <m:r>
                            <a:rPr lang="ru-RU" sz="2800" i="1">
                              <a:latin typeface="Cambria Math" charset="0"/>
                            </a:rPr>
                            <m:t>𝑋</m:t>
                          </m:r>
                        </m:e>
                        <m:sup>
                          <m:r>
                            <a:rPr lang="ru-RU" sz="2800" i="1" baseline="-25000">
                              <a:latin typeface="Cambria Math" charset="0"/>
                            </a:rPr>
                            <m:t>𝑚</m:t>
                          </m:r>
                        </m:sup>
                      </m:sSup>
                      <m:r>
                        <a:rPr lang="ru-RU" sz="2800" i="1">
                          <a:latin typeface="Cambria Math" charset="0"/>
                        </a:rPr>
                        <m:t>, </m:t>
                      </m:r>
                      <m:r>
                        <a:rPr lang="ru-RU" sz="2800" i="1">
                          <a:latin typeface="Cambria Math" charset="0"/>
                        </a:rPr>
                        <m:t>h</m:t>
                      </m:r>
                      <m:r>
                        <a:rPr lang="ru-RU" sz="2800" i="1">
                          <a:latin typeface="Cambria Math" charset="0"/>
                        </a:rPr>
                        <m:t>, </m:t>
                      </m:r>
                      <m:r>
                        <a:rPr lang="ru-RU" sz="2800" i="1">
                          <a:latin typeface="Cambria Math" charset="0"/>
                        </a:rPr>
                        <m:t>𝐾</m:t>
                      </m:r>
                      <m:r>
                        <a:rPr lang="ru-RU" sz="2800" i="1">
                          <a:latin typeface="Cambria Math" charset="0"/>
                        </a:rPr>
                        <m:t>) = </m:t>
                      </m:r>
                      <m:r>
                        <a:rPr lang="ru-RU" sz="2800" i="1">
                          <a:latin typeface="Cambria Math" charset="0"/>
                        </a:rPr>
                        <m:t>𝑎𝑟𝑔</m:t>
                      </m:r>
                      <m:func>
                        <m:funcPr>
                          <m:ctrlPr>
                            <a:rPr lang="ru-RU" sz="2800" i="1">
                              <a:latin typeface="Cambria Math" charset="0"/>
                            </a:rPr>
                          </m:ctrlPr>
                        </m:funcPr>
                        <m:fName>
                          <m:limLow>
                            <m:limLowPr>
                              <m:ctrlPr>
                                <a:rPr lang="ru-RU" sz="2800" i="1">
                                  <a:latin typeface="Cambria Math" charset="0"/>
                                </a:rPr>
                              </m:ctrlPr>
                            </m:limLowPr>
                            <m:e>
                              <m:r>
                                <m:rPr>
                                  <m:sty m:val="p"/>
                                </m:rPr>
                                <a:rPr lang="ru-RU" sz="2800">
                                  <a:latin typeface="Cambria Math" charset="0"/>
                                </a:rPr>
                                <m:t>max</m:t>
                              </m:r>
                            </m:e>
                            <m:lim>
                              <m:r>
                                <a:rPr lang="ru-RU" sz="2800" i="1" baseline="-25000">
                                  <a:latin typeface="Cambria Math" charset="0"/>
                                </a:rPr>
                                <m:t>𝑦</m:t>
                              </m:r>
                              <m:r>
                                <a:rPr lang="ru-RU" sz="2800" i="1" baseline="-25000">
                                  <a:latin typeface="Cambria Math" charset="0"/>
                                </a:rPr>
                                <m:t>∈</m:t>
                              </m:r>
                              <m:r>
                                <a:rPr lang="ru-RU" sz="2800" i="1" baseline="-25000">
                                  <a:latin typeface="Cambria Math" charset="0"/>
                                </a:rPr>
                                <m:t>𝑌</m:t>
                              </m:r>
                            </m:lim>
                          </m:limLow>
                        </m:fName>
                        <m:e>
                          <m:nary>
                            <m:naryPr>
                              <m:chr m:val="∑"/>
                              <m:limLoc m:val="undOvr"/>
                              <m:ctrlPr>
                                <a:rPr lang="ru-RU" sz="2800" i="1">
                                  <a:latin typeface="Cambria Math" charset="0"/>
                                </a:rPr>
                              </m:ctrlPr>
                            </m:naryPr>
                            <m:sub>
                              <m:r>
                                <a:rPr lang="ru-RU" sz="2800" i="1" baseline="-25000">
                                  <a:latin typeface="Cambria Math" charset="0"/>
                                </a:rPr>
                                <m:t>𝑖</m:t>
                              </m:r>
                              <m:r>
                                <a:rPr lang="ru-RU" sz="2800" i="1" baseline="-25000">
                                  <a:latin typeface="Cambria Math" charset="0"/>
                                </a:rPr>
                                <m:t>=1</m:t>
                              </m:r>
                            </m:sub>
                            <m:sup>
                              <m:r>
                                <a:rPr lang="ru-RU" sz="2800" i="1" baseline="30000">
                                  <a:latin typeface="Cambria Math" charset="0"/>
                                </a:rPr>
                                <m:t>𝑚</m:t>
                              </m:r>
                            </m:sup>
                            <m:e>
                              <m:d>
                                <m:dPr>
                                  <m:begChr m:val="["/>
                                  <m:endChr m:val="]"/>
                                  <m:ctrlPr>
                                    <a:rPr lang="ru-RU" sz="2800" i="1">
                                      <a:latin typeface="Cambria Math" charset="0"/>
                                    </a:rPr>
                                  </m:ctrlPr>
                                </m:dPr>
                                <m:e>
                                  <m:sSub>
                                    <m:sSubPr>
                                      <m:ctrlPr>
                                        <a:rPr lang="ru-RU" sz="2800" i="1">
                                          <a:latin typeface="Cambria Math" charset="0"/>
                                        </a:rPr>
                                      </m:ctrlPr>
                                    </m:sSubPr>
                                    <m:e>
                                      <m:r>
                                        <a:rPr lang="ru-RU" sz="2800" i="1">
                                          <a:latin typeface="Cambria Math" charset="0"/>
                                        </a:rPr>
                                        <m:t>𝑦</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r>
                                    <a:rPr lang="ru-RU" sz="2800" i="1">
                                      <a:latin typeface="Cambria Math" charset="0"/>
                                    </a:rPr>
                                    <m:t> = </m:t>
                                  </m:r>
                                  <m:r>
                                    <a:rPr lang="ru-RU" sz="2800" i="1">
                                      <a:latin typeface="Cambria Math" charset="0"/>
                                    </a:rPr>
                                    <m:t>𝑦</m:t>
                                  </m:r>
                                </m:e>
                              </m:d>
                              <m:r>
                                <a:rPr lang="ru-RU" sz="2800" i="1">
                                  <a:latin typeface="Cambria Math" charset="0"/>
                                </a:rPr>
                                <m:t>𝐾</m:t>
                              </m:r>
                              <m:d>
                                <m:dPr>
                                  <m:ctrlPr>
                                    <a:rPr lang="ru-RU" sz="2800" i="1">
                                      <a:latin typeface="Cambria Math" charset="0"/>
                                    </a:rPr>
                                  </m:ctrlPr>
                                </m:dPr>
                                <m:e>
                                  <m:f>
                                    <m:fPr>
                                      <m:ctrlPr>
                                        <a:rPr lang="ru-RU" sz="2800" i="1">
                                          <a:latin typeface="Cambria Math" charset="0"/>
                                        </a:rPr>
                                      </m:ctrlPr>
                                    </m:fPr>
                                    <m:num>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e>
                                      </m:d>
                                    </m:num>
                                    <m:den>
                                      <m:r>
                                        <a:rPr lang="ru-RU" sz="2800" i="1">
                                          <a:latin typeface="Cambria Math" charset="0"/>
                                        </a:rPr>
                                        <m:t>h</m:t>
                                      </m:r>
                                    </m:den>
                                  </m:f>
                                </m:e>
                              </m:d>
                              <m:r>
                                <a:rPr lang="ru-RU" sz="2800" i="1">
                                  <a:latin typeface="Cambria Math" charset="0"/>
                                </a:rPr>
                                <m:t>.</m:t>
                              </m:r>
                            </m:e>
                          </m:nary>
                        </m:e>
                      </m:func>
                      <m:r>
                        <a:rPr lang="ru-RU" sz="2800" i="1">
                          <a:latin typeface="Cambria Math" charset="0"/>
                        </a:rPr>
                        <m:t> </m:t>
                      </m:r>
                    </m:oMath>
                  </m:oMathPara>
                </a14:m>
                <a:endParaRPr lang="ru-RU" sz="2800" dirty="0"/>
              </a:p>
              <a:p>
                <a:pPr algn="just"/>
                <a14:m>
                  <m:oMath xmlns:m="http://schemas.openxmlformats.org/officeDocument/2006/math">
                    <m:sSub>
                      <m:sSubPr>
                        <m:ctrlPr>
                          <a:rPr lang="ru-RU" sz="2800" i="1">
                            <a:latin typeface="Cambria Math" charset="0"/>
                          </a:rPr>
                        </m:ctrlPr>
                      </m:sSubPr>
                      <m:e>
                        <m:r>
                          <a:rPr lang="ru-RU" sz="2800" i="1">
                            <a:latin typeface="Cambria Math" charset="0"/>
                          </a:rPr>
                          <m:t>𝑎</m:t>
                        </m:r>
                      </m:e>
                      <m:sub>
                        <m:r>
                          <a:rPr lang="ru-RU" sz="2800" i="1">
                            <a:latin typeface="Cambria Math" charset="0"/>
                          </a:rPr>
                          <m:t>h</m:t>
                        </m:r>
                      </m:sub>
                    </m:sSub>
                  </m:oMath>
                </a14:m>
                <a:r>
                  <a:rPr lang="ru-RU" sz="2800" dirty="0"/>
                  <a:t> учитывает только соседей, находящихся на расстоянии не больше </a:t>
                </a:r>
                <a14:m>
                  <m:oMath xmlns:m="http://schemas.openxmlformats.org/officeDocument/2006/math">
                    <m:r>
                      <a:rPr lang="ru-RU" sz="2800" i="1">
                        <a:latin typeface="Cambria Math" charset="0"/>
                      </a:rPr>
                      <m:t>h</m:t>
                    </m:r>
                  </m:oMath>
                </a14:m>
                <a:r>
                  <a:rPr lang="ru-RU" sz="2800" dirty="0"/>
                  <a:t>, взвешивая их в соответствии с функцией ядра </a:t>
                </a:r>
                <a14:m>
                  <m:oMath xmlns:m="http://schemas.openxmlformats.org/officeDocument/2006/math">
                    <m:r>
                      <a:rPr lang="ru-RU" sz="2800" i="1">
                        <a:latin typeface="Cambria Math" charset="0"/>
                      </a:rPr>
                      <m:t>𝐾</m:t>
                    </m:r>
                  </m:oMath>
                </a14:m>
                <a:r>
                  <a:rPr lang="ru-RU" sz="2800" dirty="0"/>
                  <a:t>.</a:t>
                </a:r>
              </a:p>
              <a:p>
                <a:pPr lvl="0" algn="just"/>
                <a:r>
                  <a:rPr lang="ru-RU" sz="2800" dirty="0"/>
                  <a:t>Переменной ширины </a:t>
                </a:r>
                <a14:m>
                  <m:oMath xmlns:m="http://schemas.openxmlformats.org/officeDocument/2006/math">
                    <m:sSub>
                      <m:sSubPr>
                        <m:ctrlPr>
                          <a:rPr lang="ru-RU" sz="2800" i="1">
                            <a:latin typeface="Cambria Math" charset="0"/>
                          </a:rPr>
                        </m:ctrlPr>
                      </m:sSubPr>
                      <m:e>
                        <m:r>
                          <a:rPr lang="ru-RU" sz="2800" i="1">
                            <a:latin typeface="Cambria Math" charset="0"/>
                          </a:rPr>
                          <m:t>𝑎</m:t>
                        </m:r>
                      </m:e>
                      <m:sub>
                        <m:r>
                          <a:rPr lang="ru-RU" sz="2800" i="1">
                            <a:latin typeface="Cambria Math" charset="0"/>
                          </a:rPr>
                          <m:t>𝑘</m:t>
                        </m:r>
                      </m:sub>
                    </m:sSub>
                  </m:oMath>
                </a14:m>
                <a:r>
                  <a:rPr lang="ru-RU" sz="2800" dirty="0"/>
                  <a:t>: </a:t>
                </a:r>
              </a:p>
              <a:p>
                <a:pPr algn="just"/>
                <a14:m>
                  <m:oMathPara xmlns:m="http://schemas.openxmlformats.org/officeDocument/2006/math">
                    <m:oMathParaPr>
                      <m:jc m:val="centerGroup"/>
                    </m:oMathParaPr>
                    <m:oMath xmlns:m="http://schemas.openxmlformats.org/officeDocument/2006/math">
                      <m:r>
                        <a:rPr lang="ru-RU" sz="2800" i="1">
                          <a:latin typeface="Cambria Math" charset="0"/>
                        </a:rPr>
                        <m:t> </m:t>
                      </m:r>
                      <m:sSub>
                        <m:sSubPr>
                          <m:ctrlPr>
                            <a:rPr lang="ru-RU" sz="2800" i="1">
                              <a:latin typeface="Cambria Math" charset="0"/>
                            </a:rPr>
                          </m:ctrlPr>
                        </m:sSubPr>
                        <m:e>
                          <m:r>
                            <a:rPr lang="ru-RU" sz="2800" i="1">
                              <a:latin typeface="Cambria Math" charset="0"/>
                            </a:rPr>
                            <m:t>𝑎</m:t>
                          </m:r>
                        </m:e>
                        <m:sub>
                          <m:r>
                            <a:rPr lang="ru-RU" sz="2800" i="1">
                              <a:latin typeface="Cambria Math" charset="0"/>
                            </a:rPr>
                            <m:t>𝑘</m:t>
                          </m:r>
                        </m:sub>
                      </m:sSub>
                      <m:r>
                        <a:rPr lang="ru-RU" sz="2800" i="1">
                          <a:latin typeface="Cambria Math" charset="0"/>
                        </a:rPr>
                        <m:t>=</m:t>
                      </m:r>
                      <m:r>
                        <a:rPr lang="ru-RU" sz="2800" i="1">
                          <a:latin typeface="Cambria Math" charset="0"/>
                        </a:rPr>
                        <m:t>𝑎</m:t>
                      </m:r>
                      <m:r>
                        <a:rPr lang="ru-RU" sz="2800" i="1">
                          <a:latin typeface="Cambria Math" charset="0"/>
                        </a:rPr>
                        <m:t>(</m:t>
                      </m:r>
                      <m:r>
                        <a:rPr lang="ru-RU" sz="2800" i="1">
                          <a:latin typeface="Cambria Math" charset="0"/>
                        </a:rPr>
                        <m:t>𝑢</m:t>
                      </m:r>
                      <m:r>
                        <a:rPr lang="ru-RU" sz="2800" i="1">
                          <a:latin typeface="Cambria Math" charset="0"/>
                        </a:rPr>
                        <m:t>, </m:t>
                      </m:r>
                      <m:sSup>
                        <m:sSupPr>
                          <m:ctrlPr>
                            <a:rPr lang="ru-RU" sz="2800" i="1">
                              <a:latin typeface="Cambria Math" charset="0"/>
                            </a:rPr>
                          </m:ctrlPr>
                        </m:sSupPr>
                        <m:e>
                          <m:r>
                            <a:rPr lang="ru-RU" sz="2800" i="1">
                              <a:latin typeface="Cambria Math" charset="0"/>
                            </a:rPr>
                            <m:t>𝑋</m:t>
                          </m:r>
                        </m:e>
                        <m:sup>
                          <m:r>
                            <a:rPr lang="ru-RU" sz="2800" i="1" baseline="-25000">
                              <a:latin typeface="Cambria Math" charset="0"/>
                            </a:rPr>
                            <m:t>𝑚</m:t>
                          </m:r>
                        </m:sup>
                      </m:sSup>
                      <m:r>
                        <a:rPr lang="ru-RU" sz="2800" i="1">
                          <a:latin typeface="Cambria Math" charset="0"/>
                        </a:rPr>
                        <m:t>, </m:t>
                      </m:r>
                      <m:r>
                        <a:rPr lang="ru-RU" sz="2800" i="1">
                          <a:latin typeface="Cambria Math" charset="0"/>
                        </a:rPr>
                        <m:t>h</m:t>
                      </m:r>
                      <m:r>
                        <a:rPr lang="ru-RU" sz="2800" i="1">
                          <a:latin typeface="Cambria Math" charset="0"/>
                        </a:rPr>
                        <m:t>, </m:t>
                      </m:r>
                      <m:r>
                        <a:rPr lang="ru-RU" sz="2800" i="1">
                          <a:latin typeface="Cambria Math" charset="0"/>
                        </a:rPr>
                        <m:t>𝐾</m:t>
                      </m:r>
                      <m:r>
                        <a:rPr lang="ru-RU" sz="2800" i="1">
                          <a:latin typeface="Cambria Math" charset="0"/>
                        </a:rPr>
                        <m:t>) = </m:t>
                      </m:r>
                      <m:r>
                        <a:rPr lang="ru-RU" sz="2800" i="1">
                          <a:latin typeface="Cambria Math" charset="0"/>
                        </a:rPr>
                        <m:t>𝑎𝑟𝑔</m:t>
                      </m:r>
                      <m:func>
                        <m:funcPr>
                          <m:ctrlPr>
                            <a:rPr lang="ru-RU" sz="2800" i="1">
                              <a:latin typeface="Cambria Math" charset="0"/>
                            </a:rPr>
                          </m:ctrlPr>
                        </m:funcPr>
                        <m:fName>
                          <m:limLow>
                            <m:limLowPr>
                              <m:ctrlPr>
                                <a:rPr lang="ru-RU" sz="2800" i="1">
                                  <a:latin typeface="Cambria Math" charset="0"/>
                                </a:rPr>
                              </m:ctrlPr>
                            </m:limLowPr>
                            <m:e>
                              <m:r>
                                <m:rPr>
                                  <m:sty m:val="p"/>
                                </m:rPr>
                                <a:rPr lang="ru-RU" sz="2800">
                                  <a:latin typeface="Cambria Math" charset="0"/>
                                </a:rPr>
                                <m:t>max</m:t>
                              </m:r>
                            </m:e>
                            <m:lim>
                              <m:r>
                                <a:rPr lang="ru-RU" sz="2800" i="1" baseline="-25000">
                                  <a:latin typeface="Cambria Math" charset="0"/>
                                </a:rPr>
                                <m:t>𝑦</m:t>
                              </m:r>
                              <m:r>
                                <a:rPr lang="ru-RU" sz="2800" i="1" baseline="-25000">
                                  <a:latin typeface="Cambria Math" charset="0"/>
                                </a:rPr>
                                <m:t>∈</m:t>
                              </m:r>
                              <m:r>
                                <a:rPr lang="ru-RU" sz="2800" i="1" baseline="-25000">
                                  <a:latin typeface="Cambria Math" charset="0"/>
                                </a:rPr>
                                <m:t>𝑌</m:t>
                              </m:r>
                            </m:lim>
                          </m:limLow>
                        </m:fName>
                        <m:e>
                          <m:nary>
                            <m:naryPr>
                              <m:chr m:val="∑"/>
                              <m:limLoc m:val="undOvr"/>
                              <m:ctrlPr>
                                <a:rPr lang="ru-RU" sz="2800" i="1">
                                  <a:latin typeface="Cambria Math" charset="0"/>
                                </a:rPr>
                              </m:ctrlPr>
                            </m:naryPr>
                            <m:sub>
                              <m:r>
                                <a:rPr lang="ru-RU" sz="2800" i="1" baseline="-25000">
                                  <a:latin typeface="Cambria Math" charset="0"/>
                                </a:rPr>
                                <m:t>𝑖</m:t>
                              </m:r>
                              <m:r>
                                <a:rPr lang="ru-RU" sz="2800" i="1" baseline="-25000">
                                  <a:latin typeface="Cambria Math" charset="0"/>
                                </a:rPr>
                                <m:t>=1</m:t>
                              </m:r>
                            </m:sub>
                            <m:sup>
                              <m:r>
                                <a:rPr lang="ru-RU" sz="2800" i="1" baseline="30000">
                                  <a:latin typeface="Cambria Math" charset="0"/>
                                </a:rPr>
                                <m:t>𝑚</m:t>
                              </m:r>
                            </m:sup>
                            <m:e>
                              <m:d>
                                <m:dPr>
                                  <m:begChr m:val="["/>
                                  <m:endChr m:val="]"/>
                                  <m:ctrlPr>
                                    <a:rPr lang="ru-RU" sz="2800" i="1">
                                      <a:latin typeface="Cambria Math" charset="0"/>
                                    </a:rPr>
                                  </m:ctrlPr>
                                </m:dPr>
                                <m:e>
                                  <m:sSub>
                                    <m:sSubPr>
                                      <m:ctrlPr>
                                        <a:rPr lang="ru-RU" sz="2800" i="1">
                                          <a:latin typeface="Cambria Math" charset="0"/>
                                        </a:rPr>
                                      </m:ctrlPr>
                                    </m:sSubPr>
                                    <m:e>
                                      <m:r>
                                        <a:rPr lang="ru-RU" sz="2800" i="1">
                                          <a:latin typeface="Cambria Math" charset="0"/>
                                        </a:rPr>
                                        <m:t>𝑦</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r>
                                    <a:rPr lang="ru-RU" sz="2800" i="1">
                                      <a:latin typeface="Cambria Math" charset="0"/>
                                    </a:rPr>
                                    <m:t> = </m:t>
                                  </m:r>
                                  <m:r>
                                    <a:rPr lang="ru-RU" sz="2800" i="1">
                                      <a:latin typeface="Cambria Math" charset="0"/>
                                    </a:rPr>
                                    <m:t>𝑦</m:t>
                                  </m:r>
                                </m:e>
                              </m:d>
                              <m:r>
                                <a:rPr lang="ru-RU" sz="2800" i="1">
                                  <a:latin typeface="Cambria Math" charset="0"/>
                                </a:rPr>
                                <m:t>𝐾</m:t>
                              </m:r>
                              <m:d>
                                <m:dPr>
                                  <m:ctrlPr>
                                    <a:rPr lang="ru-RU" sz="2800" i="1">
                                      <a:latin typeface="Cambria Math" charset="0"/>
                                    </a:rPr>
                                  </m:ctrlPr>
                                </m:dPr>
                                <m:e>
                                  <m:f>
                                    <m:fPr>
                                      <m:ctrlPr>
                                        <a:rPr lang="ru-RU" sz="2800" i="1">
                                          <a:latin typeface="Cambria Math" charset="0"/>
                                        </a:rPr>
                                      </m:ctrlPr>
                                    </m:fPr>
                                    <m:num>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𝑖</m:t>
                                              </m:r>
                                              <m:r>
                                                <a:rPr lang="ru-RU" sz="2800" i="1" baseline="-25000">
                                                  <a:latin typeface="Cambria Math" charset="0"/>
                                                </a:rPr>
                                                <m:t>,</m:t>
                                              </m:r>
                                              <m:r>
                                                <a:rPr lang="ru-RU" sz="2800" i="1" baseline="-25000">
                                                  <a:latin typeface="Cambria Math" charset="0"/>
                                                </a:rPr>
                                                <m:t>𝑢</m:t>
                                              </m:r>
                                            </m:sub>
                                          </m:sSub>
                                        </m:e>
                                      </m:d>
                                    </m:num>
                                    <m:den>
                                      <m:r>
                                        <a:rPr lang="ru-RU" sz="2800" i="1">
                                          <a:latin typeface="Cambria Math" charset="0"/>
                                        </a:rPr>
                                        <m:t>𝜌</m:t>
                                      </m:r>
                                      <m:d>
                                        <m:dPr>
                                          <m:ctrlPr>
                                            <a:rPr lang="ru-RU" sz="2800" i="1">
                                              <a:latin typeface="Cambria Math" charset="0"/>
                                            </a:rPr>
                                          </m:ctrlPr>
                                        </m:dPr>
                                        <m:e>
                                          <m:r>
                                            <a:rPr lang="ru-RU" sz="2800" i="1">
                                              <a:latin typeface="Cambria Math" charset="0"/>
                                            </a:rPr>
                                            <m:t>𝑢</m:t>
                                          </m:r>
                                          <m:r>
                                            <a:rPr lang="ru-RU" sz="2800" i="1">
                                              <a:latin typeface="Cambria Math" charset="0"/>
                                            </a:rPr>
                                            <m:t>, </m:t>
                                          </m:r>
                                          <m:sSub>
                                            <m:sSubPr>
                                              <m:ctrlPr>
                                                <a:rPr lang="ru-RU" sz="2800" i="1">
                                                  <a:latin typeface="Cambria Math" charset="0"/>
                                                </a:rPr>
                                              </m:ctrlPr>
                                            </m:sSubPr>
                                            <m:e>
                                              <m:r>
                                                <a:rPr lang="ru-RU" sz="2800" i="1">
                                                  <a:latin typeface="Cambria Math" charset="0"/>
                                                </a:rPr>
                                                <m:t>𝑥</m:t>
                                              </m:r>
                                            </m:e>
                                            <m:sub>
                                              <m:r>
                                                <a:rPr lang="ru-RU" sz="2800" i="1" baseline="-25000">
                                                  <a:latin typeface="Cambria Math" charset="0"/>
                                                </a:rPr>
                                                <m:t>𝑘</m:t>
                                              </m:r>
                                              <m:r>
                                                <a:rPr lang="ru-RU" sz="2800" i="1" baseline="-25000">
                                                  <a:latin typeface="Cambria Math" charset="0"/>
                                                </a:rPr>
                                                <m:t>+1,</m:t>
                                              </m:r>
                                              <m:r>
                                                <a:rPr lang="ru-RU" sz="2800" i="1" baseline="-25000">
                                                  <a:latin typeface="Cambria Math" charset="0"/>
                                                </a:rPr>
                                                <m:t>𝑢</m:t>
                                              </m:r>
                                            </m:sub>
                                          </m:sSub>
                                        </m:e>
                                      </m:d>
                                    </m:den>
                                  </m:f>
                                </m:e>
                              </m:d>
                              <m:r>
                                <a:rPr lang="ru-RU" sz="2800" i="1">
                                  <a:latin typeface="Cambria Math" charset="0"/>
                                </a:rPr>
                                <m:t>.</m:t>
                              </m:r>
                            </m:e>
                          </m:nary>
                        </m:e>
                      </m:func>
                      <m:r>
                        <a:rPr lang="ru-RU" sz="2800" i="1">
                          <a:latin typeface="Cambria Math" charset="0"/>
                        </a:rPr>
                        <m:t> </m:t>
                      </m:r>
                    </m:oMath>
                  </m:oMathPara>
                </a14:m>
                <a:endParaRPr lang="ru-RU" sz="2800" dirty="0"/>
              </a:p>
              <a:p>
                <a:pPr algn="just"/>
                <a14:m>
                  <m:oMath xmlns:m="http://schemas.openxmlformats.org/officeDocument/2006/math">
                    <m:sSub>
                      <m:sSubPr>
                        <m:ctrlPr>
                          <a:rPr lang="ru-RU" sz="2800" i="1">
                            <a:latin typeface="Cambria Math" charset="0"/>
                          </a:rPr>
                        </m:ctrlPr>
                      </m:sSubPr>
                      <m:e>
                        <m:r>
                          <a:rPr lang="ru-RU" sz="2800" i="1">
                            <a:latin typeface="Cambria Math" charset="0"/>
                          </a:rPr>
                          <m:t>𝑎</m:t>
                        </m:r>
                      </m:e>
                      <m:sub>
                        <m:r>
                          <a:rPr lang="ru-RU" sz="2800" i="1">
                            <a:latin typeface="Cambria Math" charset="0"/>
                          </a:rPr>
                          <m:t>𝑘</m:t>
                        </m:r>
                      </m:sub>
                    </m:sSub>
                  </m:oMath>
                </a14:m>
                <a:r>
                  <a:rPr lang="ru-RU" sz="2800" dirty="0"/>
                  <a:t> является аналогом метода </a:t>
                </a:r>
                <a14:m>
                  <m:oMath xmlns:m="http://schemas.openxmlformats.org/officeDocument/2006/math">
                    <m:r>
                      <a:rPr lang="ru-RU" sz="2800" i="1">
                        <a:latin typeface="Cambria Math" charset="0"/>
                      </a:rPr>
                      <m:t>𝑘</m:t>
                    </m:r>
                  </m:oMath>
                </a14:m>
                <a:r>
                  <a:rPr lang="ru-RU" sz="2800" dirty="0"/>
                  <a:t> ближайших соседей, где вклад каждого соседа тем больше, чем он ближе к классифицируемому объекту. Соседи дальше, чем </a:t>
                </a:r>
                <a14:m>
                  <m:oMath xmlns:m="http://schemas.openxmlformats.org/officeDocument/2006/math">
                    <m:r>
                      <a:rPr lang="ru-RU" sz="2800" i="1">
                        <a:latin typeface="Cambria Math" charset="0"/>
                      </a:rPr>
                      <m:t>𝑘</m:t>
                    </m:r>
                    <m:r>
                      <a:rPr lang="ru-RU" sz="2800" i="1">
                        <a:latin typeface="Cambria Math" charset="0"/>
                      </a:rPr>
                      <m:t>+1</m:t>
                    </m:r>
                  </m:oMath>
                </a14:m>
                <a:r>
                  <a:rPr lang="ru-RU" sz="2800" dirty="0"/>
                  <a:t>-</a:t>
                </a:r>
                <a:r>
                  <a:rPr lang="ru-RU" sz="2800" dirty="0" err="1"/>
                  <a:t>ый</a:t>
                </a:r>
                <a:r>
                  <a:rPr lang="ru-RU" sz="2800" dirty="0"/>
                  <a:t> влияния не оказывают.</a:t>
                </a:r>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1977657" y="652890"/>
                <a:ext cx="10214344" cy="5794663"/>
              </a:xfrm>
              <a:prstGeom prst="rect">
                <a:avLst/>
              </a:prstGeom>
              <a:blipFill rotWithShape="0">
                <a:blip r:embed="rId2"/>
                <a:stretch>
                  <a:fillRect l="-1193" t="-946" r="-1253" b="-2208"/>
                </a:stretch>
              </a:blipFill>
            </p:spPr>
            <p:txBody>
              <a:bodyPr/>
              <a:lstStyle/>
              <a:p>
                <a:r>
                  <a:rPr lang="ru-RU">
                    <a:noFill/>
                  </a:rPr>
                  <a:t> </a:t>
                </a:r>
              </a:p>
            </p:txBody>
          </p:sp>
        </mc:Fallback>
      </mc:AlternateContent>
    </p:spTree>
    <p:extLst>
      <p:ext uri="{BB962C8B-B14F-4D97-AF65-F5344CB8AC3E}">
        <p14:creationId xmlns:p14="http://schemas.microsoft.com/office/powerpoint/2010/main" val="89194157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64531"/>
            <a:ext cx="12191999" cy="548993"/>
          </a:xfrm>
        </p:spPr>
        <p:txBody>
          <a:bodyPr>
            <a:noAutofit/>
          </a:bodyPr>
          <a:lstStyle/>
          <a:p>
            <a:pPr algn="ctr"/>
            <a:r>
              <a:rPr lang="ru-RU" b="1" dirty="0"/>
              <a:t>Метод </a:t>
            </a:r>
            <a:r>
              <a:rPr lang="ru-RU" b="1" dirty="0" err="1" smtClean="0"/>
              <a:t>k</a:t>
            </a:r>
            <a:r>
              <a:rPr lang="ru-RU" b="1" dirty="0" smtClean="0"/>
              <a:t>-ближайших </a:t>
            </a:r>
            <a:r>
              <a:rPr lang="ru-RU" b="1" dirty="0"/>
              <a:t>соседей </a:t>
            </a:r>
          </a:p>
        </p:txBody>
      </p:sp>
      <mc:AlternateContent xmlns:mc="http://schemas.openxmlformats.org/markup-compatibility/2006" xmlns:a14="http://schemas.microsoft.com/office/drawing/2010/main">
        <mc:Choice Requires="a14">
          <p:sp>
            <p:nvSpPr>
              <p:cNvPr id="17" name="Прямоугольник 16"/>
              <p:cNvSpPr/>
              <p:nvPr/>
            </p:nvSpPr>
            <p:spPr>
              <a:xfrm>
                <a:off x="2211571" y="765225"/>
                <a:ext cx="9980429" cy="5808065"/>
              </a:xfrm>
              <a:prstGeom prst="rect">
                <a:avLst/>
              </a:prstGeom>
              <a:noFill/>
            </p:spPr>
            <p:txBody>
              <a:bodyPr wrap="square">
                <a:spAutoFit/>
              </a:bodyPr>
              <a:lstStyle/>
              <a:p>
                <a:pPr algn="just"/>
                <a:r>
                  <a:rPr lang="ru-RU" sz="2400" dirty="0" smtClean="0"/>
                  <a:t>Примеры </a:t>
                </a:r>
                <a:r>
                  <a:rPr lang="ru-RU" sz="2400" dirty="0"/>
                  <a:t>функций ядра:</a:t>
                </a:r>
              </a:p>
              <a:p>
                <a:pPr marL="342900" lvl="0" indent="-342900" algn="just">
                  <a:buFont typeface="Arial" charset="0"/>
                  <a:buChar char="•"/>
                </a:pPr>
                <a:r>
                  <a:rPr lang="ru-RU" sz="2400" dirty="0" smtClean="0"/>
                  <a:t>Прямоугольное: </a:t>
                </a:r>
                <a14:m>
                  <m:oMath xmlns:m="http://schemas.openxmlformats.org/officeDocument/2006/math">
                    <m:r>
                      <a:rPr lang="ru-RU" sz="2400" i="1">
                        <a:latin typeface="Cambria Math" charset="0"/>
                      </a:rPr>
                      <m:t>𝐾</m:t>
                    </m:r>
                    <m:r>
                      <a:rPr lang="ru-RU" sz="2400" i="1">
                        <a:latin typeface="Cambria Math" charset="0"/>
                      </a:rPr>
                      <m:t>(</m:t>
                    </m:r>
                    <m:r>
                      <a:rPr lang="en-US" sz="2400" i="1">
                        <a:latin typeface="Cambria Math" charset="0"/>
                      </a:rPr>
                      <m:t>𝑥</m:t>
                    </m:r>
                    <m:r>
                      <a:rPr lang="ru-RU" sz="2400" i="1">
                        <a:latin typeface="Cambria Math" charset="0"/>
                      </a:rPr>
                      <m:t>) = </m:t>
                    </m:r>
                  </m:oMath>
                </a14:m>
                <a:r>
                  <a:rPr lang="ru-RU" sz="2400" dirty="0" smtClean="0"/>
                  <a:t>½.</a:t>
                </a:r>
              </a:p>
              <a:p>
                <a:pPr marL="342900" lvl="0" indent="-342900" algn="just">
                  <a:buFont typeface="Arial" charset="0"/>
                  <a:buChar char="•"/>
                </a:pPr>
                <a:r>
                  <a:rPr lang="ru-RU" sz="2400" dirty="0" smtClean="0"/>
                  <a:t>Треугольное</a:t>
                </a:r>
                <a:r>
                  <a:rPr lang="ru-RU" sz="2400" dirty="0"/>
                  <a:t>: </a:t>
                </a:r>
                <a14:m>
                  <m:oMath xmlns:m="http://schemas.openxmlformats.org/officeDocument/2006/math">
                    <m:r>
                      <a:rPr lang="ru-RU" sz="2400" i="1">
                        <a:latin typeface="Cambria Math" charset="0"/>
                      </a:rPr>
                      <m:t>𝐾</m:t>
                    </m:r>
                    <m:r>
                      <a:rPr lang="ru-RU" sz="2400" i="1">
                        <a:latin typeface="Cambria Math" charset="0"/>
                      </a:rPr>
                      <m:t>(</m:t>
                    </m:r>
                    <m:r>
                      <a:rPr lang="en-US" sz="2400" b="0" i="1" smtClean="0">
                        <a:latin typeface="Cambria Math" charset="0"/>
                      </a:rPr>
                      <m:t>𝑥</m:t>
                    </m:r>
                    <m:r>
                      <a:rPr lang="ru-RU" sz="2400" i="1">
                        <a:latin typeface="Cambria Math" charset="0"/>
                      </a:rPr>
                      <m:t>) = (1 − |</m:t>
                    </m:r>
                    <m:r>
                      <a:rPr lang="en-US" sz="2400" b="0" i="1" smtClean="0">
                        <a:latin typeface="Cambria Math" charset="0"/>
                      </a:rPr>
                      <m:t>𝑥</m:t>
                    </m:r>
                    <m:r>
                      <a:rPr lang="ru-RU" sz="2400" i="1">
                        <a:latin typeface="Cambria Math" charset="0"/>
                      </a:rPr>
                      <m:t>|)</m:t>
                    </m:r>
                  </m:oMath>
                </a14:m>
                <a:r>
                  <a:rPr lang="ru-RU" sz="2400" dirty="0"/>
                  <a:t>,</a:t>
                </a:r>
              </a:p>
              <a:p>
                <a:pPr marL="342900" lvl="0" indent="-342900" algn="just">
                  <a:buFont typeface="Arial" charset="0"/>
                  <a:buChar char="•"/>
                </a:pPr>
                <a:r>
                  <a:rPr lang="ru-RU" sz="2400" dirty="0"/>
                  <a:t>Параболоид: </a:t>
                </a:r>
                <a14:m>
                  <m:oMath xmlns:m="http://schemas.openxmlformats.org/officeDocument/2006/math">
                    <m:r>
                      <a:rPr lang="ru-RU" sz="2400" i="1">
                        <a:latin typeface="Cambria Math" charset="0"/>
                      </a:rPr>
                      <m:t>𝐾</m:t>
                    </m:r>
                    <m:r>
                      <a:rPr lang="ru-RU" sz="2400" i="1">
                        <a:latin typeface="Cambria Math" charset="0"/>
                      </a:rPr>
                      <m:t>(</m:t>
                    </m:r>
                    <m:r>
                      <a:rPr lang="en-US" sz="2400" b="0" i="1" smtClean="0">
                        <a:latin typeface="Cambria Math" charset="0"/>
                      </a:rPr>
                      <m:t>𝑥</m:t>
                    </m:r>
                    <m:r>
                      <a:rPr lang="ru-RU" sz="2400" i="1">
                        <a:latin typeface="Cambria Math" charset="0"/>
                      </a:rPr>
                      <m:t>) = 3/4 (1 − </m:t>
                    </m:r>
                    <m:sSup>
                      <m:sSupPr>
                        <m:ctrlPr>
                          <a:rPr lang="ru-RU" sz="2400" i="1">
                            <a:latin typeface="Cambria Math" charset="0"/>
                          </a:rPr>
                        </m:ctrlPr>
                      </m:sSupPr>
                      <m:e>
                        <m:r>
                          <a:rPr lang="en-US" sz="2400" b="0" i="1" smtClean="0">
                            <a:latin typeface="Cambria Math" charset="0"/>
                          </a:rPr>
                          <m:t>𝑥</m:t>
                        </m:r>
                      </m:e>
                      <m:sup>
                        <m:r>
                          <a:rPr lang="ru-RU" sz="2400" i="1" baseline="30000">
                            <a:latin typeface="Cambria Math" charset="0"/>
                          </a:rPr>
                          <m:t>2</m:t>
                        </m:r>
                      </m:sup>
                    </m:sSup>
                    <m:r>
                      <a:rPr lang="ru-RU" sz="2400" i="1">
                        <a:latin typeface="Cambria Math" charset="0"/>
                      </a:rPr>
                      <m:t>)</m:t>
                    </m:r>
                  </m:oMath>
                </a14:m>
                <a:r>
                  <a:rPr lang="ru-RU" sz="2400" dirty="0"/>
                  <a:t>,</a:t>
                </a:r>
              </a:p>
              <a:p>
                <a:pPr marL="342900" lvl="0" indent="-342900">
                  <a:buFont typeface="Arial" charset="0"/>
                  <a:buChar char="•"/>
                </a:pPr>
                <a:r>
                  <a:rPr lang="ru-RU" sz="2400" dirty="0" err="1"/>
                  <a:t>Трехкубовое</a:t>
                </a:r>
                <a:r>
                  <a:rPr lang="ru-RU" sz="2400" dirty="0"/>
                  <a:t>: </a:t>
                </a:r>
                <a14:m>
                  <m:oMath xmlns:m="http://schemas.openxmlformats.org/officeDocument/2006/math">
                    <m:r>
                      <a:rPr lang="ru-RU" sz="2400" i="1">
                        <a:latin typeface="Cambria Math" charset="0"/>
                      </a:rPr>
                      <m:t>𝐾</m:t>
                    </m:r>
                    <m:r>
                      <a:rPr lang="ru-RU" sz="2400" i="1">
                        <a:latin typeface="Cambria Math" charset="0"/>
                      </a:rPr>
                      <m:t>(</m:t>
                    </m:r>
                    <m:r>
                      <a:rPr lang="en-US" sz="2400" b="0" i="1" smtClean="0">
                        <a:latin typeface="Cambria Math" charset="0"/>
                      </a:rPr>
                      <m:t>𝑥</m:t>
                    </m:r>
                    <m:r>
                      <a:rPr lang="ru-RU" sz="2400" i="1">
                        <a:latin typeface="Cambria Math" charset="0"/>
                      </a:rPr>
                      <m:t>) = 70/81 </m:t>
                    </m:r>
                    <m:sSup>
                      <m:sSupPr>
                        <m:ctrlPr>
                          <a:rPr lang="ru-RU" sz="2400" i="1">
                            <a:latin typeface="Cambria Math" charset="0"/>
                          </a:rPr>
                        </m:ctrlPr>
                      </m:sSupPr>
                      <m:e>
                        <m:r>
                          <a:rPr lang="ru-RU" sz="2400" i="1">
                            <a:latin typeface="Cambria Math" charset="0"/>
                          </a:rPr>
                          <m:t>(1 − </m:t>
                        </m:r>
                        <m:sSup>
                          <m:sSupPr>
                            <m:ctrlPr>
                              <a:rPr lang="ru-RU" sz="2400" i="1">
                                <a:latin typeface="Cambria Math" charset="0"/>
                              </a:rPr>
                            </m:ctrlPr>
                          </m:sSupPr>
                          <m:e>
                            <m:r>
                              <a:rPr lang="ru-RU" sz="2400" i="1">
                                <a:latin typeface="Cambria Math" charset="0"/>
                              </a:rPr>
                              <m:t>|</m:t>
                            </m:r>
                            <m:r>
                              <a:rPr lang="en-US" sz="2400" b="0" i="1" smtClean="0">
                                <a:latin typeface="Cambria Math" charset="0"/>
                              </a:rPr>
                              <m:t>𝑥</m:t>
                            </m:r>
                            <m:r>
                              <a:rPr lang="ru-RU" sz="2400" i="1">
                                <a:latin typeface="Cambria Math" charset="0"/>
                              </a:rPr>
                              <m:t>|</m:t>
                            </m:r>
                          </m:e>
                          <m:sup>
                            <m:r>
                              <a:rPr lang="ru-RU" sz="2400" i="1" baseline="30000">
                                <a:latin typeface="Cambria Math" charset="0"/>
                              </a:rPr>
                              <m:t>3</m:t>
                            </m:r>
                          </m:sup>
                        </m:sSup>
                        <m:r>
                          <a:rPr lang="ru-RU" sz="2400" i="1">
                            <a:latin typeface="Cambria Math" charset="0"/>
                          </a:rPr>
                          <m:t>)</m:t>
                        </m:r>
                      </m:e>
                      <m:sup>
                        <m:r>
                          <a:rPr lang="ru-RU" sz="2400" i="1" baseline="30000">
                            <a:latin typeface="Cambria Math" charset="0"/>
                          </a:rPr>
                          <m:t>3</m:t>
                        </m:r>
                      </m:sup>
                    </m:sSup>
                    <m:r>
                      <a:rPr lang="ru-RU" sz="2400" i="1">
                        <a:latin typeface="Cambria Math" charset="0"/>
                      </a:rPr>
                      <m:t>.</m:t>
                    </m:r>
                  </m:oMath>
                </a14:m>
                <a:endParaRPr lang="en-US" sz="2400" dirty="0" smtClean="0"/>
              </a:p>
              <a:p>
                <a:pPr marL="342900" lvl="0" indent="-342900">
                  <a:buFont typeface="Arial" charset="0"/>
                  <a:buChar char="•"/>
                </a:pPr>
                <a:r>
                  <a:rPr lang="ru-RU" sz="2400" dirty="0" err="1" smtClean="0"/>
                  <a:t>Гауссовское</a:t>
                </a:r>
                <a:r>
                  <a:rPr lang="ru-RU" sz="2400" dirty="0" smtClean="0"/>
                  <a:t>: </a:t>
                </a:r>
                <a14:m>
                  <m:oMath xmlns:m="http://schemas.openxmlformats.org/officeDocument/2006/math">
                    <m:r>
                      <a:rPr lang="ru-RU" sz="2400" i="1">
                        <a:latin typeface="Cambria Math" charset="0"/>
                      </a:rPr>
                      <m:t>𝐾</m:t>
                    </m:r>
                    <m:d>
                      <m:dPr>
                        <m:ctrlPr>
                          <a:rPr lang="ru-RU" sz="2400" i="1">
                            <a:latin typeface="Cambria Math" charset="0"/>
                          </a:rPr>
                        </m:ctrlPr>
                      </m:dPr>
                      <m:e>
                        <m:r>
                          <a:rPr lang="en-US" sz="2400" i="1">
                            <a:latin typeface="Cambria Math" charset="0"/>
                          </a:rPr>
                          <m:t>𝑥</m:t>
                        </m:r>
                      </m:e>
                    </m:d>
                    <m:r>
                      <a:rPr lang="ru-RU" sz="2400" i="1">
                        <a:latin typeface="Cambria Math" charset="0"/>
                      </a:rPr>
                      <m:t>=</m:t>
                    </m:r>
                    <m:f>
                      <m:fPr>
                        <m:ctrlPr>
                          <a:rPr lang="ru-RU" sz="2400" b="0" i="1" smtClean="0">
                            <a:latin typeface="Cambria Math" charset="0"/>
                          </a:rPr>
                        </m:ctrlPr>
                      </m:fPr>
                      <m:num>
                        <m:r>
                          <a:rPr lang="ru-RU" sz="2400" b="0" i="1" smtClean="0">
                            <a:latin typeface="Cambria Math" charset="0"/>
                          </a:rPr>
                          <m:t>1</m:t>
                        </m:r>
                      </m:num>
                      <m:den>
                        <m:rad>
                          <m:radPr>
                            <m:degHide m:val="on"/>
                            <m:ctrlPr>
                              <a:rPr lang="ru-RU" sz="2400" b="0" i="1" smtClean="0">
                                <a:latin typeface="Cambria Math" charset="0"/>
                              </a:rPr>
                            </m:ctrlPr>
                          </m:radPr>
                          <m:deg/>
                          <m:e>
                            <m:r>
                              <a:rPr lang="ru-RU" sz="2400" b="0" i="1" smtClean="0">
                                <a:latin typeface="Cambria Math" charset="0"/>
                              </a:rPr>
                              <m:t>2</m:t>
                            </m:r>
                            <m:r>
                              <a:rPr lang="ru-RU" sz="2400" b="0" i="1" smtClean="0">
                                <a:latin typeface="Cambria Math" charset="0"/>
                                <a:ea typeface="Cambria Math" charset="0"/>
                                <a:cs typeface="Cambria Math" charset="0"/>
                              </a:rPr>
                              <m:t>𝜋</m:t>
                            </m:r>
                          </m:e>
                        </m:rad>
                      </m:den>
                    </m:f>
                    <m:r>
                      <a:rPr lang="ru-RU" sz="2400" b="0" i="1" smtClean="0">
                        <a:latin typeface="Cambria Math" charset="0"/>
                      </a:rPr>
                      <m:t> </m:t>
                    </m:r>
                    <m:sSup>
                      <m:sSupPr>
                        <m:ctrlPr>
                          <a:rPr lang="ru-RU" sz="2400" b="0" i="1" smtClean="0">
                            <a:latin typeface="Cambria Math" charset="0"/>
                          </a:rPr>
                        </m:ctrlPr>
                      </m:sSupPr>
                      <m:e>
                        <m:r>
                          <a:rPr lang="en-US" sz="2400" b="0" i="1" smtClean="0">
                            <a:latin typeface="Cambria Math" charset="0"/>
                          </a:rPr>
                          <m:t>𝑒</m:t>
                        </m:r>
                      </m:e>
                      <m:sup>
                        <m:r>
                          <a:rPr lang="en-US" sz="2400" b="0" i="1" smtClean="0">
                            <a:latin typeface="Cambria Math" charset="0"/>
                          </a:rPr>
                          <m:t>−</m:t>
                        </m:r>
                        <m:r>
                          <a:rPr lang="en-US" sz="2400" b="0" i="1" smtClean="0">
                            <a:latin typeface="Cambria Math" charset="0"/>
                          </a:rPr>
                          <m:t>𝑥</m:t>
                        </m:r>
                        <m:r>
                          <a:rPr lang="en-US" sz="2400" b="0" i="1" smtClean="0">
                            <a:latin typeface="Cambria Math" charset="0"/>
                          </a:rPr>
                          <m:t>/2</m:t>
                        </m:r>
                      </m:sup>
                    </m:sSup>
                    <m:r>
                      <a:rPr lang="en-US" sz="2400" b="0" i="0" smtClean="0">
                        <a:latin typeface="Cambria Math" charset="0"/>
                      </a:rPr>
                      <m:t>.</m:t>
                    </m:r>
                  </m:oMath>
                </a14:m>
                <a:endParaRPr lang="ru-RU" sz="2400" dirty="0"/>
              </a:p>
              <a:p>
                <a:pPr lvl="0" algn="just"/>
                <a:endParaRPr lang="en-US" sz="2400" dirty="0" smtClean="0"/>
              </a:p>
              <a:p>
                <a:pPr algn="just"/>
                <a:r>
                  <a:rPr lang="ru-RU" sz="2400" dirty="0"/>
                  <a:t>На практике чаще всего используют либо прямоугольное для простоты, либо </a:t>
                </a:r>
                <a:r>
                  <a:rPr lang="ru-RU" sz="2400" dirty="0" err="1"/>
                  <a:t>гауссовское</a:t>
                </a:r>
                <a:r>
                  <a:rPr lang="ru-RU" sz="2400" dirty="0"/>
                  <a:t>, когда важна гладкость </a:t>
                </a:r>
                <a:r>
                  <a:rPr lang="ru-RU" sz="2400" dirty="0" smtClean="0"/>
                  <a:t>модели.</a:t>
                </a:r>
                <a:endParaRPr lang="ru-RU" sz="2400" dirty="0"/>
              </a:p>
              <a:p>
                <a:pPr algn="just"/>
                <a:r>
                  <a:rPr lang="ru-RU" sz="2400" dirty="0"/>
                  <a:t>Ширина окна, в свою очередь, сильно влияет </a:t>
                </a:r>
                <a:r>
                  <a:rPr lang="ru-RU" sz="2400" dirty="0" smtClean="0"/>
                  <a:t>на </a:t>
                </a:r>
                <a:r>
                  <a:rPr lang="ru-RU" sz="2400" dirty="0"/>
                  <a:t>качество модели. При слишком маленькой ширине модель сильно подстраивается под обучающую выборку и теряет свою обобщающую способность. При слишком большой ширине, напротив, модель становится слишком простой. Универсальной ширины окна не существует, поэтому для каждой задачи её приходится подбирать отдельно</a:t>
                </a:r>
                <a:r>
                  <a:rPr lang="ru-RU" sz="2400" dirty="0" smtClean="0"/>
                  <a:t>.</a:t>
                </a:r>
                <a:endParaRPr lang="ru-RU" sz="2400" dirty="0"/>
              </a:p>
            </p:txBody>
          </p:sp>
        </mc:Choice>
        <mc:Fallback xmlns="">
          <p:sp>
            <p:nvSpPr>
              <p:cNvPr id="17" name="Прямоугольник 16"/>
              <p:cNvSpPr>
                <a:spLocks noRot="1" noChangeAspect="1" noMove="1" noResize="1" noEditPoints="1" noAdjustHandles="1" noChangeArrowheads="1" noChangeShapeType="1" noTextEdit="1"/>
              </p:cNvSpPr>
              <p:nvPr/>
            </p:nvSpPr>
            <p:spPr>
              <a:xfrm>
                <a:off x="2211571" y="765225"/>
                <a:ext cx="9980429" cy="5808065"/>
              </a:xfrm>
              <a:prstGeom prst="rect">
                <a:avLst/>
              </a:prstGeom>
              <a:blipFill rotWithShape="0">
                <a:blip r:embed="rId2"/>
                <a:stretch>
                  <a:fillRect l="-977" t="-1996" r="-916" b="-1471"/>
                </a:stretch>
              </a:blipFill>
            </p:spPr>
            <p:txBody>
              <a:bodyPr/>
              <a:lstStyle/>
              <a:p>
                <a:r>
                  <a:rPr lang="ru-RU">
                    <a:noFill/>
                  </a:rPr>
                  <a:t> </a:t>
                </a:r>
              </a:p>
            </p:txBody>
          </p:sp>
        </mc:Fallback>
      </mc:AlternateContent>
    </p:spTree>
    <p:extLst>
      <p:ext uri="{BB962C8B-B14F-4D97-AF65-F5344CB8AC3E}">
        <p14:creationId xmlns:p14="http://schemas.microsoft.com/office/powerpoint/2010/main" val="16871646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Меры расстояний </a:t>
            </a:r>
          </a:p>
        </p:txBody>
      </p:sp>
      <mc:AlternateContent xmlns:mc="http://schemas.openxmlformats.org/markup-compatibility/2006" xmlns:a14="http://schemas.microsoft.com/office/drawing/2010/main">
        <mc:Choice Requires="a14">
          <p:sp>
            <p:nvSpPr>
              <p:cNvPr id="3" name="Прямоугольник 2"/>
              <p:cNvSpPr/>
              <p:nvPr/>
            </p:nvSpPr>
            <p:spPr>
              <a:xfrm>
                <a:off x="1959429" y="727026"/>
                <a:ext cx="10232571" cy="6130974"/>
              </a:xfrm>
              <a:prstGeom prst="rect">
                <a:avLst/>
              </a:prstGeom>
            </p:spPr>
            <p:txBody>
              <a:bodyPr wrap="square">
                <a:spAutoFit/>
              </a:bodyPr>
              <a:lstStyle/>
              <a:p>
                <a:pPr marL="457200" indent="-457200" algn="just">
                  <a:buAutoNum type="arabicParenR"/>
                </a:pPr>
                <a:r>
                  <a:rPr lang="ru-RU" sz="2400" i="1" u="sng" dirty="0" smtClean="0"/>
                  <a:t>евклидово расстояние</a:t>
                </a:r>
                <a:r>
                  <a:rPr lang="en-US" sz="2400" dirty="0"/>
                  <a:t> </a:t>
                </a:r>
                <a:r>
                  <a:rPr lang="mr-IN" sz="2400" dirty="0" smtClean="0"/>
                  <a:t>–</a:t>
                </a:r>
                <a:r>
                  <a:rPr lang="ru-RU" sz="2400" dirty="0" smtClean="0"/>
                  <a:t> </a:t>
                </a:r>
                <a:r>
                  <a:rPr lang="ru-RU" sz="2400" dirty="0"/>
                  <a:t>геометрическое расстояние в многомерном пространстве: </a:t>
                </a:r>
                <a:endParaRPr lang="ru-RU" sz="2400" dirty="0" smtClean="0"/>
              </a:p>
              <a:p>
                <a:pPr algn="just"/>
                <a14:m>
                  <m:oMathPara xmlns:m="http://schemas.openxmlformats.org/officeDocument/2006/math">
                    <m:oMathParaPr>
                      <m:jc m:val="centerGroup"/>
                    </m:oMathParaPr>
                    <m:oMath xmlns:m="http://schemas.openxmlformats.org/officeDocument/2006/math">
                      <m:r>
                        <a:rPr lang="ru-RU" sz="2400" i="1" smtClean="0">
                          <a:latin typeface="Cambria Math" charset="0"/>
                          <a:ea typeface="Cambria Math" charset="0"/>
                          <a:cs typeface="Cambria Math" charset="0"/>
                        </a:rPr>
                        <m:t>𝜌</m:t>
                      </m:r>
                      <m:d>
                        <m:dPr>
                          <m:ctrlPr>
                            <a:rPr lang="en-US" sz="2400" b="0" i="1" smtClean="0">
                              <a:latin typeface="Cambria Math" charset="0"/>
                              <a:ea typeface="Cambria Math" charset="0"/>
                              <a:cs typeface="Cambria Math" charset="0"/>
                            </a:rPr>
                          </m:ctrlPr>
                        </m:dPr>
                        <m:e>
                          <m:r>
                            <a:rPr lang="en-US" sz="2400" b="0" i="1" smtClean="0">
                              <a:latin typeface="Cambria Math" charset="0"/>
                              <a:ea typeface="Cambria Math" charset="0"/>
                              <a:cs typeface="Cambria Math" charset="0"/>
                            </a:rPr>
                            <m:t>𝑥</m:t>
                          </m:r>
                          <m:r>
                            <a:rPr lang="en-US" sz="2400" b="0" i="1" smtClean="0">
                              <a:latin typeface="Cambria Math" charset="0"/>
                              <a:ea typeface="Cambria Math" charset="0"/>
                              <a:cs typeface="Cambria Math" charset="0"/>
                            </a:rPr>
                            <m:t>,</m:t>
                          </m:r>
                          <m:sSup>
                            <m:sSupPr>
                              <m:ctrlPr>
                                <a:rPr lang="en-US" sz="2400" b="0" i="1" smtClean="0">
                                  <a:latin typeface="Cambria Math" charset="0"/>
                                  <a:ea typeface="Cambria Math" charset="0"/>
                                  <a:cs typeface="Cambria Math" charset="0"/>
                                </a:rPr>
                              </m:ctrlPr>
                            </m:sSupPr>
                            <m:e>
                              <m:r>
                                <a:rPr lang="en-US" sz="2400" b="0" i="1" smtClean="0">
                                  <a:latin typeface="Cambria Math" charset="0"/>
                                  <a:ea typeface="Cambria Math" charset="0"/>
                                  <a:cs typeface="Cambria Math" charset="0"/>
                                </a:rPr>
                                <m:t>𝑥</m:t>
                              </m:r>
                            </m:e>
                            <m:sup>
                              <m:r>
                                <a:rPr lang="en-US" sz="2400" b="0" i="1" smtClean="0">
                                  <a:latin typeface="Cambria Math" charset="0"/>
                                  <a:ea typeface="Cambria Math" charset="0"/>
                                  <a:cs typeface="Cambria Math" charset="0"/>
                                </a:rPr>
                                <m:t>′</m:t>
                              </m:r>
                            </m:sup>
                          </m:sSup>
                        </m:e>
                      </m:d>
                      <m:r>
                        <a:rPr lang="en-US" sz="2400" b="0" i="1" smtClean="0">
                          <a:latin typeface="Cambria Math" charset="0"/>
                          <a:ea typeface="Cambria Math" charset="0"/>
                          <a:cs typeface="Cambria Math" charset="0"/>
                        </a:rPr>
                        <m:t>=</m:t>
                      </m:r>
                      <m:rad>
                        <m:radPr>
                          <m:degHide m:val="on"/>
                          <m:ctrlPr>
                            <a:rPr lang="en-US" sz="2400" b="0" i="1" smtClean="0">
                              <a:latin typeface="Cambria Math" charset="0"/>
                              <a:ea typeface="Cambria Math" charset="0"/>
                              <a:cs typeface="Cambria Math" charset="0"/>
                            </a:rPr>
                          </m:ctrlPr>
                        </m:radPr>
                        <m:deg/>
                        <m:e>
                          <m:nary>
                            <m:naryPr>
                              <m:chr m:val="∑"/>
                              <m:ctrlPr>
                                <a:rPr lang="is-IS" sz="2400" b="0" i="1" smtClean="0">
                                  <a:latin typeface="Cambria Math" charset="0"/>
                                  <a:ea typeface="Cambria Math" charset="0"/>
                                  <a:cs typeface="Cambria Math" charset="0"/>
                                </a:rPr>
                              </m:ctrlPr>
                            </m:naryPr>
                            <m:sub>
                              <m:r>
                                <m:rPr>
                                  <m:brk m:alnAt="23"/>
                                </m:rPr>
                                <a:rPr lang="en-US" sz="2400" b="0" i="1" smtClean="0">
                                  <a:latin typeface="Cambria Math" charset="0"/>
                                  <a:ea typeface="Cambria Math" charset="0"/>
                                  <a:cs typeface="Cambria Math" charset="0"/>
                                </a:rPr>
                                <m:t>𝑖</m:t>
                              </m:r>
                            </m:sub>
                            <m:sup>
                              <m:r>
                                <a:rPr lang="en-US" sz="2400" b="0" i="1" smtClean="0">
                                  <a:latin typeface="Cambria Math" charset="0"/>
                                  <a:ea typeface="Cambria Math" charset="0"/>
                                  <a:cs typeface="Cambria Math" charset="0"/>
                                </a:rPr>
                                <m:t>𝑛</m:t>
                              </m:r>
                            </m:sup>
                            <m:e>
                              <m:sSup>
                                <m:sSupPr>
                                  <m:ctrlPr>
                                    <a:rPr lang="is-IS" sz="2400" b="0" i="1" smtClean="0">
                                      <a:latin typeface="Cambria Math" charset="0"/>
                                      <a:ea typeface="Cambria Math" charset="0"/>
                                      <a:cs typeface="Cambria Math" charset="0"/>
                                    </a:rPr>
                                  </m:ctrlPr>
                                </m:sSupPr>
                                <m:e>
                                  <m:r>
                                    <a:rPr lang="en-US" sz="2400" b="0" i="1" smtClean="0">
                                      <a:latin typeface="Cambria Math" charset="0"/>
                                      <a:ea typeface="Cambria Math" charset="0"/>
                                      <a:cs typeface="Cambria Math" charset="0"/>
                                    </a:rPr>
                                    <m:t>(</m:t>
                                  </m:r>
                                  <m:sSub>
                                    <m:sSubPr>
                                      <m:ctrlPr>
                                        <a:rPr lang="en-US" sz="2400" b="0" i="1" smtClean="0">
                                          <a:latin typeface="Cambria Math" charset="0"/>
                                          <a:ea typeface="Cambria Math" charset="0"/>
                                          <a:cs typeface="Cambria Math" charset="0"/>
                                        </a:rPr>
                                      </m:ctrlPr>
                                    </m:sSubPr>
                                    <m:e>
                                      <m:r>
                                        <a:rPr lang="en-US" sz="2400" b="0" i="1" smtClean="0">
                                          <a:latin typeface="Cambria Math" charset="0"/>
                                          <a:ea typeface="Cambria Math" charset="0"/>
                                          <a:cs typeface="Cambria Math" charset="0"/>
                                        </a:rPr>
                                        <m:t>𝑥</m:t>
                                      </m:r>
                                    </m:e>
                                    <m:sub>
                                      <m:r>
                                        <a:rPr lang="en-US" sz="2400" b="0" i="1" smtClean="0">
                                          <a:latin typeface="Cambria Math" charset="0"/>
                                          <a:ea typeface="Cambria Math" charset="0"/>
                                          <a:cs typeface="Cambria Math" charset="0"/>
                                        </a:rPr>
                                        <m:t>𝑖</m:t>
                                      </m:r>
                                    </m:sub>
                                  </m:sSub>
                                  <m:r>
                                    <a:rPr lang="en-US" sz="2400" b="0" i="1" smtClean="0">
                                      <a:latin typeface="Cambria Math" charset="0"/>
                                      <a:ea typeface="Cambria Math" charset="0"/>
                                      <a:cs typeface="Cambria Math" charset="0"/>
                                    </a:rPr>
                                    <m:t>−</m:t>
                                  </m:r>
                                  <m:sSub>
                                    <m:sSubPr>
                                      <m:ctrlPr>
                                        <a:rPr lang="en-US" sz="2400" b="0" i="1" smtClean="0">
                                          <a:latin typeface="Cambria Math" charset="0"/>
                                          <a:ea typeface="Cambria Math" charset="0"/>
                                          <a:cs typeface="Cambria Math" charset="0"/>
                                        </a:rPr>
                                      </m:ctrlPr>
                                    </m:sSubPr>
                                    <m:e>
                                      <m:r>
                                        <a:rPr lang="en-US" sz="2400" b="0" i="1" smtClean="0">
                                          <a:latin typeface="Cambria Math" charset="0"/>
                                          <a:ea typeface="Cambria Math" charset="0"/>
                                          <a:cs typeface="Cambria Math" charset="0"/>
                                        </a:rPr>
                                        <m:t>𝑥</m:t>
                                      </m:r>
                                      <m:r>
                                        <a:rPr lang="en-US" sz="2400" b="0" i="1" smtClean="0">
                                          <a:latin typeface="Cambria Math" charset="0"/>
                                          <a:ea typeface="Cambria Math" charset="0"/>
                                          <a:cs typeface="Cambria Math" charset="0"/>
                                        </a:rPr>
                                        <m:t>′</m:t>
                                      </m:r>
                                    </m:e>
                                    <m:sub>
                                      <m:r>
                                        <a:rPr lang="en-US" sz="2400" b="0" i="1" smtClean="0">
                                          <a:latin typeface="Cambria Math" charset="0"/>
                                          <a:ea typeface="Cambria Math" charset="0"/>
                                          <a:cs typeface="Cambria Math" charset="0"/>
                                        </a:rPr>
                                        <m:t>𝑖</m:t>
                                      </m:r>
                                    </m:sub>
                                  </m:sSub>
                                  <m:r>
                                    <a:rPr lang="en-US" sz="2400" b="0" i="1" smtClean="0">
                                      <a:latin typeface="Cambria Math" charset="0"/>
                                      <a:ea typeface="Cambria Math" charset="0"/>
                                      <a:cs typeface="Cambria Math" charset="0"/>
                                    </a:rPr>
                                    <m:t>)</m:t>
                                  </m:r>
                                </m:e>
                                <m:sup>
                                  <m:r>
                                    <a:rPr lang="en-US" sz="2400" b="0" i="1" smtClean="0">
                                      <a:latin typeface="Cambria Math" charset="0"/>
                                      <a:ea typeface="Cambria Math" charset="0"/>
                                      <a:cs typeface="Cambria Math" charset="0"/>
                                    </a:rPr>
                                    <m:t>2</m:t>
                                  </m:r>
                                </m:sup>
                              </m:sSup>
                            </m:e>
                          </m:nary>
                        </m:e>
                      </m:rad>
                      <m:r>
                        <a:rPr lang="en-US" sz="2400" b="0" i="1" smtClean="0">
                          <a:latin typeface="Cambria Math" charset="0"/>
                          <a:ea typeface="Cambria Math" charset="0"/>
                          <a:cs typeface="Cambria Math" charset="0"/>
                        </a:rPr>
                        <m:t>.</m:t>
                      </m:r>
                    </m:oMath>
                  </m:oMathPara>
                </a14:m>
                <a:endParaRPr lang="ru-RU" sz="2400" b="0" dirty="0" smtClean="0">
                  <a:ea typeface="Cambria Math" charset="0"/>
                  <a:cs typeface="Cambria Math" charset="0"/>
                </a:endParaRPr>
              </a:p>
              <a:p>
                <a:pPr algn="just"/>
                <a:r>
                  <a:rPr lang="ru-RU" sz="2400" dirty="0"/>
                  <a:t>2) </a:t>
                </a:r>
                <a:r>
                  <a:rPr lang="ru-RU" sz="2400" i="1" u="sng" dirty="0"/>
                  <a:t>квадрат евклидова расстояния </a:t>
                </a:r>
                <a:r>
                  <a:rPr lang="ru-RU" sz="2400" dirty="0"/>
                  <a:t>применяется для придания большего веса более отдаленным друг от друга </a:t>
                </a:r>
                <a:r>
                  <a:rPr lang="ru-RU" sz="2400" dirty="0" smtClean="0"/>
                  <a:t>объектам:</a:t>
                </a:r>
              </a:p>
              <a:p>
                <a:pPr algn="just"/>
                <a14:m>
                  <m:oMathPara xmlns:m="http://schemas.openxmlformats.org/officeDocument/2006/math">
                    <m:oMathParaPr>
                      <m:jc m:val="centerGroup"/>
                    </m:oMathParaPr>
                    <m:oMath xmlns:m="http://schemas.openxmlformats.org/officeDocument/2006/math">
                      <m:r>
                        <a:rPr lang="ru-RU" sz="2400" i="1">
                          <a:latin typeface="Cambria Math" charset="0"/>
                          <a:ea typeface="Cambria Math" charset="0"/>
                          <a:cs typeface="Cambria Math" charset="0"/>
                        </a:rPr>
                        <m:t>𝜌</m:t>
                      </m:r>
                      <m:d>
                        <m:dPr>
                          <m:ctrlPr>
                            <a:rPr lang="en-US" sz="2400" i="1">
                              <a:latin typeface="Cambria Math" charset="0"/>
                              <a:ea typeface="Cambria Math" charset="0"/>
                              <a:cs typeface="Cambria Math" charset="0"/>
                            </a:rPr>
                          </m:ctrlPr>
                        </m:d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d>
                      <m:r>
                        <a:rPr lang="en-US" sz="2400" i="1">
                          <a:latin typeface="Cambria Math" charset="0"/>
                          <a:ea typeface="Cambria Math" charset="0"/>
                          <a:cs typeface="Cambria Math" charset="0"/>
                        </a:rPr>
                        <m:t>=</m:t>
                      </m:r>
                      <m:nary>
                        <m:naryPr>
                          <m:chr m:val="∑"/>
                          <m:ctrlPr>
                            <a:rPr lang="is-IS" sz="2400" i="1">
                              <a:latin typeface="Cambria Math" charset="0"/>
                              <a:ea typeface="Cambria Math" charset="0"/>
                              <a:cs typeface="Cambria Math" charset="0"/>
                            </a:rPr>
                          </m:ctrlPr>
                        </m:naryPr>
                        <m:sub>
                          <m:r>
                            <m:rPr>
                              <m:brk m:alnAt="23"/>
                            </m:rPr>
                            <a:rPr lang="en-US" sz="2400" i="1">
                              <a:latin typeface="Cambria Math" charset="0"/>
                              <a:ea typeface="Cambria Math" charset="0"/>
                              <a:cs typeface="Cambria Math" charset="0"/>
                            </a:rPr>
                            <m:t>𝑖</m:t>
                          </m:r>
                        </m:sub>
                        <m:sup>
                          <m:r>
                            <a:rPr lang="en-US" sz="2400" i="1">
                              <a:latin typeface="Cambria Math" charset="0"/>
                              <a:ea typeface="Cambria Math" charset="0"/>
                              <a:cs typeface="Cambria Math" charset="0"/>
                            </a:rPr>
                            <m:t>𝑛</m:t>
                          </m:r>
                        </m:sup>
                        <m:e>
                          <m:sSup>
                            <m:sSupPr>
                              <m:ctrlPr>
                                <a:rPr lang="is-I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r>
                                    <a:rPr lang="en-US" sz="2400" i="1">
                                      <a:latin typeface="Cambria Math" charset="0"/>
                                      <a:ea typeface="Cambria Math" charset="0"/>
                                      <a:cs typeface="Cambria Math" charset="0"/>
                                    </a:rPr>
                                    <m:t>𝑥</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e>
                            <m:sup>
                              <m:r>
                                <a:rPr lang="en-US" sz="2400" i="1">
                                  <a:latin typeface="Cambria Math" charset="0"/>
                                  <a:ea typeface="Cambria Math" charset="0"/>
                                  <a:cs typeface="Cambria Math" charset="0"/>
                                </a:rPr>
                                <m:t>2</m:t>
                              </m:r>
                            </m:sup>
                          </m:sSup>
                        </m:e>
                      </m:nary>
                      <m:r>
                        <a:rPr lang="en-US" sz="2400" i="1">
                          <a:latin typeface="Cambria Math" charset="0"/>
                          <a:ea typeface="Cambria Math" charset="0"/>
                          <a:cs typeface="Cambria Math" charset="0"/>
                        </a:rPr>
                        <m:t>.</m:t>
                      </m:r>
                    </m:oMath>
                  </m:oMathPara>
                </a14:m>
                <a:endParaRPr lang="ru-RU" sz="2400" dirty="0" smtClean="0">
                  <a:ea typeface="Cambria Math" charset="0"/>
                  <a:cs typeface="Cambria Math" charset="0"/>
                </a:endParaRPr>
              </a:p>
              <a:p>
                <a:pPr algn="just"/>
                <a:r>
                  <a:rPr lang="ru-RU" sz="2400" dirty="0"/>
                  <a:t>3) </a:t>
                </a:r>
                <a:r>
                  <a:rPr lang="ru-RU" sz="2400" i="1" u="sng" dirty="0" smtClean="0"/>
                  <a:t>манхэттенское расстояние</a:t>
                </a:r>
                <a:r>
                  <a:rPr lang="ru-RU" sz="2400" i="1" dirty="0" smtClean="0"/>
                  <a:t> </a:t>
                </a:r>
                <a:r>
                  <a:rPr lang="ru-RU" sz="2400" dirty="0" smtClean="0"/>
                  <a:t>является </a:t>
                </a:r>
                <a:r>
                  <a:rPr lang="ru-RU" sz="2400" dirty="0"/>
                  <a:t>средним </a:t>
                </a:r>
                <a:r>
                  <a:rPr lang="ru-RU" sz="2400" dirty="0" err="1"/>
                  <a:t>разностеи</a:t>
                </a:r>
                <a:r>
                  <a:rPr lang="ru-RU" sz="2400" dirty="0"/>
                  <a:t>̆ по </a:t>
                </a:r>
                <a:r>
                  <a:rPr lang="ru-RU" sz="2400" dirty="0" smtClean="0"/>
                  <a:t>координатам: </a:t>
                </a:r>
                <a:endParaRPr lang="ru-RU" sz="2400" dirty="0"/>
              </a:p>
              <a:p>
                <a:pPr algn="just"/>
                <a14:m>
                  <m:oMathPara xmlns:m="http://schemas.openxmlformats.org/officeDocument/2006/math">
                    <m:oMathParaPr>
                      <m:jc m:val="centerGroup"/>
                    </m:oMathParaPr>
                    <m:oMath xmlns:m="http://schemas.openxmlformats.org/officeDocument/2006/math">
                      <m:r>
                        <a:rPr lang="ru-RU" sz="2400" i="1">
                          <a:latin typeface="Cambria Math" charset="0"/>
                          <a:ea typeface="Cambria Math" charset="0"/>
                          <a:cs typeface="Cambria Math" charset="0"/>
                        </a:rPr>
                        <m:t>𝜌</m:t>
                      </m:r>
                      <m:d>
                        <m:dPr>
                          <m:ctrlPr>
                            <a:rPr lang="en-US" sz="2400" i="1">
                              <a:latin typeface="Cambria Math" charset="0"/>
                              <a:ea typeface="Cambria Math" charset="0"/>
                              <a:cs typeface="Cambria Math" charset="0"/>
                            </a:rPr>
                          </m:ctrlPr>
                        </m:d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d>
                      <m:r>
                        <a:rPr lang="en-US" sz="2400" i="1">
                          <a:latin typeface="Cambria Math" charset="0"/>
                          <a:ea typeface="Cambria Math" charset="0"/>
                          <a:cs typeface="Cambria Math" charset="0"/>
                        </a:rPr>
                        <m:t>=</m:t>
                      </m:r>
                      <m:nary>
                        <m:naryPr>
                          <m:chr m:val="∑"/>
                          <m:ctrlPr>
                            <a:rPr lang="is-IS" sz="2400" i="1">
                              <a:latin typeface="Cambria Math" charset="0"/>
                              <a:ea typeface="Cambria Math" charset="0"/>
                              <a:cs typeface="Cambria Math" charset="0"/>
                            </a:rPr>
                          </m:ctrlPr>
                        </m:naryPr>
                        <m:sub>
                          <m:r>
                            <m:rPr>
                              <m:brk m:alnAt="23"/>
                            </m:rPr>
                            <a:rPr lang="en-US" sz="2400" i="1">
                              <a:latin typeface="Cambria Math" charset="0"/>
                              <a:ea typeface="Cambria Math" charset="0"/>
                              <a:cs typeface="Cambria Math" charset="0"/>
                            </a:rPr>
                            <m:t>𝑖</m:t>
                          </m:r>
                        </m:sub>
                        <m:sup>
                          <m:r>
                            <a:rPr lang="en-US" sz="2400" i="1">
                              <a:latin typeface="Cambria Math" charset="0"/>
                              <a:ea typeface="Cambria Math" charset="0"/>
                              <a:cs typeface="Cambria Math" charset="0"/>
                            </a:rPr>
                            <m:t>𝑛</m:t>
                          </m:r>
                        </m:sup>
                        <m:e>
                          <m:sSub>
                            <m:sSubPr>
                              <m:ctrlPr>
                                <a:rPr lang="en-US" sz="2400" i="1">
                                  <a:latin typeface="Cambria Math" charset="0"/>
                                  <a:ea typeface="Cambria Math" charset="0"/>
                                  <a:cs typeface="Cambria Math" charset="0"/>
                                </a:rPr>
                              </m:ctrlPr>
                            </m:sSubPr>
                            <m:e>
                              <m:r>
                                <a:rPr lang="en-US" sz="2400" b="0" i="1" smtClean="0">
                                  <a:latin typeface="Cambria Math" charset="0"/>
                                  <a:ea typeface="Cambria Math" charset="0"/>
                                  <a:cs typeface="Cambria Math" charset="0"/>
                                </a:rPr>
                                <m:t>|</m:t>
                              </m:r>
                              <m:r>
                                <a:rPr lang="en-US" sz="2400" i="1">
                                  <a:latin typeface="Cambria Math" charset="0"/>
                                  <a:ea typeface="Cambria Math" charset="0"/>
                                  <a:cs typeface="Cambria Math" charset="0"/>
                                </a:rPr>
                                <m:t>𝑥</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sub>
                              <m:r>
                                <a:rPr lang="en-US" sz="2400" i="1">
                                  <a:latin typeface="Cambria Math" charset="0"/>
                                  <a:ea typeface="Cambria Math" charset="0"/>
                                  <a:cs typeface="Cambria Math" charset="0"/>
                                </a:rPr>
                                <m:t>𝑖</m:t>
                              </m:r>
                            </m:sub>
                          </m:sSub>
                          <m:r>
                            <a:rPr lang="en-US" sz="2400" b="0" i="1" smtClean="0">
                              <a:latin typeface="Cambria Math" charset="0"/>
                              <a:ea typeface="Cambria Math" charset="0"/>
                              <a:cs typeface="Cambria Math" charset="0"/>
                            </a:rPr>
                            <m:t>|</m:t>
                          </m:r>
                        </m:e>
                      </m:nary>
                      <m:r>
                        <a:rPr lang="en-US" sz="2400" b="0" i="0" smtClean="0">
                          <a:latin typeface="Cambria Math" charset="0"/>
                          <a:ea typeface="Cambria Math" charset="0"/>
                          <a:cs typeface="Cambria Math" charset="0"/>
                        </a:rPr>
                        <m:t>.</m:t>
                      </m:r>
                    </m:oMath>
                  </m:oMathPara>
                </a14:m>
                <a:endParaRPr lang="en-US" sz="2400" b="0" dirty="0" smtClean="0">
                  <a:ea typeface="Cambria Math" charset="0"/>
                  <a:cs typeface="Cambria Math" charset="0"/>
                </a:endParaRPr>
              </a:p>
              <a:p>
                <a:pPr algn="just"/>
                <a:endParaRPr lang="ru-RU" sz="24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959429" y="727026"/>
                <a:ext cx="10232571" cy="6130974"/>
              </a:xfrm>
              <a:prstGeom prst="rect">
                <a:avLst/>
              </a:prstGeom>
              <a:blipFill rotWithShape="0">
                <a:blip r:embed="rId2"/>
                <a:stretch>
                  <a:fillRect l="-953" t="-895" r="-893"/>
                </a:stretch>
              </a:blipFill>
            </p:spPr>
            <p:txBody>
              <a:bodyPr/>
              <a:lstStyle/>
              <a:p>
                <a:r>
                  <a:rPr lang="ru-RU">
                    <a:noFill/>
                  </a:rPr>
                  <a:t> </a:t>
                </a:r>
              </a:p>
            </p:txBody>
          </p:sp>
        </mc:Fallback>
      </mc:AlternateContent>
    </p:spTree>
    <p:extLst>
      <p:ext uri="{BB962C8B-B14F-4D97-AF65-F5344CB8AC3E}">
        <p14:creationId xmlns:p14="http://schemas.microsoft.com/office/powerpoint/2010/main" val="7844431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Меры расстояний </a:t>
            </a:r>
          </a:p>
        </p:txBody>
      </p:sp>
      <mc:AlternateContent xmlns:mc="http://schemas.openxmlformats.org/markup-compatibility/2006" xmlns:a14="http://schemas.microsoft.com/office/drawing/2010/main">
        <mc:Choice Requires="a14">
          <p:sp>
            <p:nvSpPr>
              <p:cNvPr id="3" name="Прямоугольник 2"/>
              <p:cNvSpPr/>
              <p:nvPr/>
            </p:nvSpPr>
            <p:spPr>
              <a:xfrm>
                <a:off x="1975757" y="548993"/>
                <a:ext cx="10216243" cy="5591852"/>
              </a:xfrm>
              <a:prstGeom prst="rect">
                <a:avLst/>
              </a:prstGeom>
            </p:spPr>
            <p:txBody>
              <a:bodyPr wrap="square">
                <a:spAutoFit/>
              </a:bodyPr>
              <a:lstStyle/>
              <a:p>
                <a:pPr algn="just"/>
                <a:r>
                  <a:rPr lang="ru-RU" sz="2400" dirty="0" smtClean="0"/>
                  <a:t>5) </a:t>
                </a:r>
                <a:r>
                  <a:rPr lang="ru-RU" sz="2400" i="1" u="sng" dirty="0"/>
                  <a:t>расстояние Чебышева</a:t>
                </a:r>
                <a:r>
                  <a:rPr lang="ru-RU" sz="2400" i="1" dirty="0"/>
                  <a:t> </a:t>
                </a:r>
                <a:r>
                  <a:rPr lang="ru-RU" sz="2400" dirty="0"/>
                  <a:t>может оказаться полезным, когда нужно определить два объекта как «различные», если они </a:t>
                </a:r>
                <a:r>
                  <a:rPr lang="ru-RU" sz="2400" dirty="0" smtClean="0"/>
                  <a:t>различаются </a:t>
                </a:r>
                <a:r>
                  <a:rPr lang="ru-RU" sz="2400" dirty="0"/>
                  <a:t>по </a:t>
                </a:r>
                <a:r>
                  <a:rPr lang="ru-RU" sz="2400" dirty="0" err="1"/>
                  <a:t>какои</a:t>
                </a:r>
                <a:r>
                  <a:rPr lang="ru-RU" sz="2400" dirty="0"/>
                  <a:t>̆-либо </a:t>
                </a:r>
                <a:r>
                  <a:rPr lang="ru-RU" sz="2400" dirty="0" err="1"/>
                  <a:t>однои</a:t>
                </a:r>
                <a:r>
                  <a:rPr lang="ru-RU" sz="2400" dirty="0"/>
                  <a:t>̆ </a:t>
                </a:r>
                <a:r>
                  <a:rPr lang="ru-RU" sz="2400" dirty="0" smtClean="0"/>
                  <a:t>координате: </a:t>
                </a:r>
                <a:endParaRPr lang="ru-RU" sz="2400" dirty="0"/>
              </a:p>
              <a:p>
                <a:pPr algn="just"/>
                <a14:m>
                  <m:oMathPara xmlns:m="http://schemas.openxmlformats.org/officeDocument/2006/math">
                    <m:oMathParaPr>
                      <m:jc m:val="centerGroup"/>
                    </m:oMathParaPr>
                    <m:oMath xmlns:m="http://schemas.openxmlformats.org/officeDocument/2006/math">
                      <m:r>
                        <a:rPr lang="ru-RU" sz="2400" i="1">
                          <a:latin typeface="Cambria Math" charset="0"/>
                          <a:ea typeface="Cambria Math" charset="0"/>
                          <a:cs typeface="Cambria Math" charset="0"/>
                        </a:rPr>
                        <m:t>𝜌</m:t>
                      </m:r>
                      <m:d>
                        <m:dPr>
                          <m:ctrlPr>
                            <a:rPr lang="en-US" sz="2400" i="1">
                              <a:latin typeface="Cambria Math" charset="0"/>
                              <a:ea typeface="Cambria Math" charset="0"/>
                              <a:cs typeface="Cambria Math" charset="0"/>
                            </a:rPr>
                          </m:ctrlPr>
                        </m:d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d>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𝑚𝑎𝑥</m:t>
                      </m:r>
                      <m:sSub>
                        <m:sSubPr>
                          <m:ctrlPr>
                            <a:rPr lang="en-US" sz="2400" i="1">
                              <a:latin typeface="Cambria Math" charset="0"/>
                              <a:ea typeface="Cambria Math" charset="0"/>
                              <a:cs typeface="Cambria Math" charset="0"/>
                            </a:rPr>
                          </m:ctrlPr>
                        </m:sSubPr>
                        <m:e>
                          <m:r>
                            <a:rPr lang="en-US" sz="2400" i="1">
                              <a:latin typeface="Cambria Math" charset="0"/>
                              <a:ea typeface="Cambria Math" charset="0"/>
                              <a:cs typeface="Cambria Math" charset="0"/>
                            </a:rPr>
                            <m:t>|</m:t>
                          </m:r>
                          <m:r>
                            <a:rPr lang="en-US" sz="2400" i="1">
                              <a:latin typeface="Cambria Math" charset="0"/>
                              <a:ea typeface="Cambria Math" charset="0"/>
                              <a:cs typeface="Cambria Math" charset="0"/>
                            </a:rPr>
                            <m:t>𝑥</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r>
                        <a:rPr lang="en-US" sz="2400" b="0" i="1" smtClean="0">
                          <a:latin typeface="Cambria Math" charset="0"/>
                          <a:ea typeface="Cambria Math" charset="0"/>
                          <a:cs typeface="Cambria Math" charset="0"/>
                        </a:rPr>
                        <m:t>.</m:t>
                      </m:r>
                    </m:oMath>
                  </m:oMathPara>
                </a14:m>
                <a:endParaRPr lang="en-US" sz="2400" dirty="0" smtClean="0"/>
              </a:p>
              <a:p>
                <a:pPr algn="just"/>
                <a:r>
                  <a:rPr lang="ru-RU" sz="2400" dirty="0"/>
                  <a:t>6) </a:t>
                </a:r>
                <a:r>
                  <a:rPr lang="ru-RU" sz="2400" i="1" u="sng" dirty="0"/>
                  <a:t>степенное расстояние</a:t>
                </a:r>
                <a:r>
                  <a:rPr lang="ru-RU" sz="2400" i="1" dirty="0"/>
                  <a:t> </a:t>
                </a:r>
                <a:r>
                  <a:rPr lang="ru-RU" sz="2400" dirty="0"/>
                  <a:t>применяется в случае, когда </a:t>
                </a:r>
                <a:r>
                  <a:rPr lang="ru-RU" sz="2400" dirty="0" smtClean="0"/>
                  <a:t>необходимо </a:t>
                </a:r>
                <a:r>
                  <a:rPr lang="ru-RU" sz="2400" dirty="0"/>
                  <a:t>увеличить или уменьшить вес, </a:t>
                </a:r>
                <a:r>
                  <a:rPr lang="ru-RU" sz="2400" dirty="0" err="1"/>
                  <a:t>относящийся</a:t>
                </a:r>
                <a:r>
                  <a:rPr lang="ru-RU" sz="2400" dirty="0"/>
                  <a:t> к размерности, для </a:t>
                </a:r>
                <a:r>
                  <a:rPr lang="ru-RU" sz="2400" dirty="0" err="1"/>
                  <a:t>которои</a:t>
                </a:r>
                <a:r>
                  <a:rPr lang="ru-RU" sz="2400" dirty="0"/>
                  <a:t>̆ соответствующие объекты сильно </a:t>
                </a:r>
                <a:r>
                  <a:rPr lang="ru-RU" sz="2400" dirty="0" smtClean="0"/>
                  <a:t>отличаются: </a:t>
                </a:r>
                <a:endParaRPr lang="ru-RU" sz="2400" dirty="0"/>
              </a:p>
              <a:p>
                <a:pPr algn="just"/>
                <a14:m>
                  <m:oMathPara xmlns:m="http://schemas.openxmlformats.org/officeDocument/2006/math">
                    <m:oMathParaPr>
                      <m:jc m:val="centerGroup"/>
                    </m:oMathParaPr>
                    <m:oMath xmlns:m="http://schemas.openxmlformats.org/officeDocument/2006/math">
                      <m:r>
                        <a:rPr lang="ru-RU" sz="2400" i="1">
                          <a:latin typeface="Cambria Math" charset="0"/>
                          <a:ea typeface="Cambria Math" charset="0"/>
                          <a:cs typeface="Cambria Math" charset="0"/>
                        </a:rPr>
                        <m:t>𝜌</m:t>
                      </m:r>
                      <m:d>
                        <m:dPr>
                          <m:ctrlPr>
                            <a:rPr lang="en-US" sz="2400" i="1">
                              <a:latin typeface="Cambria Math" charset="0"/>
                              <a:ea typeface="Cambria Math" charset="0"/>
                              <a:cs typeface="Cambria Math" charset="0"/>
                            </a:rPr>
                          </m:ctrlPr>
                        </m:d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sSup>
                            <m:sSupPr>
                              <m:ctrlPr>
                                <a:rPr lang="en-U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𝑥</m:t>
                              </m:r>
                            </m:e>
                            <m:sup>
                              <m:r>
                                <a:rPr lang="en-US" sz="2400" i="1">
                                  <a:latin typeface="Cambria Math" charset="0"/>
                                  <a:ea typeface="Cambria Math" charset="0"/>
                                  <a:cs typeface="Cambria Math" charset="0"/>
                                </a:rPr>
                                <m:t>′</m:t>
                              </m:r>
                            </m:sup>
                          </m:sSup>
                        </m:e>
                      </m:d>
                      <m:r>
                        <a:rPr lang="en-US" sz="2400" i="1">
                          <a:latin typeface="Cambria Math" charset="0"/>
                          <a:ea typeface="Cambria Math" charset="0"/>
                          <a:cs typeface="Cambria Math" charset="0"/>
                        </a:rPr>
                        <m:t>=</m:t>
                      </m:r>
                      <m:rad>
                        <m:radPr>
                          <m:ctrlPr>
                            <a:rPr lang="mr-IN" sz="2400" i="1" smtClean="0">
                              <a:latin typeface="Cambria Math" charset="0"/>
                              <a:ea typeface="Cambria Math" charset="0"/>
                              <a:cs typeface="Cambria Math" charset="0"/>
                            </a:rPr>
                          </m:ctrlPr>
                        </m:radPr>
                        <m:deg>
                          <m:r>
                            <m:rPr>
                              <m:brk m:alnAt="7"/>
                            </m:rPr>
                            <a:rPr lang="en-US" sz="2400" b="0" i="1" smtClean="0">
                              <a:latin typeface="Cambria Math" charset="0"/>
                              <a:ea typeface="Cambria Math" charset="0"/>
                              <a:cs typeface="Cambria Math" charset="0"/>
                            </a:rPr>
                            <m:t>𝑟</m:t>
                          </m:r>
                        </m:deg>
                        <m:e>
                          <m:nary>
                            <m:naryPr>
                              <m:chr m:val="∑"/>
                              <m:ctrlPr>
                                <a:rPr lang="is-IS" sz="2400" i="1">
                                  <a:latin typeface="Cambria Math" charset="0"/>
                                  <a:ea typeface="Cambria Math" charset="0"/>
                                  <a:cs typeface="Cambria Math" charset="0"/>
                                </a:rPr>
                              </m:ctrlPr>
                            </m:naryPr>
                            <m:sub>
                              <m:r>
                                <m:rPr>
                                  <m:brk m:alnAt="23"/>
                                </m:rPr>
                                <a:rPr lang="en-US" sz="2400" i="1">
                                  <a:latin typeface="Cambria Math" charset="0"/>
                                  <a:ea typeface="Cambria Math" charset="0"/>
                                  <a:cs typeface="Cambria Math" charset="0"/>
                                </a:rPr>
                                <m:t>𝑖</m:t>
                              </m:r>
                            </m:sub>
                            <m:sup>
                              <m:r>
                                <a:rPr lang="en-US" sz="2400" i="1">
                                  <a:latin typeface="Cambria Math" charset="0"/>
                                  <a:ea typeface="Cambria Math" charset="0"/>
                                  <a:cs typeface="Cambria Math" charset="0"/>
                                </a:rPr>
                                <m:t>𝑛</m:t>
                              </m:r>
                            </m:sup>
                            <m:e>
                              <m:sSup>
                                <m:sSupPr>
                                  <m:ctrlPr>
                                    <a:rPr lang="is-IS" sz="2400" i="1">
                                      <a:latin typeface="Cambria Math" charset="0"/>
                                      <a:ea typeface="Cambria Math" charset="0"/>
                                      <a:cs typeface="Cambria Math" charset="0"/>
                                    </a:rPr>
                                  </m:ctrlPr>
                                </m:sSupPr>
                                <m:e>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r>
                                        <a:rPr lang="en-US" sz="2400" i="1">
                                          <a:latin typeface="Cambria Math" charset="0"/>
                                          <a:ea typeface="Cambria Math" charset="0"/>
                                          <a:cs typeface="Cambria Math" charset="0"/>
                                        </a:rPr>
                                        <m:t>𝑥</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sSub>
                                    <m:sSubPr>
                                      <m:ctrlPr>
                                        <a:rPr lang="en-US" sz="2400" i="1">
                                          <a:latin typeface="Cambria Math" charset="0"/>
                                          <a:ea typeface="Cambria Math" charset="0"/>
                                          <a:cs typeface="Cambria Math" charset="0"/>
                                        </a:rPr>
                                      </m:ctrlPr>
                                    </m:sSubPr>
                                    <m:e>
                                      <m:r>
                                        <a:rPr lang="en-US" sz="2400" i="1">
                                          <a:latin typeface="Cambria Math" charset="0"/>
                                          <a:ea typeface="Cambria Math" charset="0"/>
                                          <a:cs typeface="Cambria Math" charset="0"/>
                                        </a:rPr>
                                        <m:t>𝑥</m:t>
                                      </m:r>
                                      <m:r>
                                        <a:rPr lang="en-US" sz="2400" i="1">
                                          <a:latin typeface="Cambria Math" charset="0"/>
                                          <a:ea typeface="Cambria Math" charset="0"/>
                                          <a:cs typeface="Cambria Math" charset="0"/>
                                        </a:rPr>
                                        <m:t>′</m:t>
                                      </m:r>
                                    </m:e>
                                    <m:sub>
                                      <m:r>
                                        <a:rPr lang="en-US" sz="2400" i="1">
                                          <a:latin typeface="Cambria Math" charset="0"/>
                                          <a:ea typeface="Cambria Math" charset="0"/>
                                          <a:cs typeface="Cambria Math" charset="0"/>
                                        </a:rPr>
                                        <m:t>𝑖</m:t>
                                      </m:r>
                                    </m:sub>
                                  </m:sSub>
                                  <m:r>
                                    <a:rPr lang="en-US" sz="2400" i="1">
                                      <a:latin typeface="Cambria Math" charset="0"/>
                                      <a:ea typeface="Cambria Math" charset="0"/>
                                      <a:cs typeface="Cambria Math" charset="0"/>
                                    </a:rPr>
                                    <m:t>)</m:t>
                                  </m:r>
                                </m:e>
                                <m:sup>
                                  <m:r>
                                    <a:rPr lang="en-US" sz="2400" b="0" i="1" smtClean="0">
                                      <a:latin typeface="Cambria Math" charset="0"/>
                                      <a:ea typeface="Cambria Math" charset="0"/>
                                      <a:cs typeface="Cambria Math" charset="0"/>
                                    </a:rPr>
                                    <m:t>𝑝</m:t>
                                  </m:r>
                                </m:sup>
                              </m:sSup>
                            </m:e>
                          </m:nary>
                        </m:e>
                      </m:rad>
                      <m:r>
                        <a:rPr lang="en-US" sz="2400" b="0" i="1" smtClean="0">
                          <a:latin typeface="Cambria Math" charset="0"/>
                          <a:ea typeface="Cambria Math" charset="0"/>
                          <a:cs typeface="Cambria Math" charset="0"/>
                        </a:rPr>
                        <m:t>,</m:t>
                      </m:r>
                    </m:oMath>
                  </m:oMathPara>
                </a14:m>
                <a:endParaRPr lang="ru-RU" sz="2400" dirty="0">
                  <a:ea typeface="Cambria Math" charset="0"/>
                  <a:cs typeface="Cambria Math" charset="0"/>
                </a:endParaRPr>
              </a:p>
              <a:p>
                <a:pPr algn="just"/>
                <a:r>
                  <a:rPr lang="ru-RU" sz="2400" dirty="0"/>
                  <a:t>где </a:t>
                </a:r>
                <a14:m>
                  <m:oMath xmlns:m="http://schemas.openxmlformats.org/officeDocument/2006/math">
                    <m:r>
                      <a:rPr lang="ru-RU" sz="2400" i="1" dirty="0" smtClean="0">
                        <a:latin typeface="Cambria Math" charset="0"/>
                      </a:rPr>
                      <m:t>𝑟</m:t>
                    </m:r>
                  </m:oMath>
                </a14:m>
                <a:r>
                  <a:rPr lang="ru-RU" sz="2400" i="1" dirty="0"/>
                  <a:t> </a:t>
                </a:r>
                <a:r>
                  <a:rPr lang="ru-RU" sz="2400" dirty="0"/>
                  <a:t>и </a:t>
                </a:r>
                <a14:m>
                  <m:oMath xmlns:m="http://schemas.openxmlformats.org/officeDocument/2006/math">
                    <m:r>
                      <a:rPr lang="ru-RU" sz="2400" i="1" dirty="0" smtClean="0">
                        <a:latin typeface="Cambria Math" charset="0"/>
                      </a:rPr>
                      <m:t>𝑝</m:t>
                    </m:r>
                  </m:oMath>
                </a14:m>
                <a:r>
                  <a:rPr lang="ru-RU" sz="2400" i="1" dirty="0"/>
                  <a:t> </a:t>
                </a:r>
                <a:r>
                  <a:rPr lang="ru-RU" sz="2400" dirty="0"/>
                  <a:t>– параметры, определяемые пользователем. Параметр </a:t>
                </a:r>
                <a14:m>
                  <m:oMath xmlns:m="http://schemas.openxmlformats.org/officeDocument/2006/math">
                    <m:r>
                      <a:rPr lang="ru-RU" sz="2400" i="1" dirty="0" smtClean="0">
                        <a:latin typeface="Cambria Math" charset="0"/>
                      </a:rPr>
                      <m:t>𝑝</m:t>
                    </m:r>
                  </m:oMath>
                </a14:m>
                <a:r>
                  <a:rPr lang="ru-RU" sz="2400" i="1" dirty="0"/>
                  <a:t> </a:t>
                </a:r>
                <a:r>
                  <a:rPr lang="ru-RU" sz="2400" dirty="0"/>
                  <a:t>от- </a:t>
                </a:r>
                <a:r>
                  <a:rPr lang="ru-RU" sz="2400" dirty="0" err="1"/>
                  <a:t>ветственен</a:t>
                </a:r>
                <a:r>
                  <a:rPr lang="ru-RU" sz="2400" dirty="0"/>
                  <a:t> за постепенное взвешивание </a:t>
                </a:r>
                <a:r>
                  <a:rPr lang="ru-RU" sz="2400" dirty="0" err="1"/>
                  <a:t>разностеи</a:t>
                </a:r>
                <a:r>
                  <a:rPr lang="ru-RU" sz="2400" dirty="0"/>
                  <a:t>̆ по отдельным координатам, параметр </a:t>
                </a:r>
                <a14:m>
                  <m:oMath xmlns:m="http://schemas.openxmlformats.org/officeDocument/2006/math">
                    <m:r>
                      <a:rPr lang="ru-RU" sz="2400" i="1" dirty="0" smtClean="0">
                        <a:latin typeface="Cambria Math" charset="0"/>
                      </a:rPr>
                      <m:t>𝑟</m:t>
                    </m:r>
                  </m:oMath>
                </a14:m>
                <a:r>
                  <a:rPr lang="ru-RU" sz="2400" i="1" dirty="0"/>
                  <a:t> </a:t>
                </a:r>
                <a:r>
                  <a:rPr lang="ru-RU" sz="2400" dirty="0"/>
                  <a:t>ответственен за прогрессивное </a:t>
                </a:r>
                <a:r>
                  <a:rPr lang="ru-RU" sz="2400" dirty="0" smtClean="0"/>
                  <a:t>взвешивание </a:t>
                </a:r>
                <a:r>
                  <a:rPr lang="ru-RU" sz="2400" dirty="0"/>
                  <a:t>больших расстояний между объектами. </a:t>
                </a:r>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975757" y="548993"/>
                <a:ext cx="10216243" cy="5591852"/>
              </a:xfrm>
              <a:prstGeom prst="rect">
                <a:avLst/>
              </a:prstGeom>
              <a:blipFill rotWithShape="0">
                <a:blip r:embed="rId2"/>
                <a:stretch>
                  <a:fillRect l="-895" t="-872" r="-955" b="-1527"/>
                </a:stretch>
              </a:blipFill>
            </p:spPr>
            <p:txBody>
              <a:bodyPr/>
              <a:lstStyle/>
              <a:p>
                <a:r>
                  <a:rPr lang="ru-RU">
                    <a:noFill/>
                  </a:rPr>
                  <a:t> </a:t>
                </a:r>
              </a:p>
            </p:txBody>
          </p:sp>
        </mc:Fallback>
      </mc:AlternateContent>
    </p:spTree>
    <p:extLst>
      <p:ext uri="{BB962C8B-B14F-4D97-AF65-F5344CB8AC3E}">
        <p14:creationId xmlns:p14="http://schemas.microsoft.com/office/powerpoint/2010/main" val="7333921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mc:AlternateContent xmlns:mc="http://schemas.openxmlformats.org/markup-compatibility/2006" xmlns:a14="http://schemas.microsoft.com/office/drawing/2010/main">
        <mc:Choice Requires="a14">
          <p:sp>
            <p:nvSpPr>
              <p:cNvPr id="3" name="Прямоугольник 2"/>
              <p:cNvSpPr/>
              <p:nvPr/>
            </p:nvSpPr>
            <p:spPr>
              <a:xfrm>
                <a:off x="1975757" y="548993"/>
                <a:ext cx="10216243" cy="5262979"/>
              </a:xfrm>
              <a:prstGeom prst="rect">
                <a:avLst/>
              </a:prstGeom>
            </p:spPr>
            <p:txBody>
              <a:bodyPr wrap="square">
                <a:spAutoFit/>
              </a:bodyPr>
              <a:lstStyle/>
              <a:p>
                <a:pPr algn="just"/>
                <a:r>
                  <a:rPr lang="ru-RU" sz="2400" i="1" dirty="0" smtClean="0"/>
                  <a:t>       Метод </a:t>
                </a:r>
                <a:r>
                  <a:rPr lang="ru-RU" sz="2400" i="1" dirty="0"/>
                  <a:t>опорных векторов </a:t>
                </a:r>
                <a:r>
                  <a:rPr lang="ru-RU" sz="2400" i="1" dirty="0" smtClean="0"/>
                  <a:t>(МОВ) </a:t>
                </a:r>
                <a:r>
                  <a:rPr lang="ru-RU" sz="2400" dirty="0" smtClean="0"/>
                  <a:t>выполняет </a:t>
                </a:r>
                <a:r>
                  <a:rPr lang="ru-RU" sz="2400" dirty="0"/>
                  <a:t>разделение данных, расположенных на плоскости или в пространстве, на классы с помощью кривой, плоскости или гиперплоскости. </a:t>
                </a:r>
                <a:endParaRPr lang="ru-RU" sz="2400" dirty="0" smtClean="0"/>
              </a:p>
              <a:p>
                <a:pPr algn="just"/>
                <a:r>
                  <a:rPr lang="ru-RU" sz="2400" dirty="0" smtClean="0"/>
                  <a:t>       В </a:t>
                </a:r>
                <a:r>
                  <a:rPr lang="ru-RU" sz="2400" dirty="0"/>
                  <a:t>процессе обучения МОВ подается обучающий набор данных, где каждый объект уже имеет метку (класс). Алгоритм пытается найти гиперплоскость, которая максимально отделяет объекты одного класса от объектов другого класса, путем построения гиперплоскости с наибольшим интервалом между объектами двух классов.</a:t>
                </a:r>
              </a:p>
              <a:p>
                <a:pPr algn="just"/>
                <a:r>
                  <a:rPr lang="ru-RU" sz="2400" dirty="0" smtClean="0"/>
                  <a:t>        В </a:t>
                </a:r>
                <a:r>
                  <a:rPr lang="ru-RU" sz="2400" dirty="0"/>
                  <a:t>случае, когда данные расположены в пространстве таким образом, что могут быть </a:t>
                </a:r>
                <a:r>
                  <a:rPr lang="ru-RU" sz="2400" i="1" dirty="0"/>
                  <a:t>линейно </a:t>
                </a:r>
                <a:r>
                  <a:rPr lang="ru-RU" sz="2400" i="1" dirty="0" smtClean="0"/>
                  <a:t>разделимы</a:t>
                </a:r>
                <a:r>
                  <a:rPr lang="ru-RU" sz="2400" dirty="0" smtClean="0"/>
                  <a:t>, строится </a:t>
                </a:r>
                <a:r>
                  <a:rPr lang="ru-RU" sz="2400" dirty="0"/>
                  <a:t>разделяющая гиперплоскость: </a:t>
                </a:r>
              </a:p>
              <a:p>
                <a:pPr algn="just"/>
                <a14:m>
                  <m:oMathPara xmlns:m="http://schemas.openxmlformats.org/officeDocument/2006/math">
                    <m:oMathParaPr>
                      <m:jc m:val="centerGroup"/>
                    </m:oMathParaPr>
                    <m:oMath xmlns:m="http://schemas.openxmlformats.org/officeDocument/2006/math">
                      <m:r>
                        <a:rPr lang="en-US" sz="2400" i="1">
                          <a:latin typeface="Cambria Math" charset="0"/>
                        </a:rPr>
                        <m:t>𝑓</m:t>
                      </m:r>
                      <m:d>
                        <m:dPr>
                          <m:ctrlPr>
                            <a:rPr lang="ru-RU" sz="2400" i="1">
                              <a:latin typeface="Cambria Math" charset="0"/>
                            </a:rPr>
                          </m:ctrlPr>
                        </m:dPr>
                        <m:e>
                          <m:r>
                            <a:rPr lang="en-US" sz="2400" i="1">
                              <a:latin typeface="Cambria Math" charset="0"/>
                            </a:rPr>
                            <m:t>𝑥</m:t>
                          </m:r>
                        </m:e>
                      </m:d>
                      <m:r>
                        <a:rPr lang="ru-RU" sz="2400" i="1">
                          <a:latin typeface="Cambria Math" charset="0"/>
                        </a:rPr>
                        <m:t>=</m:t>
                      </m:r>
                      <m:r>
                        <a:rPr lang="en-US" sz="2400" b="0" i="1" smtClean="0">
                          <a:latin typeface="Cambria Math" charset="0"/>
                        </a:rPr>
                        <m:t>𝑤𝑥</m:t>
                      </m:r>
                      <m:r>
                        <a:rPr lang="ru-RU" sz="2400" b="0" i="1" smtClean="0">
                          <a:latin typeface="Cambria Math" charset="0"/>
                        </a:rPr>
                        <m:t>+</m:t>
                      </m:r>
                      <m:r>
                        <a:rPr lang="en-US" sz="2400" i="1">
                          <a:latin typeface="Cambria Math" charset="0"/>
                        </a:rPr>
                        <m:t>𝑏</m:t>
                      </m:r>
                      <m:r>
                        <a:rPr lang="ru-RU" sz="2400" i="1">
                          <a:latin typeface="Cambria Math" charset="0"/>
                        </a:rPr>
                        <m:t>, </m:t>
                      </m:r>
                    </m:oMath>
                  </m:oMathPara>
                </a14:m>
                <a:endParaRPr lang="ru-RU" sz="2400" dirty="0" smtClean="0"/>
              </a:p>
              <a:p>
                <a:pPr algn="just"/>
                <a:r>
                  <a:rPr lang="ru-RU" sz="2400" dirty="0" smtClean="0"/>
                  <a:t>где </a:t>
                </a:r>
                <a14:m>
                  <m:oMath xmlns:m="http://schemas.openxmlformats.org/officeDocument/2006/math">
                    <m:r>
                      <a:rPr lang="en-US" sz="2400" b="0" i="1" smtClean="0">
                        <a:latin typeface="Cambria Math" charset="0"/>
                      </a:rPr>
                      <m:t>𝑥</m:t>
                    </m:r>
                    <m:r>
                      <a:rPr lang="ru-RU" sz="2400" i="1">
                        <a:latin typeface="Cambria Math" charset="0"/>
                      </a:rPr>
                      <m:t>−</m:t>
                    </m:r>
                  </m:oMath>
                </a14:m>
                <a:r>
                  <a:rPr lang="ru-RU" sz="2400" dirty="0"/>
                  <a:t> входные данные, </a:t>
                </a:r>
                <a14:m>
                  <m:oMath xmlns:m="http://schemas.openxmlformats.org/officeDocument/2006/math">
                    <m:sSub>
                      <m:sSubPr>
                        <m:ctrlPr>
                          <a:rPr lang="ru-RU" sz="2400" i="1">
                            <a:latin typeface="Cambria Math" charset="0"/>
                          </a:rPr>
                        </m:ctrlPr>
                      </m:sSubPr>
                      <m:e>
                        <m:r>
                          <a:rPr lang="en-US" sz="2400" i="1">
                            <a:latin typeface="Cambria Math" charset="0"/>
                          </a:rPr>
                          <m:t>𝑥</m:t>
                        </m:r>
                      </m:e>
                      <m:sub>
                        <m:r>
                          <a:rPr lang="ru-RU" sz="2400" i="1">
                            <a:latin typeface="Cambria Math" charset="0"/>
                          </a:rPr>
                          <m:t>𝑖</m:t>
                        </m:r>
                      </m:sub>
                    </m:sSub>
                    <m:r>
                      <a:rPr lang="ru-RU" sz="2400" i="1">
                        <a:latin typeface="Cambria Math" charset="0"/>
                      </a:rPr>
                      <m:t>∈</m:t>
                    </m:r>
                    <m:sSup>
                      <m:sSupPr>
                        <m:ctrlPr>
                          <a:rPr lang="ru-RU" sz="2400" i="1">
                            <a:latin typeface="Cambria Math" charset="0"/>
                          </a:rPr>
                        </m:ctrlPr>
                      </m:sSupPr>
                      <m:e>
                        <m:r>
                          <a:rPr lang="ru-RU" sz="2400" i="1">
                            <a:latin typeface="Cambria Math" charset="0"/>
                          </a:rPr>
                          <m:t>ℝ</m:t>
                        </m:r>
                      </m:e>
                      <m:sup>
                        <m:r>
                          <a:rPr lang="ru-RU" sz="2400" i="1">
                            <a:latin typeface="Cambria Math" charset="0"/>
                          </a:rPr>
                          <m:t>𝑛</m:t>
                        </m:r>
                      </m:sup>
                    </m:sSup>
                  </m:oMath>
                </a14:m>
                <a:r>
                  <a:rPr lang="ru-RU" sz="2400" dirty="0"/>
                  <a:t>, </a:t>
                </a:r>
                <a14:m>
                  <m:oMath xmlns:m="http://schemas.openxmlformats.org/officeDocument/2006/math">
                    <m:r>
                      <a:rPr lang="ru-RU" sz="2400" i="1">
                        <a:latin typeface="Cambria Math" charset="0"/>
                      </a:rPr>
                      <m:t>𝑤</m:t>
                    </m:r>
                    <m:r>
                      <a:rPr lang="ru-RU" sz="2400" i="1">
                        <a:latin typeface="Cambria Math" charset="0"/>
                      </a:rPr>
                      <m:t>−</m:t>
                    </m:r>
                  </m:oMath>
                </a14:m>
                <a:r>
                  <a:rPr lang="ru-RU" sz="2400" dirty="0"/>
                  <a:t> вектор весовых коэффициентов (перпендикуляр к разделяющей гиперплоскости) и </a:t>
                </a:r>
                <a14:m>
                  <m:oMath xmlns:m="http://schemas.openxmlformats.org/officeDocument/2006/math">
                    <m:r>
                      <a:rPr lang="ru-RU" sz="2400" i="1">
                        <a:latin typeface="Cambria Math" charset="0"/>
                      </a:rPr>
                      <m:t>𝑏</m:t>
                    </m:r>
                    <m:r>
                      <a:rPr lang="ru-RU" sz="2400" i="1">
                        <a:latin typeface="Cambria Math" charset="0"/>
                      </a:rPr>
                      <m:t>−</m:t>
                    </m:r>
                  </m:oMath>
                </a14:m>
                <a:r>
                  <a:rPr lang="ru-RU" sz="2400" dirty="0"/>
                  <a:t> некоторое число (сдвиг)</a:t>
                </a:r>
                <a:r>
                  <a:rPr lang="ru-RU" sz="2400" i="1" dirty="0"/>
                  <a:t> </a:t>
                </a:r>
                <a:r>
                  <a:rPr lang="ru-RU" sz="2400" dirty="0"/>
                  <a:t>определяются процедурой обучения.</a:t>
                </a:r>
                <a:r>
                  <a:rPr lang="ru-RU" sz="2400" dirty="0">
                    <a:effectLst/>
                  </a:rPr>
                  <a:t> </a:t>
                </a:r>
                <a:endParaRPr lang="ru-RU" sz="24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975757" y="548993"/>
                <a:ext cx="10216243" cy="5262979"/>
              </a:xfrm>
              <a:prstGeom prst="rect">
                <a:avLst/>
              </a:prstGeom>
              <a:blipFill rotWithShape="0">
                <a:blip r:embed="rId2"/>
                <a:stretch>
                  <a:fillRect l="-895" t="-927" r="-955" b="-1738"/>
                </a:stretch>
              </a:blipFill>
            </p:spPr>
            <p:txBody>
              <a:bodyPr/>
              <a:lstStyle/>
              <a:p>
                <a:r>
                  <a:rPr lang="ru-RU">
                    <a:noFill/>
                  </a:rPr>
                  <a:t> </a:t>
                </a:r>
              </a:p>
            </p:txBody>
          </p:sp>
        </mc:Fallback>
      </mc:AlternateContent>
    </p:spTree>
    <p:extLst>
      <p:ext uri="{BB962C8B-B14F-4D97-AF65-F5344CB8AC3E}">
        <p14:creationId xmlns:p14="http://schemas.microsoft.com/office/powerpoint/2010/main" val="20862008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mc:AlternateContent xmlns:mc="http://schemas.openxmlformats.org/markup-compatibility/2006" xmlns:a14="http://schemas.microsoft.com/office/drawing/2010/main">
        <mc:Choice Requires="a14">
          <p:sp>
            <p:nvSpPr>
              <p:cNvPr id="3" name="Прямоугольник 2"/>
              <p:cNvSpPr/>
              <p:nvPr/>
            </p:nvSpPr>
            <p:spPr>
              <a:xfrm>
                <a:off x="1998921" y="548993"/>
                <a:ext cx="10193079" cy="2570640"/>
              </a:xfrm>
              <a:prstGeom prst="rect">
                <a:avLst/>
              </a:prstGeom>
            </p:spPr>
            <p:txBody>
              <a:bodyPr wrap="square">
                <a:spAutoFit/>
              </a:bodyPr>
              <a:lstStyle/>
              <a:p>
                <a:r>
                  <a:rPr lang="ru-RU" sz="2400" dirty="0" smtClean="0"/>
                  <a:t>Данные (примеры), для которых </a:t>
                </a:r>
                <a14:m>
                  <m:oMath xmlns:m="http://schemas.openxmlformats.org/officeDocument/2006/math">
                    <m:r>
                      <a:rPr lang="ru-RU" sz="2400" i="1">
                        <a:latin typeface="Cambria Math" charset="0"/>
                      </a:rPr>
                      <m:t>𝑓</m:t>
                    </m:r>
                    <m:d>
                      <m:dPr>
                        <m:ctrlPr>
                          <a:rPr lang="ru-RU" sz="2400" i="1">
                            <a:latin typeface="Cambria Math" charset="0"/>
                          </a:rPr>
                        </m:ctrlPr>
                      </m:dPr>
                      <m:e>
                        <m:r>
                          <a:rPr lang="ru-RU" sz="2400" i="1">
                            <a:latin typeface="Cambria Math" charset="0"/>
                          </a:rPr>
                          <m:t>𝑥</m:t>
                        </m:r>
                      </m:e>
                    </m:d>
                    <m:r>
                      <a:rPr lang="ru-RU" sz="2400" i="1">
                        <a:latin typeface="Cambria Math" charset="0"/>
                      </a:rPr>
                      <m:t> =1</m:t>
                    </m:r>
                  </m:oMath>
                </a14:m>
                <a:r>
                  <a:rPr lang="ru-RU" sz="2400" dirty="0"/>
                  <a:t> попадают в один класс, а объекты с</a:t>
                </a:r>
                <a:r>
                  <a:rPr lang="ru-RU" sz="2400" i="1" dirty="0"/>
                  <a:t> </a:t>
                </a:r>
                <a14:m>
                  <m:oMath xmlns:m="http://schemas.openxmlformats.org/officeDocument/2006/math">
                    <m:r>
                      <a:rPr lang="ru-RU" sz="2400" i="1">
                        <a:latin typeface="Cambria Math" charset="0"/>
                      </a:rPr>
                      <m:t>𝑓</m:t>
                    </m:r>
                    <m:d>
                      <m:dPr>
                        <m:ctrlPr>
                          <a:rPr lang="ru-RU" sz="2400" i="1">
                            <a:latin typeface="Cambria Math" charset="0"/>
                          </a:rPr>
                        </m:ctrlPr>
                      </m:dPr>
                      <m:e>
                        <m:r>
                          <a:rPr lang="ru-RU" sz="2400" i="1">
                            <a:latin typeface="Cambria Math" charset="0"/>
                          </a:rPr>
                          <m:t>𝑥</m:t>
                        </m:r>
                      </m:e>
                    </m:d>
                    <m:r>
                      <a:rPr lang="ru-RU" sz="2400" i="1">
                        <a:latin typeface="Cambria Math" charset="0"/>
                      </a:rPr>
                      <m:t> =−1</m:t>
                    </m:r>
                  </m:oMath>
                </a14:m>
                <a:r>
                  <a:rPr lang="ru-RU" sz="2400" dirty="0"/>
                  <a:t> — в другой. Все гиперплоскости вида: </a:t>
                </a:r>
              </a:p>
              <a:p>
                <a:pPr/>
                <a14:m>
                  <m:oMathPara xmlns:m="http://schemas.openxmlformats.org/officeDocument/2006/math">
                    <m:oMathParaPr>
                      <m:jc m:val="centerGroup"/>
                    </m:oMathParaPr>
                    <m:oMath xmlns:m="http://schemas.openxmlformats.org/officeDocument/2006/math">
                      <m:r>
                        <a:rPr lang="en-US" sz="2400" i="1">
                          <a:latin typeface="Cambria Math" charset="0"/>
                        </a:rPr>
                        <m:t>𝑤𝑥</m:t>
                      </m:r>
                      <m:r>
                        <a:rPr lang="ru-RU" sz="2400" i="1">
                          <a:latin typeface="Cambria Math" charset="0"/>
                        </a:rPr>
                        <m:t>+</m:t>
                      </m:r>
                      <m:sSup>
                        <m:sSupPr>
                          <m:ctrlPr>
                            <a:rPr lang="ru-RU" sz="2400" i="1">
                              <a:latin typeface="Cambria Math" charset="0"/>
                            </a:rPr>
                          </m:ctrlPr>
                        </m:sSupPr>
                        <m:e>
                          <m:r>
                            <a:rPr lang="en-US" sz="2400" i="1">
                              <a:latin typeface="Cambria Math" charset="0"/>
                            </a:rPr>
                            <m:t>𝑏</m:t>
                          </m:r>
                        </m:e>
                        <m:sup>
                          <m:r>
                            <a:rPr lang="ru-RU" sz="2400" i="1">
                              <a:latin typeface="Cambria Math" charset="0"/>
                            </a:rPr>
                            <m:t>′</m:t>
                          </m:r>
                        </m:sup>
                      </m:sSup>
                      <m:r>
                        <a:rPr lang="ru-RU" sz="2400" i="1">
                          <a:latin typeface="Cambria Math" charset="0"/>
                        </a:rPr>
                        <m:t>=0 ,</m:t>
                      </m:r>
                      <m:sSup>
                        <m:sSupPr>
                          <m:ctrlPr>
                            <a:rPr lang="ru-RU" sz="2400" i="1">
                              <a:latin typeface="Cambria Math" charset="0"/>
                            </a:rPr>
                          </m:ctrlPr>
                        </m:sSupPr>
                        <m:e>
                          <m:r>
                            <a:rPr lang="en-US" sz="2400" i="1">
                              <a:latin typeface="Cambria Math" charset="0"/>
                            </a:rPr>
                            <m:t>𝑏</m:t>
                          </m:r>
                        </m:e>
                        <m:sup>
                          <m:r>
                            <a:rPr lang="ru-RU" sz="2400" i="1">
                              <a:latin typeface="Cambria Math" charset="0"/>
                            </a:rPr>
                            <m:t>′</m:t>
                          </m:r>
                        </m:sup>
                      </m:sSup>
                      <m:r>
                        <a:rPr lang="ru-RU" sz="2400" i="1">
                          <a:latin typeface="Cambria Math" charset="0"/>
                        </a:rPr>
                        <m:t>∈</m:t>
                      </m:r>
                      <m:d>
                        <m:dPr>
                          <m:ctrlPr>
                            <a:rPr lang="ru-RU" sz="2400" i="1">
                              <a:latin typeface="Cambria Math" charset="0"/>
                            </a:rPr>
                          </m:ctrlPr>
                        </m:dPr>
                        <m:e>
                          <m:r>
                            <a:rPr lang="ru-RU" sz="2400" i="1">
                              <a:latin typeface="Cambria Math" charset="0"/>
                            </a:rPr>
                            <m:t>𝑏</m:t>
                          </m:r>
                          <m:r>
                            <a:rPr lang="ru-RU" sz="2400" i="1">
                              <a:latin typeface="Cambria Math" charset="0"/>
                            </a:rPr>
                            <m:t>−1, </m:t>
                          </m:r>
                          <m:r>
                            <a:rPr lang="ru-RU" sz="2400" i="1">
                              <a:latin typeface="Cambria Math" charset="0"/>
                            </a:rPr>
                            <m:t>𝑏</m:t>
                          </m:r>
                          <m:r>
                            <a:rPr lang="ru-RU" sz="2400" i="1">
                              <a:latin typeface="Cambria Math" charset="0"/>
                            </a:rPr>
                            <m:t>+1</m:t>
                          </m:r>
                        </m:e>
                      </m:d>
                      <m:r>
                        <a:rPr lang="ru-RU" sz="2400" i="1">
                          <a:latin typeface="Cambria Math" charset="0"/>
                        </a:rPr>
                        <m:t>,</m:t>
                      </m:r>
                    </m:oMath>
                  </m:oMathPara>
                </a14:m>
                <a:endParaRPr lang="ru-RU" sz="2400" dirty="0"/>
              </a:p>
              <a:p>
                <a:r>
                  <a:rPr lang="ru-RU" sz="2400" dirty="0"/>
                  <a:t> также разделяющие, а расстояние между граничными гиперплоскостями</a:t>
                </a:r>
              </a:p>
              <a:p>
                <a:pPr/>
                <a14:m>
                  <m:oMathPara xmlns:m="http://schemas.openxmlformats.org/officeDocument/2006/math">
                    <m:oMathParaPr>
                      <m:jc m:val="centerGroup"/>
                    </m:oMathParaPr>
                    <m:oMath xmlns:m="http://schemas.openxmlformats.org/officeDocument/2006/math">
                      <m:r>
                        <a:rPr lang="en-US" sz="2400" i="1">
                          <a:latin typeface="Cambria Math" charset="0"/>
                        </a:rPr>
                        <m:t>𝑤𝑥</m:t>
                      </m:r>
                      <m:r>
                        <a:rPr lang="ru-RU" sz="2400" i="1">
                          <a:latin typeface="Cambria Math" charset="0"/>
                        </a:rPr>
                        <m:t>+</m:t>
                      </m:r>
                      <m:r>
                        <a:rPr lang="ru-RU" sz="2400" i="1">
                          <a:latin typeface="Cambria Math" charset="0"/>
                        </a:rPr>
                        <m:t>𝑏</m:t>
                      </m:r>
                      <m:r>
                        <a:rPr lang="ru-RU" sz="2400" i="1">
                          <a:latin typeface="Cambria Math" charset="0"/>
                        </a:rPr>
                        <m:t>+1=0  и </m:t>
                      </m:r>
                      <m:r>
                        <a:rPr lang="en-US" sz="2400" i="1">
                          <a:latin typeface="Cambria Math" charset="0"/>
                        </a:rPr>
                        <m:t>𝑤𝑥</m:t>
                      </m:r>
                      <m:r>
                        <a:rPr lang="ru-RU" sz="2400" i="1">
                          <a:latin typeface="Cambria Math" charset="0"/>
                        </a:rPr>
                        <m:t>+</m:t>
                      </m:r>
                      <m:r>
                        <a:rPr lang="ru-RU" sz="2400" i="1">
                          <a:latin typeface="Cambria Math" charset="0"/>
                        </a:rPr>
                        <m:t>𝑏</m:t>
                      </m:r>
                      <m:r>
                        <a:rPr lang="ru-RU" sz="2400" i="1">
                          <a:latin typeface="Cambria Math" charset="0"/>
                        </a:rPr>
                        <m:t>−1=0</m:t>
                      </m:r>
                    </m:oMath>
                  </m:oMathPara>
                </a14:m>
                <a:endParaRPr lang="ru-RU" sz="2400" dirty="0"/>
              </a:p>
              <a:p>
                <a:r>
                  <a:rPr lang="ru-RU" sz="2400" dirty="0"/>
                  <a:t> равно </a:t>
                </a:r>
                <a14:m>
                  <m:oMath xmlns:m="http://schemas.openxmlformats.org/officeDocument/2006/math">
                    <m:f>
                      <m:fPr>
                        <m:ctrlPr>
                          <a:rPr lang="ru-RU" sz="2400" i="1">
                            <a:latin typeface="Cambria Math" charset="0"/>
                          </a:rPr>
                        </m:ctrlPr>
                      </m:fPr>
                      <m:num>
                        <m:r>
                          <a:rPr lang="ru-RU" sz="2400" i="1">
                            <a:latin typeface="Cambria Math" charset="0"/>
                          </a:rPr>
                          <m:t>2</m:t>
                        </m:r>
                      </m:num>
                      <m:den>
                        <m:d>
                          <m:dPr>
                            <m:begChr m:val="‖"/>
                            <m:endChr m:val="‖"/>
                            <m:ctrlPr>
                              <a:rPr lang="ru-RU" sz="2400" i="1">
                                <a:latin typeface="Cambria Math" charset="0"/>
                              </a:rPr>
                            </m:ctrlPr>
                          </m:dPr>
                          <m:e>
                            <m:r>
                              <a:rPr lang="en-US" sz="2400" i="1">
                                <a:latin typeface="Cambria Math" charset="0"/>
                              </a:rPr>
                              <m:t>𝑤</m:t>
                            </m:r>
                          </m:e>
                        </m:d>
                      </m:den>
                    </m:f>
                    <m:r>
                      <a:rPr lang="ru-RU" sz="2400" b="0" i="0" smtClean="0">
                        <a:latin typeface="Cambria Math" charset="0"/>
                      </a:rPr>
                      <m:t>, </m:t>
                    </m:r>
                  </m:oMath>
                </a14:m>
                <a:r>
                  <a:rPr lang="ru-RU" sz="2400" dirty="0" smtClean="0"/>
                  <a:t>где </a:t>
                </a:r>
                <a14:m>
                  <m:oMath xmlns:m="http://schemas.openxmlformats.org/officeDocument/2006/math">
                    <m:d>
                      <m:dPr>
                        <m:begChr m:val="‖"/>
                        <m:endChr m:val="‖"/>
                        <m:ctrlPr>
                          <a:rPr lang="ru-RU" sz="2400" i="1">
                            <a:latin typeface="Cambria Math" charset="0"/>
                          </a:rPr>
                        </m:ctrlPr>
                      </m:dPr>
                      <m:e>
                        <m:r>
                          <a:rPr lang="ru-RU" sz="2400" b="0" i="1" smtClean="0">
                            <a:latin typeface="Cambria Math" charset="0"/>
                          </a:rPr>
                          <m:t>∗</m:t>
                        </m:r>
                      </m:e>
                    </m:d>
                  </m:oMath>
                </a14:m>
                <a:r>
                  <a:rPr lang="ru-RU" sz="2400" dirty="0" smtClean="0"/>
                  <a:t> - норма.</a:t>
                </a:r>
                <a:endParaRPr lang="ru-RU" sz="24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998921" y="548993"/>
                <a:ext cx="10193079" cy="2570640"/>
              </a:xfrm>
              <a:prstGeom prst="rect">
                <a:avLst/>
              </a:prstGeom>
              <a:blipFill rotWithShape="0">
                <a:blip r:embed="rId2"/>
                <a:stretch>
                  <a:fillRect l="-957" t="-18483" b="-711"/>
                </a:stretch>
              </a:blipFill>
            </p:spPr>
            <p:txBody>
              <a:bodyPr/>
              <a:lstStyle/>
              <a:p>
                <a:r>
                  <a:rPr lang="ru-RU">
                    <a:noFill/>
                  </a:rPr>
                  <a:t> </a:t>
                </a:r>
              </a:p>
            </p:txBody>
          </p:sp>
        </mc:Fallback>
      </mc:AlternateContent>
      <p:sp>
        <p:nvSpPr>
          <p:cNvPr id="5" name="Rectangle 3"/>
          <p:cNvSpPr>
            <a:spLocks noChangeArrowheads="1"/>
          </p:cNvSpPr>
          <p:nvPr/>
        </p:nvSpPr>
        <p:spPr bwMode="auto">
          <a:xfrm>
            <a:off x="2466754" y="6184796"/>
            <a:ext cx="776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000" b="0" i="1" u="none" strike="noStrike" cap="none" normalizeH="0" baseline="0" dirty="0">
                <a:ln>
                  <a:noFill/>
                </a:ln>
                <a:solidFill>
                  <a:schemeClr val="tx1"/>
                </a:solidFill>
                <a:effectLst/>
                <a:latin typeface="Arial" charset="0"/>
              </a:rPr>
              <a:t>Рис. </a:t>
            </a:r>
            <a:r>
              <a:rPr kumimoji="0" lang="ru-RU" altLang="ru-RU" sz="2000" b="0" i="1" u="none" strike="noStrike" cap="none" normalizeH="0" baseline="0" dirty="0" smtClean="0">
                <a:ln>
                  <a:noFill/>
                </a:ln>
                <a:solidFill>
                  <a:schemeClr val="tx1"/>
                </a:solidFill>
                <a:effectLst/>
                <a:latin typeface="Arial" charset="0"/>
              </a:rPr>
              <a:t>Линейно </a:t>
            </a:r>
            <a:r>
              <a:rPr kumimoji="0" lang="ru-RU" altLang="ru-RU" sz="2000" b="0" i="1" u="none" strike="noStrike" cap="none" normalizeH="0" baseline="0" dirty="0">
                <a:ln>
                  <a:noFill/>
                </a:ln>
                <a:solidFill>
                  <a:schemeClr val="tx1"/>
                </a:solidFill>
                <a:effectLst/>
                <a:latin typeface="Arial" charset="0"/>
              </a:rPr>
              <a:t>разделимые классы</a:t>
            </a:r>
            <a:endParaRPr kumimoji="0" lang="ru-RU" altLang="ru-RU" sz="2000" b="0" i="0" u="none" strike="noStrike" cap="none" normalizeH="0" baseline="0" dirty="0">
              <a:ln>
                <a:noFill/>
              </a:ln>
              <a:solidFill>
                <a:schemeClr val="tx1"/>
              </a:solidFill>
              <a:effectLst/>
              <a:latin typeface="Arial" charset="0"/>
            </a:endParaRPr>
          </a:p>
        </p:txBody>
      </p:sp>
      <p:sp>
        <p:nvSpPr>
          <p:cNvPr id="6" name="Улыбающееся лицо 5"/>
          <p:cNvSpPr/>
          <p:nvPr/>
        </p:nvSpPr>
        <p:spPr>
          <a:xfrm>
            <a:off x="8267004" y="4361035"/>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8" name="Улыбающееся лицо 7"/>
          <p:cNvSpPr/>
          <p:nvPr/>
        </p:nvSpPr>
        <p:spPr>
          <a:xfrm>
            <a:off x="8511368" y="4809971"/>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9" name="Улыбающееся лицо 8"/>
          <p:cNvSpPr/>
          <p:nvPr/>
        </p:nvSpPr>
        <p:spPr>
          <a:xfrm>
            <a:off x="7859041" y="5041183"/>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0" name="Улыбающееся лицо 9"/>
          <p:cNvSpPr/>
          <p:nvPr/>
        </p:nvSpPr>
        <p:spPr>
          <a:xfrm>
            <a:off x="8832017" y="5790355"/>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1" name="Улыбающееся лицо 10"/>
          <p:cNvSpPr/>
          <p:nvPr/>
        </p:nvSpPr>
        <p:spPr>
          <a:xfrm>
            <a:off x="7544863" y="4532922"/>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2" name="Улыбающееся лицо 11"/>
          <p:cNvSpPr/>
          <p:nvPr/>
        </p:nvSpPr>
        <p:spPr>
          <a:xfrm>
            <a:off x="8112779" y="5586374"/>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3" name="Улыбающееся лицо 12"/>
          <p:cNvSpPr/>
          <p:nvPr/>
        </p:nvSpPr>
        <p:spPr>
          <a:xfrm>
            <a:off x="9754661" y="4111980"/>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4" name="Улыбающееся лицо 13"/>
          <p:cNvSpPr/>
          <p:nvPr/>
        </p:nvSpPr>
        <p:spPr>
          <a:xfrm>
            <a:off x="9772555" y="4777664"/>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5" name="Улыбающееся лицо 14"/>
          <p:cNvSpPr/>
          <p:nvPr/>
        </p:nvSpPr>
        <p:spPr>
          <a:xfrm>
            <a:off x="9192076" y="3697476"/>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6" name="Улыбающееся лицо 15"/>
          <p:cNvSpPr/>
          <p:nvPr/>
        </p:nvSpPr>
        <p:spPr>
          <a:xfrm>
            <a:off x="10334169" y="4890735"/>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17" name="Улыбающееся лицо 16"/>
          <p:cNvSpPr/>
          <p:nvPr/>
        </p:nvSpPr>
        <p:spPr>
          <a:xfrm>
            <a:off x="10385838" y="5390809"/>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cxnSp>
        <p:nvCxnSpPr>
          <p:cNvPr id="18" name="Прямая соединительная линия 17"/>
          <p:cNvCxnSpPr/>
          <p:nvPr/>
        </p:nvCxnSpPr>
        <p:spPr>
          <a:xfrm>
            <a:off x="8533900" y="3522159"/>
            <a:ext cx="1424742" cy="2557494"/>
          </a:xfrm>
          <a:prstGeom prst="line">
            <a:avLst/>
          </a:prstGeom>
          <a:ln w="38100"/>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19" name="Прямоугольник 18"/>
              <p:cNvSpPr/>
              <p:nvPr/>
            </p:nvSpPr>
            <p:spPr>
              <a:xfrm>
                <a:off x="9088459" y="3982006"/>
                <a:ext cx="765146" cy="745140"/>
              </a:xfrm>
              <a:prstGeom prst="rect">
                <a:avLst/>
              </a:prstGeom>
            </p:spPr>
            <p:txBody>
              <a:bodyPr wrap="none">
                <a:spAutoFit/>
              </a:bodyPr>
              <a:lstStyle/>
              <a:p>
                <a14:m>
                  <m:oMath xmlns:m="http://schemas.openxmlformats.org/officeDocument/2006/math">
                    <m:f>
                      <m:fPr>
                        <m:ctrlPr>
                          <a:rPr lang="ru-RU" sz="2800" i="1">
                            <a:latin typeface="Cambria Math" charset="0"/>
                          </a:rPr>
                        </m:ctrlPr>
                      </m:fPr>
                      <m:num>
                        <m:r>
                          <a:rPr lang="ru-RU" sz="2800" i="1">
                            <a:effectLst/>
                            <a:latin typeface="Cambria Math" charset="0"/>
                            <a:ea typeface="Calibri" charset="0"/>
                            <a:cs typeface="Times New Roman" charset="0"/>
                          </a:rPr>
                          <m:t>1</m:t>
                        </m:r>
                      </m:num>
                      <m:den>
                        <m:d>
                          <m:dPr>
                            <m:begChr m:val="‖"/>
                            <m:endChr m:val="‖"/>
                            <m:ctrlPr>
                              <a:rPr lang="ru-RU" sz="2800" i="1">
                                <a:effectLst/>
                                <a:latin typeface="Cambria Math" charset="0"/>
                              </a:rPr>
                            </m:ctrlPr>
                          </m:dPr>
                          <m:e>
                            <m:r>
                              <a:rPr lang="ru-RU" sz="2800" i="1">
                                <a:effectLst/>
                                <a:latin typeface="Cambria Math" charset="0"/>
                                <a:ea typeface="Calibri" charset="0"/>
                                <a:cs typeface="Times New Roman" charset="0"/>
                              </a:rPr>
                              <m:t>𝑤</m:t>
                            </m:r>
                          </m:e>
                        </m:d>
                      </m:den>
                    </m:f>
                  </m:oMath>
                </a14:m>
                <a:r>
                  <a:rPr lang="ru-RU" sz="2800" dirty="0">
                    <a:effectLst/>
                  </a:rPr>
                  <a:t> </a:t>
                </a:r>
                <a:endParaRPr lang="ru-RU" sz="2800" dirty="0"/>
              </a:p>
            </p:txBody>
          </p:sp>
        </mc:Choice>
        <mc:Fallback xmlns="">
          <p:sp>
            <p:nvSpPr>
              <p:cNvPr id="19" name="Прямоугольник 18"/>
              <p:cNvSpPr>
                <a:spLocks noRot="1" noChangeAspect="1" noMove="1" noResize="1" noEditPoints="1" noAdjustHandles="1" noChangeArrowheads="1" noChangeShapeType="1" noTextEdit="1"/>
              </p:cNvSpPr>
              <p:nvPr/>
            </p:nvSpPr>
            <p:spPr>
              <a:xfrm>
                <a:off x="9088459" y="3982006"/>
                <a:ext cx="765146" cy="745140"/>
              </a:xfrm>
              <a:prstGeom prst="rect">
                <a:avLst/>
              </a:prstGeom>
              <a:blipFill rotWithShape="0">
                <a:blip r:embed="rId3"/>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20" name="Прямоугольник 19"/>
              <p:cNvSpPr/>
              <p:nvPr/>
            </p:nvSpPr>
            <p:spPr>
              <a:xfrm>
                <a:off x="8961096" y="5050933"/>
                <a:ext cx="765146" cy="745140"/>
              </a:xfrm>
              <a:prstGeom prst="rect">
                <a:avLst/>
              </a:prstGeom>
            </p:spPr>
            <p:txBody>
              <a:bodyPr wrap="none">
                <a:spAutoFit/>
              </a:bodyPr>
              <a:lstStyle/>
              <a:p>
                <a14:m>
                  <m:oMath xmlns:m="http://schemas.openxmlformats.org/officeDocument/2006/math">
                    <m:f>
                      <m:fPr>
                        <m:ctrlPr>
                          <a:rPr lang="ru-RU" sz="2800" i="1">
                            <a:latin typeface="Cambria Math" charset="0"/>
                          </a:rPr>
                        </m:ctrlPr>
                      </m:fPr>
                      <m:num>
                        <m:r>
                          <a:rPr lang="ru-RU" sz="2800" i="1">
                            <a:effectLst/>
                            <a:latin typeface="Cambria Math" charset="0"/>
                            <a:ea typeface="Calibri" charset="0"/>
                            <a:cs typeface="Times New Roman" charset="0"/>
                          </a:rPr>
                          <m:t>1</m:t>
                        </m:r>
                      </m:num>
                      <m:den>
                        <m:d>
                          <m:dPr>
                            <m:begChr m:val="‖"/>
                            <m:endChr m:val="‖"/>
                            <m:ctrlPr>
                              <a:rPr lang="ru-RU" sz="2800" i="1">
                                <a:effectLst/>
                                <a:latin typeface="Cambria Math" charset="0"/>
                              </a:rPr>
                            </m:ctrlPr>
                          </m:dPr>
                          <m:e>
                            <m:r>
                              <a:rPr lang="ru-RU" sz="2800" i="1">
                                <a:effectLst/>
                                <a:latin typeface="Cambria Math" charset="0"/>
                                <a:ea typeface="Calibri" charset="0"/>
                                <a:cs typeface="Times New Roman" charset="0"/>
                              </a:rPr>
                              <m:t>𝑤</m:t>
                            </m:r>
                          </m:e>
                        </m:d>
                      </m:den>
                    </m:f>
                  </m:oMath>
                </a14:m>
                <a:r>
                  <a:rPr lang="ru-RU" sz="2800" dirty="0">
                    <a:effectLst/>
                  </a:rPr>
                  <a:t> </a:t>
                </a:r>
                <a:endParaRPr lang="ru-RU" sz="2800" dirty="0"/>
              </a:p>
            </p:txBody>
          </p:sp>
        </mc:Choice>
        <mc:Fallback xmlns="">
          <p:sp>
            <p:nvSpPr>
              <p:cNvPr id="20" name="Прямоугольник 19"/>
              <p:cNvSpPr>
                <a:spLocks noRot="1" noChangeAspect="1" noMove="1" noResize="1" noEditPoints="1" noAdjustHandles="1" noChangeArrowheads="1" noChangeShapeType="1" noTextEdit="1"/>
              </p:cNvSpPr>
              <p:nvPr/>
            </p:nvSpPr>
            <p:spPr>
              <a:xfrm>
                <a:off x="8961096" y="5050933"/>
                <a:ext cx="765146" cy="745140"/>
              </a:xfrm>
              <a:prstGeom prst="rect">
                <a:avLst/>
              </a:prstGeom>
              <a:blipFill rotWithShape="0">
                <a:blip r:embed="rId4"/>
                <a:stretch>
                  <a:fillRect/>
                </a:stretch>
              </a:blipFill>
            </p:spPr>
            <p:txBody>
              <a:bodyPr/>
              <a:lstStyle/>
              <a:p>
                <a:r>
                  <a:rPr lang="ru-RU">
                    <a:noFill/>
                  </a:rPr>
                  <a:t> </a:t>
                </a:r>
              </a:p>
            </p:txBody>
          </p:sp>
        </mc:Fallback>
      </mc:AlternateContent>
      <p:cxnSp>
        <p:nvCxnSpPr>
          <p:cNvPr id="21" name="Прямая соединительная линия 20"/>
          <p:cNvCxnSpPr/>
          <p:nvPr/>
        </p:nvCxnSpPr>
        <p:spPr>
          <a:xfrm flipV="1">
            <a:off x="8884587" y="4958802"/>
            <a:ext cx="455765" cy="262583"/>
          </a:xfrm>
          <a:prstGeom prst="line">
            <a:avLst/>
          </a:prstGeom>
        </p:spPr>
        <p:style>
          <a:lnRef idx="2">
            <a:schemeClr val="accent6"/>
          </a:lnRef>
          <a:fillRef idx="0">
            <a:schemeClr val="accent6"/>
          </a:fillRef>
          <a:effectRef idx="1">
            <a:schemeClr val="accent6"/>
          </a:effectRef>
          <a:fontRef idx="minor">
            <a:schemeClr val="tx1"/>
          </a:fontRef>
        </p:style>
      </p:cxnSp>
      <p:cxnSp>
        <p:nvCxnSpPr>
          <p:cNvPr id="22" name="Прямая соединительная линия 21"/>
          <p:cNvCxnSpPr/>
          <p:nvPr/>
        </p:nvCxnSpPr>
        <p:spPr>
          <a:xfrm flipV="1">
            <a:off x="9237227" y="4543507"/>
            <a:ext cx="514872" cy="231992"/>
          </a:xfrm>
          <a:prstGeom prst="line">
            <a:avLst/>
          </a:prstGeom>
        </p:spPr>
        <p:style>
          <a:lnRef idx="2">
            <a:schemeClr val="accent6"/>
          </a:lnRef>
          <a:fillRef idx="0">
            <a:schemeClr val="accent6"/>
          </a:fillRef>
          <a:effectRef idx="1">
            <a:schemeClr val="accent6"/>
          </a:effectRef>
          <a:fontRef idx="minor">
            <a:schemeClr val="tx1"/>
          </a:fontRef>
        </p:style>
      </p:cxnSp>
      <p:cxnSp>
        <p:nvCxnSpPr>
          <p:cNvPr id="23" name="Прямая соединительная линия 22"/>
          <p:cNvCxnSpPr/>
          <p:nvPr/>
        </p:nvCxnSpPr>
        <p:spPr>
          <a:xfrm>
            <a:off x="8071638" y="3762572"/>
            <a:ext cx="1425778" cy="2581921"/>
          </a:xfrm>
          <a:prstGeom prst="line">
            <a:avLst/>
          </a:prstGeom>
          <a:ln w="28575"/>
        </p:spPr>
        <p:style>
          <a:lnRef idx="3">
            <a:schemeClr val="accent6"/>
          </a:lnRef>
          <a:fillRef idx="0">
            <a:schemeClr val="accent6"/>
          </a:fillRef>
          <a:effectRef idx="2">
            <a:schemeClr val="accent6"/>
          </a:effectRef>
          <a:fontRef idx="minor">
            <a:schemeClr val="tx1"/>
          </a:fontRef>
        </p:style>
      </p:cxnSp>
      <p:sp>
        <p:nvSpPr>
          <p:cNvPr id="24" name="Улыбающееся лицо 23"/>
          <p:cNvSpPr/>
          <p:nvPr/>
        </p:nvSpPr>
        <p:spPr>
          <a:xfrm>
            <a:off x="7401321" y="5240097"/>
            <a:ext cx="407963" cy="407963"/>
          </a:xfrm>
          <a:prstGeom prst="smileyFace">
            <a:avLst>
              <a:gd name="adj" fmla="val -465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cxnSp>
        <p:nvCxnSpPr>
          <p:cNvPr id="25" name="Прямая соединительная линия 24"/>
          <p:cNvCxnSpPr/>
          <p:nvPr/>
        </p:nvCxnSpPr>
        <p:spPr>
          <a:xfrm>
            <a:off x="9011362" y="3241961"/>
            <a:ext cx="1441342" cy="2581921"/>
          </a:xfrm>
          <a:prstGeom prst="line">
            <a:avLst/>
          </a:prstGeom>
          <a:ln w="28575"/>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xmlns:a14="http://schemas.microsoft.com/office/drawing/2010/main">
        <mc:Choice Requires="a14">
          <p:sp>
            <p:nvSpPr>
              <p:cNvPr id="26" name="Прямоугольник 25"/>
              <p:cNvSpPr/>
              <p:nvPr/>
            </p:nvSpPr>
            <p:spPr>
              <a:xfrm>
                <a:off x="7991317" y="2670978"/>
                <a:ext cx="765146" cy="746038"/>
              </a:xfrm>
              <a:prstGeom prst="rect">
                <a:avLst/>
              </a:prstGeom>
            </p:spPr>
            <p:txBody>
              <a:bodyPr wrap="none">
                <a:spAutoFit/>
              </a:bodyPr>
              <a:lstStyle/>
              <a:p>
                <a14:m>
                  <m:oMath xmlns:m="http://schemas.openxmlformats.org/officeDocument/2006/math">
                    <m:f>
                      <m:fPr>
                        <m:ctrlPr>
                          <a:rPr lang="ru-RU" sz="2800" i="1" smtClean="0">
                            <a:latin typeface="Cambria Math" charset="0"/>
                          </a:rPr>
                        </m:ctrlPr>
                      </m:fPr>
                      <m:num>
                        <m:r>
                          <a:rPr lang="ru-RU" sz="2800" b="0" i="1" smtClean="0">
                            <a:effectLst/>
                            <a:latin typeface="Cambria Math" charset="0"/>
                            <a:ea typeface="Calibri" charset="0"/>
                            <a:cs typeface="Times New Roman" charset="0"/>
                          </a:rPr>
                          <m:t>2</m:t>
                        </m:r>
                      </m:num>
                      <m:den>
                        <m:d>
                          <m:dPr>
                            <m:begChr m:val="‖"/>
                            <m:endChr m:val="‖"/>
                            <m:ctrlPr>
                              <a:rPr lang="ru-RU" sz="2800" i="1">
                                <a:effectLst/>
                                <a:latin typeface="Cambria Math" charset="0"/>
                              </a:rPr>
                            </m:ctrlPr>
                          </m:dPr>
                          <m:e>
                            <m:r>
                              <a:rPr lang="ru-RU" sz="2800" i="1">
                                <a:effectLst/>
                                <a:latin typeface="Cambria Math" charset="0"/>
                                <a:ea typeface="Calibri" charset="0"/>
                                <a:cs typeface="Times New Roman" charset="0"/>
                              </a:rPr>
                              <m:t>𝑤</m:t>
                            </m:r>
                          </m:e>
                        </m:d>
                      </m:den>
                    </m:f>
                  </m:oMath>
                </a14:m>
                <a:r>
                  <a:rPr lang="ru-RU" sz="2800" dirty="0">
                    <a:effectLst/>
                  </a:rPr>
                  <a:t> </a:t>
                </a:r>
                <a:endParaRPr lang="ru-RU" sz="2800" dirty="0"/>
              </a:p>
            </p:txBody>
          </p:sp>
        </mc:Choice>
        <mc:Fallback xmlns="">
          <p:sp>
            <p:nvSpPr>
              <p:cNvPr id="26" name="Прямоугольник 25"/>
              <p:cNvSpPr>
                <a:spLocks noRot="1" noChangeAspect="1" noMove="1" noResize="1" noEditPoints="1" noAdjustHandles="1" noChangeArrowheads="1" noChangeShapeType="1" noTextEdit="1"/>
              </p:cNvSpPr>
              <p:nvPr/>
            </p:nvSpPr>
            <p:spPr>
              <a:xfrm>
                <a:off x="7991317" y="2670978"/>
                <a:ext cx="765146" cy="746038"/>
              </a:xfrm>
              <a:prstGeom prst="rect">
                <a:avLst/>
              </a:prstGeom>
              <a:blipFill rotWithShape="0">
                <a:blip r:embed="rId5"/>
                <a:stretch>
                  <a:fillRect/>
                </a:stretch>
              </a:blipFill>
            </p:spPr>
            <p:txBody>
              <a:bodyPr/>
              <a:lstStyle/>
              <a:p>
                <a:r>
                  <a:rPr lang="ru-RU">
                    <a:noFill/>
                  </a:rPr>
                  <a:t> </a:t>
                </a:r>
              </a:p>
            </p:txBody>
          </p:sp>
        </mc:Fallback>
      </mc:AlternateContent>
      <p:cxnSp>
        <p:nvCxnSpPr>
          <p:cNvPr id="27" name="Прямая со стрелкой 26"/>
          <p:cNvCxnSpPr/>
          <p:nvPr/>
        </p:nvCxnSpPr>
        <p:spPr>
          <a:xfrm flipV="1">
            <a:off x="7975358" y="3053914"/>
            <a:ext cx="978910" cy="630668"/>
          </a:xfrm>
          <a:prstGeom prst="straightConnector1">
            <a:avLst/>
          </a:prstGeom>
          <a:ln>
            <a:headEnd type="triangle"/>
            <a:tailEnd type="triangle"/>
          </a:ln>
        </p:spPr>
        <p:style>
          <a:lnRef idx="3">
            <a:schemeClr val="accent6"/>
          </a:lnRef>
          <a:fillRef idx="0">
            <a:schemeClr val="accent6"/>
          </a:fillRef>
          <a:effectRef idx="2">
            <a:schemeClr val="accent6"/>
          </a:effectRef>
          <a:fontRef idx="minor">
            <a:schemeClr val="tx1"/>
          </a:fontRef>
        </p:style>
      </p:cxnSp>
      <p:sp>
        <p:nvSpPr>
          <p:cNvPr id="28" name="Улыбающееся лицо 27"/>
          <p:cNvSpPr/>
          <p:nvPr/>
        </p:nvSpPr>
        <p:spPr>
          <a:xfrm>
            <a:off x="9709763" y="3615160"/>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p:sp>
        <p:nvSpPr>
          <p:cNvPr id="29" name="Улыбающееся лицо 28"/>
          <p:cNvSpPr/>
          <p:nvPr/>
        </p:nvSpPr>
        <p:spPr>
          <a:xfrm>
            <a:off x="10248723" y="4271961"/>
            <a:ext cx="407963" cy="407963"/>
          </a:xfrm>
          <a:prstGeom prst="smileyFace">
            <a:avLst>
              <a:gd name="adj" fmla="val 4653"/>
            </a:avLst>
          </a:prstGeom>
          <a:solidFill>
            <a:srgbClr val="FFC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sz="2400"/>
          </a:p>
        </p:txBody>
      </p:sp>
      <mc:AlternateContent xmlns:mc="http://schemas.openxmlformats.org/markup-compatibility/2006" xmlns:a14="http://schemas.microsoft.com/office/drawing/2010/main">
        <mc:Choice Requires="a14">
          <p:sp>
            <p:nvSpPr>
              <p:cNvPr id="30" name="Прямоугольник 29"/>
              <p:cNvSpPr/>
              <p:nvPr/>
            </p:nvSpPr>
            <p:spPr>
              <a:xfrm>
                <a:off x="8500749" y="6277129"/>
                <a:ext cx="154644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charset="0"/>
                          <a:ea typeface="Calibri" charset="0"/>
                          <a:cs typeface="Times New Roman" charset="0"/>
                        </a:rPr>
                        <m:t>𝑤</m:t>
                      </m:r>
                      <m:r>
                        <a:rPr lang="en-US" b="0" i="1" smtClean="0">
                          <a:latin typeface="Cambria Math" charset="0"/>
                          <a:ea typeface="Calibri" charset="0"/>
                          <a:cs typeface="Times New Roman" charset="0"/>
                        </a:rPr>
                        <m:t>𝑥</m:t>
                      </m:r>
                      <m:r>
                        <a:rPr lang="ru-RU" b="0" i="1" smtClean="0">
                          <a:latin typeface="Cambria Math" charset="0"/>
                          <a:ea typeface="Calibri" charset="0"/>
                          <a:cs typeface="Times New Roman" charset="0"/>
                        </a:rPr>
                        <m:t>+</m:t>
                      </m:r>
                      <m:r>
                        <a:rPr lang="en-US" b="0" i="1" smtClean="0">
                          <a:latin typeface="Cambria Math" charset="0"/>
                          <a:ea typeface="Calibri" charset="0"/>
                          <a:cs typeface="Times New Roman" charset="0"/>
                        </a:rPr>
                        <m:t>𝑏</m:t>
                      </m:r>
                      <m:r>
                        <a:rPr lang="en-US" b="0" i="1" smtClean="0">
                          <a:latin typeface="Cambria Math" charset="0"/>
                          <a:ea typeface="Calibri" charset="0"/>
                          <a:cs typeface="Times New Roman" charset="0"/>
                        </a:rPr>
                        <m:t>=−1</m:t>
                      </m:r>
                    </m:oMath>
                  </m:oMathPara>
                </a14:m>
                <a:endParaRPr lang="ru-RU" dirty="0"/>
              </a:p>
            </p:txBody>
          </p:sp>
        </mc:Choice>
        <mc:Fallback xmlns="">
          <p:sp>
            <p:nvSpPr>
              <p:cNvPr id="30" name="Прямоугольник 29"/>
              <p:cNvSpPr>
                <a:spLocks noRot="1" noChangeAspect="1" noMove="1" noResize="1" noEditPoints="1" noAdjustHandles="1" noChangeArrowheads="1" noChangeShapeType="1" noTextEdit="1"/>
              </p:cNvSpPr>
              <p:nvPr/>
            </p:nvSpPr>
            <p:spPr>
              <a:xfrm>
                <a:off x="8500749" y="6277129"/>
                <a:ext cx="1546449" cy="369332"/>
              </a:xfrm>
              <a:prstGeom prst="rect">
                <a:avLst/>
              </a:prstGeom>
              <a:blipFill rotWithShape="0">
                <a:blip r:embed="rId6"/>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1" name="Прямоугольник 30"/>
              <p:cNvSpPr/>
              <p:nvPr/>
            </p:nvSpPr>
            <p:spPr>
              <a:xfrm>
                <a:off x="9494663" y="6032584"/>
                <a:ext cx="13733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charset="0"/>
                          <a:ea typeface="Calibri" charset="0"/>
                          <a:cs typeface="Times New Roman" charset="0"/>
                        </a:rPr>
                        <m:t>𝑤</m:t>
                      </m:r>
                      <m:r>
                        <a:rPr lang="en-US" b="0" i="1" smtClean="0">
                          <a:latin typeface="Cambria Math" charset="0"/>
                          <a:ea typeface="Calibri" charset="0"/>
                          <a:cs typeface="Times New Roman" charset="0"/>
                        </a:rPr>
                        <m:t>𝑥</m:t>
                      </m:r>
                      <m:r>
                        <a:rPr lang="ru-RU" b="0" i="1" smtClean="0">
                          <a:latin typeface="Cambria Math" charset="0"/>
                          <a:ea typeface="Calibri" charset="0"/>
                          <a:cs typeface="Times New Roman" charset="0"/>
                        </a:rPr>
                        <m:t>+</m:t>
                      </m:r>
                      <m:r>
                        <a:rPr lang="en-US" b="0" i="1" smtClean="0">
                          <a:latin typeface="Cambria Math" charset="0"/>
                          <a:ea typeface="Calibri" charset="0"/>
                          <a:cs typeface="Times New Roman" charset="0"/>
                        </a:rPr>
                        <m:t>𝑏</m:t>
                      </m:r>
                      <m:r>
                        <a:rPr lang="en-US" b="0" i="1" smtClean="0">
                          <a:latin typeface="Cambria Math" charset="0"/>
                          <a:ea typeface="Calibri" charset="0"/>
                          <a:cs typeface="Times New Roman" charset="0"/>
                        </a:rPr>
                        <m:t>=0</m:t>
                      </m:r>
                    </m:oMath>
                  </m:oMathPara>
                </a14:m>
                <a:endParaRPr lang="ru-RU" dirty="0"/>
              </a:p>
            </p:txBody>
          </p:sp>
        </mc:Choice>
        <mc:Fallback xmlns="">
          <p:sp>
            <p:nvSpPr>
              <p:cNvPr id="31" name="Прямоугольник 30"/>
              <p:cNvSpPr>
                <a:spLocks noRot="1" noChangeAspect="1" noMove="1" noResize="1" noEditPoints="1" noAdjustHandles="1" noChangeArrowheads="1" noChangeShapeType="1" noTextEdit="1"/>
              </p:cNvSpPr>
              <p:nvPr/>
            </p:nvSpPr>
            <p:spPr>
              <a:xfrm>
                <a:off x="9494663" y="6032584"/>
                <a:ext cx="1373325" cy="369332"/>
              </a:xfrm>
              <a:prstGeom prst="rect">
                <a:avLst/>
              </a:prstGeom>
              <a:blipFill rotWithShape="0">
                <a:blip r:embed="rId7"/>
                <a:stretch>
                  <a:fillRect/>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32" name="Прямоугольник 31"/>
              <p:cNvSpPr/>
              <p:nvPr/>
            </p:nvSpPr>
            <p:spPr>
              <a:xfrm>
                <a:off x="10301328" y="5758034"/>
                <a:ext cx="137332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ru-RU" i="1" smtClean="0">
                          <a:latin typeface="Cambria Math" charset="0"/>
                          <a:ea typeface="Calibri" charset="0"/>
                          <a:cs typeface="Times New Roman" charset="0"/>
                        </a:rPr>
                        <m:t>𝑤</m:t>
                      </m:r>
                      <m:r>
                        <a:rPr lang="en-US" b="0" i="1" smtClean="0">
                          <a:latin typeface="Cambria Math" charset="0"/>
                          <a:ea typeface="Calibri" charset="0"/>
                          <a:cs typeface="Times New Roman" charset="0"/>
                        </a:rPr>
                        <m:t>𝑥</m:t>
                      </m:r>
                      <m:r>
                        <a:rPr lang="ru-RU" b="0" i="1" smtClean="0">
                          <a:latin typeface="Cambria Math" charset="0"/>
                          <a:ea typeface="Calibri" charset="0"/>
                          <a:cs typeface="Times New Roman" charset="0"/>
                        </a:rPr>
                        <m:t>+</m:t>
                      </m:r>
                      <m:r>
                        <a:rPr lang="en-US" b="0" i="1" smtClean="0">
                          <a:latin typeface="Cambria Math" charset="0"/>
                          <a:ea typeface="Calibri" charset="0"/>
                          <a:cs typeface="Times New Roman" charset="0"/>
                        </a:rPr>
                        <m:t>𝑏</m:t>
                      </m:r>
                      <m:r>
                        <a:rPr lang="en-US" b="0" i="1" smtClean="0">
                          <a:latin typeface="Cambria Math" charset="0"/>
                          <a:ea typeface="Calibri" charset="0"/>
                          <a:cs typeface="Times New Roman" charset="0"/>
                        </a:rPr>
                        <m:t>=1</m:t>
                      </m:r>
                    </m:oMath>
                  </m:oMathPara>
                </a14:m>
                <a:endParaRPr lang="ru-RU" dirty="0"/>
              </a:p>
            </p:txBody>
          </p:sp>
        </mc:Choice>
        <mc:Fallback xmlns="">
          <p:sp>
            <p:nvSpPr>
              <p:cNvPr id="32" name="Прямоугольник 31"/>
              <p:cNvSpPr>
                <a:spLocks noRot="1" noChangeAspect="1" noMove="1" noResize="1" noEditPoints="1" noAdjustHandles="1" noChangeArrowheads="1" noChangeShapeType="1" noTextEdit="1"/>
              </p:cNvSpPr>
              <p:nvPr/>
            </p:nvSpPr>
            <p:spPr>
              <a:xfrm>
                <a:off x="10301328" y="5758034"/>
                <a:ext cx="1373325" cy="369332"/>
              </a:xfrm>
              <a:prstGeom prst="rect">
                <a:avLst/>
              </a:prstGeom>
              <a:blipFill rotWithShape="0">
                <a:blip r:embed="rId8"/>
                <a:stretch>
                  <a:fillRect/>
                </a:stretch>
              </a:blipFill>
            </p:spPr>
            <p:txBody>
              <a:bodyPr/>
              <a:lstStyle/>
              <a:p>
                <a:r>
                  <a:rPr lang="ru-RU">
                    <a:noFill/>
                  </a:rPr>
                  <a:t> </a:t>
                </a:r>
              </a:p>
            </p:txBody>
          </p:sp>
        </mc:Fallback>
      </mc:AlternateContent>
    </p:spTree>
    <p:extLst>
      <p:ext uri="{BB962C8B-B14F-4D97-AF65-F5344CB8AC3E}">
        <p14:creationId xmlns:p14="http://schemas.microsoft.com/office/powerpoint/2010/main" val="122092294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mc:AlternateContent xmlns:mc="http://schemas.openxmlformats.org/markup-compatibility/2006" xmlns:a14="http://schemas.microsoft.com/office/drawing/2010/main">
        <mc:Choice Requires="a14">
          <p:sp>
            <p:nvSpPr>
              <p:cNvPr id="3" name="Прямоугольник 2"/>
              <p:cNvSpPr/>
              <p:nvPr/>
            </p:nvSpPr>
            <p:spPr>
              <a:xfrm>
                <a:off x="2047461" y="898933"/>
                <a:ext cx="10144540" cy="4909293"/>
              </a:xfrm>
              <a:prstGeom prst="rect">
                <a:avLst/>
              </a:prstGeom>
              <a:noFill/>
            </p:spPr>
            <p:txBody>
              <a:bodyPr wrap="square">
                <a:spAutoFit/>
              </a:bodyPr>
              <a:lstStyle/>
              <a:p>
                <a:pPr algn="just"/>
                <a:r>
                  <a:rPr lang="en-US" sz="2400" dirty="0" smtClean="0"/>
                  <a:t>         </a:t>
                </a:r>
                <a:r>
                  <a:rPr lang="ru-RU" sz="2400" dirty="0" smtClean="0"/>
                  <a:t>На </a:t>
                </a:r>
                <a:r>
                  <a:rPr lang="ru-RU" sz="2400" dirty="0"/>
                  <a:t>самих граничных плоскостях может находиться некоторое число обучающих векторов. Эти векторы называются </a:t>
                </a:r>
                <a:r>
                  <a:rPr lang="ru-RU" sz="2400" i="1" dirty="0"/>
                  <a:t>опорными</a:t>
                </a:r>
                <a:r>
                  <a:rPr lang="ru-RU" sz="2400" dirty="0"/>
                  <a:t>. Для решения данной задачи необходимо определить такие </a:t>
                </a:r>
                <a14:m>
                  <m:oMath xmlns:m="http://schemas.openxmlformats.org/officeDocument/2006/math">
                    <m:r>
                      <a:rPr lang="ru-RU" sz="2400" i="1">
                        <a:latin typeface="Cambria Math" charset="0"/>
                      </a:rPr>
                      <m:t>𝑤</m:t>
                    </m:r>
                  </m:oMath>
                </a14:m>
                <a:r>
                  <a:rPr lang="ru-RU" sz="2400" b="1" dirty="0"/>
                  <a:t> </a:t>
                </a:r>
                <a:r>
                  <a:rPr lang="ru-RU" sz="2400" dirty="0"/>
                  <a:t>и </a:t>
                </a:r>
                <a14:m>
                  <m:oMath xmlns:m="http://schemas.openxmlformats.org/officeDocument/2006/math">
                    <m:r>
                      <a:rPr lang="ru-RU" sz="2400" i="1">
                        <a:latin typeface="Cambria Math" charset="0"/>
                      </a:rPr>
                      <m:t>𝑏</m:t>
                    </m:r>
                  </m:oMath>
                </a14:m>
                <a:r>
                  <a:rPr lang="ru-RU" sz="2400" i="1" dirty="0"/>
                  <a:t> </a:t>
                </a:r>
                <a:r>
                  <a:rPr lang="ru-RU" sz="2400" dirty="0"/>
                  <a:t>которые </a:t>
                </a:r>
                <a:r>
                  <a:rPr lang="ru-RU" sz="2400" i="1" dirty="0"/>
                  <a:t>максимизируют</a:t>
                </a:r>
                <a:r>
                  <a:rPr lang="ru-RU" sz="2400" dirty="0"/>
                  <a:t> расстояние до каждого класса. Таким образом, для определения параметров </a:t>
                </a:r>
                <a14:m>
                  <m:oMath xmlns:m="http://schemas.openxmlformats.org/officeDocument/2006/math">
                    <m:r>
                      <a:rPr lang="ru-RU" sz="2400" i="1">
                        <a:latin typeface="Cambria Math" charset="0"/>
                      </a:rPr>
                      <m:t>𝑤</m:t>
                    </m:r>
                  </m:oMath>
                </a14:m>
                <a:r>
                  <a:rPr lang="ru-RU" sz="2400" b="1" dirty="0"/>
                  <a:t> </a:t>
                </a:r>
                <a:r>
                  <a:rPr lang="ru-RU" sz="2400" dirty="0"/>
                  <a:t>и </a:t>
                </a:r>
                <a14:m>
                  <m:oMath xmlns:m="http://schemas.openxmlformats.org/officeDocument/2006/math">
                    <m:r>
                      <a:rPr lang="ru-RU" sz="2400" i="1">
                        <a:latin typeface="Cambria Math" charset="0"/>
                      </a:rPr>
                      <m:t>𝑏</m:t>
                    </m:r>
                  </m:oMath>
                </a14:m>
                <a:r>
                  <a:rPr lang="ru-RU" sz="2400" i="1" dirty="0"/>
                  <a:t> </a:t>
                </a:r>
                <a:r>
                  <a:rPr lang="ru-RU" sz="2400" dirty="0"/>
                  <a:t>решается задача квадратичной оптимизации: </a:t>
                </a:r>
              </a:p>
              <a:p>
                <a:pPr algn="just"/>
                <a14:m>
                  <m:oMathPara xmlns:m="http://schemas.openxmlformats.org/officeDocument/2006/math">
                    <m:oMathParaPr>
                      <m:jc m:val="centerGroup"/>
                    </m:oMathParaPr>
                    <m:oMath xmlns:m="http://schemas.openxmlformats.org/officeDocument/2006/math">
                      <m:d>
                        <m:dPr>
                          <m:begChr m:val="{"/>
                          <m:endChr m:val=""/>
                          <m:ctrlPr>
                            <a:rPr lang="ru-RU" sz="2400" i="1">
                              <a:latin typeface="Cambria Math" charset="0"/>
                            </a:rPr>
                          </m:ctrlPr>
                        </m:dPr>
                        <m:e>
                          <m:eqArr>
                            <m:eqArrPr>
                              <m:ctrlPr>
                                <a:rPr lang="ru-RU" sz="2400" i="1">
                                  <a:latin typeface="Cambria Math" charset="0"/>
                                </a:rPr>
                              </m:ctrlPr>
                            </m:eqArrPr>
                            <m:e>
                              <m:sSup>
                                <m:sSupPr>
                                  <m:ctrlPr>
                                    <a:rPr lang="ru-RU" sz="2400" i="1">
                                      <a:latin typeface="Cambria Math" charset="0"/>
                                    </a:rPr>
                                  </m:ctrlPr>
                                </m:sSupPr>
                                <m:e>
                                  <m:d>
                                    <m:dPr>
                                      <m:begChr m:val="‖"/>
                                      <m:endChr m:val="‖"/>
                                      <m:ctrlPr>
                                        <a:rPr lang="ru-RU" sz="2400" i="1">
                                          <a:latin typeface="Cambria Math" charset="0"/>
                                        </a:rPr>
                                      </m:ctrlPr>
                                    </m:dPr>
                                    <m:e>
                                      <m:r>
                                        <a:rPr lang="en-US" sz="2400" i="1">
                                          <a:latin typeface="Cambria Math" charset="0"/>
                                        </a:rPr>
                                        <m:t>𝑤</m:t>
                                      </m:r>
                                    </m:e>
                                  </m:d>
                                </m:e>
                                <m:sup>
                                  <m:r>
                                    <a:rPr lang="ru-RU" sz="2400" i="1">
                                      <a:latin typeface="Cambria Math" charset="0"/>
                                    </a:rPr>
                                    <m:t>2</m:t>
                                  </m:r>
                                </m:sup>
                              </m:sSup>
                              <m:r>
                                <a:rPr lang="ru-RU" sz="2400" i="1">
                                  <a:latin typeface="Cambria Math" charset="0"/>
                                </a:rPr>
                                <m:t>→</m:t>
                              </m:r>
                              <m:r>
                                <m:rPr>
                                  <m:sty m:val="p"/>
                                </m:rPr>
                                <a:rPr lang="en-US" sz="2400">
                                  <a:latin typeface="Cambria Math" charset="0"/>
                                </a:rPr>
                                <m:t>min</m:t>
                              </m:r>
                              <m:r>
                                <a:rPr lang="ru-RU" sz="2400" i="1">
                                  <a:latin typeface="Cambria Math" charset="0"/>
                                </a:rPr>
                                <m:t>,</m:t>
                              </m:r>
                            </m:e>
                            <m:e>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d>
                                <m:dPr>
                                  <m:ctrlPr>
                                    <a:rPr lang="ru-RU" sz="2400" i="1">
                                      <a:latin typeface="Cambria Math" charset="0"/>
                                    </a:rPr>
                                  </m:ctrlPr>
                                </m:dPr>
                                <m:e>
                                  <m:r>
                                    <a:rPr lang="ru-RU" sz="2400" i="1">
                                      <a:latin typeface="Cambria Math" charset="0"/>
                                    </a:rPr>
                                    <m:t>𝑤</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m:t>
                                  </m:r>
                                  <m:r>
                                    <a:rPr lang="ru-RU" sz="2400" i="1">
                                      <a:latin typeface="Cambria Math" charset="0"/>
                                    </a:rPr>
                                    <m:t>𝑏</m:t>
                                  </m:r>
                                </m:e>
                              </m:d>
                              <m:r>
                                <a:rPr lang="ru-RU" sz="2400" i="1">
                                  <a:latin typeface="Cambria Math" charset="0"/>
                                </a:rPr>
                                <m:t>≥1, </m:t>
                              </m:r>
                              <m:r>
                                <a:rPr lang="ru-RU" sz="2400" i="1">
                                  <a:latin typeface="Cambria Math" charset="0"/>
                                </a:rPr>
                                <m:t>𝑖</m:t>
                              </m:r>
                              <m:r>
                                <a:rPr lang="ru-RU" sz="2400" i="1">
                                  <a:latin typeface="Cambria Math" charset="0"/>
                                </a:rPr>
                                <m:t>=1,…,</m:t>
                              </m:r>
                              <m:r>
                                <a:rPr lang="ru-RU" sz="2400" i="1">
                                  <a:latin typeface="Cambria Math" charset="0"/>
                                </a:rPr>
                                <m:t>𝑀</m:t>
                              </m:r>
                              <m:r>
                                <a:rPr lang="ru-RU" sz="2400" i="1">
                                  <a:latin typeface="Cambria Math" charset="0"/>
                                </a:rPr>
                                <m:t>,</m:t>
                              </m:r>
                            </m:e>
                          </m:eqArr>
                        </m:e>
                      </m:d>
                      <m:r>
                        <a:rPr lang="ru-RU" sz="2400" i="1">
                          <a:latin typeface="Cambria Math" charset="0"/>
                        </a:rPr>
                        <m:t>                                 (</m:t>
                      </m:r>
                      <m:r>
                        <a:rPr lang="ru-RU" sz="2400" b="0" i="1" smtClean="0">
                          <a:latin typeface="Cambria Math" charset="0"/>
                        </a:rPr>
                        <m:t>13</m:t>
                      </m:r>
                      <m:r>
                        <a:rPr lang="ru-RU" sz="2400" i="1">
                          <a:latin typeface="Cambria Math" charset="0"/>
                        </a:rPr>
                        <m:t>)</m:t>
                      </m:r>
                    </m:oMath>
                  </m:oMathPara>
                </a14:m>
                <a:endParaRPr lang="ru-RU" sz="2400" dirty="0"/>
              </a:p>
              <a:p>
                <a:pPr algn="just"/>
                <a:r>
                  <a:rPr lang="ru-RU" sz="2400" dirty="0"/>
                  <a:t>где </a:t>
                </a:r>
                <a14:m>
                  <m:oMath xmlns:m="http://schemas.openxmlformats.org/officeDocument/2006/math">
                    <m:sSub>
                      <m:sSubPr>
                        <m:ctrlPr>
                          <a:rPr lang="ru-RU" sz="2400" i="1">
                            <a:latin typeface="Cambria Math" charset="0"/>
                          </a:rPr>
                        </m:ctrlPr>
                      </m:sSubPr>
                      <m:e>
                        <m:r>
                          <a:rPr lang="en-US" sz="2400" i="1">
                            <a:latin typeface="Cambria Math" charset="0"/>
                          </a:rPr>
                          <m:t>𝑦</m:t>
                        </m:r>
                      </m:e>
                      <m:sub>
                        <m:r>
                          <a:rPr lang="ru-RU" sz="2400" i="1">
                            <a:latin typeface="Cambria Math" charset="0"/>
                          </a:rPr>
                          <m:t>𝑖</m:t>
                        </m:r>
                      </m:sub>
                    </m:sSub>
                    <m:r>
                      <a:rPr lang="ru-RU" sz="2400" i="1">
                        <a:latin typeface="Cambria Math" charset="0"/>
                      </a:rPr>
                      <m:t>−</m:t>
                    </m:r>
                  </m:oMath>
                </a14:m>
                <a:r>
                  <a:rPr lang="ru-RU" sz="2400" dirty="0"/>
                  <a:t> множество меток двух классов </a:t>
                </a:r>
                <a14:m>
                  <m:oMath xmlns:m="http://schemas.openxmlformats.org/officeDocument/2006/math">
                    <m:sSub>
                      <m:sSubPr>
                        <m:ctrlPr>
                          <a:rPr lang="ru-RU" sz="2400" i="1">
                            <a:latin typeface="Cambria Math" charset="0"/>
                          </a:rPr>
                        </m:ctrlPr>
                      </m:sSubPr>
                      <m:e>
                        <m:r>
                          <a:rPr lang="en-US" sz="2400" i="1">
                            <a:latin typeface="Cambria Math" charset="0"/>
                          </a:rPr>
                          <m:t>𝑤</m:t>
                        </m:r>
                      </m:e>
                      <m:sub>
                        <m:r>
                          <a:rPr lang="ru-RU" sz="2400" i="1">
                            <a:latin typeface="Cambria Math" charset="0"/>
                          </a:rPr>
                          <m:t>1</m:t>
                        </m:r>
                      </m:sub>
                    </m:sSub>
                  </m:oMath>
                </a14:m>
                <a:r>
                  <a:rPr lang="ru-RU" sz="2400" dirty="0"/>
                  <a:t> и </a:t>
                </a:r>
                <a14:m>
                  <m:oMath xmlns:m="http://schemas.openxmlformats.org/officeDocument/2006/math">
                    <m:sSub>
                      <m:sSubPr>
                        <m:ctrlPr>
                          <a:rPr lang="ru-RU" sz="2400" i="1">
                            <a:latin typeface="Cambria Math" charset="0"/>
                          </a:rPr>
                        </m:ctrlPr>
                      </m:sSubPr>
                      <m:e>
                        <m:r>
                          <a:rPr lang="en-US" sz="2400" i="1">
                            <a:latin typeface="Cambria Math" charset="0"/>
                          </a:rPr>
                          <m:t>𝑤</m:t>
                        </m:r>
                      </m:e>
                      <m:sub>
                        <m:r>
                          <a:rPr lang="ru-RU" sz="2400" i="1">
                            <a:latin typeface="Cambria Math" charset="0"/>
                          </a:rPr>
                          <m:t>2</m:t>
                        </m:r>
                      </m:sub>
                    </m:sSub>
                  </m:oMath>
                </a14:m>
                <a:r>
                  <a:rPr lang="ru-RU" sz="2400" dirty="0"/>
                  <a:t>, </a:t>
                </a:r>
                <a14:m>
                  <m:oMath xmlns:m="http://schemas.openxmlformats.org/officeDocument/2006/math">
                    <m:sSub>
                      <m:sSubPr>
                        <m:ctrlPr>
                          <a:rPr lang="ru-RU" sz="2400" i="1">
                            <a:latin typeface="Cambria Math" charset="0"/>
                          </a:rPr>
                        </m:ctrlPr>
                      </m:sSubPr>
                      <m:e>
                        <m:r>
                          <a:rPr lang="en-US" sz="2400" i="1">
                            <a:latin typeface="Cambria Math" charset="0"/>
                          </a:rPr>
                          <m:t>𝑦</m:t>
                        </m:r>
                      </m:e>
                      <m:sub>
                        <m:r>
                          <a:rPr lang="ru-RU" sz="2400" i="1">
                            <a:latin typeface="Cambria Math" charset="0"/>
                          </a:rPr>
                          <m:t>𝑖</m:t>
                        </m:r>
                      </m:sub>
                    </m:sSub>
                    <m:r>
                      <a:rPr lang="ru-RU" sz="2400" i="1">
                        <a:latin typeface="Cambria Math" charset="0"/>
                      </a:rPr>
                      <m:t>∈</m:t>
                    </m:r>
                    <m:d>
                      <m:dPr>
                        <m:begChr m:val="{"/>
                        <m:endChr m:val="}"/>
                        <m:ctrlPr>
                          <a:rPr lang="ru-RU" sz="2400" i="1">
                            <a:latin typeface="Cambria Math" charset="0"/>
                          </a:rPr>
                        </m:ctrlPr>
                      </m:dPr>
                      <m:e>
                        <m:r>
                          <a:rPr lang="ru-RU" sz="2400" i="1">
                            <a:latin typeface="Cambria Math" charset="0"/>
                          </a:rPr>
                          <m:t>−1, 1</m:t>
                        </m:r>
                      </m:e>
                    </m:d>
                  </m:oMath>
                </a14:m>
                <a:r>
                  <a:rPr lang="ru-RU" sz="2400" dirty="0"/>
                  <a:t>.</a:t>
                </a:r>
              </a:p>
              <a:p>
                <a:pPr algn="just"/>
                <a:r>
                  <a:rPr lang="en-US" sz="2400" dirty="0" smtClean="0"/>
                  <a:t>            </a:t>
                </a:r>
                <a:r>
                  <a:rPr lang="ru-RU" sz="2400" dirty="0" smtClean="0"/>
                  <a:t>Задача (13) </a:t>
                </a:r>
                <a:r>
                  <a:rPr lang="ru-RU" sz="2400" dirty="0"/>
                  <a:t>решается с помощью множителей </a:t>
                </a:r>
                <a:r>
                  <a:rPr lang="ru-RU" sz="2400" dirty="0" smtClean="0"/>
                  <a:t>Лагранжа:</a:t>
                </a:r>
                <a:endParaRPr lang="ru-RU" sz="2400" dirty="0"/>
              </a:p>
              <a:p>
                <a:pPr algn="just"/>
                <a14:m>
                  <m:oMathPara xmlns:m="http://schemas.openxmlformats.org/officeDocument/2006/math">
                    <m:oMathParaPr>
                      <m:jc m:val="centerGroup"/>
                    </m:oMathParaPr>
                    <m:oMath xmlns:m="http://schemas.openxmlformats.org/officeDocument/2006/math">
                      <m:r>
                        <a:rPr lang="en-US" sz="2400" i="1">
                          <a:latin typeface="Cambria Math" charset="0"/>
                        </a:rPr>
                        <m:t>𝐿</m:t>
                      </m:r>
                      <m:d>
                        <m:dPr>
                          <m:ctrlPr>
                            <a:rPr lang="ru-RU" sz="2400" i="1">
                              <a:latin typeface="Cambria Math" charset="0"/>
                            </a:rPr>
                          </m:ctrlPr>
                        </m:dPr>
                        <m:e>
                          <m:r>
                            <a:rPr lang="en-US" sz="2400" i="1">
                              <a:latin typeface="Cambria Math" charset="0"/>
                            </a:rPr>
                            <m:t>𝑤</m:t>
                          </m:r>
                          <m:r>
                            <a:rPr lang="ru-RU" sz="2400" i="1">
                              <a:latin typeface="Cambria Math" charset="0"/>
                            </a:rPr>
                            <m:t>,</m:t>
                          </m:r>
                          <m:r>
                            <a:rPr lang="en-US" sz="2400" i="1">
                              <a:latin typeface="Cambria Math" charset="0"/>
                            </a:rPr>
                            <m:t>𝑏</m:t>
                          </m:r>
                          <m:r>
                            <a:rPr lang="ru-RU" sz="2400" i="1">
                              <a:latin typeface="Cambria Math" charset="0"/>
                            </a:rPr>
                            <m:t>,</m:t>
                          </m:r>
                          <m:r>
                            <a:rPr lang="en-US" sz="2400" i="1">
                              <a:latin typeface="Cambria Math" charset="0"/>
                            </a:rPr>
                            <m:t>𝜆</m:t>
                          </m:r>
                        </m:e>
                      </m:d>
                      <m:r>
                        <a:rPr lang="ru-RU" sz="2400" i="1">
                          <a:latin typeface="Cambria Math" charset="0"/>
                        </a:rPr>
                        <m:t>=0.5</m:t>
                      </m:r>
                      <m:sSup>
                        <m:sSupPr>
                          <m:ctrlPr>
                            <a:rPr lang="ru-RU" sz="2400" i="1">
                              <a:latin typeface="Cambria Math" charset="0"/>
                            </a:rPr>
                          </m:ctrlPr>
                        </m:sSupPr>
                        <m:e>
                          <m:d>
                            <m:dPr>
                              <m:begChr m:val="‖"/>
                              <m:endChr m:val="‖"/>
                              <m:ctrlPr>
                                <a:rPr lang="ru-RU" sz="2400" i="1">
                                  <a:latin typeface="Cambria Math" charset="0"/>
                                </a:rPr>
                              </m:ctrlPr>
                            </m:dPr>
                            <m:e>
                              <m:r>
                                <a:rPr lang="en-US" sz="2400" i="1">
                                  <a:latin typeface="Cambria Math" charset="0"/>
                                </a:rPr>
                                <m:t>𝑤</m:t>
                              </m:r>
                            </m:e>
                          </m:d>
                        </m:e>
                        <m:sup>
                          <m:r>
                            <a:rPr lang="ru-RU" sz="2400" i="1">
                              <a:latin typeface="Cambria Math" charset="0"/>
                            </a:rPr>
                            <m:t>2</m:t>
                          </m:r>
                        </m:sup>
                      </m:sSup>
                      <m:r>
                        <a:rPr lang="ru-RU" sz="2400" b="0" i="1" smtClean="0">
                          <a:latin typeface="Cambria Math" charset="0"/>
                        </a:rPr>
                        <m:t>−</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𝑀</m:t>
                          </m:r>
                        </m:sup>
                        <m:e>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d>
                            <m:dPr>
                              <m:ctrlPr>
                                <a:rPr lang="ru-RU" sz="2400" i="1">
                                  <a:latin typeface="Cambria Math" charset="0"/>
                                </a:rPr>
                              </m:ctrlPr>
                            </m:dPr>
                            <m:e>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d>
                                <m:dPr>
                                  <m:ctrlPr>
                                    <a:rPr lang="ru-RU" sz="2400" i="1">
                                      <a:latin typeface="Cambria Math" charset="0"/>
                                    </a:rPr>
                                  </m:ctrlPr>
                                </m:dPr>
                                <m:e>
                                  <m:d>
                                    <m:dPr>
                                      <m:ctrlPr>
                                        <a:rPr lang="ru-RU" sz="2400" i="1">
                                          <a:latin typeface="Cambria Math" charset="0"/>
                                        </a:rPr>
                                      </m:ctrlPr>
                                    </m:dPr>
                                    <m:e>
                                      <m:r>
                                        <a:rPr lang="ru-RU" sz="2400" i="1">
                                          <a:latin typeface="Cambria Math" charset="0"/>
                                        </a:rPr>
                                        <m:t>𝑤</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e>
                                  </m:d>
                                  <m:r>
                                    <a:rPr lang="ru-RU" sz="2400" i="1">
                                      <a:latin typeface="Cambria Math" charset="0"/>
                                    </a:rPr>
                                    <m:t>+</m:t>
                                  </m:r>
                                  <m:r>
                                    <a:rPr lang="ru-RU" sz="2400" i="1">
                                      <a:latin typeface="Cambria Math" charset="0"/>
                                    </a:rPr>
                                    <m:t>𝑏</m:t>
                                  </m:r>
                                </m:e>
                              </m:d>
                              <m:r>
                                <a:rPr lang="ru-RU" sz="2400" i="1">
                                  <a:latin typeface="Cambria Math" charset="0"/>
                                </a:rPr>
                                <m:t>−1</m:t>
                              </m:r>
                            </m:e>
                          </m:d>
                          <m:r>
                            <a:rPr lang="is-IS" sz="2400" i="1">
                              <a:latin typeface="Cambria Math" charset="0"/>
                            </a:rPr>
                            <m:t>→</m:t>
                          </m:r>
                          <m:func>
                            <m:funcPr>
                              <m:ctrlPr>
                                <a:rPr lang="ru-RU" sz="2400" i="1">
                                  <a:latin typeface="Cambria Math" charset="0"/>
                                </a:rPr>
                              </m:ctrlPr>
                            </m:funcPr>
                            <m:fName>
                              <m:limLow>
                                <m:limLowPr>
                                  <m:ctrlPr>
                                    <a:rPr lang="ru-RU" sz="2400" i="1">
                                      <a:latin typeface="Cambria Math" charset="0"/>
                                    </a:rPr>
                                  </m:ctrlPr>
                                </m:limLowPr>
                                <m:e>
                                  <m:r>
                                    <m:rPr>
                                      <m:sty m:val="p"/>
                                    </m:rPr>
                                    <a:rPr lang="en-US" sz="2400">
                                      <a:latin typeface="Cambria Math" charset="0"/>
                                    </a:rPr>
                                    <m:t>min</m:t>
                                  </m:r>
                                </m:e>
                                <m:lim>
                                  <m:r>
                                    <a:rPr lang="en-US" sz="2400" i="1">
                                      <a:latin typeface="Cambria Math" charset="0"/>
                                    </a:rPr>
                                    <m:t>𝑤</m:t>
                                  </m:r>
                                  <m:r>
                                    <a:rPr lang="ru-RU" sz="2400" i="1">
                                      <a:latin typeface="Cambria Math" charset="0"/>
                                    </a:rPr>
                                    <m:t>,</m:t>
                                  </m:r>
                                  <m:r>
                                    <a:rPr lang="ru-RU" sz="2400" i="1">
                                      <a:latin typeface="Cambria Math" charset="0"/>
                                    </a:rPr>
                                    <m:t>𝑏</m:t>
                                  </m:r>
                                </m:lim>
                              </m:limLow>
                            </m:fName>
                            <m:e>
                              <m:func>
                                <m:funcPr>
                                  <m:ctrlPr>
                                    <a:rPr lang="ru-RU" sz="2400" i="1">
                                      <a:latin typeface="Cambria Math" charset="0"/>
                                    </a:rPr>
                                  </m:ctrlPr>
                                </m:funcPr>
                                <m:fName>
                                  <m:limLow>
                                    <m:limLowPr>
                                      <m:ctrlPr>
                                        <a:rPr lang="ru-RU" sz="2400" i="1">
                                          <a:latin typeface="Cambria Math" charset="0"/>
                                        </a:rPr>
                                      </m:ctrlPr>
                                    </m:limLowPr>
                                    <m:e>
                                      <m:r>
                                        <m:rPr>
                                          <m:sty m:val="p"/>
                                        </m:rPr>
                                        <a:rPr lang="en-US" sz="2400">
                                          <a:latin typeface="Cambria Math" charset="0"/>
                                        </a:rPr>
                                        <m:t>max</m:t>
                                      </m:r>
                                    </m:e>
                                    <m:lim>
                                      <m:r>
                                        <a:rPr lang="en-US" sz="2400" i="1">
                                          <a:latin typeface="Cambria Math" charset="0"/>
                                        </a:rPr>
                                        <m:t>𝜆</m:t>
                                      </m:r>
                                    </m:lim>
                                  </m:limLow>
                                </m:fName>
                                <m:e>
                                  <m:r>
                                    <a:rPr lang="ru-RU" sz="2400" i="1">
                                      <a:latin typeface="Cambria Math" charset="0"/>
                                    </a:rPr>
                                    <m:t>,</m:t>
                                  </m:r>
                                </m:e>
                              </m:func>
                            </m:e>
                          </m:func>
                        </m:e>
                      </m:nary>
                    </m:oMath>
                  </m:oMathPara>
                </a14:m>
                <a:endParaRPr lang="ru-RU" sz="24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2047461" y="898933"/>
                <a:ext cx="10144540" cy="4909293"/>
              </a:xfrm>
              <a:prstGeom prst="rect">
                <a:avLst/>
              </a:prstGeom>
              <a:blipFill rotWithShape="0">
                <a:blip r:embed="rId2"/>
                <a:stretch>
                  <a:fillRect l="-962" t="-993" r="-901"/>
                </a:stretch>
              </a:blipFill>
            </p:spPr>
            <p:txBody>
              <a:bodyPr/>
              <a:lstStyle/>
              <a:p>
                <a:r>
                  <a:rPr lang="ru-RU">
                    <a:noFill/>
                  </a:rPr>
                  <a:t> </a:t>
                </a:r>
              </a:p>
            </p:txBody>
          </p:sp>
        </mc:Fallback>
      </mc:AlternateContent>
    </p:spTree>
    <p:extLst>
      <p:ext uri="{BB962C8B-B14F-4D97-AF65-F5344CB8AC3E}">
        <p14:creationId xmlns:p14="http://schemas.microsoft.com/office/powerpoint/2010/main" val="28792729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mc:AlternateContent xmlns:mc="http://schemas.openxmlformats.org/markup-compatibility/2006" xmlns:a14="http://schemas.microsoft.com/office/drawing/2010/main">
        <mc:Choice Requires="a14">
          <p:sp>
            <p:nvSpPr>
              <p:cNvPr id="3" name="Прямоугольник 2"/>
              <p:cNvSpPr/>
              <p:nvPr/>
            </p:nvSpPr>
            <p:spPr>
              <a:xfrm>
                <a:off x="1232451" y="1190581"/>
                <a:ext cx="10959549" cy="4885761"/>
              </a:xfrm>
              <a:prstGeom prst="rect">
                <a:avLst/>
              </a:prstGeom>
              <a:noFill/>
            </p:spPr>
            <p:txBody>
              <a:bodyPr wrap="square">
                <a:spAutoFit/>
              </a:bodyPr>
              <a:lstStyle/>
              <a:p>
                <a:r>
                  <a:rPr lang="ru-RU" sz="2400" dirty="0" smtClean="0"/>
                  <a:t>В соответствии с необходимыми условиями существования </a:t>
                </a:r>
                <a:r>
                  <a:rPr lang="ru-RU" sz="2400" dirty="0" err="1"/>
                  <a:t>седловой</a:t>
                </a:r>
                <a:r>
                  <a:rPr lang="ru-RU" sz="2400" dirty="0"/>
                  <a:t> </a:t>
                </a:r>
                <a:r>
                  <a:rPr lang="ru-RU" sz="2400" dirty="0" smtClean="0"/>
                  <a:t>точки:</a:t>
                </a:r>
                <a:endParaRPr lang="ru-RU" sz="2400" dirty="0"/>
              </a:p>
              <a:p>
                <a:pPr/>
                <a14:m>
                  <m:oMathPara xmlns:m="http://schemas.openxmlformats.org/officeDocument/2006/math">
                    <m:oMathParaPr>
                      <m:jc m:val="centerGroup"/>
                    </m:oMathParaPr>
                    <m:oMath xmlns:m="http://schemas.openxmlformats.org/officeDocument/2006/math">
                      <m:d>
                        <m:dPr>
                          <m:begChr m:val="{"/>
                          <m:endChr m:val=""/>
                          <m:ctrlPr>
                            <a:rPr lang="ru-RU" sz="2400" i="1">
                              <a:latin typeface="Cambria Math" charset="0"/>
                            </a:rPr>
                          </m:ctrlPr>
                        </m:dPr>
                        <m:e>
                          <m:eqArr>
                            <m:eqArrPr>
                              <m:ctrlPr>
                                <a:rPr lang="ru-RU" sz="2400" i="1">
                                  <a:latin typeface="Cambria Math" charset="0"/>
                                </a:rPr>
                              </m:ctrlPr>
                            </m:eqArrPr>
                            <m:e>
                              <m:r>
                                <a:rPr lang="ru-RU" sz="2400" i="1">
                                  <a:latin typeface="Cambria Math" charset="0"/>
                                </a:rPr>
                                <m:t>0=</m:t>
                              </m:r>
                              <m:f>
                                <m:fPr>
                                  <m:ctrlPr>
                                    <a:rPr lang="ru-RU" sz="2400" i="1">
                                      <a:latin typeface="Cambria Math" charset="0"/>
                                    </a:rPr>
                                  </m:ctrlPr>
                                </m:fPr>
                                <m:num>
                                  <m:r>
                                    <a:rPr lang="ru-RU" sz="2400" i="1">
                                      <a:latin typeface="Cambria Math" charset="0"/>
                                    </a:rPr>
                                    <m:t>𝑑𝐿</m:t>
                                  </m:r>
                                </m:num>
                                <m:den>
                                  <m:r>
                                    <a:rPr lang="ru-RU" sz="2400" i="1">
                                      <a:latin typeface="Cambria Math" charset="0"/>
                                    </a:rPr>
                                    <m:t>𝑑</m:t>
                                  </m:r>
                                  <m:r>
                                    <a:rPr lang="en-US" sz="2400" i="1">
                                      <a:latin typeface="Cambria Math" charset="0"/>
                                    </a:rPr>
                                    <m:t>𝑤</m:t>
                                  </m:r>
                                </m:den>
                              </m:f>
                              <m:r>
                                <a:rPr lang="ru-RU" sz="2400" i="1">
                                  <a:latin typeface="Cambria Math" charset="0"/>
                                </a:rPr>
                                <m:t>=</m:t>
                              </m:r>
                              <m:r>
                                <a:rPr lang="en-US" sz="2400" b="0" i="1" smtClean="0">
                                  <a:latin typeface="Cambria Math" charset="0"/>
                                </a:rPr>
                                <m:t>𝑤</m:t>
                              </m:r>
                              <m:r>
                                <a:rPr lang="ru-RU" sz="2400" i="1">
                                  <a:latin typeface="Cambria Math" charset="0"/>
                                </a:rPr>
                                <m:t>−</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𝑀</m:t>
                                  </m:r>
                                </m:sup>
                                <m:e>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  </m:t>
                                  </m:r>
                                  <m:r>
                                    <a:rPr lang="ru-RU" sz="2400" i="1">
                                      <a:latin typeface="Cambria Math" charset="0"/>
                                    </a:rPr>
                                    <m:t>𝑗</m:t>
                                  </m:r>
                                  <m:r>
                                    <a:rPr lang="ru-RU" sz="2400" i="1">
                                      <a:latin typeface="Cambria Math" charset="0"/>
                                    </a:rPr>
                                    <m:t>=1,…, </m:t>
                                  </m:r>
                                  <m:r>
                                    <a:rPr lang="ru-RU" sz="2400" i="1">
                                      <a:latin typeface="Cambria Math" charset="0"/>
                                    </a:rPr>
                                    <m:t>𝑚</m:t>
                                  </m:r>
                                  <m:r>
                                    <a:rPr lang="ru-RU" sz="2400" i="1">
                                      <a:latin typeface="Cambria Math" charset="0"/>
                                    </a:rPr>
                                    <m:t>,</m:t>
                                  </m:r>
                                </m:e>
                              </m:nary>
                            </m:e>
                            <m:e>
                              <m:r>
                                <a:rPr lang="ru-RU" sz="2400" i="1">
                                  <a:latin typeface="Cambria Math" charset="0"/>
                                </a:rPr>
                                <m:t>0=</m:t>
                              </m:r>
                              <m:f>
                                <m:fPr>
                                  <m:ctrlPr>
                                    <a:rPr lang="ru-RU" sz="2400" i="1">
                                      <a:latin typeface="Cambria Math" charset="0"/>
                                    </a:rPr>
                                  </m:ctrlPr>
                                </m:fPr>
                                <m:num>
                                  <m:r>
                                    <a:rPr lang="ru-RU" sz="2400" i="1">
                                      <a:latin typeface="Cambria Math" charset="0"/>
                                    </a:rPr>
                                    <m:t>𝑑𝐿</m:t>
                                  </m:r>
                                </m:num>
                                <m:den>
                                  <m:r>
                                    <a:rPr lang="ru-RU" sz="2400" i="1">
                                      <a:latin typeface="Cambria Math" charset="0"/>
                                    </a:rPr>
                                    <m:t>𝑑𝑏</m:t>
                                  </m:r>
                                </m:den>
                              </m:f>
                              <m:r>
                                <a:rPr lang="ru-RU" sz="2400" i="1">
                                  <a:latin typeface="Cambria Math" charset="0"/>
                                </a:rPr>
                                <m:t>=</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𝑀</m:t>
                                  </m:r>
                                </m:sup>
                                <m:e>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sSub>
                                    <m:sSubPr>
                                      <m:ctrlPr>
                                        <a:rPr lang="ru-RU" sz="2400" i="1">
                                          <a:latin typeface="Cambria Math" charset="0"/>
                                        </a:rPr>
                                      </m:ctrlPr>
                                    </m:sSubPr>
                                    <m:e>
                                      <m:r>
                                        <a:rPr lang="en-US" sz="2400" i="1">
                                          <a:latin typeface="Cambria Math" charset="0"/>
                                        </a:rPr>
                                        <m:t>𝑦</m:t>
                                      </m:r>
                                    </m:e>
                                    <m:sub>
                                      <m:r>
                                        <a:rPr lang="en-US" sz="2400" i="1">
                                          <a:latin typeface="Cambria Math" charset="0"/>
                                        </a:rPr>
                                        <m:t>𝑖</m:t>
                                      </m:r>
                                    </m:sub>
                                  </m:sSub>
                                </m:e>
                              </m:nary>
                              <m:r>
                                <a:rPr lang="is-IS" sz="2400" i="1">
                                  <a:latin typeface="Cambria Math" charset="0"/>
                                </a:rPr>
                                <m:t>.</m:t>
                              </m:r>
                            </m:e>
                          </m:eqArr>
                        </m:e>
                      </m:d>
                      <m:r>
                        <a:rPr lang="ru-RU" sz="2400" i="1">
                          <a:latin typeface="Cambria Math" charset="0"/>
                        </a:rPr>
                        <m:t>                       (</m:t>
                      </m:r>
                      <m:r>
                        <a:rPr lang="ru-RU" sz="2400" b="0" i="1" smtClean="0">
                          <a:latin typeface="Cambria Math" charset="0"/>
                        </a:rPr>
                        <m:t>14</m:t>
                      </m:r>
                      <m:r>
                        <a:rPr lang="ru-RU" sz="2400" i="1">
                          <a:latin typeface="Cambria Math" charset="0"/>
                        </a:rPr>
                        <m:t>)</m:t>
                      </m:r>
                    </m:oMath>
                  </m:oMathPara>
                </a14:m>
                <a:endParaRPr lang="ru-RU" sz="2400" dirty="0"/>
              </a:p>
              <a:p>
                <a:r>
                  <a:rPr lang="ru-RU" sz="2400" dirty="0"/>
                  <a:t>С учетом </a:t>
                </a:r>
                <a:r>
                  <a:rPr lang="ru-RU" sz="2400" dirty="0" smtClean="0"/>
                  <a:t>(14) </a:t>
                </a:r>
                <a:r>
                  <a:rPr lang="ru-RU" sz="2400" dirty="0"/>
                  <a:t>вычислим значения множителей Лагранжа:</a:t>
                </a:r>
              </a:p>
              <a:p>
                <a:pPr/>
                <a14:m>
                  <m:oMathPara xmlns:m="http://schemas.openxmlformats.org/officeDocument/2006/math">
                    <m:oMathParaPr>
                      <m:jc m:val="centerGroup"/>
                    </m:oMathParaPr>
                    <m:oMath xmlns:m="http://schemas.openxmlformats.org/officeDocument/2006/math">
                      <m:r>
                        <a:rPr lang="en-US" sz="2000" i="1">
                          <a:latin typeface="Cambria Math" charset="0"/>
                        </a:rPr>
                        <m:t>𝐿</m:t>
                      </m:r>
                      <m:d>
                        <m:dPr>
                          <m:ctrlPr>
                            <a:rPr lang="ru-RU" sz="2000" i="1">
                              <a:latin typeface="Cambria Math" charset="0"/>
                            </a:rPr>
                          </m:ctrlPr>
                        </m:dPr>
                        <m:e>
                          <m:r>
                            <a:rPr lang="en-US" sz="2000" i="1">
                              <a:latin typeface="Cambria Math" charset="0"/>
                            </a:rPr>
                            <m:t>𝑤</m:t>
                          </m:r>
                          <m:r>
                            <a:rPr lang="ru-RU" sz="2000" i="1">
                              <a:latin typeface="Cambria Math" charset="0"/>
                            </a:rPr>
                            <m:t>,</m:t>
                          </m:r>
                          <m:r>
                            <a:rPr lang="en-US" sz="2000" i="1">
                              <a:latin typeface="Cambria Math" charset="0"/>
                            </a:rPr>
                            <m:t>𝑏</m:t>
                          </m:r>
                          <m:r>
                            <a:rPr lang="ru-RU" sz="2000" i="1">
                              <a:latin typeface="Cambria Math" charset="0"/>
                            </a:rPr>
                            <m:t>,</m:t>
                          </m:r>
                          <m:r>
                            <a:rPr lang="en-US" sz="2000" i="1">
                              <a:latin typeface="Cambria Math" charset="0"/>
                            </a:rPr>
                            <m:t>𝜆</m:t>
                          </m:r>
                        </m:e>
                      </m:d>
                      <m:r>
                        <a:rPr lang="ru-RU" sz="2000" i="1">
                          <a:latin typeface="Cambria Math" charset="0"/>
                        </a:rPr>
                        <m:t>=0.5</m:t>
                      </m:r>
                      <m:sSup>
                        <m:sSupPr>
                          <m:ctrlPr>
                            <a:rPr lang="ru-RU" sz="2000" i="1">
                              <a:latin typeface="Cambria Math" charset="0"/>
                            </a:rPr>
                          </m:ctrlPr>
                        </m:sSupPr>
                        <m:e>
                          <m:d>
                            <m:dPr>
                              <m:begChr m:val="‖"/>
                              <m:endChr m:val="‖"/>
                              <m:ctrlPr>
                                <a:rPr lang="ru-RU" sz="2000" i="1">
                                  <a:latin typeface="Cambria Math" charset="0"/>
                                </a:rPr>
                              </m:ctrlPr>
                            </m:dPr>
                            <m:e>
                              <m:r>
                                <a:rPr lang="en-US" sz="2000" i="1">
                                  <a:latin typeface="Cambria Math" charset="0"/>
                                </a:rPr>
                                <m:t>𝑤</m:t>
                              </m:r>
                            </m:e>
                          </m:d>
                        </m:e>
                        <m:sup>
                          <m:r>
                            <a:rPr lang="ru-RU" sz="2000" i="1">
                              <a:latin typeface="Cambria Math" charset="0"/>
                            </a:rPr>
                            <m:t>2</m:t>
                          </m:r>
                        </m:sup>
                      </m:sSup>
                      <m:r>
                        <a:rPr lang="ru-RU" sz="2000" i="1">
                          <a:latin typeface="Cambria Math" charset="0"/>
                        </a:rPr>
                        <m:t>−</m:t>
                      </m:r>
                      <m:nary>
                        <m:naryPr>
                          <m:chr m:val="∑"/>
                          <m:ctrlPr>
                            <a:rPr lang="ru-RU" sz="2000" i="1">
                              <a:latin typeface="Cambria Math" charset="0"/>
                            </a:rPr>
                          </m:ctrlPr>
                        </m:naryPr>
                        <m:sub>
                          <m:r>
                            <a:rPr lang="en-US" sz="2000" i="1">
                              <a:latin typeface="Cambria Math" charset="0"/>
                            </a:rPr>
                            <m:t>𝑖</m:t>
                          </m:r>
                          <m:r>
                            <a:rPr lang="ru-RU" sz="2000" i="1">
                              <a:latin typeface="Cambria Math" charset="0"/>
                            </a:rPr>
                            <m:t>=1</m:t>
                          </m:r>
                        </m:sub>
                        <m:sup>
                          <m:r>
                            <a:rPr lang="en-US" sz="2000" i="1">
                              <a:latin typeface="Cambria Math" charset="0"/>
                            </a:rPr>
                            <m:t>𝑀</m:t>
                          </m:r>
                        </m:sup>
                        <m:e>
                          <m:sSub>
                            <m:sSubPr>
                              <m:ctrlPr>
                                <a:rPr lang="ru-RU" sz="2000" i="1">
                                  <a:latin typeface="Cambria Math" charset="0"/>
                                </a:rPr>
                              </m:ctrlPr>
                            </m:sSubPr>
                            <m:e>
                              <m:r>
                                <a:rPr lang="en-US" sz="2000" i="1">
                                  <a:latin typeface="Cambria Math" charset="0"/>
                                </a:rPr>
                                <m:t>𝜆</m:t>
                              </m:r>
                            </m:e>
                            <m:sub>
                              <m:r>
                                <a:rPr lang="en-US" sz="2000" i="1">
                                  <a:latin typeface="Cambria Math" charset="0"/>
                                </a:rPr>
                                <m:t>𝑖</m:t>
                              </m:r>
                            </m:sub>
                          </m:sSub>
                          <m:d>
                            <m:dPr>
                              <m:ctrlPr>
                                <a:rPr lang="ru-RU" sz="2000" i="1">
                                  <a:latin typeface="Cambria Math" charset="0"/>
                                </a:rPr>
                              </m:ctrlPr>
                            </m:dPr>
                            <m:e>
                              <m:sSub>
                                <m:sSubPr>
                                  <m:ctrlPr>
                                    <a:rPr lang="ru-RU" sz="2000" i="1">
                                      <a:latin typeface="Cambria Math" charset="0"/>
                                    </a:rPr>
                                  </m:ctrlPr>
                                </m:sSubPr>
                                <m:e>
                                  <m:r>
                                    <a:rPr lang="ru-RU" sz="2000" i="1">
                                      <a:latin typeface="Cambria Math" charset="0"/>
                                    </a:rPr>
                                    <m:t>𝑦</m:t>
                                  </m:r>
                                </m:e>
                                <m:sub>
                                  <m:r>
                                    <a:rPr lang="ru-RU" sz="2000" i="1">
                                      <a:latin typeface="Cambria Math" charset="0"/>
                                    </a:rPr>
                                    <m:t>𝑖</m:t>
                                  </m:r>
                                </m:sub>
                              </m:sSub>
                              <m:d>
                                <m:dPr>
                                  <m:ctrlPr>
                                    <a:rPr lang="ru-RU" sz="2000" i="1">
                                      <a:latin typeface="Cambria Math" charset="0"/>
                                    </a:rPr>
                                  </m:ctrlPr>
                                </m:dPr>
                                <m:e>
                                  <m:d>
                                    <m:dPr>
                                      <m:ctrlPr>
                                        <a:rPr lang="ru-RU" sz="2000" i="1">
                                          <a:latin typeface="Cambria Math" charset="0"/>
                                        </a:rPr>
                                      </m:ctrlPr>
                                    </m:dPr>
                                    <m:e>
                                      <m:r>
                                        <a:rPr lang="ru-RU" sz="2000" i="1">
                                          <a:latin typeface="Cambria Math" charset="0"/>
                                        </a:rPr>
                                        <m:t>𝑤</m:t>
                                      </m:r>
                                      <m:sSub>
                                        <m:sSubPr>
                                          <m:ctrlPr>
                                            <a:rPr lang="ru-RU" sz="2000" i="1">
                                              <a:latin typeface="Cambria Math" charset="0"/>
                                            </a:rPr>
                                          </m:ctrlPr>
                                        </m:sSubPr>
                                        <m:e>
                                          <m:r>
                                            <a:rPr lang="ru-RU" sz="2000" i="1">
                                              <a:latin typeface="Cambria Math" charset="0"/>
                                            </a:rPr>
                                            <m:t>𝑥</m:t>
                                          </m:r>
                                        </m:e>
                                        <m:sub>
                                          <m:r>
                                            <a:rPr lang="ru-RU" sz="2000" i="1">
                                              <a:latin typeface="Cambria Math" charset="0"/>
                                            </a:rPr>
                                            <m:t>𝑖</m:t>
                                          </m:r>
                                        </m:sub>
                                      </m:sSub>
                                    </m:e>
                                  </m:d>
                                  <m:r>
                                    <a:rPr lang="ru-RU" sz="2000" i="1">
                                      <a:latin typeface="Cambria Math" charset="0"/>
                                    </a:rPr>
                                    <m:t>+</m:t>
                                  </m:r>
                                  <m:r>
                                    <a:rPr lang="ru-RU" sz="2000" i="1">
                                      <a:latin typeface="Cambria Math" charset="0"/>
                                    </a:rPr>
                                    <m:t>𝑏</m:t>
                                  </m:r>
                                </m:e>
                              </m:d>
                              <m:r>
                                <a:rPr lang="ru-RU" sz="2000" i="1">
                                  <a:latin typeface="Cambria Math" charset="0"/>
                                </a:rPr>
                                <m:t>−1</m:t>
                              </m:r>
                            </m:e>
                          </m:d>
                          <m:r>
                            <a:rPr lang="is-IS" sz="2000" i="1">
                              <a:latin typeface="Cambria Math" charset="0"/>
                            </a:rPr>
                            <m:t>=0.5</m:t>
                          </m:r>
                          <m:sSup>
                            <m:sSupPr>
                              <m:ctrlPr>
                                <a:rPr lang="ru-RU" sz="2000" i="1">
                                  <a:latin typeface="Cambria Math" charset="0"/>
                                </a:rPr>
                              </m:ctrlPr>
                            </m:sSupPr>
                            <m:e>
                              <m:d>
                                <m:dPr>
                                  <m:begChr m:val="‖"/>
                                  <m:endChr m:val="‖"/>
                                  <m:ctrlPr>
                                    <a:rPr lang="ru-RU" sz="2000" i="1">
                                      <a:latin typeface="Cambria Math" charset="0"/>
                                    </a:rPr>
                                  </m:ctrlPr>
                                </m:dPr>
                                <m:e>
                                  <m:r>
                                    <a:rPr lang="en-US" sz="2000" i="1">
                                      <a:latin typeface="Cambria Math" charset="0"/>
                                    </a:rPr>
                                    <m:t>𝑤</m:t>
                                  </m:r>
                                </m:e>
                              </m:d>
                            </m:e>
                            <m:sup>
                              <m:r>
                                <a:rPr lang="ru-RU" sz="2000" i="1">
                                  <a:latin typeface="Cambria Math" charset="0"/>
                                </a:rPr>
                                <m:t>2</m:t>
                              </m:r>
                            </m:sup>
                          </m:sSup>
                          <m:r>
                            <a:rPr lang="is-IS" sz="2000" i="1">
                              <a:latin typeface="Cambria Math" charset="0"/>
                            </a:rPr>
                            <m:t>−</m:t>
                          </m:r>
                          <m:d>
                            <m:dPr>
                              <m:ctrlPr>
                                <a:rPr lang="ru-RU" sz="2000" i="1">
                                  <a:latin typeface="Cambria Math" charset="0"/>
                                </a:rPr>
                              </m:ctrlPr>
                            </m:dPr>
                            <m:e>
                              <m:sSup>
                                <m:sSupPr>
                                  <m:ctrlPr>
                                    <a:rPr lang="ru-RU" sz="2000" i="1">
                                      <a:latin typeface="Cambria Math" charset="0"/>
                                    </a:rPr>
                                  </m:ctrlPr>
                                </m:sSupPr>
                                <m:e>
                                  <m:d>
                                    <m:dPr>
                                      <m:begChr m:val="‖"/>
                                      <m:endChr m:val="‖"/>
                                      <m:ctrlPr>
                                        <a:rPr lang="ru-RU" sz="2000" i="1">
                                          <a:latin typeface="Cambria Math" charset="0"/>
                                        </a:rPr>
                                      </m:ctrlPr>
                                    </m:dPr>
                                    <m:e>
                                      <m:r>
                                        <a:rPr lang="en-US" sz="2000" i="1">
                                          <a:latin typeface="Cambria Math" charset="0"/>
                                        </a:rPr>
                                        <m:t>𝑤</m:t>
                                      </m:r>
                                    </m:e>
                                  </m:d>
                                </m:e>
                                <m:sup>
                                  <m:r>
                                    <a:rPr lang="ru-RU" sz="2000" i="1">
                                      <a:latin typeface="Cambria Math" charset="0"/>
                                    </a:rPr>
                                    <m:t>2</m:t>
                                  </m:r>
                                </m:sup>
                              </m:sSup>
                              <m:r>
                                <a:rPr lang="is-IS" sz="2000" i="1">
                                  <a:latin typeface="Cambria Math" charset="0"/>
                                </a:rPr>
                                <m:t>−</m:t>
                              </m:r>
                              <m:nary>
                                <m:naryPr>
                                  <m:chr m:val="∑"/>
                                  <m:ctrlPr>
                                    <a:rPr lang="ru-RU" sz="2000" i="1">
                                      <a:latin typeface="Cambria Math" charset="0"/>
                                    </a:rPr>
                                  </m:ctrlPr>
                                </m:naryPr>
                                <m:sub>
                                  <m:r>
                                    <a:rPr lang="is-IS" sz="2000" i="1">
                                      <a:latin typeface="Cambria Math" charset="0"/>
                                    </a:rPr>
                                    <m:t>𝑖</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e>
                              </m:nary>
                            </m:e>
                          </m:d>
                          <m:r>
                            <a:rPr lang="ru-RU" sz="2000" b="0" i="1" smtClean="0">
                              <a:latin typeface="Cambria Math" charset="0"/>
                            </a:rPr>
                            <m:t>=</m:t>
                          </m:r>
                        </m:e>
                      </m:nary>
                    </m:oMath>
                  </m:oMathPara>
                </a14:m>
                <a:endParaRPr lang="ru-RU" sz="2200" dirty="0"/>
              </a:p>
              <a:p>
                <a:pPr/>
                <a14:m>
                  <m:oMathPara xmlns:m="http://schemas.openxmlformats.org/officeDocument/2006/math">
                    <m:oMathParaPr>
                      <m:jc m:val="centerGroup"/>
                    </m:oMathParaPr>
                    <m:oMath xmlns:m="http://schemas.openxmlformats.org/officeDocument/2006/math">
                      <m:r>
                        <a:rPr lang="is-IS" sz="2000" i="1">
                          <a:latin typeface="Cambria Math" charset="0"/>
                        </a:rPr>
                        <m:t>=</m:t>
                      </m:r>
                      <m:nary>
                        <m:naryPr>
                          <m:chr m:val="∑"/>
                          <m:ctrlPr>
                            <a:rPr lang="ru-RU" sz="2000" i="1">
                              <a:latin typeface="Cambria Math" charset="0"/>
                            </a:rPr>
                          </m:ctrlPr>
                        </m:naryPr>
                        <m:sub>
                          <m:r>
                            <a:rPr lang="is-IS" sz="2000" i="1">
                              <a:latin typeface="Cambria Math" charset="0"/>
                            </a:rPr>
                            <m:t>𝑖</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e>
                      </m:nary>
                      <m:r>
                        <a:rPr lang="is-IS" sz="2000" i="1">
                          <a:latin typeface="Cambria Math" charset="0"/>
                        </a:rPr>
                        <m:t>−0.5</m:t>
                      </m:r>
                      <m:sSup>
                        <m:sSupPr>
                          <m:ctrlPr>
                            <a:rPr lang="ru-RU" sz="2000" i="1">
                              <a:latin typeface="Cambria Math" charset="0"/>
                            </a:rPr>
                          </m:ctrlPr>
                        </m:sSupPr>
                        <m:e>
                          <m:d>
                            <m:dPr>
                              <m:begChr m:val="‖"/>
                              <m:endChr m:val="‖"/>
                              <m:ctrlPr>
                                <a:rPr lang="ru-RU" sz="2000" i="1">
                                  <a:latin typeface="Cambria Math" charset="0"/>
                                </a:rPr>
                              </m:ctrlPr>
                            </m:dPr>
                            <m:e>
                              <m:r>
                                <a:rPr lang="en-US" sz="2000" i="1">
                                  <a:latin typeface="Cambria Math" charset="0"/>
                                </a:rPr>
                                <m:t>𝑤</m:t>
                              </m:r>
                            </m:e>
                          </m:d>
                        </m:e>
                        <m:sup>
                          <m:r>
                            <a:rPr lang="ru-RU" sz="2000" i="1">
                              <a:latin typeface="Cambria Math" charset="0"/>
                            </a:rPr>
                            <m:t>2</m:t>
                          </m:r>
                        </m:sup>
                      </m:sSup>
                      <m:r>
                        <a:rPr lang="is-IS" sz="2000" i="1">
                          <a:latin typeface="Cambria Math" charset="0"/>
                        </a:rPr>
                        <m:t>=</m:t>
                      </m:r>
                      <m:nary>
                        <m:naryPr>
                          <m:chr m:val="∑"/>
                          <m:ctrlPr>
                            <a:rPr lang="ru-RU" sz="2000" i="1">
                              <a:latin typeface="Cambria Math" charset="0"/>
                            </a:rPr>
                          </m:ctrlPr>
                        </m:naryPr>
                        <m:sub>
                          <m:r>
                            <a:rPr lang="is-IS" sz="2000" i="1">
                              <a:latin typeface="Cambria Math" charset="0"/>
                            </a:rPr>
                            <m:t>𝑖</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e>
                      </m:nary>
                      <m:r>
                        <a:rPr lang="is-IS" sz="2000" i="1">
                          <a:latin typeface="Cambria Math" charset="0"/>
                        </a:rPr>
                        <m:t>−0.5</m:t>
                      </m:r>
                      <m:nary>
                        <m:naryPr>
                          <m:chr m:val="∑"/>
                          <m:ctrlPr>
                            <a:rPr lang="is-IS" sz="2000" i="1" smtClean="0">
                              <a:latin typeface="Cambria Math" charset="0"/>
                            </a:rPr>
                          </m:ctrlPr>
                        </m:naryPr>
                        <m:sub>
                          <m:r>
                            <m:rPr>
                              <m:brk m:alnAt="23"/>
                            </m:rPr>
                            <a:rPr lang="en-US" sz="2000" b="0" i="1" smtClean="0">
                              <a:latin typeface="Cambria Math" charset="0"/>
                            </a:rPr>
                            <m:t>𝑖</m:t>
                          </m:r>
                          <m:r>
                            <a:rPr lang="en-US" sz="2000" b="0" i="1" smtClean="0">
                              <a:latin typeface="Cambria Math" charset="0"/>
                            </a:rPr>
                            <m:t>=1</m:t>
                          </m:r>
                        </m:sub>
                        <m:sup>
                          <m:r>
                            <a:rPr lang="en-US" sz="2000" b="0" i="1" smtClean="0">
                              <a:latin typeface="Cambria Math" charset="0"/>
                            </a:rPr>
                            <m:t>𝑀</m:t>
                          </m:r>
                        </m:sup>
                        <m:e>
                          <m:nary>
                            <m:naryPr>
                              <m:chr m:val="∑"/>
                              <m:ctrlPr>
                                <a:rPr lang="ru-RU" sz="2000" i="1">
                                  <a:latin typeface="Cambria Math" charset="0"/>
                                </a:rPr>
                              </m:ctrlPr>
                            </m:naryPr>
                            <m:sub>
                              <m:r>
                                <a:rPr lang="is-IS" sz="2000" i="1">
                                  <a:latin typeface="Cambria Math" charset="0"/>
                                </a:rPr>
                                <m:t>𝑗</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sSub>
                                <m:sSubPr>
                                  <m:ctrlPr>
                                    <a:rPr lang="ru-RU" sz="2000" i="1">
                                      <a:latin typeface="Cambria Math" charset="0"/>
                                    </a:rPr>
                                  </m:ctrlPr>
                                </m:sSubPr>
                                <m:e>
                                  <m:r>
                                    <a:rPr lang="is-IS" sz="2000" i="1">
                                      <a:latin typeface="Cambria Math" charset="0"/>
                                    </a:rPr>
                                    <m:t>𝜆</m:t>
                                  </m:r>
                                </m:e>
                                <m:sub>
                                  <m:r>
                                    <a:rPr lang="is-IS" sz="2000" i="1">
                                      <a:latin typeface="Cambria Math" charset="0"/>
                                    </a:rPr>
                                    <m:t>𝑗</m:t>
                                  </m:r>
                                </m:sub>
                              </m:sSub>
                              <m:sSub>
                                <m:sSubPr>
                                  <m:ctrlPr>
                                    <a:rPr lang="ru-RU" sz="2000" i="1">
                                      <a:latin typeface="Cambria Math" charset="0"/>
                                    </a:rPr>
                                  </m:ctrlPr>
                                </m:sSubPr>
                                <m:e>
                                  <m:r>
                                    <a:rPr lang="is-IS" sz="2000" i="1">
                                      <a:latin typeface="Cambria Math" charset="0"/>
                                    </a:rPr>
                                    <m:t>𝑦</m:t>
                                  </m:r>
                                </m:e>
                                <m:sub>
                                  <m:r>
                                    <a:rPr lang="is-IS" sz="2000" i="1">
                                      <a:latin typeface="Cambria Math" charset="0"/>
                                    </a:rPr>
                                    <m:t>𝑖</m:t>
                                  </m:r>
                                </m:sub>
                              </m:sSub>
                              <m:sSub>
                                <m:sSubPr>
                                  <m:ctrlPr>
                                    <a:rPr lang="ru-RU" sz="2000" i="1">
                                      <a:latin typeface="Cambria Math" charset="0"/>
                                    </a:rPr>
                                  </m:ctrlPr>
                                </m:sSubPr>
                                <m:e>
                                  <m:r>
                                    <a:rPr lang="is-IS" sz="2000" i="1">
                                      <a:latin typeface="Cambria Math" charset="0"/>
                                    </a:rPr>
                                    <m:t>𝑦</m:t>
                                  </m:r>
                                </m:e>
                                <m:sub>
                                  <m:r>
                                    <a:rPr lang="is-IS" sz="2000" i="1">
                                      <a:latin typeface="Cambria Math" charset="0"/>
                                    </a:rPr>
                                    <m:t>𝑗</m:t>
                                  </m:r>
                                </m:sub>
                              </m:sSub>
                              <m:d>
                                <m:dPr>
                                  <m:ctrlPr>
                                    <a:rPr lang="ru-RU" sz="2000" i="1">
                                      <a:latin typeface="Cambria Math" charset="0"/>
                                    </a:rPr>
                                  </m:ctrlPr>
                                </m:dPr>
                                <m:e>
                                  <m:sSub>
                                    <m:sSubPr>
                                      <m:ctrlPr>
                                        <a:rPr lang="ru-RU" sz="2000" i="1">
                                          <a:latin typeface="Cambria Math" charset="0"/>
                                        </a:rPr>
                                      </m:ctrlPr>
                                    </m:sSubPr>
                                    <m:e>
                                      <m:r>
                                        <a:rPr lang="is-IS" sz="2000" i="1">
                                          <a:latin typeface="Cambria Math" charset="0"/>
                                        </a:rPr>
                                        <m:t>𝑥</m:t>
                                      </m:r>
                                    </m:e>
                                    <m:sub>
                                      <m:r>
                                        <a:rPr lang="is-IS" sz="2000" i="1">
                                          <a:latin typeface="Cambria Math" charset="0"/>
                                        </a:rPr>
                                        <m:t>𝑖</m:t>
                                      </m:r>
                                    </m:sub>
                                  </m:sSub>
                                  <m:r>
                                    <a:rPr lang="is-IS" sz="2000" i="1">
                                      <a:latin typeface="Cambria Math" charset="0"/>
                                    </a:rPr>
                                    <m:t>, </m:t>
                                  </m:r>
                                  <m:sSub>
                                    <m:sSubPr>
                                      <m:ctrlPr>
                                        <a:rPr lang="ru-RU" sz="2000" i="1">
                                          <a:latin typeface="Cambria Math" charset="0"/>
                                        </a:rPr>
                                      </m:ctrlPr>
                                    </m:sSubPr>
                                    <m:e>
                                      <m:r>
                                        <a:rPr lang="is-IS" sz="2000" i="1">
                                          <a:latin typeface="Cambria Math" charset="0"/>
                                        </a:rPr>
                                        <m:t>𝑥</m:t>
                                      </m:r>
                                    </m:e>
                                    <m:sub>
                                      <m:r>
                                        <a:rPr lang="is-IS" sz="2000" i="1">
                                          <a:latin typeface="Cambria Math" charset="0"/>
                                        </a:rPr>
                                        <m:t>𝑗</m:t>
                                      </m:r>
                                    </m:sub>
                                  </m:sSub>
                                </m:e>
                              </m:d>
                            </m:e>
                          </m:nary>
                        </m:e>
                      </m:nary>
                      <m:r>
                        <a:rPr lang="is-IS" sz="2000" i="1">
                          <a:latin typeface="Cambria Math" charset="0"/>
                        </a:rPr>
                        <m:t>=</m:t>
                      </m:r>
                      <m:nary>
                        <m:naryPr>
                          <m:chr m:val="∑"/>
                          <m:ctrlPr>
                            <a:rPr lang="ru-RU" sz="2000" i="1">
                              <a:latin typeface="Cambria Math" charset="0"/>
                            </a:rPr>
                          </m:ctrlPr>
                        </m:naryPr>
                        <m:sub>
                          <m:r>
                            <a:rPr lang="is-IS" sz="2000" i="1">
                              <a:latin typeface="Cambria Math" charset="0"/>
                            </a:rPr>
                            <m:t>𝑖</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e>
                      </m:nary>
                      <m:r>
                        <a:rPr lang="is-IS" sz="2000" i="1">
                          <a:latin typeface="Cambria Math" charset="0"/>
                        </a:rPr>
                        <m:t>−0.5</m:t>
                      </m:r>
                      <m:sSup>
                        <m:sSupPr>
                          <m:ctrlPr>
                            <a:rPr lang="ru-RU" sz="2000" i="1">
                              <a:latin typeface="Cambria Math" charset="0"/>
                            </a:rPr>
                          </m:ctrlPr>
                        </m:sSupPr>
                        <m:e>
                          <m:d>
                            <m:dPr>
                              <m:begChr m:val="‖"/>
                              <m:endChr m:val="‖"/>
                              <m:ctrlPr>
                                <a:rPr lang="ru-RU" sz="2000" i="1">
                                  <a:latin typeface="Cambria Math" charset="0"/>
                                </a:rPr>
                              </m:ctrlPr>
                            </m:dPr>
                            <m:e>
                              <m:nary>
                                <m:naryPr>
                                  <m:chr m:val="∑"/>
                                  <m:ctrlPr>
                                    <a:rPr lang="ru-RU" sz="2000" i="1">
                                      <a:latin typeface="Cambria Math" charset="0"/>
                                    </a:rPr>
                                  </m:ctrlPr>
                                </m:naryPr>
                                <m:sub>
                                  <m:r>
                                    <a:rPr lang="is-IS" sz="2000" i="1">
                                      <a:latin typeface="Cambria Math" charset="0"/>
                                    </a:rPr>
                                    <m:t>𝑖</m:t>
                                  </m:r>
                                  <m:r>
                                    <a:rPr lang="is-IS" sz="2000" i="1">
                                      <a:latin typeface="Cambria Math" charset="0"/>
                                    </a:rPr>
                                    <m:t>=1</m:t>
                                  </m:r>
                                </m:sub>
                                <m:sup>
                                  <m:r>
                                    <a:rPr lang="is-IS" sz="2000" i="1">
                                      <a:latin typeface="Cambria Math" charset="0"/>
                                    </a:rPr>
                                    <m:t>𝑀</m:t>
                                  </m:r>
                                </m:sup>
                                <m:e>
                                  <m:sSub>
                                    <m:sSubPr>
                                      <m:ctrlPr>
                                        <a:rPr lang="ru-RU" sz="2000" i="1">
                                          <a:latin typeface="Cambria Math" charset="0"/>
                                        </a:rPr>
                                      </m:ctrlPr>
                                    </m:sSubPr>
                                    <m:e>
                                      <m:r>
                                        <a:rPr lang="is-IS" sz="2000" i="1">
                                          <a:latin typeface="Cambria Math" charset="0"/>
                                        </a:rPr>
                                        <m:t>𝜆</m:t>
                                      </m:r>
                                    </m:e>
                                    <m:sub>
                                      <m:r>
                                        <a:rPr lang="is-IS" sz="2000" i="1">
                                          <a:latin typeface="Cambria Math" charset="0"/>
                                        </a:rPr>
                                        <m:t>𝑖</m:t>
                                      </m:r>
                                    </m:sub>
                                  </m:sSub>
                                  <m:sSub>
                                    <m:sSubPr>
                                      <m:ctrlPr>
                                        <a:rPr lang="ru-RU" sz="2000" i="1">
                                          <a:latin typeface="Cambria Math" charset="0"/>
                                        </a:rPr>
                                      </m:ctrlPr>
                                    </m:sSubPr>
                                    <m:e>
                                      <m:r>
                                        <a:rPr lang="is-IS" sz="2000" i="1">
                                          <a:latin typeface="Cambria Math" charset="0"/>
                                        </a:rPr>
                                        <m:t>𝑦</m:t>
                                      </m:r>
                                    </m:e>
                                    <m:sub>
                                      <m:r>
                                        <a:rPr lang="is-IS" sz="2000" i="1">
                                          <a:latin typeface="Cambria Math" charset="0"/>
                                        </a:rPr>
                                        <m:t>𝑖</m:t>
                                      </m:r>
                                    </m:sub>
                                  </m:sSub>
                                  <m:sSub>
                                    <m:sSubPr>
                                      <m:ctrlPr>
                                        <a:rPr lang="ru-RU" sz="2000" i="1">
                                          <a:latin typeface="Cambria Math" charset="0"/>
                                        </a:rPr>
                                      </m:ctrlPr>
                                    </m:sSubPr>
                                    <m:e>
                                      <m:r>
                                        <a:rPr lang="is-IS" sz="2000" i="1">
                                          <a:latin typeface="Cambria Math" charset="0"/>
                                        </a:rPr>
                                        <m:t>𝑥</m:t>
                                      </m:r>
                                    </m:e>
                                    <m:sub>
                                      <m:r>
                                        <a:rPr lang="is-IS" sz="2000" i="1">
                                          <a:latin typeface="Cambria Math" charset="0"/>
                                        </a:rPr>
                                        <m:t>𝑖</m:t>
                                      </m:r>
                                    </m:sub>
                                  </m:sSub>
                                </m:e>
                              </m:nary>
                            </m:e>
                          </m:d>
                        </m:e>
                        <m:sup>
                          <m:r>
                            <a:rPr lang="is-IS" sz="2000" i="1">
                              <a:latin typeface="Cambria Math" charset="0"/>
                            </a:rPr>
                            <m:t>2</m:t>
                          </m:r>
                        </m:sup>
                      </m:sSup>
                      <m:r>
                        <a:rPr lang="is-IS" sz="2000" i="1">
                          <a:latin typeface="Cambria Math" charset="0"/>
                        </a:rPr>
                        <m:t>.       (</m:t>
                      </m:r>
                      <m:r>
                        <a:rPr lang="ru-RU" sz="2000" b="0" i="1" smtClean="0">
                          <a:latin typeface="Cambria Math" charset="0"/>
                        </a:rPr>
                        <m:t>15</m:t>
                      </m:r>
                      <m:r>
                        <a:rPr lang="is-IS" sz="2000" i="1">
                          <a:latin typeface="Cambria Math" charset="0"/>
                        </a:rPr>
                        <m:t>)</m:t>
                      </m:r>
                    </m:oMath>
                  </m:oMathPara>
                </a14:m>
                <a:endParaRPr lang="ru-RU" sz="22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232451" y="1190581"/>
                <a:ext cx="10959549" cy="4885761"/>
              </a:xfrm>
              <a:prstGeom prst="rect">
                <a:avLst/>
              </a:prstGeom>
              <a:blipFill rotWithShape="0">
                <a:blip r:embed="rId2"/>
                <a:stretch>
                  <a:fillRect l="-834" t="-998"/>
                </a:stretch>
              </a:blipFill>
            </p:spPr>
            <p:txBody>
              <a:bodyPr/>
              <a:lstStyle/>
              <a:p>
                <a:r>
                  <a:rPr lang="ru-RU">
                    <a:noFill/>
                  </a:rPr>
                  <a:t> </a:t>
                </a:r>
              </a:p>
            </p:txBody>
          </p:sp>
        </mc:Fallback>
      </mc:AlternateContent>
    </p:spTree>
    <p:extLst>
      <p:ext uri="{BB962C8B-B14F-4D97-AF65-F5344CB8AC3E}">
        <p14:creationId xmlns:p14="http://schemas.microsoft.com/office/powerpoint/2010/main" val="5674012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mc:AlternateContent xmlns:mc="http://schemas.openxmlformats.org/markup-compatibility/2006" xmlns:a14="http://schemas.microsoft.com/office/drawing/2010/main">
        <mc:Choice Requires="a14">
          <p:sp>
            <p:nvSpPr>
              <p:cNvPr id="3" name="Прямоугольник 2"/>
              <p:cNvSpPr/>
              <p:nvPr/>
            </p:nvSpPr>
            <p:spPr>
              <a:xfrm>
                <a:off x="1987825" y="548993"/>
                <a:ext cx="10204175" cy="4385303"/>
              </a:xfrm>
              <a:prstGeom prst="rect">
                <a:avLst/>
              </a:prstGeom>
              <a:noFill/>
            </p:spPr>
            <p:txBody>
              <a:bodyPr wrap="square">
                <a:spAutoFit/>
              </a:bodyPr>
              <a:lstStyle/>
              <a:p>
                <a:pPr algn="just"/>
                <a:r>
                  <a:rPr lang="ru-RU" sz="2400" dirty="0" smtClean="0"/>
                  <a:t>Исходя из выражения (13):</a:t>
                </a:r>
              </a:p>
              <a:p>
                <a:pPr algn="just"/>
                <a14:m>
                  <m:oMathPara xmlns:m="http://schemas.openxmlformats.org/officeDocument/2006/math">
                    <m:oMathParaPr>
                      <m:jc m:val="centerGroup"/>
                    </m:oMathParaPr>
                    <m:oMath xmlns:m="http://schemas.openxmlformats.org/officeDocument/2006/math">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d>
                        <m:dPr>
                          <m:ctrlPr>
                            <a:rPr lang="ru-RU" sz="2400" i="1">
                              <a:latin typeface="Cambria Math" charset="0"/>
                            </a:rPr>
                          </m:ctrlPr>
                        </m:dPr>
                        <m:e>
                          <m:r>
                            <a:rPr lang="ru-RU" sz="2400" i="1">
                              <a:latin typeface="Cambria Math" charset="0"/>
                            </a:rPr>
                            <m:t>𝑤</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m:t>
                          </m:r>
                          <m:r>
                            <a:rPr lang="ru-RU" sz="2400" i="1">
                              <a:latin typeface="Cambria Math" charset="0"/>
                            </a:rPr>
                            <m:t>𝑏</m:t>
                          </m:r>
                        </m:e>
                      </m:d>
                      <m:r>
                        <a:rPr lang="ru-RU" sz="2400" i="1">
                          <a:latin typeface="Cambria Math" charset="0"/>
                        </a:rPr>
                        <m:t>≥</m:t>
                      </m:r>
                      <m:r>
                        <a:rPr lang="en-US" sz="2400" b="0" i="1" smtClean="0">
                          <a:latin typeface="Cambria Math" charset="0"/>
                        </a:rPr>
                        <m:t>1             </m:t>
                      </m:r>
                      <m:r>
                        <a:rPr lang="ru-RU" sz="2400" i="1">
                          <a:latin typeface="Cambria Math" charset="0"/>
                        </a:rPr>
                        <m:t>(13)</m:t>
                      </m:r>
                    </m:oMath>
                  </m:oMathPara>
                </a14:m>
                <a:endParaRPr lang="ru-RU" sz="2400" dirty="0"/>
              </a:p>
              <a:p>
                <a:pPr algn="just"/>
                <a:r>
                  <a:rPr lang="ru-RU" sz="2400" dirty="0" smtClean="0"/>
                  <a:t>и полученных выражений для </a:t>
                </a:r>
                <a14:m>
                  <m:oMath xmlns:m="http://schemas.openxmlformats.org/officeDocument/2006/math">
                    <m:r>
                      <a:rPr lang="en-US" sz="2400" i="1" dirty="0" smtClean="0">
                        <a:latin typeface="Cambria Math" charset="0"/>
                      </a:rPr>
                      <m:t>𝑏</m:t>
                    </m:r>
                  </m:oMath>
                </a14:m>
                <a:r>
                  <a:rPr lang="en-US" sz="2400" dirty="0" smtClean="0"/>
                  <a:t> </a:t>
                </a:r>
                <a:r>
                  <a:rPr lang="ru-RU" sz="2400" dirty="0" smtClean="0"/>
                  <a:t>и </a:t>
                </a:r>
                <a14:m>
                  <m:oMath xmlns:m="http://schemas.openxmlformats.org/officeDocument/2006/math">
                    <m:r>
                      <a:rPr lang="en-US" sz="2400" i="1" dirty="0" smtClean="0">
                        <a:latin typeface="Cambria Math" charset="0"/>
                      </a:rPr>
                      <m:t>𝑤</m:t>
                    </m:r>
                  </m:oMath>
                </a14:m>
                <a:r>
                  <a:rPr lang="ru-RU" sz="2400" dirty="0" smtClean="0"/>
                  <a:t>:</a:t>
                </a:r>
              </a:p>
              <a:p>
                <a:pPr algn="just"/>
                <a14:m>
                  <m:oMathPara xmlns:m="http://schemas.openxmlformats.org/officeDocument/2006/math">
                    <m:oMathParaPr>
                      <m:jc m:val="centerGroup"/>
                    </m:oMathParaPr>
                    <m:oMath xmlns:m="http://schemas.openxmlformats.org/officeDocument/2006/math">
                      <m:r>
                        <a:rPr lang="en-US" sz="2400" i="1">
                          <a:latin typeface="Cambria Math" charset="0"/>
                        </a:rPr>
                        <m:t>𝑤</m:t>
                      </m:r>
                      <m:r>
                        <a:rPr lang="ru-RU" sz="2400" b="0" i="1" smtClean="0">
                          <a:latin typeface="Cambria Math" charset="0"/>
                        </a:rPr>
                        <m:t>=</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𝑀</m:t>
                          </m:r>
                        </m:sup>
                        <m:e>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smtClean="0">
                              <a:latin typeface="Cambria Math" charset="0"/>
                            </a:rPr>
                            <m:t>,</m:t>
                          </m:r>
                          <m:r>
                            <a:rPr lang="en-US" sz="2400" b="0" i="1" dirty="0" smtClean="0">
                              <a:latin typeface="Cambria Math" charset="0"/>
                            </a:rPr>
                            <m:t>  </m:t>
                          </m:r>
                          <m:r>
                            <a:rPr lang="en-US" sz="2400" b="0" i="1" smtClean="0">
                              <a:latin typeface="Cambria Math" charset="0"/>
                            </a:rPr>
                            <m:t>𝑏</m:t>
                          </m:r>
                          <m:r>
                            <a:rPr lang="en-US" sz="2400" b="0" i="1" smtClean="0">
                              <a:latin typeface="Cambria Math" charset="0"/>
                            </a:rPr>
                            <m:t>=</m:t>
                          </m:r>
                          <m:r>
                            <a:rPr lang="en-US" sz="2400" b="0" i="1" smtClean="0">
                              <a:latin typeface="Cambria Math" charset="0"/>
                            </a:rPr>
                            <m:t>𝑤</m:t>
                          </m:r>
                          <m:sSub>
                            <m:sSubPr>
                              <m:ctrlPr>
                                <a:rPr lang="en-US" sz="2400" b="0" i="1" smtClean="0">
                                  <a:latin typeface="Cambria Math" charset="0"/>
                                </a:rPr>
                              </m:ctrlPr>
                            </m:sSubPr>
                            <m:e>
                              <m:r>
                                <a:rPr lang="en-US" sz="2400" b="0" i="1" smtClean="0">
                                  <a:latin typeface="Cambria Math" charset="0"/>
                                </a:rPr>
                                <m:t>𝑥</m:t>
                              </m:r>
                            </m:e>
                            <m:sub>
                              <m:r>
                                <a:rPr lang="en-US" sz="2400" b="0" i="1" smtClean="0">
                                  <a:latin typeface="Cambria Math" charset="0"/>
                                </a:rPr>
                                <m:t>𝑖</m:t>
                              </m:r>
                            </m:sub>
                          </m:sSub>
                          <m:r>
                            <a:rPr lang="en-US" sz="2400" b="0" i="1" smtClean="0">
                              <a:latin typeface="Cambria Math" charset="0"/>
                            </a:rPr>
                            <m:t>−</m:t>
                          </m:r>
                          <m:sSub>
                            <m:sSubPr>
                              <m:ctrlPr>
                                <a:rPr lang="en-US" sz="2400" b="0" i="1" smtClean="0">
                                  <a:latin typeface="Cambria Math" charset="0"/>
                                </a:rPr>
                              </m:ctrlPr>
                            </m:sSubPr>
                            <m:e>
                              <m:r>
                                <a:rPr lang="en-US" sz="2400" b="0" i="1" smtClean="0">
                                  <a:latin typeface="Cambria Math" charset="0"/>
                                </a:rPr>
                                <m:t>𝑦</m:t>
                              </m:r>
                            </m:e>
                            <m:sub>
                              <m:r>
                                <a:rPr lang="en-US" sz="2400" b="0" i="1" smtClean="0">
                                  <a:latin typeface="Cambria Math" charset="0"/>
                                </a:rPr>
                                <m:t>𝑖</m:t>
                              </m:r>
                            </m:sub>
                          </m:sSub>
                          <m:r>
                            <a:rPr lang="ru-RU" sz="2400" i="1">
                              <a:latin typeface="Cambria Math" charset="0"/>
                            </a:rPr>
                            <m:t>,</m:t>
                          </m:r>
                          <m:r>
                            <a:rPr lang="en-US" sz="2400" b="0" i="1" smtClean="0">
                              <a:latin typeface="Cambria Math" charset="0"/>
                            </a:rPr>
                            <m:t> </m:t>
                          </m:r>
                        </m:e>
                      </m:nary>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r>
                        <a:rPr lang="en-US" sz="2400" b="0" i="1" smtClean="0">
                          <a:latin typeface="Cambria Math" charset="0"/>
                          <a:ea typeface="Cambria Math" charset="0"/>
                          <a:cs typeface="Cambria Math" charset="0"/>
                        </a:rPr>
                        <m:t>&gt;0.</m:t>
                      </m:r>
                    </m:oMath>
                  </m:oMathPara>
                </a14:m>
                <a:endParaRPr lang="ru-RU" sz="2400" dirty="0"/>
              </a:p>
              <a:p>
                <a:pPr algn="just"/>
                <a:r>
                  <a:rPr lang="ru-RU" sz="2400" dirty="0"/>
                  <a:t>В итоге алгоритм классификации может быть записан в виде:</a:t>
                </a:r>
              </a:p>
              <a:p>
                <a:pPr algn="just"/>
                <a14:m>
                  <m:oMathPara xmlns:m="http://schemas.openxmlformats.org/officeDocument/2006/math">
                    <m:oMathParaPr>
                      <m:jc m:val="center"/>
                    </m:oMathParaPr>
                    <m:oMath xmlns:m="http://schemas.openxmlformats.org/officeDocument/2006/math">
                      <m:acc>
                        <m:accPr>
                          <m:chr m:val="̂"/>
                          <m:ctrlPr>
                            <a:rPr lang="ru-RU" sz="2400" i="1" dirty="0" smtClean="0">
                              <a:latin typeface="Cambria Math" charset="0"/>
                            </a:rPr>
                          </m:ctrlPr>
                        </m:accPr>
                        <m:e>
                          <m:r>
                            <a:rPr lang="en-US" sz="2400" i="1" dirty="0" smtClean="0">
                              <a:latin typeface="Cambria Math" charset="0"/>
                            </a:rPr>
                            <m:t>𝑦</m:t>
                          </m:r>
                          <m:r>
                            <m:rPr>
                              <m:nor/>
                            </m:rPr>
                            <a:rPr lang="ru-RU" sz="2400" dirty="0"/>
                            <m:t> </m:t>
                          </m:r>
                        </m:e>
                      </m:acc>
                      <m:r>
                        <a:rPr lang="en-US" sz="2400" b="0" i="1" dirty="0" smtClean="0">
                          <a:latin typeface="Cambria Math" charset="0"/>
                        </a:rPr>
                        <m:t>=</m:t>
                      </m:r>
                      <m:r>
                        <m:rPr>
                          <m:sty m:val="p"/>
                        </m:rPr>
                        <a:rPr lang="en-US" sz="2400" b="0" i="0" dirty="0" smtClean="0">
                          <a:latin typeface="Cambria Math" charset="0"/>
                        </a:rPr>
                        <m:t>sign</m:t>
                      </m:r>
                      <m:d>
                        <m:dPr>
                          <m:ctrlPr>
                            <a:rPr lang="en-US" sz="2400" b="0" i="1" dirty="0" smtClean="0">
                              <a:latin typeface="Cambria Math" charset="0"/>
                            </a:rPr>
                          </m:ctrlPr>
                        </m:dPr>
                        <m:e>
                          <m:nary>
                            <m:naryPr>
                              <m:chr m:val="∑"/>
                              <m:ctrlPr>
                                <a:rPr lang="ru-RU" sz="2400" i="1">
                                  <a:latin typeface="Cambria Math" charset="0"/>
                                </a:rPr>
                              </m:ctrlPr>
                            </m:naryPr>
                            <m:sub>
                              <m:r>
                                <a:rPr lang="is-IS" sz="2400" i="1">
                                  <a:latin typeface="Cambria Math" charset="0"/>
                                </a:rPr>
                                <m:t>𝑖</m:t>
                              </m:r>
                              <m:r>
                                <a:rPr lang="is-IS" sz="2400" i="1">
                                  <a:latin typeface="Cambria Math" charset="0"/>
                                </a:rPr>
                                <m:t>=1</m:t>
                              </m:r>
                            </m:sub>
                            <m:sup>
                              <m:r>
                                <a:rPr lang="is-IS" sz="2400" i="1">
                                  <a:latin typeface="Cambria Math" charset="0"/>
                                </a:rPr>
                                <m:t>𝑀</m:t>
                              </m:r>
                            </m:sup>
                            <m:e>
                              <m:sSub>
                                <m:sSubPr>
                                  <m:ctrlPr>
                                    <a:rPr lang="ru-RU" sz="2400" i="1">
                                      <a:latin typeface="Cambria Math" charset="0"/>
                                    </a:rPr>
                                  </m:ctrlPr>
                                </m:sSubPr>
                                <m:e>
                                  <m:r>
                                    <a:rPr lang="is-IS" sz="2400" i="1">
                                      <a:latin typeface="Cambria Math" charset="0"/>
                                    </a:rPr>
                                    <m:t>𝜆</m:t>
                                  </m:r>
                                </m:e>
                                <m:sub>
                                  <m:r>
                                    <a:rPr lang="is-IS" sz="2400" i="1">
                                      <a:latin typeface="Cambria Math" charset="0"/>
                                    </a:rPr>
                                    <m:t>𝑖</m:t>
                                  </m:r>
                                </m:sub>
                              </m:sSub>
                              <m:sSub>
                                <m:sSubPr>
                                  <m:ctrlPr>
                                    <a:rPr lang="ru-RU" sz="2400" i="1">
                                      <a:latin typeface="Cambria Math" charset="0"/>
                                    </a:rPr>
                                  </m:ctrlPr>
                                </m:sSubPr>
                                <m:e>
                                  <m:r>
                                    <a:rPr lang="is-IS" sz="2400" i="1">
                                      <a:latin typeface="Cambria Math" charset="0"/>
                                    </a:rPr>
                                    <m:t>𝑦</m:t>
                                  </m:r>
                                </m:e>
                                <m:sub>
                                  <m:r>
                                    <a:rPr lang="is-IS" sz="2400" i="1">
                                      <a:latin typeface="Cambria Math" charset="0"/>
                                    </a:rPr>
                                    <m:t>𝑖</m:t>
                                  </m:r>
                                </m:sub>
                              </m:sSub>
                            </m:e>
                          </m:nary>
                          <m:sSubSup>
                            <m:sSubSupPr>
                              <m:ctrlPr>
                                <a:rPr lang="en-US" sz="2400" i="1" smtClean="0">
                                  <a:latin typeface="Cambria Math" charset="0"/>
                                </a:rPr>
                              </m:ctrlPr>
                            </m:sSubSupPr>
                            <m:e>
                              <m:r>
                                <a:rPr lang="en-US" sz="2400" b="0" i="1" smtClean="0">
                                  <a:latin typeface="Cambria Math" charset="0"/>
                                </a:rPr>
                                <m:t>𝑥</m:t>
                              </m:r>
                            </m:e>
                            <m:sub>
                              <m:r>
                                <a:rPr lang="en-US" sz="2400" b="0" i="1" smtClean="0">
                                  <a:latin typeface="Cambria Math" charset="0"/>
                                </a:rPr>
                                <m:t>𝑖</m:t>
                              </m:r>
                            </m:sub>
                            <m:sup>
                              <m:r>
                                <a:rPr lang="en-US" sz="2400" b="0" i="1" smtClean="0">
                                  <a:latin typeface="Cambria Math" charset="0"/>
                                </a:rPr>
                                <m:t>𝑇</m:t>
                              </m:r>
                            </m:sup>
                          </m:sSubSup>
                          <m:sSub>
                            <m:sSubPr>
                              <m:ctrlPr>
                                <a:rPr lang="ru-RU" sz="2400" i="1">
                                  <a:latin typeface="Cambria Math" charset="0"/>
                                </a:rPr>
                              </m:ctrlPr>
                            </m:sSubPr>
                            <m:e>
                              <m:r>
                                <a:rPr lang="is-IS" sz="2400" i="1">
                                  <a:latin typeface="Cambria Math" charset="0"/>
                                </a:rPr>
                                <m:t>𝑥</m:t>
                              </m:r>
                            </m:e>
                            <m:sub>
                              <m:r>
                                <a:rPr lang="en-US" sz="2400" b="0" i="1" smtClean="0">
                                  <a:latin typeface="Cambria Math" charset="0"/>
                                </a:rPr>
                                <m:t>𝑗</m:t>
                              </m:r>
                            </m:sub>
                          </m:sSub>
                          <m:r>
                            <a:rPr lang="en-US" sz="2400" b="0" i="0" smtClean="0">
                              <a:latin typeface="Cambria Math" charset="0"/>
                            </a:rPr>
                            <m:t>+</m:t>
                          </m:r>
                          <m:r>
                            <a:rPr lang="en-US" sz="2400" b="0" i="1" smtClean="0">
                              <a:latin typeface="Cambria Math" charset="0"/>
                            </a:rPr>
                            <m:t>𝑏</m:t>
                          </m:r>
                        </m:e>
                      </m:d>
                      <m:r>
                        <a:rPr lang="en-US" sz="2400" b="0" i="1" dirty="0" smtClean="0">
                          <a:latin typeface="Cambria Math" charset="0"/>
                        </a:rPr>
                        <m:t>.       (16)</m:t>
                      </m:r>
                    </m:oMath>
                  </m:oMathPara>
                </a14:m>
                <a:endParaRPr lang="en-US" sz="2400" dirty="0" smtClean="0"/>
              </a:p>
              <a:p>
                <a:pPr algn="just"/>
                <a:r>
                  <a:rPr lang="ru-RU" sz="2400" dirty="0" smtClean="0"/>
                  <a:t>При </a:t>
                </a:r>
                <a:r>
                  <a:rPr lang="ru-RU" sz="2400" dirty="0"/>
                  <a:t>этом суммирование идёт не по всей выборке, а только по опорным векторам, для которых </a:t>
                </a:r>
                <a14:m>
                  <m:oMath xmlns:m="http://schemas.openxmlformats.org/officeDocument/2006/math">
                    <m:sSub>
                      <m:sSubPr>
                        <m:ctrlPr>
                          <a:rPr lang="ru-RU" sz="2400" i="1">
                            <a:latin typeface="Cambria Math" charset="0"/>
                          </a:rPr>
                        </m:ctrlPr>
                      </m:sSubPr>
                      <m:e>
                        <m:r>
                          <a:rPr lang="en-US" sz="2400" i="1">
                            <a:latin typeface="Cambria Math" charset="0"/>
                          </a:rPr>
                          <m:t>𝜆</m:t>
                        </m:r>
                      </m:e>
                      <m:sub>
                        <m:r>
                          <a:rPr lang="en-US" sz="2400" i="1">
                            <a:latin typeface="Cambria Math" charset="0"/>
                          </a:rPr>
                          <m:t>𝑖</m:t>
                        </m:r>
                      </m:sub>
                    </m:sSub>
                    <m:r>
                      <a:rPr lang="en-US" sz="2400" i="1" smtClean="0">
                        <a:latin typeface="Cambria Math" charset="0"/>
                        <a:ea typeface="Cambria Math" charset="0"/>
                        <a:cs typeface="Cambria Math" charset="0"/>
                      </a:rPr>
                      <m:t>≠</m:t>
                    </m:r>
                    <m:r>
                      <a:rPr lang="en-US" sz="2400" i="1">
                        <a:latin typeface="Cambria Math" charset="0"/>
                        <a:ea typeface="Cambria Math" charset="0"/>
                        <a:cs typeface="Cambria Math" charset="0"/>
                      </a:rPr>
                      <m:t>0.</m:t>
                    </m:r>
                  </m:oMath>
                </a14:m>
                <a:endParaRPr lang="ru-RU" sz="2400" dirty="0"/>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987825" y="548993"/>
                <a:ext cx="10204175" cy="4385303"/>
              </a:xfrm>
              <a:prstGeom prst="rect">
                <a:avLst/>
              </a:prstGeom>
              <a:blipFill rotWithShape="0">
                <a:blip r:embed="rId2"/>
                <a:stretch>
                  <a:fillRect l="-896" t="-2503" r="-956" b="-2225"/>
                </a:stretch>
              </a:blipFill>
            </p:spPr>
            <p:txBody>
              <a:bodyPr/>
              <a:lstStyle/>
              <a:p>
                <a:r>
                  <a:rPr lang="ru-RU">
                    <a:noFill/>
                  </a:rPr>
                  <a:t> </a:t>
                </a:r>
              </a:p>
            </p:txBody>
          </p:sp>
        </mc:Fallback>
      </mc:AlternateContent>
      <p:sp>
        <p:nvSpPr>
          <p:cNvPr id="6" name="AutoShape 2" descr="\displaystyle a(x)=sign\left(\sum _{i=1}^{n}\mathbf {\lambda _{i}} c_{i}\mathbf {x_{i}} \cdot \mathbf {x} -b\right)(4)}"/>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3" descr="\displaystyle \mathbf {\lambda _{i}} \neq 0}"/>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Tree>
    <p:extLst>
      <p:ext uri="{BB962C8B-B14F-4D97-AF65-F5344CB8AC3E}">
        <p14:creationId xmlns:p14="http://schemas.microsoft.com/office/powerpoint/2010/main" val="37199491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Рисунок 52" descr="../Снимок%20экрана%202025-12-21%20в%2015.12.05.png"/>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12765" y="3284797"/>
            <a:ext cx="4479235" cy="3379304"/>
          </a:xfrm>
          <a:prstGeom prst="rect">
            <a:avLst/>
          </a:prstGeom>
          <a:noFill/>
          <a:ln>
            <a:noFill/>
          </a:ln>
        </p:spPr>
      </p:pic>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mc:AlternateContent xmlns:mc="http://schemas.openxmlformats.org/markup-compatibility/2006" xmlns:a14="http://schemas.microsoft.com/office/drawing/2010/main">
        <mc:Choice Requires="a14">
          <p:sp>
            <p:nvSpPr>
              <p:cNvPr id="3" name="Прямоугольник 2"/>
              <p:cNvSpPr/>
              <p:nvPr/>
            </p:nvSpPr>
            <p:spPr>
              <a:xfrm>
                <a:off x="1570383" y="548993"/>
                <a:ext cx="10621617" cy="2984728"/>
              </a:xfrm>
              <a:prstGeom prst="rect">
                <a:avLst/>
              </a:prstGeom>
              <a:noFill/>
            </p:spPr>
            <p:txBody>
              <a:bodyPr wrap="square">
                <a:spAutoFit/>
              </a:bodyPr>
              <a:lstStyle/>
              <a:p>
                <a:pPr algn="just"/>
                <a:r>
                  <a:rPr lang="ru-RU" sz="2400" dirty="0" smtClean="0"/>
                  <a:t>В ситуации линейной неразделимости всю обучающую выборку отображают в пространство </a:t>
                </a:r>
                <a14:m>
                  <m:oMath xmlns:m="http://schemas.openxmlformats.org/officeDocument/2006/math">
                    <m:r>
                      <a:rPr lang="ru-RU" sz="2400" i="1">
                        <a:latin typeface="Cambria Math" charset="0"/>
                      </a:rPr>
                      <m:t>𝜑</m:t>
                    </m:r>
                    <m:r>
                      <a:rPr lang="ru-RU" sz="2400" i="1">
                        <a:latin typeface="Cambria Math" charset="0"/>
                      </a:rPr>
                      <m:t>:</m:t>
                    </m:r>
                    <m:sSup>
                      <m:sSupPr>
                        <m:ctrlPr>
                          <a:rPr lang="ru-RU" sz="2400" i="1">
                            <a:latin typeface="Cambria Math" charset="0"/>
                          </a:rPr>
                        </m:ctrlPr>
                      </m:sSupPr>
                      <m:e>
                        <m:r>
                          <a:rPr lang="ru-RU" sz="2400" i="1">
                            <a:latin typeface="Cambria Math" charset="0"/>
                          </a:rPr>
                          <m:t>ℝ</m:t>
                        </m:r>
                      </m:e>
                      <m:sup>
                        <m:r>
                          <a:rPr lang="ru-RU" sz="2400" i="1">
                            <a:latin typeface="Cambria Math" charset="0"/>
                          </a:rPr>
                          <m:t>𝑛</m:t>
                        </m:r>
                      </m:sup>
                    </m:sSup>
                    <m:r>
                      <a:rPr lang="ru-RU" sz="2400" i="1">
                        <a:latin typeface="Cambria Math" charset="0"/>
                      </a:rPr>
                      <m:t>→</m:t>
                    </m:r>
                    <m:r>
                      <a:rPr lang="ru-RU" sz="2400" i="1">
                        <a:latin typeface="Cambria Math" charset="0"/>
                      </a:rPr>
                      <m:t>𝐻</m:t>
                    </m:r>
                    <m:r>
                      <a:rPr lang="ru-RU" sz="2400" i="1">
                        <a:latin typeface="Cambria Math" charset="0"/>
                      </a:rPr>
                      <m:t>,</m:t>
                    </m:r>
                  </m:oMath>
                </a14:m>
                <a:r>
                  <a:rPr lang="ru-RU" sz="2400" dirty="0"/>
                  <a:t> где отображение </a:t>
                </a:r>
                <a14:m>
                  <m:oMath xmlns:m="http://schemas.openxmlformats.org/officeDocument/2006/math">
                    <m:r>
                      <a:rPr lang="ru-RU" sz="2400" i="1">
                        <a:latin typeface="Cambria Math" charset="0"/>
                      </a:rPr>
                      <m:t>𝜑</m:t>
                    </m:r>
                  </m:oMath>
                </a14:m>
                <a:r>
                  <a:rPr lang="ru-RU" sz="2400" dirty="0"/>
                  <a:t> выбирается так, чтобы в пространстве </a:t>
                </a:r>
                <a14:m>
                  <m:oMath xmlns:m="http://schemas.openxmlformats.org/officeDocument/2006/math">
                    <m:r>
                      <a:rPr lang="ru-RU" sz="2400" i="1">
                        <a:latin typeface="Cambria Math" charset="0"/>
                      </a:rPr>
                      <m:t>𝐻</m:t>
                    </m:r>
                  </m:oMath>
                </a14:m>
                <a:r>
                  <a:rPr lang="ru-RU" sz="2400" dirty="0"/>
                  <a:t> выборка была линейно разделима. Функция </a:t>
                </a:r>
                <a:r>
                  <a:rPr lang="ru-RU" sz="2400" dirty="0" smtClean="0"/>
                  <a:t>разделяющей гиперплоскости </a:t>
                </a:r>
                <a:r>
                  <a:rPr lang="ru-RU" sz="2400" dirty="0"/>
                  <a:t>в этом случае будет выглядеть следующим образом: </a:t>
                </a:r>
              </a:p>
              <a:p>
                <a:pPr/>
                <a14:m>
                  <m:oMathPara xmlns:m="http://schemas.openxmlformats.org/officeDocument/2006/math">
                    <m:oMathParaPr>
                      <m:jc m:val="centerGroup"/>
                    </m:oMathParaPr>
                    <m:oMath xmlns:m="http://schemas.openxmlformats.org/officeDocument/2006/math">
                      <m:r>
                        <a:rPr lang="ru-RU" sz="2400" i="1">
                          <a:latin typeface="Cambria Math" charset="0"/>
                        </a:rPr>
                        <m:t>𝑓</m:t>
                      </m:r>
                      <m:d>
                        <m:dPr>
                          <m:ctrlPr>
                            <a:rPr lang="ru-RU" sz="2400" i="1">
                              <a:latin typeface="Cambria Math" charset="0"/>
                            </a:rPr>
                          </m:ctrlPr>
                        </m:dPr>
                        <m:e>
                          <m:r>
                            <a:rPr lang="ru-RU" sz="2400" i="1">
                              <a:latin typeface="Cambria Math" charset="0"/>
                            </a:rPr>
                            <m:t>𝑥</m:t>
                          </m:r>
                        </m:e>
                      </m:d>
                      <m:r>
                        <a:rPr lang="ru-RU" sz="2400" i="1">
                          <a:latin typeface="Cambria Math" charset="0"/>
                        </a:rPr>
                        <m:t> =  </m:t>
                      </m:r>
                      <m:d>
                        <m:dPr>
                          <m:ctrlPr>
                            <a:rPr lang="ru-RU" sz="2400" i="1">
                              <a:latin typeface="Cambria Math" charset="0"/>
                            </a:rPr>
                          </m:ctrlPr>
                        </m:dPr>
                        <m:e>
                          <m:r>
                            <a:rPr lang="ru-RU" sz="2400" i="1">
                              <a:latin typeface="Cambria Math" charset="0"/>
                            </a:rPr>
                            <m:t>𝑤</m:t>
                          </m:r>
                          <m:r>
                            <a:rPr lang="ru-RU" sz="2400" i="1">
                              <a:latin typeface="Cambria Math" charset="0"/>
                            </a:rPr>
                            <m:t>, </m:t>
                          </m:r>
                          <m:r>
                            <a:rPr lang="ru-RU" sz="2400" i="1">
                              <a:latin typeface="Cambria Math" charset="0"/>
                            </a:rPr>
                            <m:t>𝜑</m:t>
                          </m:r>
                          <m:r>
                            <a:rPr lang="ru-RU" sz="2400" i="1">
                              <a:latin typeface="Cambria Math" charset="0"/>
                            </a:rPr>
                            <m:t>(</m:t>
                          </m:r>
                          <m:sSub>
                            <m:sSubPr>
                              <m:ctrlPr>
                                <a:rPr lang="ru-RU" sz="2400" i="1">
                                  <a:latin typeface="Cambria Math" charset="0"/>
                                </a:rPr>
                              </m:ctrlPr>
                            </m:sSubPr>
                            <m:e>
                              <m:r>
                                <a:rPr lang="en-US" sz="2400" i="1">
                                  <a:latin typeface="Cambria Math" charset="0"/>
                                </a:rPr>
                                <m:t>𝑥</m:t>
                              </m:r>
                            </m:e>
                            <m:sub>
                              <m:r>
                                <a:rPr lang="en-US" sz="2400" i="1">
                                  <a:latin typeface="Cambria Math" charset="0"/>
                                </a:rPr>
                                <m:t>𝑖</m:t>
                              </m:r>
                            </m:sub>
                          </m:sSub>
                          <m:r>
                            <a:rPr lang="ru-RU" sz="2400" i="1">
                              <a:latin typeface="Cambria Math" charset="0"/>
                            </a:rPr>
                            <m:t>)</m:t>
                          </m:r>
                        </m:e>
                      </m:d>
                      <m:r>
                        <a:rPr lang="ru-RU" sz="2400" i="1">
                          <a:latin typeface="Cambria Math" charset="0"/>
                        </a:rPr>
                        <m:t>+</m:t>
                      </m:r>
                      <m:r>
                        <a:rPr lang="en-US" sz="2400" i="1">
                          <a:latin typeface="Cambria Math" charset="0"/>
                        </a:rPr>
                        <m:t>𝑏</m:t>
                      </m:r>
                      <m:r>
                        <a:rPr lang="ru-RU" sz="2400" i="1">
                          <a:latin typeface="Cambria Math" charset="0"/>
                        </a:rPr>
                        <m:t>=</m:t>
                      </m:r>
                      <m:d>
                        <m:dPr>
                          <m:ctrlPr>
                            <a:rPr lang="ru-RU" sz="2400" i="1">
                              <a:latin typeface="Cambria Math" charset="0"/>
                            </a:rPr>
                          </m:ctrlPr>
                        </m:dPr>
                        <m:e>
                          <m:nary>
                            <m:naryPr>
                              <m:chr m:val="∑"/>
                              <m:ctrlPr>
                                <a:rPr lang="ru-RU" sz="2400" i="1">
                                  <a:latin typeface="Cambria Math" charset="0"/>
                                </a:rPr>
                              </m:ctrlPr>
                            </m:naryPr>
                            <m:sub>
                              <m:r>
                                <a:rPr lang="is-IS" sz="2400" i="1">
                                  <a:latin typeface="Cambria Math" charset="0"/>
                                </a:rPr>
                                <m:t>𝑖</m:t>
                              </m:r>
                              <m:r>
                                <a:rPr lang="is-IS" sz="2400" i="1">
                                  <a:latin typeface="Cambria Math" charset="0"/>
                                </a:rPr>
                                <m:t>=1</m:t>
                              </m:r>
                            </m:sub>
                            <m:sup>
                              <m:r>
                                <a:rPr lang="is-IS" sz="2400" i="1">
                                  <a:latin typeface="Cambria Math" charset="0"/>
                                </a:rPr>
                                <m:t>𝑀</m:t>
                              </m:r>
                            </m:sup>
                            <m:e>
                              <m:sSub>
                                <m:sSubPr>
                                  <m:ctrlPr>
                                    <a:rPr lang="ru-RU" sz="2400" i="1">
                                      <a:latin typeface="Cambria Math" charset="0"/>
                                    </a:rPr>
                                  </m:ctrlPr>
                                </m:sSubPr>
                                <m:e>
                                  <m:r>
                                    <a:rPr lang="is-IS" sz="2400" i="1">
                                      <a:latin typeface="Cambria Math" charset="0"/>
                                    </a:rPr>
                                    <m:t>𝜆</m:t>
                                  </m:r>
                                </m:e>
                                <m:sub>
                                  <m:r>
                                    <a:rPr lang="is-IS" sz="2400" i="1">
                                      <a:latin typeface="Cambria Math" charset="0"/>
                                    </a:rPr>
                                    <m:t>𝑖</m:t>
                                  </m:r>
                                </m:sub>
                              </m:sSub>
                              <m:sSub>
                                <m:sSubPr>
                                  <m:ctrlPr>
                                    <a:rPr lang="ru-RU" sz="2400" i="1">
                                      <a:latin typeface="Cambria Math" charset="0"/>
                                    </a:rPr>
                                  </m:ctrlPr>
                                </m:sSubPr>
                                <m:e>
                                  <m:r>
                                    <a:rPr lang="is-IS" sz="2400" i="1">
                                      <a:latin typeface="Cambria Math" charset="0"/>
                                    </a:rPr>
                                    <m:t>𝑦</m:t>
                                  </m:r>
                                </m:e>
                                <m:sub>
                                  <m:r>
                                    <a:rPr lang="is-IS" sz="2400" i="1">
                                      <a:latin typeface="Cambria Math" charset="0"/>
                                    </a:rPr>
                                    <m:t>𝑖</m:t>
                                  </m:r>
                                </m:sub>
                              </m:sSub>
                              <m:sSup>
                                <m:sSupPr>
                                  <m:ctrlPr>
                                    <a:rPr lang="is-IS" sz="2400" i="1" smtClean="0">
                                      <a:latin typeface="Cambria Math" charset="0"/>
                                    </a:rPr>
                                  </m:ctrlPr>
                                </m:sSupPr>
                                <m:e>
                                  <m:r>
                                    <a:rPr lang="ru-RU" sz="2400" i="1">
                                      <a:latin typeface="Cambria Math" charset="0"/>
                                    </a:rPr>
                                    <m:t>𝜑</m:t>
                                  </m:r>
                                  <m:r>
                                    <a:rPr lang="ru-RU" sz="2400" i="1">
                                      <a:latin typeface="Cambria Math" charset="0"/>
                                    </a:rPr>
                                    <m:t>(</m:t>
                                  </m:r>
                                  <m:sSub>
                                    <m:sSubPr>
                                      <m:ctrlPr>
                                        <a:rPr lang="ru-RU" sz="2400" i="1">
                                          <a:latin typeface="Cambria Math" charset="0"/>
                                        </a:rPr>
                                      </m:ctrlPr>
                                    </m:sSubPr>
                                    <m:e>
                                      <m:r>
                                        <a:rPr lang="en-US" sz="2400" i="1">
                                          <a:latin typeface="Cambria Math" charset="0"/>
                                        </a:rPr>
                                        <m:t>𝑥</m:t>
                                      </m:r>
                                    </m:e>
                                    <m:sub>
                                      <m:r>
                                        <a:rPr lang="en-US" sz="2400" i="1">
                                          <a:latin typeface="Cambria Math" charset="0"/>
                                        </a:rPr>
                                        <m:t>𝑖</m:t>
                                      </m:r>
                                    </m:sub>
                                  </m:sSub>
                                  <m:r>
                                    <a:rPr lang="ru-RU" sz="2400" i="1">
                                      <a:latin typeface="Cambria Math" charset="0"/>
                                    </a:rPr>
                                    <m:t>)</m:t>
                                  </m:r>
                                </m:e>
                                <m:sup>
                                  <m:r>
                                    <a:rPr lang="en-US" sz="2400" b="0" i="1" smtClean="0">
                                      <a:latin typeface="Cambria Math" charset="0"/>
                                    </a:rPr>
                                    <m:t>𝑇</m:t>
                                  </m:r>
                                </m:sup>
                              </m:sSup>
                            </m:e>
                          </m:nary>
                          <m:r>
                            <a:rPr lang="ru-RU" sz="2400" i="1">
                              <a:latin typeface="Cambria Math" charset="0"/>
                            </a:rPr>
                            <m:t>𝜑</m:t>
                          </m:r>
                          <m:r>
                            <a:rPr lang="ru-RU" sz="2400" i="1">
                              <a:latin typeface="Cambria Math" charset="0"/>
                            </a:rPr>
                            <m:t>(</m:t>
                          </m:r>
                          <m:sSub>
                            <m:sSubPr>
                              <m:ctrlPr>
                                <a:rPr lang="ru-RU" sz="2400" i="1">
                                  <a:latin typeface="Cambria Math" charset="0"/>
                                </a:rPr>
                              </m:ctrlPr>
                            </m:sSubPr>
                            <m:e>
                              <m:r>
                                <a:rPr lang="en-US" sz="2400" i="1">
                                  <a:latin typeface="Cambria Math" charset="0"/>
                                </a:rPr>
                                <m:t>𝑥</m:t>
                              </m:r>
                            </m:e>
                            <m:sub>
                              <m:r>
                                <a:rPr lang="en-US" sz="2400" b="0" i="1" smtClean="0">
                                  <a:latin typeface="Cambria Math" charset="0"/>
                                </a:rPr>
                                <m:t>𝑗</m:t>
                              </m:r>
                            </m:sub>
                          </m:sSub>
                          <m:r>
                            <a:rPr lang="ru-RU" sz="2400" i="1">
                              <a:latin typeface="Cambria Math" charset="0"/>
                            </a:rPr>
                            <m:t>)</m:t>
                          </m:r>
                        </m:e>
                      </m:d>
                      <m:r>
                        <a:rPr lang="ru-RU" sz="2400" i="1">
                          <a:latin typeface="Cambria Math" charset="0"/>
                        </a:rPr>
                        <m:t>+</m:t>
                      </m:r>
                      <m:r>
                        <a:rPr lang="en-US" sz="2400" i="1">
                          <a:latin typeface="Cambria Math" charset="0"/>
                        </a:rPr>
                        <m:t>𝑏</m:t>
                      </m:r>
                      <m:r>
                        <a:rPr lang="ru-RU" sz="2400" i="1">
                          <a:latin typeface="Cambria Math" charset="0"/>
                        </a:rPr>
                        <m:t>, </m:t>
                      </m:r>
                    </m:oMath>
                  </m:oMathPara>
                </a14:m>
                <a:endParaRPr lang="ru-RU" sz="2400" dirty="0"/>
              </a:p>
              <a:p>
                <a:r>
                  <a:rPr lang="ru-RU" sz="2400" dirty="0"/>
                  <a:t>где </a:t>
                </a:r>
                <a14:m>
                  <m:oMath xmlns:m="http://schemas.openxmlformats.org/officeDocument/2006/math">
                    <m:r>
                      <a:rPr lang="ru-RU" sz="2400" i="1">
                        <a:latin typeface="Cambria Math" charset="0"/>
                      </a:rPr>
                      <m:t>𝑘</m:t>
                    </m:r>
                    <m:d>
                      <m:dPr>
                        <m:ctrlPr>
                          <a:rPr lang="ru-RU" sz="2400" i="1">
                            <a:latin typeface="Cambria Math" charset="0"/>
                          </a:rPr>
                        </m:ctrlPr>
                      </m:dPr>
                      <m:e>
                        <m:r>
                          <a:rPr lang="ru-RU" sz="2400" i="1">
                            <a:latin typeface="Cambria Math" charset="0"/>
                          </a:rPr>
                          <m:t>𝑥</m:t>
                        </m:r>
                        <m:r>
                          <a:rPr lang="ru-RU" sz="2400" i="1">
                            <a:latin typeface="Cambria Math" charset="0"/>
                          </a:rPr>
                          <m:t>,</m:t>
                        </m:r>
                        <m:r>
                          <a:rPr lang="en-US" sz="2400" i="1">
                            <a:latin typeface="Cambria Math" charset="0"/>
                          </a:rPr>
                          <m:t>𝑥</m:t>
                        </m:r>
                        <m:r>
                          <a:rPr lang="ru-RU" sz="2400" i="1">
                            <a:latin typeface="Cambria Math" charset="0"/>
                          </a:rPr>
                          <m:t>′</m:t>
                        </m:r>
                      </m:e>
                    </m:d>
                    <m:r>
                      <a:rPr lang="ru-RU" sz="2400" i="1">
                        <a:latin typeface="Cambria Math" charset="0"/>
                      </a:rPr>
                      <m:t>=</m:t>
                    </m:r>
                    <m:sSup>
                      <m:sSupPr>
                        <m:ctrlPr>
                          <a:rPr lang="ru-RU" sz="2400" i="1">
                            <a:latin typeface="Cambria Math" charset="0"/>
                          </a:rPr>
                        </m:ctrlPr>
                      </m:sSupPr>
                      <m:e>
                        <m:r>
                          <a:rPr lang="ru-RU" sz="2400" i="1">
                            <a:latin typeface="Cambria Math" charset="0"/>
                          </a:rPr>
                          <m:t>𝜑</m:t>
                        </m:r>
                        <m:r>
                          <a:rPr lang="ru-RU" sz="2400" i="1">
                            <a:latin typeface="Cambria Math" charset="0"/>
                          </a:rPr>
                          <m:t>(</m:t>
                        </m:r>
                        <m:r>
                          <a:rPr lang="en-US" sz="2400" i="1">
                            <a:latin typeface="Cambria Math" charset="0"/>
                          </a:rPr>
                          <m:t>𝑥</m:t>
                        </m:r>
                        <m:r>
                          <a:rPr lang="ru-RU" sz="2400" i="1">
                            <a:latin typeface="Cambria Math" charset="0"/>
                          </a:rPr>
                          <m:t>)</m:t>
                        </m:r>
                      </m:e>
                      <m:sup>
                        <m:r>
                          <a:rPr lang="en-US" sz="2400" i="1">
                            <a:latin typeface="Cambria Math" charset="0"/>
                          </a:rPr>
                          <m:t>𝑇</m:t>
                        </m:r>
                      </m:sup>
                    </m:sSup>
                    <m:r>
                      <a:rPr lang="ru-RU" sz="2400" i="1">
                        <a:latin typeface="Cambria Math" charset="0"/>
                      </a:rPr>
                      <m:t>𝜑</m:t>
                    </m:r>
                    <m:r>
                      <a:rPr lang="ru-RU" sz="2400" i="1">
                        <a:latin typeface="Cambria Math" charset="0"/>
                      </a:rPr>
                      <m:t>(</m:t>
                    </m:r>
                    <m:r>
                      <a:rPr lang="ru-RU" sz="2400" i="1">
                        <a:latin typeface="Cambria Math" charset="0"/>
                      </a:rPr>
                      <m:t>𝑥</m:t>
                    </m:r>
                    <m:r>
                      <a:rPr lang="ru-RU" sz="2400" i="1">
                        <a:latin typeface="Cambria Math" charset="0"/>
                      </a:rPr>
                      <m:t>′)=</m:t>
                    </m:r>
                    <m:d>
                      <m:dPr>
                        <m:begChr m:val="〈"/>
                        <m:endChr m:val="〉"/>
                        <m:ctrlPr>
                          <a:rPr lang="ru-RU" sz="2400" i="1">
                            <a:latin typeface="Cambria Math" charset="0"/>
                          </a:rPr>
                        </m:ctrlPr>
                      </m:dPr>
                      <m:e>
                        <m:r>
                          <a:rPr lang="ru-RU" sz="2400" i="1">
                            <a:latin typeface="Cambria Math" charset="0"/>
                          </a:rPr>
                          <m:t>𝜑</m:t>
                        </m:r>
                        <m:r>
                          <a:rPr lang="ru-RU" sz="2400" i="1">
                            <a:latin typeface="Cambria Math" charset="0"/>
                          </a:rPr>
                          <m:t>(</m:t>
                        </m:r>
                        <m:r>
                          <a:rPr lang="en-US" sz="2400" i="1">
                            <a:latin typeface="Cambria Math" charset="0"/>
                          </a:rPr>
                          <m:t>𝑥</m:t>
                        </m:r>
                        <m:r>
                          <a:rPr lang="ru-RU" sz="2400" i="1">
                            <a:latin typeface="Cambria Math" charset="0"/>
                          </a:rPr>
                          <m:t>),</m:t>
                        </m:r>
                        <m:r>
                          <a:rPr lang="ru-RU" sz="2400" i="1">
                            <a:latin typeface="Cambria Math" charset="0"/>
                          </a:rPr>
                          <m:t>𝜑</m:t>
                        </m:r>
                        <m:r>
                          <a:rPr lang="ru-RU" sz="2400" i="1">
                            <a:latin typeface="Cambria Math" charset="0"/>
                          </a:rPr>
                          <m:t>(</m:t>
                        </m:r>
                        <m:r>
                          <a:rPr lang="ru-RU" sz="2400" i="1">
                            <a:latin typeface="Cambria Math" charset="0"/>
                          </a:rPr>
                          <m:t>𝑥</m:t>
                        </m:r>
                        <m:r>
                          <a:rPr lang="ru-RU" sz="2400" i="1">
                            <a:latin typeface="Cambria Math" charset="0"/>
                          </a:rPr>
                          <m:t>′)</m:t>
                        </m:r>
                      </m:e>
                    </m:d>
                    <m:r>
                      <a:rPr lang="ru-RU" sz="2400" i="1">
                        <a:latin typeface="Cambria Math" charset="0"/>
                      </a:rPr>
                      <m:t>−</m:t>
                    </m:r>
                  </m:oMath>
                </a14:m>
                <a:r>
                  <a:rPr lang="ru-RU" sz="2400" dirty="0"/>
                  <a:t>  </a:t>
                </a:r>
                <a:r>
                  <a:rPr lang="ru-RU" sz="2400" i="1" dirty="0"/>
                  <a:t>ядро</a:t>
                </a:r>
                <a:r>
                  <a:rPr lang="ru-RU" sz="2400" dirty="0"/>
                  <a:t> классификатора.  </a:t>
                </a:r>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570383" y="548993"/>
                <a:ext cx="10621617" cy="2984728"/>
              </a:xfrm>
              <a:prstGeom prst="rect">
                <a:avLst/>
              </a:prstGeom>
              <a:blipFill rotWithShape="0">
                <a:blip r:embed="rId3"/>
                <a:stretch>
                  <a:fillRect l="-918" t="-1633" r="-861" b="-3673"/>
                </a:stretch>
              </a:blipFill>
            </p:spPr>
            <p:txBody>
              <a:bodyPr/>
              <a:lstStyle/>
              <a:p>
                <a:r>
                  <a:rPr lang="ru-RU">
                    <a:noFill/>
                  </a:rPr>
                  <a:t> </a:t>
                </a:r>
              </a:p>
            </p:txBody>
          </p:sp>
        </mc:Fallback>
      </mc:AlternateContent>
      <p:sp>
        <p:nvSpPr>
          <p:cNvPr id="6" name="AutoShape 2" descr="\displaystyle a(x)=sign\left(\sum _{i=1}^{n}\mathbf {\lambda _{i}} c_{i}\mathbf {x_{i}} \cdot \mathbf {x} -b\right)(4)}"/>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3" descr="\displaystyle \mathbf {\lambda _{i}} \neq 0}"/>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5" name="Прямоугольник 4"/>
          <p:cNvSpPr/>
          <p:nvPr/>
        </p:nvSpPr>
        <p:spPr>
          <a:xfrm>
            <a:off x="8184767" y="6433269"/>
            <a:ext cx="4171335" cy="461665"/>
          </a:xfrm>
          <a:prstGeom prst="rect">
            <a:avLst/>
          </a:prstGeom>
        </p:spPr>
        <p:txBody>
          <a:bodyPr wrap="none">
            <a:spAutoFit/>
          </a:bodyPr>
          <a:lstStyle/>
          <a:p>
            <a:pPr algn="ctr">
              <a:lnSpc>
                <a:spcPct val="120000"/>
              </a:lnSpc>
              <a:spcAft>
                <a:spcPts val="0"/>
              </a:spcAft>
            </a:pPr>
            <a:r>
              <a:rPr lang="ru-RU" sz="2000" i="1" dirty="0">
                <a:latin typeface="Times" charset="0"/>
                <a:ea typeface="Calibri" charset="0"/>
                <a:cs typeface="Times New Roman" charset="0"/>
              </a:rPr>
              <a:t>Рис</a:t>
            </a:r>
            <a:r>
              <a:rPr lang="ru-RU" sz="2000" i="1">
                <a:latin typeface="Times" charset="0"/>
                <a:ea typeface="Calibri" charset="0"/>
                <a:cs typeface="Times New Roman" charset="0"/>
              </a:rPr>
              <a:t>. </a:t>
            </a:r>
            <a:r>
              <a:rPr lang="ru-RU" sz="2000" i="1" dirty="0" smtClean="0">
                <a:solidFill>
                  <a:srgbClr val="2C2D2E"/>
                </a:solidFill>
                <a:latin typeface="Times" charset="0"/>
                <a:ea typeface="Calibri" charset="0"/>
                <a:cs typeface="Times New Roman" charset="0"/>
              </a:rPr>
              <a:t>Линейно </a:t>
            </a:r>
            <a:r>
              <a:rPr lang="ru-RU" sz="2000" i="1" dirty="0">
                <a:solidFill>
                  <a:srgbClr val="2C2D2E"/>
                </a:solidFill>
                <a:latin typeface="Times" charset="0"/>
                <a:ea typeface="Calibri" charset="0"/>
                <a:cs typeface="Times New Roman" charset="0"/>
              </a:rPr>
              <a:t>неразделимые классы</a:t>
            </a:r>
            <a:r>
              <a:rPr lang="ru-RU" sz="2000" dirty="0">
                <a:latin typeface="Times" charset="0"/>
                <a:ea typeface="Calibri" charset="0"/>
                <a:cs typeface="Times New Roman" charset="0"/>
              </a:rPr>
              <a:t> </a:t>
            </a:r>
            <a:endParaRPr lang="ru-RU" dirty="0">
              <a:effectLst/>
              <a:latin typeface="Calibri" charset="0"/>
              <a:ea typeface="Calibri" charset="0"/>
              <a:cs typeface="Times New Roman" charset="0"/>
            </a:endParaRPr>
          </a:p>
        </p:txBody>
      </p:sp>
    </p:spTree>
    <p:extLst>
      <p:ext uri="{BB962C8B-B14F-4D97-AF65-F5344CB8AC3E}">
        <p14:creationId xmlns:p14="http://schemas.microsoft.com/office/powerpoint/2010/main" val="100464617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Метод опорных векторов </a:t>
            </a:r>
          </a:p>
        </p:txBody>
      </p:sp>
      <p:sp>
        <p:nvSpPr>
          <p:cNvPr id="2"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sp>
        <p:nvSpPr>
          <p:cNvPr id="6" name="AutoShape 2" descr="\displaystyle a(x)=sign\left(\sum _{i=1}^{n}\mathbf {\lambda _{i}} c_{i}\mathbf {x_{i}} \cdot \mathbf {x} -b\right)(4)}"/>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p:sp>
        <p:nvSpPr>
          <p:cNvPr id="8" name="AutoShape 3" descr="\displaystyle \mathbf {\lambda _{i}} \neq 0}"/>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ru-RU"/>
          </a:p>
        </p:txBody>
      </p:sp>
      <mc:AlternateContent xmlns:mc="http://schemas.openxmlformats.org/markup-compatibility/2006" xmlns:a14="http://schemas.microsoft.com/office/drawing/2010/main">
        <mc:Choice Requires="a14">
          <p:graphicFrame>
            <p:nvGraphicFramePr>
              <p:cNvPr id="4" name="Таблица 3"/>
              <p:cNvGraphicFramePr>
                <a:graphicFrameLocks noGrp="1"/>
              </p:cNvGraphicFramePr>
              <p:nvPr>
                <p:extLst>
                  <p:ext uri="{D42A27DB-BD31-4B8C-83A1-F6EECF244321}">
                    <p14:modId xmlns:p14="http://schemas.microsoft.com/office/powerpoint/2010/main" val="1040789247"/>
                  </p:ext>
                </p:extLst>
              </p:nvPr>
            </p:nvGraphicFramePr>
            <p:xfrm>
              <a:off x="1156252" y="1953454"/>
              <a:ext cx="10810460" cy="2262505"/>
            </p:xfrm>
            <a:graphic>
              <a:graphicData uri="http://schemas.openxmlformats.org/drawingml/2006/table">
                <a:tbl>
                  <a:tblPr firstRow="1" firstCol="1" bandRow="1"/>
                  <a:tblGrid>
                    <a:gridCol w="4489174"/>
                    <a:gridCol w="6321286"/>
                  </a:tblGrid>
                  <a:tr h="0">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Полиномиальное</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0000"/>
                            </a:lnSpc>
                            <a:spcAft>
                              <a:spcPts val="0"/>
                            </a:spcAft>
                          </a:pPr>
                          <a14:m>
                            <m:oMathPara xmlns:m="http://schemas.openxmlformats.org/officeDocument/2006/math">
                              <m:oMathParaPr>
                                <m:jc m:val="centerGroup"/>
                              </m:oMathParaPr>
                              <m:oMath xmlns:m="http://schemas.openxmlformats.org/officeDocument/2006/math">
                                <m:r>
                                  <a:rPr lang="ru-RU" sz="2400" i="1">
                                    <a:effectLst/>
                                    <a:latin typeface="Cambria Math" charset="0"/>
                                    <a:ea typeface="Calibri" charset="0"/>
                                    <a:cs typeface="Times New Roman" charset="0"/>
                                  </a:rPr>
                                  <m:t>𝑘</m:t>
                                </m:r>
                                <m:d>
                                  <m:dPr>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e>
                                </m:d>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d>
                                      <m:dPr>
                                        <m:begChr m:val="〈"/>
                                        <m:endChr m:val="〉"/>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en-US" sz="2400" i="1">
                                                <a:effectLst/>
                                                <a:latin typeface="Cambria Math" charset="0"/>
                                                <a:ea typeface="Calibri" charset="0"/>
                                                <a:cs typeface="Times New Roman" charset="0"/>
                                              </a:rPr>
                                              <m:t>𝑥</m:t>
                                            </m:r>
                                          </m:e>
                                          <m:sup>
                                            <m:r>
                                              <a:rPr lang="ru-RU" sz="2400" i="1">
                                                <a:effectLst/>
                                                <a:latin typeface="Cambria Math" charset="0"/>
                                                <a:ea typeface="Calibri" charset="0"/>
                                                <a:cs typeface="Times New Roman" charset="0"/>
                                              </a:rPr>
                                              <m:t>′</m:t>
                                            </m:r>
                                          </m:sup>
                                        </m:sSup>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𝑐𝑜𝑛𝑠𝑡</m:t>
                                        </m:r>
                                      </m:e>
                                    </m:d>
                                  </m:e>
                                  <m:sup>
                                    <m:r>
                                      <a:rPr lang="ru-RU" sz="2400" i="1">
                                        <a:effectLst/>
                                        <a:latin typeface="Cambria Math" charset="0"/>
                                        <a:ea typeface="Calibri" charset="0"/>
                                        <a:cs typeface="Times New Roman" charset="0"/>
                                      </a:rPr>
                                      <m:t>𝑑</m:t>
                                    </m:r>
                                  </m:sup>
                                </m:sSup>
                              </m:oMath>
                            </m:oMathPara>
                          </a14:m>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Радиально-базисная функция</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0000"/>
                            </a:lnSpc>
                            <a:spcAft>
                              <a:spcPts val="0"/>
                            </a:spcAft>
                          </a:pPr>
                          <a14:m>
                            <m:oMathPara xmlns:m="http://schemas.openxmlformats.org/officeDocument/2006/math">
                              <m:oMathParaPr>
                                <m:jc m:val="centerGroup"/>
                              </m:oMathParaPr>
                              <m:oMath xmlns:m="http://schemas.openxmlformats.org/officeDocument/2006/math">
                                <m:r>
                                  <a:rPr lang="ru-RU" sz="2400" i="1">
                                    <a:effectLst/>
                                    <a:latin typeface="Cambria Math" charset="0"/>
                                    <a:ea typeface="Calibri" charset="0"/>
                                    <a:cs typeface="Times New Roman" charset="0"/>
                                  </a:rPr>
                                  <m:t>𝑘</m:t>
                                </m:r>
                                <m:d>
                                  <m:dPr>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𝑥</m:t>
                                        </m:r>
                                      </m:e>
                                      <m:sup>
                                        <m:r>
                                          <a:rPr lang="ru-RU" sz="2400" i="1">
                                            <a:effectLst/>
                                            <a:latin typeface="Cambria Math" charset="0"/>
                                            <a:ea typeface="Calibri" charset="0"/>
                                            <a:cs typeface="Times New Roman" charset="0"/>
                                          </a:rPr>
                                          <m:t>′</m:t>
                                        </m:r>
                                      </m:sup>
                                    </m:sSup>
                                  </m:e>
                                </m:d>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𝑒</m:t>
                                    </m:r>
                                  </m:e>
                                  <m:sup>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𝛾</m:t>
                                    </m:r>
                                    <m:sSup>
                                      <m:sSupPr>
                                        <m:ctrlPr>
                                          <a:rPr lang="ru-RU" sz="2400" i="1">
                                            <a:effectLst/>
                                            <a:latin typeface="Cambria Math" charset="0"/>
                                            <a:ea typeface="Calibri" charset="0"/>
                                            <a:cs typeface="Times New Roman" charset="0"/>
                                          </a:rPr>
                                        </m:ctrlPr>
                                      </m:sSupPr>
                                      <m:e>
                                        <m:d>
                                          <m:dPr>
                                            <m:begChr m:val="‖"/>
                                            <m:endChr m:val="‖"/>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e>
                                        </m:d>
                                      </m:e>
                                      <m:sup>
                                        <m:r>
                                          <a:rPr lang="ru-RU" sz="2400" i="1">
                                            <a:effectLst/>
                                            <a:latin typeface="Cambria Math" charset="0"/>
                                            <a:ea typeface="Calibri" charset="0"/>
                                            <a:cs typeface="Times New Roman" charset="0"/>
                                          </a:rPr>
                                          <m:t>2</m:t>
                                        </m:r>
                                      </m:sup>
                                    </m:sSup>
                                  </m:sup>
                                </m:sSup>
                                <m:r>
                                  <a:rPr lang="ru-RU" sz="2400" i="1">
                                    <a:effectLst/>
                                    <a:latin typeface="Cambria Math" charset="0"/>
                                    <a:ea typeface="Calibri" charset="0"/>
                                    <a:cs typeface="Times New Roman" charset="0"/>
                                  </a:rPr>
                                  <m:t>, </m:t>
                                </m:r>
                                <m:r>
                                  <a:rPr lang="ru-RU" sz="2400" i="1">
                                    <a:effectLst/>
                                    <a:latin typeface="Cambria Math" charset="0"/>
                                    <a:ea typeface="Calibri" charset="0"/>
                                    <a:cs typeface="Times New Roman" charset="0"/>
                                  </a:rPr>
                                  <m:t>𝛾</m:t>
                                </m:r>
                                <m:r>
                                  <a:rPr lang="ru-RU" sz="2400" i="1">
                                    <a:effectLst/>
                                    <a:latin typeface="Cambria Math" charset="0"/>
                                    <a:ea typeface="Calibri" charset="0"/>
                                    <a:cs typeface="Times New Roman" charset="0"/>
                                  </a:rPr>
                                  <m:t>&gt;0</m:t>
                                </m:r>
                              </m:oMath>
                            </m:oMathPara>
                          </a14:m>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Гауссова радиальная базисная функция</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0000"/>
                            </a:lnSpc>
                            <a:spcAft>
                              <a:spcPts val="0"/>
                            </a:spcAft>
                          </a:pPr>
                          <a14:m>
                            <m:oMathPara xmlns:m="http://schemas.openxmlformats.org/officeDocument/2006/math">
                              <m:oMathParaPr>
                                <m:jc m:val="centerGroup"/>
                              </m:oMathParaPr>
                              <m:oMath xmlns:m="http://schemas.openxmlformats.org/officeDocument/2006/math">
                                <m:r>
                                  <a:rPr lang="ru-RU" sz="2400" i="1">
                                    <a:effectLst/>
                                    <a:latin typeface="Cambria Math" charset="0"/>
                                    <a:ea typeface="Calibri" charset="0"/>
                                    <a:cs typeface="Times New Roman" charset="0"/>
                                  </a:rPr>
                                  <m:t>𝑘</m:t>
                                </m:r>
                                <m:d>
                                  <m:dPr>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𝑥</m:t>
                                        </m:r>
                                      </m:e>
                                      <m:sup>
                                        <m:r>
                                          <a:rPr lang="ru-RU" sz="2400" i="1">
                                            <a:effectLst/>
                                            <a:latin typeface="Cambria Math" charset="0"/>
                                            <a:ea typeface="Calibri" charset="0"/>
                                            <a:cs typeface="Times New Roman" charset="0"/>
                                          </a:rPr>
                                          <m:t>′</m:t>
                                        </m:r>
                                      </m:sup>
                                    </m:sSup>
                                  </m:e>
                                </m:d>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𝑒</m:t>
                                    </m:r>
                                  </m:e>
                                  <m:sup>
                                    <m:r>
                                      <a:rPr lang="ru-RU" sz="2400" i="1">
                                        <a:effectLst/>
                                        <a:latin typeface="Cambria Math" charset="0"/>
                                        <a:ea typeface="Calibri" charset="0"/>
                                        <a:cs typeface="Times New Roman" charset="0"/>
                                      </a:rPr>
                                      <m:t>−</m:t>
                                    </m:r>
                                    <m:f>
                                      <m:fPr>
                                        <m:ctrlPr>
                                          <a:rPr lang="ru-RU" sz="2400" i="1">
                                            <a:effectLst/>
                                            <a:latin typeface="Cambria Math" charset="0"/>
                                            <a:ea typeface="Calibri" charset="0"/>
                                            <a:cs typeface="Times New Roman" charset="0"/>
                                          </a:rPr>
                                        </m:ctrlPr>
                                      </m:fPr>
                                      <m:num>
                                        <m:sSup>
                                          <m:sSupPr>
                                            <m:ctrlPr>
                                              <a:rPr lang="ru-RU" sz="2400" i="1">
                                                <a:effectLst/>
                                                <a:latin typeface="Cambria Math" charset="0"/>
                                                <a:ea typeface="Calibri" charset="0"/>
                                                <a:cs typeface="Times New Roman" charset="0"/>
                                              </a:rPr>
                                            </m:ctrlPr>
                                          </m:sSupPr>
                                          <m:e>
                                            <m:d>
                                              <m:dPr>
                                                <m:begChr m:val="‖"/>
                                                <m:endChr m:val="‖"/>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e>
                                            </m:d>
                                          </m:e>
                                          <m:sup>
                                            <m:r>
                                              <a:rPr lang="ru-RU" sz="2400" i="1">
                                                <a:effectLst/>
                                                <a:latin typeface="Cambria Math" charset="0"/>
                                                <a:ea typeface="Calibri" charset="0"/>
                                                <a:cs typeface="Times New Roman" charset="0"/>
                                              </a:rPr>
                                              <m:t>2</m:t>
                                            </m:r>
                                          </m:sup>
                                        </m:sSup>
                                      </m:num>
                                      <m:den>
                                        <m:r>
                                          <a:rPr lang="ru-RU" sz="2400" i="1">
                                            <a:effectLst/>
                                            <a:latin typeface="Cambria Math" charset="0"/>
                                            <a:ea typeface="Calibri" charset="0"/>
                                            <a:cs typeface="Times New Roman" charset="0"/>
                                          </a:rPr>
                                          <m:t>2</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𝜎</m:t>
                                            </m:r>
                                          </m:e>
                                          <m:sup>
                                            <m:r>
                                              <a:rPr lang="ru-RU" sz="2400" i="1">
                                                <a:effectLst/>
                                                <a:latin typeface="Cambria Math" charset="0"/>
                                                <a:ea typeface="Calibri" charset="0"/>
                                                <a:cs typeface="Times New Roman" charset="0"/>
                                              </a:rPr>
                                              <m:t>2</m:t>
                                            </m:r>
                                          </m:sup>
                                        </m:sSup>
                                      </m:den>
                                    </m:f>
                                  </m:sup>
                                </m:sSup>
                              </m:oMath>
                            </m:oMathPara>
                          </a14:m>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Сигмоид</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ct val="120000"/>
                            </a:lnSpc>
                            <a:spcAft>
                              <a:spcPts val="0"/>
                            </a:spcAft>
                          </a:pPr>
                          <a14:m>
                            <m:oMathPara xmlns:m="http://schemas.openxmlformats.org/officeDocument/2006/math">
                              <m:oMathParaPr>
                                <m:jc m:val="centerGroup"/>
                              </m:oMathParaPr>
                              <m:oMath xmlns:m="http://schemas.openxmlformats.org/officeDocument/2006/math">
                                <m:r>
                                  <a:rPr lang="ru-RU" sz="2400" i="1">
                                    <a:effectLst/>
                                    <a:latin typeface="Cambria Math" charset="0"/>
                                    <a:ea typeface="Calibri" charset="0"/>
                                    <a:cs typeface="Times New Roman" charset="0"/>
                                  </a:rPr>
                                  <m:t>𝑘</m:t>
                                </m:r>
                                <m:d>
                                  <m:dPr>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𝑥</m:t>
                                        </m:r>
                                      </m:e>
                                      <m:sup>
                                        <m:r>
                                          <a:rPr lang="ru-RU" sz="2400" i="1">
                                            <a:effectLst/>
                                            <a:latin typeface="Cambria Math" charset="0"/>
                                            <a:ea typeface="Calibri" charset="0"/>
                                            <a:cs typeface="Times New Roman" charset="0"/>
                                          </a:rPr>
                                          <m:t>′</m:t>
                                        </m:r>
                                      </m:sup>
                                    </m:sSup>
                                  </m:e>
                                </m:d>
                                <m:r>
                                  <a:rPr lang="ru-RU" sz="2400" i="1">
                                    <a:effectLst/>
                                    <a:latin typeface="Cambria Math" charset="0"/>
                                    <a:ea typeface="Calibri" charset="0"/>
                                    <a:cs typeface="Times New Roman" charset="0"/>
                                  </a:rPr>
                                  <m:t>=</m:t>
                                </m:r>
                                <m:func>
                                  <m:funcPr>
                                    <m:ctrlPr>
                                      <a:rPr lang="ru-RU" sz="2400" i="1">
                                        <a:effectLst/>
                                        <a:latin typeface="Cambria Math" charset="0"/>
                                        <a:ea typeface="Calibri" charset="0"/>
                                        <a:cs typeface="Times New Roman" charset="0"/>
                                      </a:rPr>
                                    </m:ctrlPr>
                                  </m:funcPr>
                                  <m:fName>
                                    <m:r>
                                      <m:rPr>
                                        <m:sty m:val="p"/>
                                      </m:rPr>
                                      <a:rPr lang="ru-RU" sz="2400">
                                        <a:effectLst/>
                                        <a:latin typeface="Cambria Math" charset="0"/>
                                        <a:ea typeface="Calibri" charset="0"/>
                                        <a:cs typeface="Times New Roman" charset="0"/>
                                      </a:rPr>
                                      <m:t>tanh</m:t>
                                    </m:r>
                                  </m:fName>
                                  <m:e>
                                    <m:d>
                                      <m:dPr>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𝑘</m:t>
                                        </m:r>
                                        <m:d>
                                          <m:dPr>
                                            <m:begChr m:val="〈"/>
                                            <m:endChr m:val="〉"/>
                                            <m:ctrlPr>
                                              <a:rPr lang="ru-RU" sz="2400" i="1">
                                                <a:effectLst/>
                                                <a:latin typeface="Cambria Math" charset="0"/>
                                                <a:ea typeface="Calibri" charset="0"/>
                                                <a:cs typeface="Times New Roman" charset="0"/>
                                              </a:rPr>
                                            </m:ctrlPr>
                                          </m:dPr>
                                          <m:e>
                                            <m:r>
                                              <a:rPr lang="ru-RU" sz="2400" i="1">
                                                <a:effectLst/>
                                                <a:latin typeface="Cambria Math" charset="0"/>
                                                <a:ea typeface="Calibri" charset="0"/>
                                                <a:cs typeface="Times New Roman" charset="0"/>
                                              </a:rPr>
                                              <m:t>𝑥</m:t>
                                            </m:r>
                                            <m:r>
                                              <a:rPr lang="ru-RU" sz="2400" i="1">
                                                <a:effectLst/>
                                                <a:latin typeface="Cambria Math" charset="0"/>
                                                <a:ea typeface="Calibri" charset="0"/>
                                                <a:cs typeface="Times New Roman" charset="0"/>
                                              </a:rPr>
                                              <m:t>,</m:t>
                                            </m:r>
                                            <m:sSup>
                                              <m:sSupPr>
                                                <m:ctrlPr>
                                                  <a:rPr lang="ru-RU" sz="2400" i="1">
                                                    <a:effectLst/>
                                                    <a:latin typeface="Cambria Math" charset="0"/>
                                                    <a:ea typeface="Calibri" charset="0"/>
                                                    <a:cs typeface="Times New Roman" charset="0"/>
                                                  </a:rPr>
                                                </m:ctrlPr>
                                              </m:sSupPr>
                                              <m:e>
                                                <m:r>
                                                  <a:rPr lang="ru-RU" sz="2400" i="1">
                                                    <a:effectLst/>
                                                    <a:latin typeface="Cambria Math" charset="0"/>
                                                    <a:ea typeface="Calibri" charset="0"/>
                                                    <a:cs typeface="Times New Roman" charset="0"/>
                                                  </a:rPr>
                                                  <m:t>𝑥</m:t>
                                                </m:r>
                                              </m:e>
                                              <m:sup>
                                                <m:r>
                                                  <a:rPr lang="ru-RU" sz="2400" i="1">
                                                    <a:effectLst/>
                                                    <a:latin typeface="Cambria Math" charset="0"/>
                                                    <a:ea typeface="Calibri" charset="0"/>
                                                    <a:cs typeface="Times New Roman" charset="0"/>
                                                  </a:rPr>
                                                  <m:t>′</m:t>
                                                </m:r>
                                              </m:sup>
                                            </m:sSup>
                                          </m:e>
                                        </m:d>
                                        <m:r>
                                          <a:rPr lang="ru-RU" sz="2400" i="1">
                                            <a:effectLst/>
                                            <a:latin typeface="Cambria Math" charset="0"/>
                                            <a:ea typeface="Calibri" charset="0"/>
                                            <a:cs typeface="Times New Roman" charset="0"/>
                                          </a:rPr>
                                          <m:t>+</m:t>
                                        </m:r>
                                        <m:r>
                                          <a:rPr lang="ru-RU" sz="2400" i="1">
                                            <a:effectLst/>
                                            <a:latin typeface="Cambria Math" charset="0"/>
                                            <a:ea typeface="Calibri" charset="0"/>
                                            <a:cs typeface="Times New Roman" charset="0"/>
                                          </a:rPr>
                                          <m:t>𝑐</m:t>
                                        </m:r>
                                      </m:e>
                                    </m:d>
                                    <m:r>
                                      <a:rPr lang="ru-RU" sz="2400" i="1">
                                        <a:effectLst/>
                                        <a:latin typeface="Cambria Math" charset="0"/>
                                        <a:ea typeface="Calibri" charset="0"/>
                                        <a:cs typeface="Times New Roman" charset="0"/>
                                      </a:rPr>
                                      <m:t>,  </m:t>
                                    </m:r>
                                    <m:r>
                                      <a:rPr lang="ru-RU" sz="2400" i="1">
                                        <a:effectLst/>
                                        <a:latin typeface="Cambria Math" charset="0"/>
                                        <a:ea typeface="Calibri" charset="0"/>
                                        <a:cs typeface="Times New Roman" charset="0"/>
                                      </a:rPr>
                                      <m:t>𝑘</m:t>
                                    </m:r>
                                    <m:r>
                                      <a:rPr lang="ru-RU" sz="2400" i="1">
                                        <a:effectLst/>
                                        <a:latin typeface="Cambria Math" charset="0"/>
                                        <a:ea typeface="Calibri" charset="0"/>
                                        <a:cs typeface="Times New Roman" charset="0"/>
                                      </a:rPr>
                                      <m:t>&gt;0,</m:t>
                                    </m:r>
                                    <m:r>
                                      <a:rPr lang="ru-RU" sz="2400" i="1">
                                        <a:effectLst/>
                                        <a:latin typeface="Cambria Math" charset="0"/>
                                        <a:ea typeface="Calibri" charset="0"/>
                                        <a:cs typeface="Times New Roman" charset="0"/>
                                      </a:rPr>
                                      <m:t>𝑐</m:t>
                                    </m:r>
                                    <m:r>
                                      <a:rPr lang="ru-RU" sz="2400" i="1">
                                        <a:effectLst/>
                                        <a:latin typeface="Cambria Math" charset="0"/>
                                        <a:ea typeface="Calibri" charset="0"/>
                                        <a:cs typeface="Times New Roman" charset="0"/>
                                      </a:rPr>
                                      <m:t>&gt;0</m:t>
                                    </m:r>
                                  </m:e>
                                </m:func>
                              </m:oMath>
                            </m:oMathPara>
                          </a14:m>
                          <a:endParaRPr lang="ru-RU" sz="2000" dirty="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mc:Choice>
        <mc:Fallback xmlns="">
          <p:graphicFrame>
            <p:nvGraphicFramePr>
              <p:cNvPr id="4" name="Таблица 3"/>
              <p:cNvGraphicFramePr>
                <a:graphicFrameLocks noGrp="1"/>
              </p:cNvGraphicFramePr>
              <p:nvPr>
                <p:extLst>
                  <p:ext uri="{D42A27DB-BD31-4B8C-83A1-F6EECF244321}">
                    <p14:modId xmlns:p14="http://schemas.microsoft.com/office/powerpoint/2010/main" val="1040789247"/>
                  </p:ext>
                </p:extLst>
              </p:nvPr>
            </p:nvGraphicFramePr>
            <p:xfrm>
              <a:off x="1156252" y="1953454"/>
              <a:ext cx="10810460" cy="2409063"/>
            </p:xfrm>
            <a:graphic>
              <a:graphicData uri="http://schemas.openxmlformats.org/drawingml/2006/table">
                <a:tbl>
                  <a:tblPr firstRow="1" firstCol="1" bandRow="1"/>
                  <a:tblGrid>
                    <a:gridCol w="4489174"/>
                    <a:gridCol w="6321286"/>
                  </a:tblGrid>
                  <a:tr h="473202">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Полиномиальное</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ru-RU"/>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71098" t="-6410" r="-193" b="-432051"/>
                          </a:stretch>
                        </a:blipFill>
                      </a:tcPr>
                    </a:tc>
                  </a:tr>
                  <a:tr h="549656">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Радиально-базисная функция</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ru-RU"/>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71098" t="-92222" r="-193" b="-274444"/>
                          </a:stretch>
                        </a:blipFill>
                      </a:tcPr>
                    </a:tc>
                  </a:tr>
                  <a:tr h="877824">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Гауссова радиальная базисная функция</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ru-RU"/>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71098" t="-120139" r="-193" b="-71528"/>
                          </a:stretch>
                        </a:blipFill>
                      </a:tcPr>
                    </a:tc>
                  </a:tr>
                  <a:tr h="508381">
                    <a:tc>
                      <a:txBody>
                        <a:bodyPr/>
                        <a:lstStyle/>
                        <a:p>
                          <a:pPr algn="ctr">
                            <a:lnSpc>
                              <a:spcPct val="120000"/>
                            </a:lnSpc>
                            <a:spcAft>
                              <a:spcPts val="0"/>
                            </a:spcAft>
                          </a:pPr>
                          <a:r>
                            <a:rPr lang="ru-RU" sz="2400">
                              <a:solidFill>
                                <a:srgbClr val="000000"/>
                              </a:solidFill>
                              <a:effectLst/>
                              <a:latin typeface="+mn-lt"/>
                              <a:ea typeface="Calibri" charset="0"/>
                              <a:cs typeface="Times New Roman" charset="0"/>
                            </a:rPr>
                            <a:t>Сигмоид</a:t>
                          </a:r>
                          <a:endParaRPr lang="ru-RU" sz="2000">
                            <a:effectLst/>
                            <a:latin typeface="+mn-lt"/>
                            <a:ea typeface="Calibri" charset="0"/>
                            <a:cs typeface="Times New Roman"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endParaRPr lang="ru-RU"/>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rotWithShape="0">
                          <a:blip r:embed="rId2"/>
                          <a:stretch>
                            <a:fillRect l="-71098" t="-377381" r="-193" b="-22619"/>
                          </a:stretch>
                        </a:blipFill>
                      </a:tcPr>
                    </a:tc>
                  </a:tr>
                </a:tbl>
              </a:graphicData>
            </a:graphic>
          </p:graphicFrame>
        </mc:Fallback>
      </mc:AlternateContent>
      <p:sp>
        <p:nvSpPr>
          <p:cNvPr id="10" name="Rectangle 1"/>
          <p:cNvSpPr>
            <a:spLocks noChangeArrowheads="1"/>
          </p:cNvSpPr>
          <p:nvPr/>
        </p:nvSpPr>
        <p:spPr bwMode="auto">
          <a:xfrm>
            <a:off x="3251752" y="1122457"/>
            <a:ext cx="66194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2400" b="0" i="1" u="none" strike="noStrike" cap="none" normalizeH="0" baseline="0">
                <a:ln>
                  <a:noFill/>
                </a:ln>
                <a:solidFill>
                  <a:schemeClr val="tx1"/>
                </a:solidFill>
                <a:effectLst/>
                <a:latin typeface="Arial" charset="0"/>
              </a:rPr>
              <a:t>Виды ядер для метода опорных векторов</a:t>
            </a:r>
            <a:endParaRPr kumimoji="0" lang="ru-RU" altLang="ru-RU" sz="2400" b="0" i="0" u="none" strike="noStrike" cap="none" normalizeH="0" baseline="0">
              <a:ln>
                <a:noFill/>
              </a:ln>
              <a:solidFill>
                <a:schemeClr val="tx1"/>
              </a:solidFill>
              <a:effectLst/>
              <a:latin typeface="Arial"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ru-RU" altLang="ru-RU" sz="2400" b="0" i="0" u="none" strike="noStrike" cap="none" normalizeH="0" baseline="0" dirty="0">
              <a:ln>
                <a:noFill/>
              </a:ln>
              <a:solidFill>
                <a:schemeClr val="tx1"/>
              </a:solidFill>
              <a:effectLst/>
              <a:latin typeface="Arial" charset="0"/>
            </a:endParaRPr>
          </a:p>
        </p:txBody>
      </p:sp>
      <p:sp>
        <p:nvSpPr>
          <p:cNvPr id="11" name="Прямоугольник 10"/>
          <p:cNvSpPr/>
          <p:nvPr/>
        </p:nvSpPr>
        <p:spPr>
          <a:xfrm>
            <a:off x="1338470" y="5669081"/>
            <a:ext cx="10628242" cy="978729"/>
          </a:xfrm>
          <a:prstGeom prst="rect">
            <a:avLst/>
          </a:prstGeom>
        </p:spPr>
        <p:txBody>
          <a:bodyPr wrap="square">
            <a:spAutoFit/>
          </a:bodyPr>
          <a:lstStyle/>
          <a:p>
            <a:pPr lvl="0" algn="just">
              <a:lnSpc>
                <a:spcPct val="120000"/>
              </a:lnSpc>
              <a:spcAft>
                <a:spcPts val="0"/>
              </a:spcAft>
            </a:pPr>
            <a:r>
              <a:rPr lang="ru-RU" sz="2400" smtClean="0">
                <a:ea typeface="Calibri" charset="0"/>
              </a:rPr>
              <a:t>Tipping</a:t>
            </a:r>
            <a:r>
              <a:rPr lang="ru-RU" sz="2400" dirty="0" smtClean="0">
                <a:ea typeface="Calibri" charset="0"/>
              </a:rPr>
              <a:t> </a:t>
            </a:r>
            <a:r>
              <a:rPr lang="ru-RU" sz="2400" dirty="0" err="1">
                <a:ea typeface="Calibri" charset="0"/>
              </a:rPr>
              <a:t>M</a:t>
            </a:r>
            <a:r>
              <a:rPr lang="ru-RU" sz="2400" dirty="0">
                <a:ea typeface="Calibri" charset="0"/>
              </a:rPr>
              <a:t>. </a:t>
            </a:r>
            <a:r>
              <a:rPr lang="ru-RU" sz="2400" dirty="0" err="1">
                <a:ea typeface="Calibri" charset="0"/>
              </a:rPr>
              <a:t>The</a:t>
            </a:r>
            <a:r>
              <a:rPr lang="ru-RU" sz="2400" dirty="0">
                <a:ea typeface="Calibri" charset="0"/>
              </a:rPr>
              <a:t> </a:t>
            </a:r>
            <a:r>
              <a:rPr lang="ru-RU" sz="2400" dirty="0" err="1">
                <a:ea typeface="Calibri" charset="0"/>
              </a:rPr>
              <a:t>relevance</a:t>
            </a:r>
            <a:r>
              <a:rPr lang="ru-RU" sz="2400" dirty="0">
                <a:ea typeface="Calibri" charset="0"/>
              </a:rPr>
              <a:t> </a:t>
            </a:r>
            <a:r>
              <a:rPr lang="ru-RU" sz="2400" dirty="0" err="1">
                <a:ea typeface="Calibri" charset="0"/>
              </a:rPr>
              <a:t>vector</a:t>
            </a:r>
            <a:r>
              <a:rPr lang="ru-RU" sz="2400" dirty="0">
                <a:ea typeface="Calibri" charset="0"/>
              </a:rPr>
              <a:t> </a:t>
            </a:r>
            <a:r>
              <a:rPr lang="ru-RU" sz="2400" dirty="0" err="1">
                <a:ea typeface="Calibri" charset="0"/>
              </a:rPr>
              <a:t>machine</a:t>
            </a:r>
            <a:r>
              <a:rPr lang="ru-RU" sz="2400" dirty="0">
                <a:ea typeface="Calibri" charset="0"/>
              </a:rPr>
              <a:t> // </a:t>
            </a:r>
            <a:r>
              <a:rPr lang="ru-RU" sz="2400" dirty="0" err="1">
                <a:ea typeface="Calibri" charset="0"/>
              </a:rPr>
              <a:t>Advances</a:t>
            </a:r>
            <a:r>
              <a:rPr lang="ru-RU" sz="2400" dirty="0">
                <a:ea typeface="Calibri" charset="0"/>
              </a:rPr>
              <a:t> </a:t>
            </a:r>
            <a:r>
              <a:rPr lang="ru-RU" sz="2400" dirty="0" err="1">
                <a:ea typeface="Calibri" charset="0"/>
              </a:rPr>
              <a:t>in</a:t>
            </a:r>
            <a:r>
              <a:rPr lang="ru-RU" sz="2400" dirty="0">
                <a:ea typeface="Calibri" charset="0"/>
              </a:rPr>
              <a:t> </a:t>
            </a:r>
            <a:r>
              <a:rPr lang="ru-RU" sz="2400" dirty="0" err="1">
                <a:ea typeface="Calibri" charset="0"/>
              </a:rPr>
              <a:t>Neural</a:t>
            </a:r>
            <a:r>
              <a:rPr lang="ru-RU" sz="2400" dirty="0">
                <a:ea typeface="Calibri" charset="0"/>
              </a:rPr>
              <a:t> </a:t>
            </a:r>
            <a:r>
              <a:rPr lang="ru-RU" sz="2400" dirty="0" err="1">
                <a:ea typeface="Calibri" charset="0"/>
              </a:rPr>
              <a:t>Information</a:t>
            </a:r>
            <a:r>
              <a:rPr lang="ru-RU" sz="2400" dirty="0">
                <a:ea typeface="Calibri" charset="0"/>
              </a:rPr>
              <a:t> </a:t>
            </a:r>
            <a:r>
              <a:rPr lang="ru-RU" sz="2400" dirty="0" err="1">
                <a:ea typeface="Calibri" charset="0"/>
              </a:rPr>
              <a:t>Processing</a:t>
            </a:r>
            <a:r>
              <a:rPr lang="ru-RU" sz="2400" dirty="0">
                <a:ea typeface="Calibri" charset="0"/>
              </a:rPr>
              <a:t> </a:t>
            </a:r>
            <a:r>
              <a:rPr lang="ru-RU" sz="2400" dirty="0" err="1">
                <a:ea typeface="Calibri" charset="0"/>
              </a:rPr>
              <a:t>Systems</a:t>
            </a:r>
            <a:r>
              <a:rPr lang="ru-RU" sz="2400" dirty="0">
                <a:ea typeface="Calibri" charset="0"/>
              </a:rPr>
              <a:t>, </a:t>
            </a:r>
            <a:r>
              <a:rPr lang="ru-RU" sz="2400" dirty="0" err="1">
                <a:ea typeface="Calibri" charset="0"/>
              </a:rPr>
              <a:t>San</a:t>
            </a:r>
            <a:r>
              <a:rPr lang="ru-RU" sz="2400" dirty="0">
                <a:ea typeface="Calibri" charset="0"/>
              </a:rPr>
              <a:t> </a:t>
            </a:r>
            <a:r>
              <a:rPr lang="ru-RU" sz="2400" dirty="0" err="1">
                <a:ea typeface="Calibri" charset="0"/>
              </a:rPr>
              <a:t>Mateo</a:t>
            </a:r>
            <a:r>
              <a:rPr lang="ru-RU" sz="2400" dirty="0">
                <a:ea typeface="Calibri" charset="0"/>
              </a:rPr>
              <a:t>, CA. — </a:t>
            </a:r>
            <a:r>
              <a:rPr lang="ru-RU" sz="2400" dirty="0" err="1">
                <a:ea typeface="Calibri" charset="0"/>
              </a:rPr>
              <a:t>Morgan</a:t>
            </a:r>
            <a:r>
              <a:rPr lang="ru-RU" sz="2400" dirty="0">
                <a:ea typeface="Calibri" charset="0"/>
              </a:rPr>
              <a:t> </a:t>
            </a:r>
            <a:r>
              <a:rPr lang="ru-RU" sz="2400" dirty="0" err="1">
                <a:ea typeface="Calibri" charset="0"/>
              </a:rPr>
              <a:t>Kaufmann</a:t>
            </a:r>
            <a:r>
              <a:rPr lang="ru-RU" sz="2400" dirty="0">
                <a:ea typeface="Calibri" charset="0"/>
              </a:rPr>
              <a:t>, 2000.</a:t>
            </a:r>
            <a:endParaRPr lang="ru-RU" sz="2000" dirty="0">
              <a:effectLst/>
              <a:ea typeface="Calibri" charset="0"/>
            </a:endParaRPr>
          </a:p>
        </p:txBody>
      </p:sp>
    </p:spTree>
    <p:extLst>
      <p:ext uri="{BB962C8B-B14F-4D97-AF65-F5344CB8AC3E}">
        <p14:creationId xmlns:p14="http://schemas.microsoft.com/office/powerpoint/2010/main" val="13154620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p:cNvSpPr>
            <a:spLocks noGrp="1"/>
          </p:cNvSpPr>
          <p:nvPr>
            <p:ph type="ctrTitle"/>
          </p:nvPr>
        </p:nvSpPr>
        <p:spPr>
          <a:xfrm>
            <a:off x="0" y="310813"/>
            <a:ext cx="12192000" cy="595423"/>
          </a:xfrm>
        </p:spPr>
        <p:txBody>
          <a:bodyPr>
            <a:noAutofit/>
          </a:bodyPr>
          <a:lstStyle/>
          <a:p>
            <a:r>
              <a:rPr lang="ru-RU" sz="3200" b="1" dirty="0">
                <a:latin typeface="+mn-lt"/>
              </a:rPr>
              <a:t>Домашнее задание: </a:t>
            </a:r>
            <a:r>
              <a:rPr lang="ru-RU" sz="3200" dirty="0">
                <a:latin typeface="+mn-lt"/>
              </a:rPr>
              <a:t>реализация метода классификации данных с использованием природных временных </a:t>
            </a:r>
            <a:r>
              <a:rPr lang="ru-RU" sz="3200" dirty="0" smtClean="0">
                <a:latin typeface="+mn-lt"/>
              </a:rPr>
              <a:t>рядов.</a:t>
            </a:r>
            <a:endParaRPr lang="ru-RU" sz="3200" dirty="0">
              <a:latin typeface="+mn-lt"/>
            </a:endParaRPr>
          </a:p>
        </p:txBody>
      </p:sp>
      <mc:AlternateContent xmlns:mc="http://schemas.openxmlformats.org/markup-compatibility/2006" xmlns:a14="http://schemas.microsoft.com/office/drawing/2010/main">
        <mc:Choice Requires="a14">
          <p:sp>
            <p:nvSpPr>
              <p:cNvPr id="4" name="Подзаголовок 3"/>
              <p:cNvSpPr>
                <a:spLocks noGrp="1"/>
              </p:cNvSpPr>
              <p:nvPr>
                <p:ph type="subTitle" idx="1"/>
              </p:nvPr>
            </p:nvSpPr>
            <p:spPr>
              <a:xfrm>
                <a:off x="0" y="950952"/>
                <a:ext cx="12192000" cy="6084544"/>
              </a:xfrm>
            </p:spPr>
            <p:txBody>
              <a:bodyPr>
                <a:noAutofit/>
              </a:bodyPr>
              <a:lstStyle/>
              <a:p>
                <a:pPr algn="just">
                  <a:lnSpc>
                    <a:spcPct val="100000"/>
                  </a:lnSpc>
                </a:pPr>
                <a:r>
                  <a:rPr lang="ru-RU" b="1" dirty="0" smtClean="0">
                    <a:ea typeface="Calibri" charset="0"/>
                    <a:cs typeface="Times New Roman" charset="0"/>
                  </a:rPr>
                  <a:t>Цель </a:t>
                </a:r>
                <a:r>
                  <a:rPr lang="ru-RU" b="1" dirty="0">
                    <a:ea typeface="Calibri" charset="0"/>
                    <a:cs typeface="Times New Roman" charset="0"/>
                  </a:rPr>
                  <a:t>работы</a:t>
                </a:r>
                <a:r>
                  <a:rPr lang="ru-RU" dirty="0">
                    <a:ea typeface="Calibri" charset="0"/>
                    <a:cs typeface="Times New Roman" charset="0"/>
                  </a:rPr>
                  <a:t>: построение классификатора данных геофизического мониторинга на примере наблюдений нейтронных мониторов. </a:t>
                </a:r>
                <a:r>
                  <a:rPr lang="ru-RU" dirty="0" smtClean="0">
                    <a:ea typeface="Calibri" charset="0"/>
                    <a:cs typeface="Times New Roman" charset="0"/>
                  </a:rPr>
                  <a:t> </a:t>
                </a:r>
                <a:endParaRPr lang="ru-RU" dirty="0">
                  <a:ea typeface="Calibri" charset="0"/>
                  <a:cs typeface="Times New Roman" charset="0"/>
                </a:endParaRPr>
              </a:p>
              <a:p>
                <a:pPr algn="just">
                  <a:lnSpc>
                    <a:spcPct val="100000"/>
                  </a:lnSpc>
                  <a:spcAft>
                    <a:spcPts val="0"/>
                  </a:spcAft>
                </a:pPr>
                <a:r>
                  <a:rPr lang="ru-RU" b="1" dirty="0">
                    <a:ea typeface="Calibri" charset="0"/>
                    <a:cs typeface="Times New Roman" charset="0"/>
                  </a:rPr>
                  <a:t>Задачи:</a:t>
                </a:r>
              </a:p>
              <a:p>
                <a:pPr marL="342900" lvl="0" indent="-342900" algn="just">
                  <a:lnSpc>
                    <a:spcPct val="100000"/>
                  </a:lnSpc>
                  <a:spcAft>
                    <a:spcPts val="0"/>
                  </a:spcAft>
                  <a:buFont typeface="+mj-lt"/>
                  <a:buAutoNum type="arabicPeriod"/>
                </a:pPr>
                <a:r>
                  <a:rPr lang="ru-RU" dirty="0" smtClean="0">
                    <a:ea typeface="Calibri" charset="0"/>
                  </a:rPr>
                  <a:t>Подготовить данные. Скачать </a:t>
                </a:r>
                <a:r>
                  <a:rPr lang="ru-RU" dirty="0">
                    <a:ea typeface="Calibri" charset="0"/>
                  </a:rPr>
                  <a:t>данные из источника [</a:t>
                </a:r>
                <a:r>
                  <a:rPr lang="ru-RU" dirty="0" err="1">
                    <a:ea typeface="Calibri" charset="0"/>
                  </a:rPr>
                  <a:t>https</a:t>
                </a:r>
                <a:r>
                  <a:rPr lang="ru-RU" dirty="0">
                    <a:ea typeface="Calibri" charset="0"/>
                  </a:rPr>
                  <a:t>://</a:t>
                </a:r>
                <a:r>
                  <a:rPr lang="ru-RU" dirty="0" err="1">
                    <a:ea typeface="Calibri" charset="0"/>
                  </a:rPr>
                  <a:t>www.nmdb.eu</a:t>
                </a:r>
                <a:r>
                  <a:rPr lang="ru-RU" dirty="0">
                    <a:ea typeface="Calibri" charset="0"/>
                  </a:rPr>
                  <a:t>/</a:t>
                </a:r>
                <a:r>
                  <a:rPr lang="ru-RU" dirty="0" err="1">
                    <a:ea typeface="Calibri" charset="0"/>
                  </a:rPr>
                  <a:t>nest</a:t>
                </a:r>
                <a:r>
                  <a:rPr lang="ru-RU" dirty="0">
                    <a:ea typeface="Calibri" charset="0"/>
                  </a:rPr>
                  <a:t>/] за периоды и станции, указанные по вариантам </a:t>
                </a:r>
                <a:r>
                  <a:rPr lang="ru-RU" dirty="0" smtClean="0">
                    <a:ea typeface="Calibri" charset="0"/>
                  </a:rPr>
                  <a:t>таблицах. </a:t>
                </a:r>
                <a:r>
                  <a:rPr lang="ru-RU" dirty="0">
                    <a:ea typeface="Calibri" charset="0"/>
                  </a:rPr>
                  <a:t>Использовать сданные с одноминутным временным </a:t>
                </a:r>
                <a:r>
                  <a:rPr lang="ru-RU" dirty="0" smtClean="0">
                    <a:ea typeface="Calibri" charset="0"/>
                  </a:rPr>
                  <a:t>разрешением. При наличии пропусков в данных заполнить их медианным значением (функция </a:t>
                </a:r>
                <a:r>
                  <a:rPr lang="ru-RU" dirty="0" err="1" smtClean="0">
                    <a:ea typeface="Calibri" charset="0"/>
                  </a:rPr>
                  <a:t>median</a:t>
                </a:r>
                <a:r>
                  <a:rPr lang="ru-RU" dirty="0" smtClean="0">
                    <a:ea typeface="Calibri" charset="0"/>
                  </a:rPr>
                  <a:t> в </a:t>
                </a:r>
                <a:r>
                  <a:rPr lang="ru-RU" dirty="0" err="1" smtClean="0">
                    <a:ea typeface="Calibri" charset="0"/>
                  </a:rPr>
                  <a:t>MatLab</a:t>
                </a:r>
                <a:r>
                  <a:rPr lang="ru-RU" dirty="0" smtClean="0">
                    <a:ea typeface="Calibri" charset="0"/>
                  </a:rPr>
                  <a:t>).</a:t>
                </a:r>
              </a:p>
              <a:p>
                <a:pPr marL="342900" lvl="0" indent="-342900" algn="just">
                  <a:lnSpc>
                    <a:spcPct val="100000"/>
                  </a:lnSpc>
                  <a:spcAft>
                    <a:spcPts val="0"/>
                  </a:spcAft>
                  <a:buFont typeface="+mj-lt"/>
                  <a:buAutoNum type="arabicPeriod"/>
                </a:pPr>
                <a:r>
                  <a:rPr lang="ru-RU" dirty="0" smtClean="0">
                    <a:ea typeface="Calibri" charset="0"/>
                  </a:rPr>
                  <a:t>Сформировать векторы-историй</a:t>
                </a:r>
                <a:r>
                  <a:rPr lang="ru-RU" dirty="0">
                    <a:ea typeface="Calibri" charset="0"/>
                  </a:rPr>
                  <a:t>. Временной ряд </a:t>
                </a:r>
                <a:r>
                  <a:rPr lang="ru-RU" dirty="0" smtClean="0">
                    <a:ea typeface="Calibri" charset="0"/>
                  </a:rPr>
                  <a:t>разбить </a:t>
                </a:r>
                <a:r>
                  <a:rPr lang="ru-RU" dirty="0">
                    <a:ea typeface="Calibri" charset="0"/>
                  </a:rPr>
                  <a:t>на последовательные блоки (векторы) длиной </a:t>
                </a:r>
                <a14:m>
                  <m:oMath xmlns:m="http://schemas.openxmlformats.org/officeDocument/2006/math">
                    <m:r>
                      <a:rPr lang="ru-RU" i="1" dirty="0" smtClean="0">
                        <a:latin typeface="Cambria Math" charset="0"/>
                        <a:ea typeface="Calibri" charset="0"/>
                      </a:rPr>
                      <m:t>𝑚</m:t>
                    </m:r>
                  </m:oMath>
                </a14:m>
                <a:r>
                  <a:rPr lang="ru-RU" dirty="0">
                    <a:ea typeface="Calibri" charset="0"/>
                  </a:rPr>
                  <a:t>, каждый из которых </a:t>
                </a:r>
                <a:r>
                  <a:rPr lang="ru-RU" dirty="0" smtClean="0">
                    <a:ea typeface="Calibri" charset="0"/>
                  </a:rPr>
                  <a:t>должен содержать</a:t>
                </a:r>
                <a:r>
                  <a:rPr lang="ru-RU" dirty="0">
                    <a:ea typeface="Calibri" charset="0"/>
                  </a:rPr>
                  <a:t> </a:t>
                </a:r>
                <a14:m>
                  <m:oMath xmlns:m="http://schemas.openxmlformats.org/officeDocument/2006/math">
                    <m:r>
                      <a:rPr lang="ru-RU" i="1" dirty="0" smtClean="0">
                        <a:latin typeface="Cambria Math" charset="0"/>
                        <a:ea typeface="Calibri" charset="0"/>
                      </a:rPr>
                      <m:t>𝑚</m:t>
                    </m:r>
                  </m:oMath>
                </a14:m>
                <a:r>
                  <a:rPr lang="ru-RU" dirty="0">
                    <a:ea typeface="Calibri" charset="0"/>
                  </a:rPr>
                  <a:t> прошлых </a:t>
                </a:r>
                <a:r>
                  <a:rPr lang="ru-RU" dirty="0" smtClean="0">
                    <a:ea typeface="Calibri" charset="0"/>
                  </a:rPr>
                  <a:t>значений. Последний вектор </a:t>
                </a:r>
                <a:r>
                  <a:rPr lang="ru-RU" dirty="0">
                    <a:ea typeface="Calibri" charset="0"/>
                  </a:rPr>
                  <a:t>в </a:t>
                </a:r>
                <a:r>
                  <a:rPr lang="ru-RU" dirty="0" smtClean="0">
                    <a:ea typeface="Calibri" charset="0"/>
                  </a:rPr>
                  <a:t>рядя будет «тестовой</a:t>
                </a:r>
                <a:r>
                  <a:rPr lang="ru-RU" dirty="0">
                    <a:ea typeface="Calibri" charset="0"/>
                  </a:rPr>
                  <a:t>» точкой для поиска соседей</a:t>
                </a:r>
                <a:r>
                  <a:rPr lang="ru-RU" dirty="0" smtClean="0">
                    <a:ea typeface="Calibri" charset="0"/>
                  </a:rPr>
                  <a:t>. Величину </a:t>
                </a:r>
                <a14:m>
                  <m:oMath xmlns:m="http://schemas.openxmlformats.org/officeDocument/2006/math">
                    <m:r>
                      <a:rPr lang="en-US" i="1" dirty="0" smtClean="0">
                        <a:latin typeface="Cambria Math" charset="0"/>
                        <a:ea typeface="Calibri" charset="0"/>
                      </a:rPr>
                      <m:t>𝑚</m:t>
                    </m:r>
                  </m:oMath>
                </a14:m>
                <a:r>
                  <a:rPr lang="en-US" dirty="0" smtClean="0">
                    <a:ea typeface="Calibri" charset="0"/>
                  </a:rPr>
                  <a:t> </a:t>
                </a:r>
                <a:r>
                  <a:rPr lang="ru-RU" dirty="0" smtClean="0">
                    <a:ea typeface="Calibri" charset="0"/>
                  </a:rPr>
                  <a:t>выбрать равной 180 отсчетов.</a:t>
                </a:r>
                <a:endParaRPr lang="ru-RU" dirty="0">
                  <a:ea typeface="Calibri" charset="0"/>
                </a:endParaRPr>
              </a:p>
              <a:p>
                <a:pPr marL="342900" indent="-342900" algn="just">
                  <a:lnSpc>
                    <a:spcPct val="100000"/>
                  </a:lnSpc>
                  <a:buFont typeface="+mj-lt"/>
                  <a:buAutoNum type="arabicPeriod"/>
                </a:pPr>
                <a:r>
                  <a:rPr lang="ru-RU" dirty="0" smtClean="0">
                    <a:ea typeface="Calibri" charset="0"/>
                  </a:rPr>
                  <a:t>Найти </a:t>
                </a:r>
                <a:r>
                  <a:rPr lang="ru-RU" dirty="0">
                    <a:ea typeface="Calibri" charset="0"/>
                  </a:rPr>
                  <a:t>ближайших соседей. Для </a:t>
                </a:r>
                <a:r>
                  <a:rPr lang="ru-RU" dirty="0" smtClean="0">
                    <a:ea typeface="Calibri" charset="0"/>
                  </a:rPr>
                  <a:t>«тестового» вектора вычислить расстояние </a:t>
                </a:r>
                <a:r>
                  <a:rPr lang="ru-RU" dirty="0">
                    <a:ea typeface="Calibri" charset="0"/>
                  </a:rPr>
                  <a:t>(</a:t>
                </a:r>
                <a:r>
                  <a:rPr lang="ru-RU" dirty="0" smtClean="0">
                    <a:ea typeface="Calibri" charset="0"/>
                  </a:rPr>
                  <a:t>метрику) </a:t>
                </a:r>
                <a:r>
                  <a:rPr lang="ru-RU" dirty="0">
                    <a:ea typeface="Calibri" charset="0"/>
                  </a:rPr>
                  <a:t>до всех остальных </a:t>
                </a:r>
                <a:r>
                  <a:rPr lang="ru-RU" dirty="0" smtClean="0">
                    <a:ea typeface="Calibri" charset="0"/>
                  </a:rPr>
                  <a:t>векторов-историй</a:t>
                </a:r>
                <a:r>
                  <a:rPr lang="ru-RU" dirty="0">
                    <a:ea typeface="Calibri" charset="0"/>
                  </a:rPr>
                  <a:t> </a:t>
                </a:r>
                <a:r>
                  <a:rPr lang="ru-RU" dirty="0" smtClean="0">
                    <a:ea typeface="Calibri" charset="0"/>
                  </a:rPr>
                  <a:t>(использовать 3 различные метрики</a:t>
                </a:r>
                <a:r>
                  <a:rPr lang="ru-RU" dirty="0">
                    <a:ea typeface="Calibri" charset="0"/>
                  </a:rPr>
                  <a:t>). </a:t>
                </a:r>
                <a:r>
                  <a:rPr lang="ru-RU" dirty="0" smtClean="0">
                    <a:ea typeface="Calibri" charset="0"/>
                  </a:rPr>
                  <a:t>Число </a:t>
                </a:r>
                <a:r>
                  <a:rPr lang="ru-RU" dirty="0">
                    <a:ea typeface="Calibri" charset="0"/>
                  </a:rPr>
                  <a:t>соседей (</a:t>
                </a:r>
                <a:r>
                  <a:rPr lang="ru-RU" dirty="0" err="1">
                    <a:ea typeface="Calibri" charset="0"/>
                  </a:rPr>
                  <a:t>k</a:t>
                </a:r>
                <a:r>
                  <a:rPr lang="ru-RU" dirty="0" smtClean="0">
                    <a:ea typeface="Calibri" charset="0"/>
                  </a:rPr>
                  <a:t>) определить равным 2-4.</a:t>
                </a:r>
              </a:p>
            </p:txBody>
          </p:sp>
        </mc:Choice>
        <mc:Fallback xmlns="">
          <p:sp>
            <p:nvSpPr>
              <p:cNvPr id="4" name="Подзаголовок 3"/>
              <p:cNvSpPr>
                <a:spLocks noGrp="1" noRot="1" noChangeAspect="1" noMove="1" noResize="1" noEditPoints="1" noAdjustHandles="1" noChangeArrowheads="1" noChangeShapeType="1" noTextEdit="1"/>
              </p:cNvSpPr>
              <p:nvPr>
                <p:ph type="subTitle" idx="1"/>
              </p:nvPr>
            </p:nvSpPr>
            <p:spPr>
              <a:xfrm>
                <a:off x="0" y="950952"/>
                <a:ext cx="12192000" cy="6084544"/>
              </a:xfrm>
              <a:blipFill rotWithShape="0">
                <a:blip r:embed="rId2"/>
                <a:stretch>
                  <a:fillRect l="-800" t="-802" r="-750"/>
                </a:stretch>
              </a:blipFill>
            </p:spPr>
            <p:txBody>
              <a:bodyPr/>
              <a:lstStyle/>
              <a:p>
                <a:r>
                  <a:rPr lang="ru-RU">
                    <a:noFill/>
                  </a:rPr>
                  <a:t> </a:t>
                </a:r>
              </a:p>
            </p:txBody>
          </p:sp>
        </mc:Fallback>
      </mc:AlternateContent>
      <p:sp>
        <p:nvSpPr>
          <p:cNvPr id="3" name="Номер слайда 2"/>
          <p:cNvSpPr>
            <a:spLocks noGrp="1"/>
          </p:cNvSpPr>
          <p:nvPr>
            <p:ph type="sldNum" sz="quarter" idx="12"/>
          </p:nvPr>
        </p:nvSpPr>
        <p:spPr/>
        <p:txBody>
          <a:bodyPr/>
          <a:lstStyle/>
          <a:p>
            <a:fld id="{9B561CA7-7281-4DB5-BFC5-B6C208FAC0A9}" type="slidenum">
              <a:rPr lang="en-US" smtClean="0"/>
              <a:t>23</a:t>
            </a:fld>
            <a:endParaRPr lang="en-US"/>
          </a:p>
        </p:txBody>
      </p:sp>
    </p:spTree>
    <p:extLst>
      <p:ext uri="{BB962C8B-B14F-4D97-AF65-F5344CB8AC3E}">
        <p14:creationId xmlns:p14="http://schemas.microsoft.com/office/powerpoint/2010/main" val="11377225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Title 1"/>
          <p:cNvSpPr>
            <a:spLocks noGrp="1"/>
          </p:cNvSpPr>
          <p:nvPr>
            <p:ph type="ctrTitle"/>
          </p:nvPr>
        </p:nvSpPr>
        <p:spPr>
          <a:xfrm>
            <a:off x="0" y="310813"/>
            <a:ext cx="12192000" cy="595423"/>
          </a:xfrm>
        </p:spPr>
        <p:txBody>
          <a:bodyPr>
            <a:noAutofit/>
          </a:bodyPr>
          <a:lstStyle/>
          <a:p>
            <a:r>
              <a:rPr lang="ru-RU" sz="3200" b="1" dirty="0">
                <a:latin typeface="+mn-lt"/>
              </a:rPr>
              <a:t>Домашнее задание: </a:t>
            </a:r>
            <a:r>
              <a:rPr lang="ru-RU" sz="3200" dirty="0">
                <a:latin typeface="+mn-lt"/>
              </a:rPr>
              <a:t>реализация метода классификации данных с использованием природных временных </a:t>
            </a:r>
            <a:r>
              <a:rPr lang="ru-RU" sz="3200" dirty="0" smtClean="0">
                <a:latin typeface="+mn-lt"/>
              </a:rPr>
              <a:t>рядов.</a:t>
            </a:r>
            <a:endParaRPr lang="ru-RU" sz="3200" dirty="0">
              <a:latin typeface="+mn-lt"/>
            </a:endParaRPr>
          </a:p>
        </p:txBody>
      </p:sp>
      <p:sp>
        <p:nvSpPr>
          <p:cNvPr id="4" name="Подзаголовок 3"/>
          <p:cNvSpPr>
            <a:spLocks noGrp="1"/>
          </p:cNvSpPr>
          <p:nvPr>
            <p:ph type="subTitle" idx="1"/>
          </p:nvPr>
        </p:nvSpPr>
        <p:spPr>
          <a:xfrm>
            <a:off x="0" y="773456"/>
            <a:ext cx="12192000" cy="6084544"/>
          </a:xfrm>
        </p:spPr>
        <p:txBody>
          <a:bodyPr>
            <a:noAutofit/>
          </a:bodyPr>
          <a:lstStyle/>
          <a:p>
            <a:pPr algn="just">
              <a:lnSpc>
                <a:spcPct val="100000"/>
              </a:lnSpc>
            </a:pPr>
            <a:r>
              <a:rPr lang="ru-RU" b="1" dirty="0" smtClean="0">
                <a:ea typeface="Calibri" charset="0"/>
                <a:cs typeface="Times New Roman" charset="0"/>
              </a:rPr>
              <a:t>Цель </a:t>
            </a:r>
            <a:r>
              <a:rPr lang="ru-RU" b="1" dirty="0">
                <a:ea typeface="Calibri" charset="0"/>
                <a:cs typeface="Times New Roman" charset="0"/>
              </a:rPr>
              <a:t>работы</a:t>
            </a:r>
            <a:r>
              <a:rPr lang="ru-RU" dirty="0">
                <a:ea typeface="Calibri" charset="0"/>
                <a:cs typeface="Times New Roman" charset="0"/>
              </a:rPr>
              <a:t>: построение классификатора данных геофизического мониторинга на примере наблюдений нейтронных мониторов. </a:t>
            </a:r>
            <a:r>
              <a:rPr lang="ru-RU" dirty="0" smtClean="0">
                <a:ea typeface="Calibri" charset="0"/>
                <a:cs typeface="Times New Roman" charset="0"/>
              </a:rPr>
              <a:t> </a:t>
            </a:r>
            <a:endParaRPr lang="ru-RU" dirty="0">
              <a:ea typeface="Calibri" charset="0"/>
              <a:cs typeface="Times New Roman" charset="0"/>
            </a:endParaRPr>
          </a:p>
          <a:p>
            <a:pPr algn="just">
              <a:lnSpc>
                <a:spcPct val="100000"/>
              </a:lnSpc>
              <a:spcAft>
                <a:spcPts val="0"/>
              </a:spcAft>
            </a:pPr>
            <a:r>
              <a:rPr lang="ru-RU" b="1" dirty="0" smtClean="0">
                <a:ea typeface="Calibri" charset="0"/>
                <a:cs typeface="Times New Roman" charset="0"/>
              </a:rPr>
              <a:t>Задачи:</a:t>
            </a:r>
          </a:p>
          <a:p>
            <a:pPr algn="just">
              <a:lnSpc>
                <a:spcPct val="100000"/>
              </a:lnSpc>
              <a:spcAft>
                <a:spcPts val="0"/>
              </a:spcAft>
            </a:pPr>
            <a:r>
              <a:rPr lang="ru-RU" dirty="0" smtClean="0">
                <a:ea typeface="Calibri" charset="0"/>
                <a:cs typeface="Times New Roman" charset="0"/>
              </a:rPr>
              <a:t>4. </a:t>
            </a:r>
            <a:r>
              <a:rPr lang="ru-RU" dirty="0" smtClean="0">
                <a:ea typeface="Calibri" charset="0"/>
              </a:rPr>
              <a:t>Использовать соседей </a:t>
            </a:r>
            <a:r>
              <a:rPr lang="ru-RU" dirty="0">
                <a:ea typeface="Calibri" charset="0"/>
              </a:rPr>
              <a:t>для прогноза. На основе найденных ближайших соседей </a:t>
            </a:r>
            <a:r>
              <a:rPr lang="ru-RU" dirty="0" smtClean="0">
                <a:ea typeface="Calibri" charset="0"/>
              </a:rPr>
              <a:t>построить предсказания для </a:t>
            </a:r>
            <a:r>
              <a:rPr lang="ru-RU" dirty="0">
                <a:ea typeface="Calibri" charset="0"/>
              </a:rPr>
              <a:t>будущих значений </a:t>
            </a:r>
            <a:r>
              <a:rPr lang="ru-RU" dirty="0" smtClean="0">
                <a:ea typeface="Calibri" charset="0"/>
              </a:rPr>
              <a:t>ряда. </a:t>
            </a:r>
            <a:r>
              <a:rPr lang="ru-RU" dirty="0" smtClean="0"/>
              <a:t>При нахождении нескольких схожих отрезков, нужно взять простое среднее следующих </a:t>
            </a:r>
            <a:r>
              <a:rPr lang="ru-RU" dirty="0"/>
              <a:t>за ними </a:t>
            </a:r>
            <a:r>
              <a:rPr lang="ru-RU" dirty="0" smtClean="0"/>
              <a:t>значений.</a:t>
            </a:r>
            <a:endParaRPr lang="ru-RU" dirty="0">
              <a:ea typeface="Calibri" charset="0"/>
            </a:endParaRPr>
          </a:p>
          <a:p>
            <a:pPr lvl="0" algn="just">
              <a:lnSpc>
                <a:spcPct val="100000"/>
              </a:lnSpc>
              <a:spcAft>
                <a:spcPts val="0"/>
              </a:spcAft>
            </a:pPr>
            <a:r>
              <a:rPr lang="ru-RU" dirty="0" smtClean="0">
                <a:ea typeface="Calibri" charset="0"/>
              </a:rPr>
              <a:t>5. Сделать </a:t>
            </a:r>
            <a:r>
              <a:rPr lang="ru-RU" dirty="0">
                <a:ea typeface="Calibri" charset="0"/>
              </a:rPr>
              <a:t>соответствующие выводы, оформить отчет по работе</a:t>
            </a:r>
            <a:r>
              <a:rPr lang="ru-RU" dirty="0" smtClean="0">
                <a:ea typeface="Calibri" charset="0"/>
              </a:rPr>
              <a:t>.</a:t>
            </a:r>
          </a:p>
          <a:p>
            <a:pPr lvl="0" algn="just">
              <a:lnSpc>
                <a:spcPct val="100000"/>
              </a:lnSpc>
              <a:spcAft>
                <a:spcPts val="0"/>
              </a:spcAft>
            </a:pPr>
            <a:r>
              <a:rPr lang="ru-RU" i="1" dirty="0" smtClean="0">
                <a:ea typeface="Calibri" charset="0"/>
              </a:rPr>
              <a:t>Ссылка на шаблон: </a:t>
            </a:r>
            <a:r>
              <a:rPr lang="en-US" dirty="0">
                <a:ea typeface="Calibri" charset="0"/>
              </a:rPr>
              <a:t>https://</a:t>
            </a:r>
            <a:r>
              <a:rPr lang="en-US" dirty="0" err="1">
                <a:ea typeface="Calibri" charset="0"/>
              </a:rPr>
              <a:t>etu.ru</a:t>
            </a:r>
            <a:r>
              <a:rPr lang="en-US" dirty="0">
                <a:ea typeface="Calibri" charset="0"/>
              </a:rPr>
              <a:t>/</a:t>
            </a:r>
            <a:r>
              <a:rPr lang="en-US" dirty="0" err="1">
                <a:ea typeface="Calibri" charset="0"/>
              </a:rPr>
              <a:t>ru</a:t>
            </a:r>
            <a:r>
              <a:rPr lang="en-US" dirty="0">
                <a:ea typeface="Calibri" charset="0"/>
              </a:rPr>
              <a:t>/</a:t>
            </a:r>
            <a:r>
              <a:rPr lang="en-US" dirty="0" err="1">
                <a:ea typeface="Calibri" charset="0"/>
              </a:rPr>
              <a:t>studentam</a:t>
            </a:r>
            <a:r>
              <a:rPr lang="en-US" dirty="0">
                <a:ea typeface="Calibri" charset="0"/>
              </a:rPr>
              <a:t>/</a:t>
            </a:r>
            <a:r>
              <a:rPr lang="en-US" dirty="0" err="1">
                <a:ea typeface="Calibri" charset="0"/>
              </a:rPr>
              <a:t>dokumenty-dlya-ucheby</a:t>
            </a:r>
            <a:r>
              <a:rPr lang="en-US" dirty="0">
                <a:ea typeface="Calibri" charset="0"/>
              </a:rPr>
              <a:t>/</a:t>
            </a:r>
            <a:r>
              <a:rPr lang="en-US" dirty="0" err="1">
                <a:ea typeface="Calibri" charset="0"/>
              </a:rPr>
              <a:t>blanki-zayavlenij-i-shablony-dlya-obuchayushhihsya</a:t>
            </a:r>
            <a:endParaRPr lang="ru-RU" dirty="0">
              <a:ea typeface="Calibri" charset="0"/>
            </a:endParaRPr>
          </a:p>
        </p:txBody>
      </p:sp>
      <p:sp>
        <p:nvSpPr>
          <p:cNvPr id="3" name="Номер слайда 2"/>
          <p:cNvSpPr>
            <a:spLocks noGrp="1"/>
          </p:cNvSpPr>
          <p:nvPr>
            <p:ph type="sldNum" sz="quarter" idx="12"/>
          </p:nvPr>
        </p:nvSpPr>
        <p:spPr/>
        <p:txBody>
          <a:bodyPr/>
          <a:lstStyle/>
          <a:p>
            <a:fld id="{9B561CA7-7281-4DB5-BFC5-B6C208FAC0A9}" type="slidenum">
              <a:rPr lang="en-US" smtClean="0"/>
              <a:t>24</a:t>
            </a:fld>
            <a:endParaRPr lang="en-US"/>
          </a:p>
        </p:txBody>
      </p:sp>
    </p:spTree>
    <p:extLst>
      <p:ext uri="{BB962C8B-B14F-4D97-AF65-F5344CB8AC3E}">
        <p14:creationId xmlns:p14="http://schemas.microsoft.com/office/powerpoint/2010/main" val="16705043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Прямоугольник 4"/>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Номер слайда 2"/>
          <p:cNvSpPr>
            <a:spLocks noGrp="1"/>
          </p:cNvSpPr>
          <p:nvPr>
            <p:ph type="sldNum" sz="quarter" idx="12"/>
          </p:nvPr>
        </p:nvSpPr>
        <p:spPr/>
        <p:txBody>
          <a:bodyPr/>
          <a:lstStyle/>
          <a:p>
            <a:fld id="{9B561CA7-7281-4DB5-BFC5-B6C208FAC0A9}" type="slidenum">
              <a:rPr lang="en-US" smtClean="0"/>
              <a:t>25</a:t>
            </a:fld>
            <a:endParaRPr lang="en-US"/>
          </a:p>
        </p:txBody>
      </p:sp>
      <p:graphicFrame>
        <p:nvGraphicFramePr>
          <p:cNvPr id="7" name="Таблица 6"/>
          <p:cNvGraphicFramePr>
            <a:graphicFrameLocks noGrp="1"/>
          </p:cNvGraphicFramePr>
          <p:nvPr>
            <p:extLst>
              <p:ext uri="{D42A27DB-BD31-4B8C-83A1-F6EECF244321}">
                <p14:modId xmlns:p14="http://schemas.microsoft.com/office/powerpoint/2010/main" val="1715694270"/>
              </p:ext>
            </p:extLst>
          </p:nvPr>
        </p:nvGraphicFramePr>
        <p:xfrm>
          <a:off x="397565" y="799342"/>
          <a:ext cx="11396870" cy="5978618"/>
        </p:xfrm>
        <a:graphic>
          <a:graphicData uri="http://schemas.openxmlformats.org/drawingml/2006/table">
            <a:tbl>
              <a:tblPr firstRow="1" firstCol="1" bandRow="1"/>
              <a:tblGrid>
                <a:gridCol w="2883257"/>
                <a:gridCol w="3431702"/>
                <a:gridCol w="5081911"/>
              </a:tblGrid>
              <a:tr h="333754">
                <a:tc>
                  <a:txBody>
                    <a:bodyPr/>
                    <a:lstStyle/>
                    <a:p>
                      <a:pPr algn="just">
                        <a:lnSpc>
                          <a:spcPts val="2380"/>
                        </a:lnSpc>
                        <a:spcAft>
                          <a:spcPts val="0"/>
                        </a:spcAft>
                      </a:pPr>
                      <a:r>
                        <a:rPr lang="ru-RU" sz="2400">
                          <a:solidFill>
                            <a:srgbClr val="000000"/>
                          </a:solidFill>
                          <a:effectLst/>
                          <a:latin typeface="+mn-lt"/>
                          <a:ea typeface="Calibri" charset="0"/>
                        </a:rPr>
                        <a:t>Номер варианта</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Наименование станции</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a:lnSpc>
                          <a:spcPts val="2380"/>
                        </a:lnSpc>
                        <a:spcAft>
                          <a:spcPts val="0"/>
                        </a:spcAft>
                      </a:pPr>
                      <a:r>
                        <a:rPr lang="ru-RU" sz="2400">
                          <a:solidFill>
                            <a:srgbClr val="000000"/>
                          </a:solidFill>
                          <a:effectLst/>
                          <a:latin typeface="+mn-lt"/>
                          <a:ea typeface="Calibri" charset="0"/>
                        </a:rPr>
                        <a:t>Период (минутные данные)</a:t>
                      </a:r>
                      <a:endParaRPr lang="ru-RU" sz="2400">
                        <a:effectLst/>
                        <a:latin typeface="+mn-lt"/>
                        <a:ea typeface="Calibri" charset="0"/>
                      </a:endParaRPr>
                    </a:p>
                  </a:txBody>
                  <a:tcPr marL="51802" marR="51802"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0">
                <a:tc>
                  <a:txBody>
                    <a:bodyPr/>
                    <a:lstStyle/>
                    <a:p>
                      <a:pPr algn="just">
                        <a:lnSpc>
                          <a:spcPts val="2380"/>
                        </a:lnSpc>
                        <a:spcAft>
                          <a:spcPts val="0"/>
                        </a:spcAft>
                      </a:pPr>
                      <a:r>
                        <a:rPr lang="ru-RU" sz="2400" dirty="0">
                          <a:solidFill>
                            <a:srgbClr val="000000"/>
                          </a:solidFill>
                          <a:effectLst/>
                          <a:latin typeface="+mn-lt"/>
                          <a:ea typeface="Calibri" charset="0"/>
                        </a:rPr>
                        <a:t>1</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dirty="0">
                          <a:solidFill>
                            <a:srgbClr val="000000"/>
                          </a:solidFill>
                          <a:effectLst/>
                          <a:latin typeface="+mn-lt"/>
                          <a:ea typeface="Calibri" charset="0"/>
                        </a:rPr>
                        <a:t>Южный полюс (SOPO)</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rowSpan="17">
                  <a:txBody>
                    <a:bodyPr/>
                    <a:lstStyle/>
                    <a:p>
                      <a:pPr algn="ctr">
                        <a:lnSpc>
                          <a:spcPts val="2380"/>
                        </a:lnSpc>
                        <a:spcAft>
                          <a:spcPts val="0"/>
                        </a:spcAft>
                      </a:pPr>
                      <a:endParaRPr lang="en-US" sz="2400" dirty="0" smtClean="0">
                        <a:effectLst/>
                        <a:latin typeface="+mn-lt"/>
                        <a:ea typeface="Calibri" charset="0"/>
                      </a:endParaRPr>
                    </a:p>
                    <a:p>
                      <a:pPr algn="ctr">
                        <a:lnSpc>
                          <a:spcPts val="2380"/>
                        </a:lnSpc>
                        <a:spcAft>
                          <a:spcPts val="0"/>
                        </a:spcAft>
                      </a:pPr>
                      <a:endParaRPr lang="en-US" sz="2400" dirty="0" smtClean="0">
                        <a:effectLst/>
                        <a:latin typeface="+mn-lt"/>
                        <a:ea typeface="Calibri" charset="0"/>
                      </a:endParaRPr>
                    </a:p>
                    <a:p>
                      <a:pPr algn="ctr">
                        <a:lnSpc>
                          <a:spcPts val="2380"/>
                        </a:lnSpc>
                        <a:spcAft>
                          <a:spcPts val="0"/>
                        </a:spcAft>
                      </a:pPr>
                      <a:endParaRPr lang="ru-RU" sz="2400" baseline="0" dirty="0" smtClean="0">
                        <a:effectLst/>
                        <a:latin typeface="+mn-lt"/>
                        <a:ea typeface="Calibri" charset="0"/>
                      </a:endParaRPr>
                    </a:p>
                    <a:p>
                      <a:pPr algn="ctr">
                        <a:lnSpc>
                          <a:spcPts val="2380"/>
                        </a:lnSpc>
                        <a:spcAft>
                          <a:spcPts val="0"/>
                        </a:spcAft>
                      </a:pPr>
                      <a:r>
                        <a:rPr lang="ru-RU" sz="2400" baseline="0" dirty="0" smtClean="0">
                          <a:effectLst/>
                          <a:latin typeface="+mn-lt"/>
                          <a:ea typeface="Calibri" charset="0"/>
                        </a:rPr>
                        <a:t>1-14 февраля 2026 (прогноз 15 февраля)</a:t>
                      </a:r>
                    </a:p>
                    <a:p>
                      <a:pPr algn="ctr">
                        <a:lnSpc>
                          <a:spcPts val="2380"/>
                        </a:lnSpc>
                        <a:spcAft>
                          <a:spcPts val="0"/>
                        </a:spcAft>
                      </a:pPr>
                      <a:endParaRPr lang="ru-RU" sz="2400" baseline="0" dirty="0" smtClean="0">
                        <a:effectLst/>
                        <a:latin typeface="+mn-lt"/>
                        <a:ea typeface="Calibri" charset="0"/>
                      </a:endParaRPr>
                    </a:p>
                    <a:p>
                      <a:pPr marL="0" marR="0" indent="0" algn="ctr" defTabSz="914400" rtl="0" eaLnBrk="1" fontAlgn="auto" latinLnBrk="0" hangingPunct="1">
                        <a:lnSpc>
                          <a:spcPts val="2380"/>
                        </a:lnSpc>
                        <a:spcBef>
                          <a:spcPts val="0"/>
                        </a:spcBef>
                        <a:spcAft>
                          <a:spcPts val="0"/>
                        </a:spcAft>
                        <a:buClrTx/>
                        <a:buSzTx/>
                        <a:buFontTx/>
                        <a:buNone/>
                        <a:tabLst/>
                        <a:defRPr/>
                      </a:pPr>
                      <a:r>
                        <a:rPr lang="ru-RU" sz="2400" baseline="0" dirty="0" smtClean="0">
                          <a:effectLst/>
                          <a:latin typeface="+mn-lt"/>
                          <a:ea typeface="Calibri" charset="0"/>
                        </a:rPr>
                        <a:t>1-14 мая 2026 (прогноз 15 мая с середины суток)</a:t>
                      </a:r>
                      <a:endParaRPr lang="ru-RU" sz="2400" dirty="0" smtClean="0">
                        <a:effectLst/>
                        <a:latin typeface="+mn-lt"/>
                        <a:ea typeface="Calibri" charset="0"/>
                      </a:endParaRPr>
                    </a:p>
                    <a:p>
                      <a:pPr algn="ctr">
                        <a:lnSpc>
                          <a:spcPts val="2380"/>
                        </a:lnSpc>
                        <a:spcAft>
                          <a:spcPts val="0"/>
                        </a:spcAft>
                      </a:pP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33754">
                <a:tc>
                  <a:txBody>
                    <a:bodyPr/>
                    <a:lstStyle/>
                    <a:p>
                      <a:pPr algn="just">
                        <a:lnSpc>
                          <a:spcPts val="2380"/>
                        </a:lnSpc>
                        <a:spcAft>
                          <a:spcPts val="0"/>
                        </a:spcAft>
                      </a:pPr>
                      <a:r>
                        <a:rPr lang="ru-RU" sz="2400">
                          <a:solidFill>
                            <a:srgbClr val="000000"/>
                          </a:solidFill>
                          <a:effectLst/>
                          <a:latin typeface="+mn-lt"/>
                          <a:ea typeface="Calibri" charset="0"/>
                        </a:rPr>
                        <a:t>2</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Моусон (MWSN)</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3</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Якутск (YKTK)</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4</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Наин (NAIN)</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5</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Инувик (INVK)</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dirty="0" smtClean="0">
                          <a:solidFill>
                            <a:srgbClr val="000000"/>
                          </a:solidFill>
                          <a:effectLst/>
                          <a:latin typeface="+mn-lt"/>
                          <a:ea typeface="Calibri" charset="0"/>
                        </a:rPr>
                        <a:t>6</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dirty="0">
                          <a:solidFill>
                            <a:srgbClr val="000000"/>
                          </a:solidFill>
                          <a:effectLst/>
                          <a:latin typeface="+mn-lt"/>
                          <a:ea typeface="Calibri" charset="0"/>
                        </a:rPr>
                        <a:t>Апатиты (APTY)</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7</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Южный полюс (SOPB)</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8</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dirty="0">
                          <a:solidFill>
                            <a:srgbClr val="000000"/>
                          </a:solidFill>
                          <a:effectLst/>
                          <a:latin typeface="+mn-lt"/>
                          <a:ea typeface="Calibri" charset="0"/>
                        </a:rPr>
                        <a:t>Туле (THUL)</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9</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Оулу (OULU)</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10</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Тикси (TXBY)</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11</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Баксан (BKSN)</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12</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Алма-Ата (</a:t>
                      </a:r>
                      <a:r>
                        <a:rPr lang="en-US" sz="2400">
                          <a:solidFill>
                            <a:srgbClr val="000000"/>
                          </a:solidFill>
                          <a:effectLst/>
                          <a:latin typeface="+mn-lt"/>
                          <a:ea typeface="Calibri" charset="0"/>
                        </a:rPr>
                        <a:t>AATB)</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13</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Иркутск (</a:t>
                      </a:r>
                      <a:r>
                        <a:rPr lang="en-US" sz="2400">
                          <a:solidFill>
                            <a:srgbClr val="000000"/>
                          </a:solidFill>
                          <a:effectLst/>
                          <a:latin typeface="+mn-lt"/>
                          <a:ea typeface="Calibri" charset="0"/>
                        </a:rPr>
                        <a:t>IRK3</a:t>
                      </a:r>
                      <a:r>
                        <a:rPr lang="ru-RU" sz="2400">
                          <a:solidFill>
                            <a:srgbClr val="000000"/>
                          </a:solidFill>
                          <a:effectLst/>
                          <a:latin typeface="+mn-lt"/>
                          <a:ea typeface="Calibri" charset="0"/>
                        </a:rPr>
                        <a:t>)</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14</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Ломнинский (</a:t>
                      </a:r>
                      <a:r>
                        <a:rPr lang="en-US" sz="2400">
                          <a:solidFill>
                            <a:srgbClr val="000000"/>
                          </a:solidFill>
                          <a:effectLst/>
                          <a:latin typeface="+mn-lt"/>
                          <a:ea typeface="Calibri" charset="0"/>
                        </a:rPr>
                        <a:t>LMKS</a:t>
                      </a:r>
                      <a:r>
                        <a:rPr lang="ru-RU" sz="2400">
                          <a:solidFill>
                            <a:srgbClr val="000000"/>
                          </a:solidFill>
                          <a:effectLst/>
                          <a:latin typeface="+mn-lt"/>
                          <a:ea typeface="Calibri" charset="0"/>
                        </a:rPr>
                        <a:t>)</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15</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Киль (KIEL2)</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16</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a:solidFill>
                            <a:srgbClr val="000000"/>
                          </a:solidFill>
                          <a:effectLst/>
                          <a:latin typeface="+mn-lt"/>
                          <a:ea typeface="Calibri" charset="0"/>
                        </a:rPr>
                        <a:t>Юнгфрауйох (JUNG)</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r h="333754">
                <a:tc>
                  <a:txBody>
                    <a:bodyPr/>
                    <a:lstStyle/>
                    <a:p>
                      <a:pPr algn="just">
                        <a:lnSpc>
                          <a:spcPts val="2380"/>
                        </a:lnSpc>
                        <a:spcAft>
                          <a:spcPts val="0"/>
                        </a:spcAft>
                      </a:pPr>
                      <a:r>
                        <a:rPr lang="ru-RU" sz="2400">
                          <a:solidFill>
                            <a:srgbClr val="000000"/>
                          </a:solidFill>
                          <a:effectLst/>
                          <a:latin typeface="+mn-lt"/>
                          <a:ea typeface="Calibri" charset="0"/>
                        </a:rPr>
                        <a:t>17</a:t>
                      </a:r>
                      <a:endParaRPr lang="ru-RU" sz="240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just">
                        <a:lnSpc>
                          <a:spcPts val="2380"/>
                        </a:lnSpc>
                        <a:spcAft>
                          <a:spcPts val="0"/>
                        </a:spcAft>
                      </a:pPr>
                      <a:r>
                        <a:rPr lang="ru-RU" sz="2400" dirty="0">
                          <a:solidFill>
                            <a:srgbClr val="000000"/>
                          </a:solidFill>
                          <a:effectLst/>
                          <a:latin typeface="+mn-lt"/>
                          <a:ea typeface="Calibri" charset="0"/>
                        </a:rPr>
                        <a:t>Калгари (CALG)</a:t>
                      </a:r>
                      <a:endParaRPr lang="ru-RU" sz="2400" dirty="0">
                        <a:effectLst/>
                        <a:latin typeface="+mn-lt"/>
                        <a:ea typeface="Calibri" charset="0"/>
                      </a:endParaRPr>
                    </a:p>
                  </a:txBody>
                  <a:tcPr marL="51802" marR="5180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vMerge="1">
                  <a:txBody>
                    <a:bodyPr/>
                    <a:lstStyle/>
                    <a:p>
                      <a:endParaRPr lang="ru-RU"/>
                    </a:p>
                  </a:txBody>
                  <a:tcPr/>
                </a:tc>
              </a:tr>
            </a:tbl>
          </a:graphicData>
        </a:graphic>
      </p:graphicFrame>
      <p:sp>
        <p:nvSpPr>
          <p:cNvPr id="8" name="Rectangle 1"/>
          <p:cNvSpPr>
            <a:spLocks noChangeArrowheads="1"/>
          </p:cNvSpPr>
          <p:nvPr/>
        </p:nvSpPr>
        <p:spPr bwMode="auto">
          <a:xfrm>
            <a:off x="0" y="72971"/>
            <a:ext cx="116884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ru-RU" altLang="ru-RU" sz="3600" b="1" u="none" strike="noStrike" cap="none" normalizeH="0" baseline="0">
                <a:ln>
                  <a:noFill/>
                </a:ln>
                <a:solidFill>
                  <a:schemeClr val="tx1"/>
                </a:solidFill>
                <a:effectLst/>
              </a:rPr>
              <a:t>Описание данных для выполнения домашнего задания</a:t>
            </a:r>
          </a:p>
        </p:txBody>
      </p:sp>
    </p:spTree>
    <p:extLst>
      <p:ext uri="{BB962C8B-B14F-4D97-AF65-F5344CB8AC3E}">
        <p14:creationId xmlns:p14="http://schemas.microsoft.com/office/powerpoint/2010/main" val="17999374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55671" y="1388192"/>
            <a:ext cx="7252491" cy="2387600"/>
          </a:xfrm>
        </p:spPr>
        <p:txBody>
          <a:bodyPr>
            <a:normAutofit fontScale="90000"/>
          </a:bodyPr>
          <a:lstStyle/>
          <a:p>
            <a:pPr algn="r"/>
            <a:r>
              <a:rPr lang="ru-RU" b="1" dirty="0" smtClean="0">
                <a:latin typeface="+mn-lt"/>
              </a:rPr>
              <a:t>ТЕМА №3</a:t>
            </a:r>
            <a:r>
              <a:rPr lang="en-US" b="1" dirty="0" smtClean="0">
                <a:latin typeface="+mn-lt"/>
              </a:rPr>
              <a:t> </a:t>
            </a:r>
            <a:br>
              <a:rPr lang="en-US" b="1" dirty="0" smtClean="0">
                <a:latin typeface="+mn-lt"/>
              </a:rPr>
            </a:br>
            <a:r>
              <a:rPr lang="ru-RU" b="1" dirty="0" smtClean="0">
                <a:solidFill>
                  <a:srgbClr val="F8BB01"/>
                </a:solidFill>
                <a:latin typeface="+mn-lt"/>
              </a:rPr>
              <a:t>КЛАССИФИКАЦИЯ ДАННЫХ. Часть 2 </a:t>
            </a:r>
            <a:endParaRPr lang="en-US" b="1" dirty="0">
              <a:solidFill>
                <a:srgbClr val="F8BB01"/>
              </a:solidFill>
              <a:latin typeface="+mn-lt"/>
            </a:endParaRPr>
          </a:p>
        </p:txBody>
      </p:sp>
      <p:sp>
        <p:nvSpPr>
          <p:cNvPr id="5" name="Subtitle 2"/>
          <p:cNvSpPr>
            <a:spLocks noGrp="1"/>
          </p:cNvSpPr>
          <p:nvPr>
            <p:ph type="subTitle" idx="1"/>
          </p:nvPr>
        </p:nvSpPr>
        <p:spPr>
          <a:xfrm>
            <a:off x="2664162" y="5094645"/>
            <a:ext cx="9144000" cy="1655762"/>
          </a:xfrm>
        </p:spPr>
        <p:txBody>
          <a:bodyPr/>
          <a:lstStyle/>
          <a:p>
            <a:pPr algn="r"/>
            <a:r>
              <a:rPr lang="ru-RU" smtClean="0"/>
              <a:t>Доцент, к.т.н. </a:t>
            </a:r>
            <a:r>
              <a:rPr lang="ru-RU" dirty="0" err="1" smtClean="0"/>
              <a:t>Мандрикова</a:t>
            </a:r>
            <a:r>
              <a:rPr lang="ru-RU" dirty="0" smtClean="0"/>
              <a:t> Богдана Сергеевна</a:t>
            </a:r>
            <a:endParaRPr lang="en-US" dirty="0"/>
          </a:p>
        </p:txBody>
      </p:sp>
    </p:spTree>
    <p:extLst>
      <p:ext uri="{BB962C8B-B14F-4D97-AF65-F5344CB8AC3E}">
        <p14:creationId xmlns:p14="http://schemas.microsoft.com/office/powerpoint/2010/main" val="106110412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411324"/>
            <a:ext cx="12191999" cy="548993"/>
          </a:xfrm>
        </p:spPr>
        <p:txBody>
          <a:bodyPr>
            <a:noAutofit/>
          </a:bodyPr>
          <a:lstStyle/>
          <a:p>
            <a:pPr algn="ctr"/>
            <a:r>
              <a:rPr lang="ru-RU" b="1" dirty="0"/>
              <a:t>Деревья решений </a:t>
            </a:r>
          </a:p>
        </p:txBody>
      </p:sp>
      <p:sp>
        <p:nvSpPr>
          <p:cNvPr id="2" name="Прямоугольник 1"/>
          <p:cNvSpPr/>
          <p:nvPr/>
        </p:nvSpPr>
        <p:spPr>
          <a:xfrm>
            <a:off x="2106386" y="960317"/>
            <a:ext cx="10085614" cy="3785652"/>
          </a:xfrm>
          <a:prstGeom prst="rect">
            <a:avLst/>
          </a:prstGeom>
        </p:spPr>
        <p:txBody>
          <a:bodyPr wrap="square">
            <a:spAutoFit/>
          </a:bodyPr>
          <a:lstStyle/>
          <a:p>
            <a:pPr algn="just"/>
            <a:r>
              <a:rPr lang="ru-RU" sz="2400" dirty="0"/>
              <a:t>Деревья принятий решений или деревья решений (ДР) – метод контролируемой </a:t>
            </a:r>
            <a:r>
              <a:rPr lang="ru-RU" sz="2400" dirty="0" smtClean="0"/>
              <a:t>классификации, </a:t>
            </a:r>
            <a:r>
              <a:rPr lang="ru-RU" sz="2400" dirty="0"/>
              <a:t>базирующийся на применении ориентированного дерева в виде связного ациклического </a:t>
            </a:r>
            <a:r>
              <a:rPr lang="ru-RU" sz="2400" dirty="0" smtClean="0"/>
              <a:t>графа. </a:t>
            </a:r>
            <a:r>
              <a:rPr lang="ru-RU" sz="2400" dirty="0"/>
              <a:t>ДР применяются для поддержки принятия решений.</a:t>
            </a:r>
          </a:p>
          <a:p>
            <a:pPr algn="just"/>
            <a:r>
              <a:rPr lang="ru-RU" sz="2400" dirty="0"/>
              <a:t>Как правило, ДР содержат: </a:t>
            </a:r>
          </a:p>
          <a:p>
            <a:pPr marL="342900" lvl="0" indent="-342900" algn="just">
              <a:buFont typeface="Wingdings" charset="2"/>
              <a:buChar char="ü"/>
            </a:pPr>
            <a:r>
              <a:rPr lang="ru-RU" sz="2400" dirty="0"/>
              <a:t>узлы </a:t>
            </a:r>
            <a:r>
              <a:rPr lang="ru-RU" sz="2400" dirty="0" smtClean="0"/>
              <a:t>– </a:t>
            </a:r>
            <a:r>
              <a:rPr lang="ru-RU" sz="2400" dirty="0"/>
              <a:t>представляют собой переменные набора данных;</a:t>
            </a:r>
          </a:p>
          <a:p>
            <a:pPr marL="342900" lvl="0" indent="-342900" algn="just">
              <a:buFont typeface="Wingdings" charset="2"/>
              <a:buChar char="ü"/>
            </a:pPr>
            <a:r>
              <a:rPr lang="ru-RU" sz="2400" dirty="0"/>
              <a:t>дуги (ветви) – содержат условия перемещения по дуге, т.е. значения переменных (атрибуты), от которых зависит целевая функция; </a:t>
            </a:r>
          </a:p>
          <a:p>
            <a:pPr marL="342900" lvl="0" indent="-342900" algn="just">
              <a:buFont typeface="Wingdings" charset="2"/>
              <a:buChar char="ü"/>
            </a:pPr>
            <a:r>
              <a:rPr lang="ru-RU" sz="2400" dirty="0"/>
              <a:t>листья – крайние вершины, в которых содержатся значения целевой функции. </a:t>
            </a:r>
          </a:p>
        </p:txBody>
      </p:sp>
    </p:spTree>
    <p:extLst>
      <p:ext uri="{BB962C8B-B14F-4D97-AF65-F5344CB8AC3E}">
        <p14:creationId xmlns:p14="http://schemas.microsoft.com/office/powerpoint/2010/main" val="21428239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endParaRPr lang="ru-RU" dirty="0"/>
          </a:p>
        </p:txBody>
      </p:sp>
      <p:sp>
        <p:nvSpPr>
          <p:cNvPr id="3" name="Объект 2"/>
          <p:cNvSpPr>
            <a:spLocks noGrp="1"/>
          </p:cNvSpPr>
          <p:nvPr>
            <p:ph idx="1"/>
          </p:nvPr>
        </p:nvSpPr>
        <p:spPr/>
        <p:txBody>
          <a:bodyPr/>
          <a:lstStyle/>
          <a:p>
            <a:endParaRPr lang="ru-RU" dirty="0"/>
          </a:p>
        </p:txBody>
      </p:sp>
      <p:sp>
        <p:nvSpPr>
          <p:cNvPr id="4" name="Прямоугольник 3"/>
          <p:cNvSpPr/>
          <p:nvPr/>
        </p:nvSpPr>
        <p:spPr>
          <a:xfrm>
            <a:off x="0" y="-58882"/>
            <a:ext cx="12192000" cy="700596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dirty="0">
              <a:solidFill>
                <a:schemeClr val="accent1">
                  <a:lumMod val="50000"/>
                </a:schemeClr>
              </a:solidFill>
            </a:endParaRPr>
          </a:p>
        </p:txBody>
      </p:sp>
      <p:sp>
        <p:nvSpPr>
          <p:cNvPr id="5" name="Прямоугольник 4"/>
          <p:cNvSpPr/>
          <p:nvPr/>
        </p:nvSpPr>
        <p:spPr>
          <a:xfrm>
            <a:off x="5510514" y="880368"/>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имеется дом</a:t>
            </a:r>
            <a:endParaRPr lang="ru-RU" dirty="0">
              <a:solidFill>
                <a:srgbClr val="002060"/>
              </a:solidFill>
            </a:endParaRPr>
          </a:p>
        </p:txBody>
      </p:sp>
      <p:sp>
        <p:nvSpPr>
          <p:cNvPr id="6" name="Прямоугольник 5"/>
          <p:cNvSpPr/>
          <p:nvPr/>
        </p:nvSpPr>
        <p:spPr>
          <a:xfrm>
            <a:off x="4248150" y="2103058"/>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имеется иное имущество стоимостью </a:t>
            </a:r>
            <a:r>
              <a:rPr lang="en-US" dirty="0" smtClean="0">
                <a:solidFill>
                  <a:srgbClr val="002060"/>
                </a:solidFill>
              </a:rPr>
              <a:t>&gt;</a:t>
            </a:r>
            <a:r>
              <a:rPr lang="ru-RU" dirty="0" smtClean="0">
                <a:solidFill>
                  <a:srgbClr val="002060"/>
                </a:solidFill>
              </a:rPr>
              <a:t> </a:t>
            </a:r>
            <a:r>
              <a:rPr lang="en-US" dirty="0" smtClean="0">
                <a:solidFill>
                  <a:srgbClr val="002060"/>
                </a:solidFill>
              </a:rPr>
              <a:t>1</a:t>
            </a:r>
            <a:r>
              <a:rPr lang="ru-RU" dirty="0" smtClean="0">
                <a:solidFill>
                  <a:srgbClr val="002060"/>
                </a:solidFill>
              </a:rPr>
              <a:t>млн.</a:t>
            </a:r>
            <a:endParaRPr lang="ru-RU" dirty="0">
              <a:solidFill>
                <a:srgbClr val="002060"/>
              </a:solidFill>
            </a:endParaRPr>
          </a:p>
        </p:txBody>
      </p:sp>
      <p:sp>
        <p:nvSpPr>
          <p:cNvPr id="7" name="Прямоугольник 6"/>
          <p:cNvSpPr/>
          <p:nvPr/>
        </p:nvSpPr>
        <p:spPr>
          <a:xfrm>
            <a:off x="6838950" y="2086103"/>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выдать кредит</a:t>
            </a:r>
            <a:endParaRPr lang="ru-RU" dirty="0">
              <a:solidFill>
                <a:srgbClr val="002060"/>
              </a:solidFill>
            </a:endParaRPr>
          </a:p>
        </p:txBody>
      </p:sp>
      <p:sp>
        <p:nvSpPr>
          <p:cNvPr id="8" name="Прямоугольник 7"/>
          <p:cNvSpPr/>
          <p:nvPr/>
        </p:nvSpPr>
        <p:spPr>
          <a:xfrm>
            <a:off x="2990850" y="3385407"/>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доход </a:t>
            </a:r>
            <a:r>
              <a:rPr lang="en-US" dirty="0" smtClean="0">
                <a:solidFill>
                  <a:srgbClr val="002060"/>
                </a:solidFill>
              </a:rPr>
              <a:t> &gt; </a:t>
            </a:r>
            <a:r>
              <a:rPr lang="ru-RU" dirty="0" smtClean="0">
                <a:solidFill>
                  <a:srgbClr val="002060"/>
                </a:solidFill>
              </a:rPr>
              <a:t>50.000</a:t>
            </a:r>
            <a:endParaRPr lang="ru-RU" dirty="0">
              <a:solidFill>
                <a:srgbClr val="002060"/>
              </a:solidFill>
            </a:endParaRPr>
          </a:p>
        </p:txBody>
      </p:sp>
      <p:sp>
        <p:nvSpPr>
          <p:cNvPr id="9" name="Прямоугольник 8"/>
          <p:cNvSpPr/>
          <p:nvPr/>
        </p:nvSpPr>
        <p:spPr>
          <a:xfrm>
            <a:off x="5562600" y="3385407"/>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mtClean="0">
                <a:solidFill>
                  <a:srgbClr val="002060"/>
                </a:solidFill>
              </a:rPr>
              <a:t>выдать кредит</a:t>
            </a:r>
            <a:endParaRPr lang="ru-RU">
              <a:solidFill>
                <a:srgbClr val="002060"/>
              </a:solidFill>
            </a:endParaRPr>
          </a:p>
        </p:txBody>
      </p:sp>
      <p:sp>
        <p:nvSpPr>
          <p:cNvPr id="12" name="Прямоугольник 11"/>
          <p:cNvSpPr/>
          <p:nvPr/>
        </p:nvSpPr>
        <p:spPr>
          <a:xfrm>
            <a:off x="1885950" y="4667756"/>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кредитная история чистая и есть поручители</a:t>
            </a:r>
            <a:endParaRPr lang="ru-RU" dirty="0">
              <a:solidFill>
                <a:srgbClr val="002060"/>
              </a:solidFill>
            </a:endParaRPr>
          </a:p>
        </p:txBody>
      </p:sp>
      <p:sp>
        <p:nvSpPr>
          <p:cNvPr id="13" name="Прямоугольник 12"/>
          <p:cNvSpPr/>
          <p:nvPr/>
        </p:nvSpPr>
        <p:spPr>
          <a:xfrm>
            <a:off x="514350" y="5849237"/>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dirty="0" smtClean="0">
                <a:solidFill>
                  <a:srgbClr val="002060"/>
                </a:solidFill>
              </a:rPr>
              <a:t>отказать</a:t>
            </a:r>
            <a:endParaRPr lang="ru-RU" dirty="0">
              <a:solidFill>
                <a:srgbClr val="002060"/>
              </a:solidFill>
            </a:endParaRPr>
          </a:p>
        </p:txBody>
      </p:sp>
      <p:cxnSp>
        <p:nvCxnSpPr>
          <p:cNvPr id="17" name="Прямая со стрелкой 16"/>
          <p:cNvCxnSpPr>
            <a:stCxn id="5" idx="2"/>
            <a:endCxn id="6" idx="0"/>
          </p:cNvCxnSpPr>
          <p:nvPr/>
        </p:nvCxnSpPr>
        <p:spPr>
          <a:xfrm flipH="1">
            <a:off x="5353050" y="1701339"/>
            <a:ext cx="1262364" cy="4017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Прямая со стрелкой 17"/>
          <p:cNvCxnSpPr>
            <a:stCxn id="5" idx="2"/>
            <a:endCxn id="7" idx="0"/>
          </p:cNvCxnSpPr>
          <p:nvPr/>
        </p:nvCxnSpPr>
        <p:spPr>
          <a:xfrm>
            <a:off x="6615414" y="1701339"/>
            <a:ext cx="1328436" cy="384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Прямая со стрелкой 21"/>
          <p:cNvCxnSpPr>
            <a:stCxn id="8" idx="2"/>
            <a:endCxn id="34" idx="0"/>
          </p:cNvCxnSpPr>
          <p:nvPr/>
        </p:nvCxnSpPr>
        <p:spPr>
          <a:xfrm>
            <a:off x="4095750" y="4206378"/>
            <a:ext cx="1422119" cy="46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Прямая со стрелкой 24"/>
          <p:cNvCxnSpPr>
            <a:stCxn id="12" idx="2"/>
            <a:endCxn id="13" idx="0"/>
          </p:cNvCxnSpPr>
          <p:nvPr/>
        </p:nvCxnSpPr>
        <p:spPr>
          <a:xfrm flipH="1">
            <a:off x="1619250" y="5488727"/>
            <a:ext cx="1371600" cy="3605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Прямая со стрелкой 27"/>
          <p:cNvCxnSpPr>
            <a:stCxn id="6" idx="2"/>
            <a:endCxn id="9" idx="0"/>
          </p:cNvCxnSpPr>
          <p:nvPr/>
        </p:nvCxnSpPr>
        <p:spPr>
          <a:xfrm>
            <a:off x="5353050" y="2924029"/>
            <a:ext cx="1314450" cy="46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Прямая со стрелкой 30"/>
          <p:cNvCxnSpPr>
            <a:stCxn id="6" idx="2"/>
            <a:endCxn id="8" idx="0"/>
          </p:cNvCxnSpPr>
          <p:nvPr/>
        </p:nvCxnSpPr>
        <p:spPr>
          <a:xfrm flipH="1">
            <a:off x="4095750" y="2924029"/>
            <a:ext cx="1257300" cy="46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Прямоугольник 33"/>
          <p:cNvSpPr/>
          <p:nvPr/>
        </p:nvSpPr>
        <p:spPr>
          <a:xfrm>
            <a:off x="4412969" y="4667756"/>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mtClean="0">
                <a:solidFill>
                  <a:srgbClr val="002060"/>
                </a:solidFill>
              </a:rPr>
              <a:t>выдать кредит</a:t>
            </a:r>
            <a:endParaRPr lang="ru-RU">
              <a:solidFill>
                <a:srgbClr val="002060"/>
              </a:solidFill>
            </a:endParaRPr>
          </a:p>
        </p:txBody>
      </p:sp>
      <p:sp>
        <p:nvSpPr>
          <p:cNvPr id="35" name="TextBox 34"/>
          <p:cNvSpPr txBox="1"/>
          <p:nvPr/>
        </p:nvSpPr>
        <p:spPr>
          <a:xfrm>
            <a:off x="5347263" y="1667198"/>
            <a:ext cx="914400" cy="369332"/>
          </a:xfrm>
          <a:prstGeom prst="rect">
            <a:avLst/>
          </a:prstGeom>
          <a:noFill/>
        </p:spPr>
        <p:txBody>
          <a:bodyPr wrap="square" rtlCol="0">
            <a:spAutoFit/>
          </a:bodyPr>
          <a:lstStyle/>
          <a:p>
            <a:r>
              <a:rPr lang="ru-RU" smtClean="0">
                <a:solidFill>
                  <a:srgbClr val="002060"/>
                </a:solidFill>
              </a:rPr>
              <a:t>нет</a:t>
            </a:r>
            <a:endParaRPr lang="ru-RU">
              <a:solidFill>
                <a:srgbClr val="002060"/>
              </a:solidFill>
            </a:endParaRPr>
          </a:p>
        </p:txBody>
      </p:sp>
      <p:sp>
        <p:nvSpPr>
          <p:cNvPr id="36" name="TextBox 35"/>
          <p:cNvSpPr txBox="1"/>
          <p:nvPr/>
        </p:nvSpPr>
        <p:spPr>
          <a:xfrm>
            <a:off x="3952875" y="2970778"/>
            <a:ext cx="914400" cy="369332"/>
          </a:xfrm>
          <a:prstGeom prst="rect">
            <a:avLst/>
          </a:prstGeom>
          <a:noFill/>
        </p:spPr>
        <p:txBody>
          <a:bodyPr wrap="square" rtlCol="0">
            <a:spAutoFit/>
          </a:bodyPr>
          <a:lstStyle/>
          <a:p>
            <a:r>
              <a:rPr lang="ru-RU" smtClean="0">
                <a:solidFill>
                  <a:srgbClr val="002060"/>
                </a:solidFill>
              </a:rPr>
              <a:t>нет</a:t>
            </a:r>
            <a:endParaRPr lang="ru-RU">
              <a:solidFill>
                <a:srgbClr val="002060"/>
              </a:solidFill>
            </a:endParaRPr>
          </a:p>
        </p:txBody>
      </p:sp>
      <p:cxnSp>
        <p:nvCxnSpPr>
          <p:cNvPr id="37" name="Прямая со стрелкой 36"/>
          <p:cNvCxnSpPr/>
          <p:nvPr/>
        </p:nvCxnSpPr>
        <p:spPr>
          <a:xfrm flipH="1">
            <a:off x="2800350" y="4202584"/>
            <a:ext cx="1257300" cy="4613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8" name="TextBox 37"/>
          <p:cNvSpPr txBox="1"/>
          <p:nvPr/>
        </p:nvSpPr>
        <p:spPr>
          <a:xfrm>
            <a:off x="2533650" y="4234861"/>
            <a:ext cx="914400" cy="369332"/>
          </a:xfrm>
          <a:prstGeom prst="rect">
            <a:avLst/>
          </a:prstGeom>
          <a:noFill/>
        </p:spPr>
        <p:txBody>
          <a:bodyPr wrap="square" rtlCol="0">
            <a:spAutoFit/>
          </a:bodyPr>
          <a:lstStyle/>
          <a:p>
            <a:r>
              <a:rPr lang="ru-RU" smtClean="0">
                <a:solidFill>
                  <a:srgbClr val="002060"/>
                </a:solidFill>
              </a:rPr>
              <a:t>нет</a:t>
            </a:r>
            <a:endParaRPr lang="ru-RU">
              <a:solidFill>
                <a:srgbClr val="002060"/>
              </a:solidFill>
            </a:endParaRPr>
          </a:p>
        </p:txBody>
      </p:sp>
      <p:sp>
        <p:nvSpPr>
          <p:cNvPr id="39" name="Прямоугольник 38"/>
          <p:cNvSpPr/>
          <p:nvPr/>
        </p:nvSpPr>
        <p:spPr>
          <a:xfrm>
            <a:off x="3074766" y="5835841"/>
            <a:ext cx="2209800" cy="820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ru-RU" smtClean="0">
                <a:solidFill>
                  <a:srgbClr val="002060"/>
                </a:solidFill>
              </a:rPr>
              <a:t>выдать кредит</a:t>
            </a:r>
            <a:endParaRPr lang="ru-RU">
              <a:solidFill>
                <a:srgbClr val="002060"/>
              </a:solidFill>
            </a:endParaRPr>
          </a:p>
        </p:txBody>
      </p:sp>
      <p:cxnSp>
        <p:nvCxnSpPr>
          <p:cNvPr id="45" name="Прямая со стрелкой 44"/>
          <p:cNvCxnSpPr>
            <a:stCxn id="12" idx="2"/>
            <a:endCxn id="39" idx="0"/>
          </p:cNvCxnSpPr>
          <p:nvPr/>
        </p:nvCxnSpPr>
        <p:spPr>
          <a:xfrm>
            <a:off x="2990850" y="5488727"/>
            <a:ext cx="1188816" cy="3471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1524000" y="5466509"/>
            <a:ext cx="914400" cy="369332"/>
          </a:xfrm>
          <a:prstGeom prst="rect">
            <a:avLst/>
          </a:prstGeom>
          <a:noFill/>
        </p:spPr>
        <p:txBody>
          <a:bodyPr wrap="square" rtlCol="0">
            <a:spAutoFit/>
          </a:bodyPr>
          <a:lstStyle/>
          <a:p>
            <a:r>
              <a:rPr lang="ru-RU" smtClean="0">
                <a:solidFill>
                  <a:srgbClr val="002060"/>
                </a:solidFill>
              </a:rPr>
              <a:t>нет</a:t>
            </a:r>
            <a:endParaRPr lang="ru-RU">
              <a:solidFill>
                <a:srgbClr val="002060"/>
              </a:solidFill>
            </a:endParaRPr>
          </a:p>
        </p:txBody>
      </p:sp>
      <p:sp>
        <p:nvSpPr>
          <p:cNvPr id="54" name="TextBox 53"/>
          <p:cNvSpPr txBox="1"/>
          <p:nvPr/>
        </p:nvSpPr>
        <p:spPr>
          <a:xfrm>
            <a:off x="3809156" y="5455795"/>
            <a:ext cx="914400" cy="369332"/>
          </a:xfrm>
          <a:prstGeom prst="rect">
            <a:avLst/>
          </a:prstGeom>
          <a:noFill/>
        </p:spPr>
        <p:txBody>
          <a:bodyPr wrap="square" rtlCol="0">
            <a:spAutoFit/>
          </a:bodyPr>
          <a:lstStyle/>
          <a:p>
            <a:r>
              <a:rPr lang="ru-RU" dirty="0" smtClean="0">
                <a:solidFill>
                  <a:srgbClr val="002060"/>
                </a:solidFill>
              </a:rPr>
              <a:t>да</a:t>
            </a:r>
            <a:endParaRPr lang="ru-RU" dirty="0">
              <a:solidFill>
                <a:srgbClr val="002060"/>
              </a:solidFill>
            </a:endParaRPr>
          </a:p>
        </p:txBody>
      </p:sp>
      <p:sp>
        <p:nvSpPr>
          <p:cNvPr id="55" name="TextBox 54"/>
          <p:cNvSpPr txBox="1"/>
          <p:nvPr/>
        </p:nvSpPr>
        <p:spPr>
          <a:xfrm>
            <a:off x="4968251" y="4179225"/>
            <a:ext cx="914400" cy="369332"/>
          </a:xfrm>
          <a:prstGeom prst="rect">
            <a:avLst/>
          </a:prstGeom>
          <a:noFill/>
        </p:spPr>
        <p:txBody>
          <a:bodyPr wrap="square" rtlCol="0">
            <a:spAutoFit/>
          </a:bodyPr>
          <a:lstStyle/>
          <a:p>
            <a:r>
              <a:rPr lang="ru-RU" dirty="0" smtClean="0">
                <a:solidFill>
                  <a:srgbClr val="002060"/>
                </a:solidFill>
              </a:rPr>
              <a:t>да</a:t>
            </a:r>
            <a:endParaRPr lang="ru-RU" dirty="0">
              <a:solidFill>
                <a:srgbClr val="002060"/>
              </a:solidFill>
            </a:endParaRPr>
          </a:p>
        </p:txBody>
      </p:sp>
      <p:sp>
        <p:nvSpPr>
          <p:cNvPr id="56" name="TextBox 55"/>
          <p:cNvSpPr txBox="1"/>
          <p:nvPr/>
        </p:nvSpPr>
        <p:spPr>
          <a:xfrm>
            <a:off x="6362700" y="2965182"/>
            <a:ext cx="914400" cy="369332"/>
          </a:xfrm>
          <a:prstGeom prst="rect">
            <a:avLst/>
          </a:prstGeom>
          <a:noFill/>
        </p:spPr>
        <p:txBody>
          <a:bodyPr wrap="square" rtlCol="0">
            <a:spAutoFit/>
          </a:bodyPr>
          <a:lstStyle/>
          <a:p>
            <a:r>
              <a:rPr lang="ru-RU" dirty="0" smtClean="0">
                <a:solidFill>
                  <a:srgbClr val="002060"/>
                </a:solidFill>
              </a:rPr>
              <a:t>да</a:t>
            </a:r>
            <a:endParaRPr lang="ru-RU" dirty="0">
              <a:solidFill>
                <a:srgbClr val="002060"/>
              </a:solidFill>
            </a:endParaRPr>
          </a:p>
        </p:txBody>
      </p:sp>
      <p:sp>
        <p:nvSpPr>
          <p:cNvPr id="57" name="TextBox 56"/>
          <p:cNvSpPr txBox="1"/>
          <p:nvPr/>
        </p:nvSpPr>
        <p:spPr>
          <a:xfrm>
            <a:off x="7471338" y="1633681"/>
            <a:ext cx="914400" cy="369332"/>
          </a:xfrm>
          <a:prstGeom prst="rect">
            <a:avLst/>
          </a:prstGeom>
          <a:noFill/>
        </p:spPr>
        <p:txBody>
          <a:bodyPr wrap="square" rtlCol="0">
            <a:spAutoFit/>
          </a:bodyPr>
          <a:lstStyle/>
          <a:p>
            <a:r>
              <a:rPr lang="ru-RU" dirty="0" smtClean="0">
                <a:solidFill>
                  <a:srgbClr val="002060"/>
                </a:solidFill>
              </a:rPr>
              <a:t>да</a:t>
            </a:r>
            <a:endParaRPr lang="ru-RU" dirty="0">
              <a:solidFill>
                <a:srgbClr val="002060"/>
              </a:solidFill>
            </a:endParaRPr>
          </a:p>
        </p:txBody>
      </p:sp>
      <p:sp>
        <p:nvSpPr>
          <p:cNvPr id="32" name="Заголовок 1"/>
          <p:cNvSpPr txBox="1">
            <a:spLocks/>
          </p:cNvSpPr>
          <p:nvPr/>
        </p:nvSpPr>
        <p:spPr>
          <a:xfrm>
            <a:off x="0" y="151895"/>
            <a:ext cx="12191999" cy="54899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ru-RU" b="1" smtClean="0"/>
              <a:t>Деревья решений </a:t>
            </a:r>
            <a:endParaRPr lang="ru-RU" b="1" dirty="0"/>
          </a:p>
        </p:txBody>
      </p:sp>
    </p:spTree>
    <p:extLst>
      <p:ext uri="{BB962C8B-B14F-4D97-AF65-F5344CB8AC3E}">
        <p14:creationId xmlns:p14="http://schemas.microsoft.com/office/powerpoint/2010/main" val="12182055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решений </a:t>
            </a:r>
          </a:p>
        </p:txBody>
      </p:sp>
      <mc:AlternateContent xmlns:mc="http://schemas.openxmlformats.org/markup-compatibility/2006" xmlns:a14="http://schemas.microsoft.com/office/drawing/2010/main">
        <mc:Choice Requires="a14">
          <p:sp>
            <p:nvSpPr>
              <p:cNvPr id="2" name="Прямоугольник 1"/>
              <p:cNvSpPr/>
              <p:nvPr/>
            </p:nvSpPr>
            <p:spPr>
              <a:xfrm>
                <a:off x="1962615" y="729014"/>
                <a:ext cx="10229385" cy="4923399"/>
              </a:xfrm>
              <a:prstGeom prst="rect">
                <a:avLst/>
              </a:prstGeom>
            </p:spPr>
            <p:txBody>
              <a:bodyPr wrap="square">
                <a:spAutoFit/>
              </a:bodyPr>
              <a:lstStyle/>
              <a:p>
                <a:r>
                  <a:rPr lang="ru-RU" sz="2400" b="1" dirty="0" smtClean="0"/>
                  <a:t>Построение дерева. </a:t>
                </a:r>
                <a:r>
                  <a:rPr lang="ru-RU" sz="2400" dirty="0"/>
                  <a:t>Пусть имеется обучающая выборка: </a:t>
                </a:r>
              </a:p>
              <a:p>
                <a:pPr/>
                <a14:m>
                  <m:oMathPara xmlns:m="http://schemas.openxmlformats.org/officeDocument/2006/math">
                    <m:oMathParaPr>
                      <m:jc m:val="centerGroup"/>
                    </m:oMathParaPr>
                    <m:oMath xmlns:m="http://schemas.openxmlformats.org/officeDocument/2006/math">
                      <m:r>
                        <a:rPr lang="ru-RU" sz="2400" i="1">
                          <a:latin typeface="Cambria Math" charset="0"/>
                        </a:rPr>
                        <m:t>𝑇</m:t>
                      </m:r>
                      <m:r>
                        <a:rPr lang="ru-RU" sz="2400" i="1">
                          <a:latin typeface="Cambria Math" charset="0"/>
                        </a:rPr>
                        <m:t> = </m:t>
                      </m:r>
                      <m:d>
                        <m:dPr>
                          <m:begChr m:val="{"/>
                          <m:endChr m:val="}"/>
                          <m:ctrlPr>
                            <a:rPr lang="ru-RU" sz="2400" i="1">
                              <a:latin typeface="Cambria Math" charset="0"/>
                            </a:rPr>
                          </m:ctrlPr>
                        </m:dPr>
                        <m:e>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 </m:t>
                          </m:r>
                          <m:r>
                            <a:rPr lang="ru-RU" sz="2400" i="1">
                              <a:latin typeface="Cambria Math" charset="0"/>
                            </a:rPr>
                            <m:t>𝑓</m:t>
                          </m:r>
                          <m:d>
                            <m:dPr>
                              <m:ctrlPr>
                                <a:rPr lang="ru-RU" sz="2400" i="1">
                                  <a:latin typeface="Cambria Math" charset="0"/>
                                </a:rPr>
                              </m:ctrlPr>
                            </m:dPr>
                            <m:e>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e>
                          </m:d>
                          <m:r>
                            <a:rPr lang="ru-RU" sz="2400" i="1">
                              <a:latin typeface="Cambria Math" charset="0"/>
                            </a:rPr>
                            <m:t> =</m:t>
                          </m:r>
                          <m:sSub>
                            <m:sSubPr>
                              <m:ctrlPr>
                                <a:rPr lang="ru-RU" sz="2400" i="1">
                                  <a:latin typeface="Cambria Math" charset="0"/>
                                </a:rPr>
                              </m:ctrlPr>
                            </m:sSubPr>
                            <m:e>
                              <m:r>
                                <a:rPr lang="ru-RU" sz="2400" i="1">
                                  <a:latin typeface="Cambria Math" charset="0"/>
                                </a:rPr>
                                <m:t>ɷ</m:t>
                              </m:r>
                            </m:e>
                            <m:sub>
                              <m:r>
                                <a:rPr lang="ru-RU" sz="2400" i="1">
                                  <a:latin typeface="Cambria Math" charset="0"/>
                                </a:rPr>
                                <m:t>𝑖</m:t>
                              </m:r>
                            </m:sub>
                          </m:sSub>
                        </m:e>
                      </m:d>
                      <m:r>
                        <a:rPr lang="ru-RU" sz="2400" i="1">
                          <a:latin typeface="Cambria Math" charset="0"/>
                        </a:rPr>
                        <m:t>,</m:t>
                      </m:r>
                    </m:oMath>
                  </m:oMathPara>
                </a14:m>
                <a:endParaRPr lang="ru-RU" sz="2400" dirty="0"/>
              </a:p>
              <a:p>
                <a:pPr algn="just"/>
                <a:r>
                  <a:rPr lang="ru-RU" sz="2400" dirty="0"/>
                  <a:t>где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oMath>
                </a14:m>
                <a:r>
                  <a:rPr lang="ru-RU" sz="2400" i="1" dirty="0"/>
                  <a:t> – </a:t>
                </a:r>
                <a:r>
                  <a:rPr lang="ru-RU" sz="2400" dirty="0"/>
                  <a:t>переменные, каждой из которых соответствуют некоторый набор атрибутов </a:t>
                </a:r>
                <a14:m>
                  <m:oMath xmlns:m="http://schemas.openxmlformats.org/officeDocument/2006/math">
                    <m:sSub>
                      <m:sSubPr>
                        <m:ctrlPr>
                          <a:rPr lang="ru-RU" sz="2400" i="1">
                            <a:latin typeface="Cambria Math" charset="0"/>
                          </a:rPr>
                        </m:ctrlPr>
                      </m:sSubPr>
                      <m:e>
                        <m:r>
                          <a:rPr lang="ru-RU" sz="2400" i="1">
                            <a:latin typeface="Cambria Math" charset="0"/>
                          </a:rPr>
                          <m:t>𝑄</m:t>
                        </m:r>
                      </m:e>
                      <m:sub>
                        <m:r>
                          <a:rPr lang="ru-RU" sz="2400" i="1">
                            <a:latin typeface="Cambria Math" charset="0"/>
                          </a:rPr>
                          <m:t>𝑖</m:t>
                        </m:r>
                      </m:sub>
                    </m:sSub>
                    <m:r>
                      <a:rPr lang="ru-RU" sz="2400" i="1">
                        <a:latin typeface="Cambria Math" charset="0"/>
                      </a:rPr>
                      <m:t>= {</m:t>
                    </m:r>
                    <m:sSub>
                      <m:sSubPr>
                        <m:ctrlPr>
                          <a:rPr lang="ru-RU" sz="2400" i="1">
                            <a:latin typeface="Cambria Math" charset="0"/>
                          </a:rPr>
                        </m:ctrlPr>
                      </m:sSubPr>
                      <m:e>
                        <m:r>
                          <a:rPr lang="ru-RU" sz="2400" i="1">
                            <a:latin typeface="Cambria Math" charset="0"/>
                          </a:rPr>
                          <m:t>𝑄</m:t>
                        </m:r>
                      </m:e>
                      <m:sub>
                        <m:r>
                          <a:rPr lang="en-US" sz="2400" i="1">
                            <a:latin typeface="Cambria Math" charset="0"/>
                          </a:rPr>
                          <m:t>𝑗</m:t>
                        </m:r>
                      </m:sub>
                    </m:sSub>
                    <m:r>
                      <a:rPr lang="ru-RU" sz="2400" i="1">
                        <a:latin typeface="Cambria Math" charset="0"/>
                      </a:rPr>
                      <m:t>, </m:t>
                    </m:r>
                    <m:r>
                      <a:rPr lang="ru-RU" sz="2400" i="1">
                        <a:latin typeface="Cambria Math" charset="0"/>
                      </a:rPr>
                      <m:t>𝑗</m:t>
                    </m:r>
                    <m:r>
                      <a:rPr lang="ru-RU" sz="2400" i="1">
                        <a:latin typeface="Cambria Math" charset="0"/>
                      </a:rPr>
                      <m:t> = 1, …, </m:t>
                    </m:r>
                    <m:r>
                      <a:rPr lang="ru-RU" sz="2400" i="1">
                        <a:latin typeface="Cambria Math" charset="0"/>
                      </a:rPr>
                      <m:t>𝑞</m:t>
                    </m:r>
                    <m:r>
                      <a:rPr lang="ru-RU" sz="2400" i="1">
                        <a:latin typeface="Cambria Math" charset="0"/>
                      </a:rPr>
                      <m:t>},</m:t>
                    </m:r>
                  </m:oMath>
                </a14:m>
                <a:r>
                  <a:rPr lang="ru-RU" sz="2400" dirty="0"/>
                  <a:t> </a:t>
                </a:r>
                <a14:m>
                  <m:oMath xmlns:m="http://schemas.openxmlformats.org/officeDocument/2006/math">
                    <m:sSub>
                      <m:sSubPr>
                        <m:ctrlPr>
                          <a:rPr lang="ru-RU" sz="2400" b="1" i="1">
                            <a:latin typeface="Cambria Math" charset="0"/>
                          </a:rPr>
                        </m:ctrlPr>
                      </m:sSubPr>
                      <m:e>
                        <m:r>
                          <a:rPr lang="ru-RU" sz="2400" i="1">
                            <a:latin typeface="Cambria Math" charset="0"/>
                          </a:rPr>
                          <m:t>ɷ</m:t>
                        </m:r>
                      </m:e>
                      <m:sub>
                        <m:r>
                          <a:rPr lang="ru-RU" sz="2400" i="1">
                            <a:latin typeface="Cambria Math" charset="0"/>
                          </a:rPr>
                          <m:t>𝑖</m:t>
                        </m:r>
                      </m:sub>
                    </m:sSub>
                  </m:oMath>
                </a14:m>
                <a:r>
                  <a:rPr lang="en-US" sz="2400" b="1" dirty="0"/>
                  <a:t> </a:t>
                </a:r>
                <a:r>
                  <a:rPr lang="ru-RU" sz="2400" dirty="0"/>
                  <a:t>– классы, которым принадлежат переменные, </a:t>
                </a:r>
                <a14:m>
                  <m:oMath xmlns:m="http://schemas.openxmlformats.org/officeDocument/2006/math">
                    <m:r>
                      <a:rPr lang="ru-RU" sz="2400" i="1">
                        <a:latin typeface="Cambria Math" charset="0"/>
                      </a:rPr>
                      <m:t>𝑓</m:t>
                    </m:r>
                    <m:d>
                      <m:dPr>
                        <m:ctrlPr>
                          <a:rPr lang="ru-RU" sz="2400" i="1">
                            <a:latin typeface="Cambria Math" charset="0"/>
                          </a:rPr>
                        </m:ctrlPr>
                      </m:dPr>
                      <m:e>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e>
                    </m:d>
                    <m:r>
                      <a:rPr lang="ru-RU" sz="2400" i="1">
                        <a:latin typeface="Cambria Math" charset="0"/>
                      </a:rPr>
                      <m:t> −</m:t>
                    </m:r>
                  </m:oMath>
                </a14:m>
                <a:r>
                  <a:rPr lang="ru-RU" sz="2400" dirty="0"/>
                  <a:t> искомая целевая функция.</a:t>
                </a:r>
              </a:p>
              <a:p>
                <a:pPr algn="ctr"/>
                <a:r>
                  <a:rPr lang="ru-RU" sz="2400" dirty="0"/>
                  <a:t>Алгоритм построения ДР выглядит следующим образом: </a:t>
                </a:r>
              </a:p>
              <a:p>
                <a:pPr algn="just"/>
                <a:r>
                  <a:rPr lang="ru-RU" sz="2400" i="1" dirty="0"/>
                  <a:t>Шаг 1.</a:t>
                </a:r>
                <a:r>
                  <a:rPr lang="ru-RU" sz="2400" dirty="0"/>
                  <a:t> Выбрать переменную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en-US" sz="2400">
                        <a:latin typeface="Cambria Math" charset="0"/>
                      </a:rPr>
                      <m:t> </m:t>
                    </m:r>
                  </m:oMath>
                </a14:m>
                <a:r>
                  <a:rPr lang="ru-RU" sz="2400" dirty="0"/>
                  <a:t>и поместить ее в корень дерева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oMath>
                </a14:m>
                <a:r>
                  <a:rPr lang="ru-RU" sz="2400" dirty="0"/>
                  <a:t> имеет </a:t>
                </a:r>
                <a14:m>
                  <m:oMath xmlns:m="http://schemas.openxmlformats.org/officeDocument/2006/math">
                    <m:r>
                      <a:rPr lang="ru-RU" sz="2400" i="1">
                        <a:latin typeface="Cambria Math" charset="0"/>
                      </a:rPr>
                      <m:t>𝑛</m:t>
                    </m:r>
                  </m:oMath>
                </a14:m>
                <a:r>
                  <a:rPr lang="ru-RU" sz="2400" i="1" dirty="0"/>
                  <a:t> </a:t>
                </a:r>
                <a:r>
                  <a:rPr lang="ru-RU" sz="2400" dirty="0"/>
                  <a:t>значений, что позволяет разбить обучающую выборку </a:t>
                </a:r>
                <a14:m>
                  <m:oMath xmlns:m="http://schemas.openxmlformats.org/officeDocument/2006/math">
                    <m:r>
                      <a:rPr lang="ru-RU" sz="2400" i="1">
                        <a:latin typeface="Cambria Math" charset="0"/>
                      </a:rPr>
                      <m:t>𝑇</m:t>
                    </m:r>
                  </m:oMath>
                </a14:m>
                <a:r>
                  <a:rPr lang="ru-RU" sz="2400" dirty="0"/>
                  <a:t> на </a:t>
                </a:r>
                <a14:m>
                  <m:oMath xmlns:m="http://schemas.openxmlformats.org/officeDocument/2006/math">
                    <m:r>
                      <a:rPr lang="ru-RU" sz="2400" i="1">
                        <a:latin typeface="Cambria Math" charset="0"/>
                      </a:rPr>
                      <m:t>𝑛</m:t>
                    </m:r>
                  </m:oMath>
                </a14:m>
                <a:r>
                  <a:rPr lang="ru-RU" sz="2400" i="1" dirty="0"/>
                  <a:t> </a:t>
                </a:r>
                <a:r>
                  <a:rPr lang="ru-RU" sz="2400" dirty="0"/>
                  <a:t>подмножеств). </a:t>
                </a:r>
              </a:p>
              <a:p>
                <a:pPr algn="just"/>
                <a:r>
                  <a:rPr lang="ru-RU" sz="2400" i="1" dirty="0"/>
                  <a:t>Шаг 2.</a:t>
                </a:r>
                <a:r>
                  <a:rPr lang="ru-RU" sz="2400" dirty="0"/>
                  <a:t> Построить </a:t>
                </a:r>
                <a14:m>
                  <m:oMath xmlns:m="http://schemas.openxmlformats.org/officeDocument/2006/math">
                    <m:r>
                      <a:rPr lang="ru-RU" sz="2400" i="1">
                        <a:latin typeface="Cambria Math" charset="0"/>
                      </a:rPr>
                      <m:t>𝑛</m:t>
                    </m:r>
                  </m:oMath>
                </a14:m>
                <a:r>
                  <a:rPr lang="ru-RU" sz="2400" i="1" dirty="0"/>
                  <a:t> </a:t>
                </a:r>
                <a:r>
                  <a:rPr lang="ru-RU" sz="2400" dirty="0"/>
                  <a:t>потомков корня, каждому из которых поставлено в соответствие свое подмножество, полученное при разбиении </a:t>
                </a:r>
                <a14:m>
                  <m:oMath xmlns:m="http://schemas.openxmlformats.org/officeDocument/2006/math">
                    <m:r>
                      <a:rPr lang="ru-RU" sz="2400" i="1">
                        <a:latin typeface="Cambria Math" charset="0"/>
                      </a:rPr>
                      <m:t>𝑇</m:t>
                    </m:r>
                    <m:r>
                      <a:rPr lang="ru-RU" sz="2400" i="1">
                        <a:latin typeface="Cambria Math" charset="0"/>
                      </a:rPr>
                      <m:t>.</m:t>
                    </m:r>
                  </m:oMath>
                </a14:m>
                <a:r>
                  <a:rPr lang="ru-RU" sz="2400" dirty="0"/>
                  <a:t> </a:t>
                </a:r>
              </a:p>
              <a:p>
                <a:pPr algn="just"/>
                <a:r>
                  <a:rPr lang="ru-RU" sz="2400" i="1" dirty="0"/>
                  <a:t>Шаг 3.</a:t>
                </a:r>
                <a:r>
                  <a:rPr lang="ru-RU" sz="2400" dirty="0"/>
                  <a:t> Вернуться к </a:t>
                </a:r>
                <a:r>
                  <a:rPr lang="ru-RU" sz="2400" i="1" dirty="0"/>
                  <a:t>Шагу 1</a:t>
                </a:r>
                <a:r>
                  <a:rPr lang="ru-RU" sz="2400" dirty="0"/>
                  <a:t> и повторить для всех </a:t>
                </a:r>
                <a14:m>
                  <m:oMath xmlns:m="http://schemas.openxmlformats.org/officeDocument/2006/math">
                    <m:r>
                      <a:rPr lang="ru-RU" sz="2400" i="1">
                        <a:latin typeface="Cambria Math" charset="0"/>
                      </a:rPr>
                      <m:t>𝑖</m:t>
                    </m:r>
                  </m:oMath>
                </a14:m>
                <a:r>
                  <a:rPr lang="ru-RU" sz="2400" i="1" dirty="0"/>
                  <a:t> Шаги 1</a:t>
                </a:r>
                <a:r>
                  <a:rPr lang="ru-RU" sz="2400" dirty="0"/>
                  <a:t> и </a:t>
                </a:r>
                <a:r>
                  <a:rPr lang="ru-RU" sz="2400" i="1" dirty="0"/>
                  <a:t>2</a:t>
                </a:r>
                <a:r>
                  <a:rPr lang="ru-RU" sz="2400" dirty="0"/>
                  <a:t>, пока: </a:t>
                </a:r>
              </a:p>
              <a:p>
                <a:pPr marL="342900" lvl="0" indent="-342900">
                  <a:buFont typeface="Wingdings" charset="2"/>
                  <a:buChar char="ü"/>
                </a:pPr>
                <a:r>
                  <a:rPr lang="ru-RU" sz="2400" dirty="0"/>
                  <a:t>в вершине не окажутся примеры из одного класса; </a:t>
                </a:r>
              </a:p>
              <a:p>
                <a:pPr marL="342900" lvl="0" indent="-342900">
                  <a:buFont typeface="Wingdings" charset="2"/>
                  <a:buChar char="ü"/>
                </a:pPr>
                <a:r>
                  <a:rPr lang="ru-RU" sz="2400" dirty="0"/>
                  <a:t>вершина оказалась ассоциированной с пустым множеством. </a:t>
                </a:r>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962615" y="729014"/>
                <a:ext cx="10229385" cy="4923399"/>
              </a:xfrm>
              <a:prstGeom prst="rect">
                <a:avLst/>
              </a:prstGeom>
              <a:blipFill rotWithShape="0">
                <a:blip r:embed="rId2"/>
                <a:stretch>
                  <a:fillRect l="-954" t="-2354" r="-894" b="-1983"/>
                </a:stretch>
              </a:blipFill>
            </p:spPr>
            <p:txBody>
              <a:bodyPr/>
              <a:lstStyle/>
              <a:p>
                <a:r>
                  <a:rPr lang="ru-RU">
                    <a:noFill/>
                  </a:rPr>
                  <a:t> </a:t>
                </a:r>
              </a:p>
            </p:txBody>
          </p:sp>
        </mc:Fallback>
      </mc:AlternateContent>
    </p:spTree>
    <p:extLst>
      <p:ext uri="{BB962C8B-B14F-4D97-AF65-F5344CB8AC3E}">
        <p14:creationId xmlns:p14="http://schemas.microsoft.com/office/powerpoint/2010/main" val="88490457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a:t>
            </a:r>
            <a:r>
              <a:rPr lang="ru-RU" b="1" dirty="0" smtClean="0"/>
              <a:t>решений. </a:t>
            </a:r>
            <a:r>
              <a:rPr lang="ru-RU" i="1" dirty="0"/>
              <a:t>Алгоритм ID3</a:t>
            </a:r>
            <a:r>
              <a:rPr lang="ru-RU" dirty="0"/>
              <a:t> </a:t>
            </a:r>
            <a:r>
              <a:rPr lang="ru-RU" b="1" dirty="0" smtClean="0"/>
              <a:t> </a:t>
            </a:r>
            <a:endParaRPr lang="ru-RU" b="1" dirty="0"/>
          </a:p>
        </p:txBody>
      </p:sp>
      <mc:AlternateContent xmlns:mc="http://schemas.openxmlformats.org/markup-compatibility/2006" xmlns:a14="http://schemas.microsoft.com/office/drawing/2010/main">
        <mc:Choice Requires="a14">
          <p:sp>
            <p:nvSpPr>
              <p:cNvPr id="2" name="Прямоугольник 1"/>
              <p:cNvSpPr/>
              <p:nvPr/>
            </p:nvSpPr>
            <p:spPr>
              <a:xfrm>
                <a:off x="1962615" y="729014"/>
                <a:ext cx="10229385" cy="5690084"/>
              </a:xfrm>
              <a:prstGeom prst="rect">
                <a:avLst/>
              </a:prstGeom>
            </p:spPr>
            <p:txBody>
              <a:bodyPr wrap="square">
                <a:spAutoFit/>
              </a:bodyPr>
              <a:lstStyle/>
              <a:p>
                <a:pPr algn="just"/>
                <a:r>
                  <a:rPr lang="ru-RU" sz="2400" dirty="0" smtClean="0"/>
                  <a:t>      Алгоритм </a:t>
                </a:r>
                <a:r>
                  <a:rPr lang="ru-RU" sz="2400" dirty="0"/>
                  <a:t>ID3 (</a:t>
                </a:r>
                <a:r>
                  <a:rPr lang="ru-RU" sz="2400" dirty="0" err="1"/>
                  <a:t>Iterative</a:t>
                </a:r>
                <a:r>
                  <a:rPr lang="ru-RU" sz="2400" dirty="0"/>
                  <a:t> </a:t>
                </a:r>
                <a:r>
                  <a:rPr lang="ru-RU" sz="2400" dirty="0" err="1"/>
                  <a:t>Dichotomizer</a:t>
                </a:r>
                <a:r>
                  <a:rPr lang="ru-RU" sz="2400" dirty="0"/>
                  <a:t>) устанавливает порядок переменной и ее атрибутов на основе их информационной </a:t>
                </a:r>
                <a:r>
                  <a:rPr lang="ru-RU" sz="2400" dirty="0" smtClean="0"/>
                  <a:t>энтропии. </a:t>
                </a:r>
                <a:r>
                  <a:rPr lang="ru-RU" sz="2400" dirty="0"/>
                  <a:t>Энтропию при условии не равновероятных событий </a:t>
                </a:r>
                <a14:m>
                  <m:oMath xmlns:m="http://schemas.openxmlformats.org/officeDocument/2006/math">
                    <m:sSub>
                      <m:sSubPr>
                        <m:ctrlPr>
                          <a:rPr lang="ru-RU" sz="2400" i="1">
                            <a:latin typeface="Cambria Math" charset="0"/>
                          </a:rPr>
                        </m:ctrlPr>
                      </m:sSubPr>
                      <m:e>
                        <m:r>
                          <a:rPr lang="ru-RU" sz="2400" i="1">
                            <a:latin typeface="Cambria Math" charset="0"/>
                          </a:rPr>
                          <m:t>𝑝</m:t>
                        </m:r>
                      </m:e>
                      <m:sub>
                        <m:r>
                          <a:rPr lang="ru-RU" sz="2400" i="1">
                            <a:latin typeface="Cambria Math" charset="0"/>
                          </a:rPr>
                          <m:t>𝑖</m:t>
                        </m:r>
                      </m:sub>
                    </m:sSub>
                  </m:oMath>
                </a14:m>
                <a:r>
                  <a:rPr lang="en-US" sz="2400" i="1" dirty="0"/>
                  <a:t> </a:t>
                </a:r>
                <a:r>
                  <a:rPr lang="ru-RU" sz="2400" dirty="0"/>
                  <a:t>вычисляют по формуле Шеннона: </a:t>
                </a:r>
              </a:p>
              <a:p>
                <a:pPr/>
                <a14:m>
                  <m:oMathPara xmlns:m="http://schemas.openxmlformats.org/officeDocument/2006/math">
                    <m:oMathParaPr>
                      <m:jc m:val="right"/>
                    </m:oMathParaPr>
                    <m:oMath xmlns:m="http://schemas.openxmlformats.org/officeDocument/2006/math">
                      <m:r>
                        <a:rPr lang="ru-RU" sz="2400" i="1">
                          <a:latin typeface="Cambria Math" charset="0"/>
                        </a:rPr>
                        <m:t>𝐼</m:t>
                      </m:r>
                      <m:r>
                        <a:rPr lang="ru-RU" sz="2400" i="1">
                          <a:latin typeface="Cambria Math" charset="0"/>
                        </a:rPr>
                        <m:t> = −</m:t>
                      </m:r>
                      <m:nary>
                        <m:naryPr>
                          <m:chr m:val="∑"/>
                          <m:supHide m:val="on"/>
                          <m:ctrlPr>
                            <a:rPr lang="ru-RU" sz="2400" i="1">
                              <a:latin typeface="Cambria Math" charset="0"/>
                            </a:rPr>
                          </m:ctrlPr>
                        </m:naryPr>
                        <m:sub>
                          <m:r>
                            <a:rPr lang="en-US" sz="2400" i="1">
                              <a:latin typeface="Cambria Math" charset="0"/>
                            </a:rPr>
                            <m:t>𝑖</m:t>
                          </m:r>
                        </m:sub>
                        <m:sup/>
                        <m:e>
                          <m:sSub>
                            <m:sSubPr>
                              <m:ctrlPr>
                                <a:rPr lang="ru-RU" sz="2400" i="1">
                                  <a:latin typeface="Cambria Math" charset="0"/>
                                </a:rPr>
                              </m:ctrlPr>
                            </m:sSubPr>
                            <m:e>
                              <m:r>
                                <a:rPr lang="ru-RU" sz="2400" i="1">
                                  <a:latin typeface="Cambria Math" charset="0"/>
                                </a:rPr>
                                <m:t>𝑝</m:t>
                              </m:r>
                            </m:e>
                            <m:sub>
                              <m:r>
                                <a:rPr lang="ru-RU" sz="2400" i="1">
                                  <a:latin typeface="Cambria Math" charset="0"/>
                                </a:rPr>
                                <m:t>𝑖</m:t>
                              </m:r>
                            </m:sub>
                          </m:sSub>
                        </m:e>
                      </m:nary>
                      <m:sSub>
                        <m:sSubPr>
                          <m:ctrlPr>
                            <a:rPr lang="ru-RU" sz="2400" i="1">
                              <a:latin typeface="Cambria Math" charset="0"/>
                            </a:rPr>
                          </m:ctrlPr>
                        </m:sSubPr>
                        <m:e>
                          <m:r>
                            <a:rPr lang="ru-RU" sz="2400" i="1">
                              <a:latin typeface="Cambria Math" charset="0"/>
                            </a:rPr>
                            <m:t>𝑙𝑜𝑔</m:t>
                          </m:r>
                        </m:e>
                        <m:sub>
                          <m:r>
                            <a:rPr lang="ru-RU" sz="2400" i="1">
                              <a:latin typeface="Cambria Math" charset="0"/>
                            </a:rPr>
                            <m:t>2</m:t>
                          </m:r>
                        </m:sub>
                      </m:sSub>
                      <m:sSub>
                        <m:sSubPr>
                          <m:ctrlPr>
                            <a:rPr lang="ru-RU" sz="2400" i="1">
                              <a:latin typeface="Cambria Math" charset="0"/>
                            </a:rPr>
                          </m:ctrlPr>
                        </m:sSubPr>
                        <m:e>
                          <m:r>
                            <a:rPr lang="ru-RU" sz="2400" i="1">
                              <a:latin typeface="Cambria Math" charset="0"/>
                            </a:rPr>
                            <m:t>𝑝</m:t>
                          </m:r>
                        </m:e>
                        <m:sub>
                          <m:r>
                            <a:rPr lang="ru-RU" sz="2400" i="1">
                              <a:latin typeface="Cambria Math" charset="0"/>
                            </a:rPr>
                            <m:t>𝑖</m:t>
                          </m:r>
                        </m:sub>
                      </m:sSub>
                      <m:r>
                        <a:rPr lang="ru-RU" sz="2400" i="1">
                          <a:latin typeface="Cambria Math" charset="0"/>
                        </a:rPr>
                        <m:t>,</m:t>
                      </m:r>
                      <m:r>
                        <a:rPr lang="ru-RU" sz="2400" b="0" i="1" smtClean="0">
                          <a:latin typeface="Cambria Math" charset="0"/>
                        </a:rPr>
                        <m:t>                                </m:t>
                      </m:r>
                      <m:r>
                        <a:rPr lang="ru-RU" sz="2400" i="1">
                          <a:latin typeface="Cambria Math" charset="0"/>
                        </a:rPr>
                        <m:t>(4.1</m:t>
                      </m:r>
                      <m:r>
                        <a:rPr lang="ru-RU" sz="2400" b="0" i="1" smtClean="0">
                          <a:latin typeface="Cambria Math" charset="0"/>
                        </a:rPr>
                        <m:t>)</m:t>
                      </m:r>
                    </m:oMath>
                  </m:oMathPara>
                </a14:m>
                <a:endParaRPr lang="ru-RU" sz="2400" dirty="0"/>
              </a:p>
              <a:p>
                <a:pPr algn="just"/>
                <a:r>
                  <a:rPr lang="ru-RU" sz="2400" dirty="0"/>
                  <a:t>где </a:t>
                </a:r>
                <a14:m>
                  <m:oMath xmlns:m="http://schemas.openxmlformats.org/officeDocument/2006/math">
                    <m:r>
                      <a:rPr lang="ru-RU" sz="2400" i="1">
                        <a:latin typeface="Cambria Math" charset="0"/>
                      </a:rPr>
                      <m:t>𝐼</m:t>
                    </m:r>
                  </m:oMath>
                </a14:m>
                <a:r>
                  <a:rPr lang="ru-RU" sz="2400" i="1" dirty="0"/>
                  <a:t> – </a:t>
                </a:r>
                <a:r>
                  <a:rPr lang="ru-RU" sz="2400" dirty="0"/>
                  <a:t>количество информации в битах, которую можно передать, используя </a:t>
                </a:r>
                <a14:m>
                  <m:oMath xmlns:m="http://schemas.openxmlformats.org/officeDocument/2006/math">
                    <m:r>
                      <a:rPr lang="ru-RU" sz="2400" i="1">
                        <a:latin typeface="Cambria Math" charset="0"/>
                      </a:rPr>
                      <m:t>𝑚</m:t>
                    </m:r>
                  </m:oMath>
                </a14:m>
                <a:r>
                  <a:rPr lang="ru-RU" sz="2400" i="1" dirty="0"/>
                  <a:t> </a:t>
                </a:r>
                <a:r>
                  <a:rPr lang="ru-RU" sz="2400" dirty="0"/>
                  <a:t>элементов в сообщении при </a:t>
                </a:r>
                <a14:m>
                  <m:oMath xmlns:m="http://schemas.openxmlformats.org/officeDocument/2006/math">
                    <m:r>
                      <a:rPr lang="ru-RU" sz="2400" i="1">
                        <a:latin typeface="Cambria Math" charset="0"/>
                      </a:rPr>
                      <m:t>𝑛</m:t>
                    </m:r>
                  </m:oMath>
                </a14:m>
                <a:r>
                  <a:rPr lang="ru-RU" sz="2400" i="1" dirty="0"/>
                  <a:t> </a:t>
                </a:r>
                <a:r>
                  <a:rPr lang="ru-RU" sz="2400" dirty="0"/>
                  <a:t>буквах в алфавите, </a:t>
                </a:r>
                <a14:m>
                  <m:oMath xmlns:m="http://schemas.openxmlformats.org/officeDocument/2006/math">
                    <m:sSub>
                      <m:sSubPr>
                        <m:ctrlPr>
                          <a:rPr lang="ru-RU" sz="2400" i="1">
                            <a:latin typeface="Cambria Math" charset="0"/>
                          </a:rPr>
                        </m:ctrlPr>
                      </m:sSubPr>
                      <m:e>
                        <m:r>
                          <a:rPr lang="ru-RU" sz="2400" i="1">
                            <a:latin typeface="Cambria Math" charset="0"/>
                          </a:rPr>
                          <m:t>𝑝</m:t>
                        </m:r>
                      </m:e>
                      <m:sub>
                        <m:r>
                          <a:rPr lang="ru-RU" sz="2400" i="1">
                            <a:latin typeface="Cambria Math" charset="0"/>
                          </a:rPr>
                          <m:t>𝑖</m:t>
                        </m:r>
                      </m:sub>
                    </m:sSub>
                    <m:r>
                      <a:rPr lang="ru-RU" sz="2400" i="1">
                        <a:latin typeface="Cambria Math" charset="0"/>
                      </a:rPr>
                      <m:t>= </m:t>
                    </m:r>
                    <m:r>
                      <a:rPr lang="ru-RU" sz="2400" i="1">
                        <a:latin typeface="Cambria Math" charset="0"/>
                      </a:rPr>
                      <m:t>𝑚</m:t>
                    </m:r>
                    <m:r>
                      <a:rPr lang="ru-RU" sz="2400" i="1">
                        <a:latin typeface="Cambria Math" charset="0"/>
                      </a:rPr>
                      <m:t>/</m:t>
                    </m:r>
                    <m:r>
                      <a:rPr lang="ru-RU" sz="2400" i="1">
                        <a:latin typeface="Cambria Math" charset="0"/>
                      </a:rPr>
                      <m:t>𝑛</m:t>
                    </m:r>
                    <m:r>
                      <a:rPr lang="ru-RU" sz="2400" i="1">
                        <a:latin typeface="Cambria Math" charset="0"/>
                      </a:rPr>
                      <m:t> </m:t>
                    </m:r>
                  </m:oMath>
                </a14:m>
                <a:r>
                  <a:rPr lang="ru-RU" sz="2400" dirty="0"/>
                  <a:t> – вероятность </a:t>
                </a:r>
                <a14:m>
                  <m:oMath xmlns:m="http://schemas.openxmlformats.org/officeDocument/2006/math">
                    <m:r>
                      <a:rPr lang="ru-RU" sz="2400" i="1">
                        <a:latin typeface="Cambria Math" charset="0"/>
                      </a:rPr>
                      <m:t>𝑖</m:t>
                    </m:r>
                  </m:oMath>
                </a14:m>
                <a:r>
                  <a:rPr lang="ru-RU" sz="2400" dirty="0"/>
                  <a:t>-го состояния </a:t>
                </a:r>
                <a:r>
                  <a:rPr lang="ru-RU" sz="2400" dirty="0" smtClean="0"/>
                  <a:t>системы;</a:t>
                </a:r>
                <a:endParaRPr lang="ru-RU" sz="2400" dirty="0"/>
              </a:p>
              <a:p>
                <a:pPr algn="just"/>
                <a:r>
                  <a:rPr lang="ru-RU" sz="2400" dirty="0" smtClean="0"/>
                  <a:t>        В </a:t>
                </a:r>
                <a:r>
                  <a:rPr lang="ru-RU" sz="2400" dirty="0"/>
                  <a:t>случае с деревом решений </a:t>
                </a:r>
                <a14:m>
                  <m:oMath xmlns:m="http://schemas.openxmlformats.org/officeDocument/2006/math">
                    <m:r>
                      <a:rPr lang="ru-RU" sz="2400" i="1">
                        <a:latin typeface="Cambria Math" charset="0"/>
                      </a:rPr>
                      <m:t>𝑚</m:t>
                    </m:r>
                  </m:oMath>
                </a14:m>
                <a:r>
                  <a:rPr lang="ru-RU" sz="2400" i="1" dirty="0"/>
                  <a:t> – </a:t>
                </a:r>
                <a:r>
                  <a:rPr lang="ru-RU" sz="2400" dirty="0"/>
                  <a:t>число значений целевой функции </a:t>
                </a:r>
                <a14:m>
                  <m:oMath xmlns:m="http://schemas.openxmlformats.org/officeDocument/2006/math">
                    <m:r>
                      <a:rPr lang="ru-RU" sz="2400" i="1">
                        <a:latin typeface="Cambria Math" charset="0"/>
                      </a:rPr>
                      <m:t>𝑓</m:t>
                    </m:r>
                    <m:r>
                      <a:rPr lang="ru-RU" sz="2400" i="1">
                        <a:latin typeface="Cambria Math" charset="0"/>
                      </a:rPr>
                      <m:t>(</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m:t>
                    </m:r>
                  </m:oMath>
                </a14:m>
                <a:r>
                  <a:rPr lang="ru-RU" sz="2400" dirty="0"/>
                  <a:t> для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oMath>
                </a14:m>
                <a:r>
                  <a:rPr lang="ru-RU" sz="2400" dirty="0" smtClean="0"/>
                  <a:t>, </a:t>
                </a:r>
                <a14:m>
                  <m:oMath xmlns:m="http://schemas.openxmlformats.org/officeDocument/2006/math">
                    <m:r>
                      <a:rPr lang="ru-RU" sz="2400" i="1">
                        <a:latin typeface="Cambria Math" charset="0"/>
                      </a:rPr>
                      <m:t>𝑛</m:t>
                    </m:r>
                  </m:oMath>
                </a14:m>
                <a:r>
                  <a:rPr lang="ru-RU" sz="2400" i="1" dirty="0"/>
                  <a:t> – </a:t>
                </a:r>
                <a:r>
                  <a:rPr lang="ru-RU" sz="2400" dirty="0"/>
                  <a:t>общее число элементов (записей) обучающей выборки </a:t>
                </a:r>
                <a14:m>
                  <m:oMath xmlns:m="http://schemas.openxmlformats.org/officeDocument/2006/math">
                    <m:r>
                      <a:rPr lang="en-US" sz="2400" i="1">
                        <a:latin typeface="Cambria Math" charset="0"/>
                      </a:rPr>
                      <m:t>𝑇</m:t>
                    </m:r>
                  </m:oMath>
                </a14:m>
                <a:r>
                  <a:rPr lang="ru-RU" sz="2400" dirty="0"/>
                  <a:t>. Тогда энтропия </a:t>
                </a:r>
                <a14:m>
                  <m:oMath xmlns:m="http://schemas.openxmlformats.org/officeDocument/2006/math">
                    <m:r>
                      <a:rPr lang="en-US" sz="2400" i="1">
                        <a:latin typeface="Cambria Math" charset="0"/>
                      </a:rPr>
                      <m:t>𝑇</m:t>
                    </m:r>
                    <m:r>
                      <a:rPr lang="en-US" sz="2400" i="1">
                        <a:latin typeface="Cambria Math" charset="0"/>
                      </a:rPr>
                      <m:t> </m:t>
                    </m:r>
                  </m:oMath>
                </a14:m>
                <a:r>
                  <a:rPr lang="ru-RU" sz="2400" dirty="0"/>
                  <a:t>по отношению к свойству </a:t>
                </a:r>
                <a14:m>
                  <m:oMath xmlns:m="http://schemas.openxmlformats.org/officeDocument/2006/math">
                    <m:r>
                      <a:rPr lang="ru-RU" sz="2400" i="1">
                        <a:latin typeface="Cambria Math" charset="0"/>
                      </a:rPr>
                      <m:t>𝑆</m:t>
                    </m:r>
                    <m:r>
                      <a:rPr lang="ru-RU" sz="2400" i="1">
                        <a:latin typeface="Cambria Math" charset="0"/>
                      </a:rPr>
                      <m:t>=</m:t>
                    </m:r>
                    <m:r>
                      <a:rPr lang="ru-RU" sz="2400" i="1">
                        <a:latin typeface="Cambria Math" charset="0"/>
                      </a:rPr>
                      <m:t>𝑓</m:t>
                    </m:r>
                    <m:r>
                      <a:rPr lang="ru-RU" sz="2400" i="1">
                        <a:latin typeface="Cambria Math" charset="0"/>
                      </a:rPr>
                      <m:t>(</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 </m:t>
                    </m:r>
                  </m:oMath>
                </a14:m>
                <a:r>
                  <a:rPr lang="ru-RU" sz="2400" dirty="0"/>
                  <a:t>которое может принимать </a:t>
                </a:r>
                <a14:m>
                  <m:oMath xmlns:m="http://schemas.openxmlformats.org/officeDocument/2006/math">
                    <m:r>
                      <a:rPr lang="ru-RU" sz="2400" i="1">
                        <a:latin typeface="Cambria Math" charset="0"/>
                      </a:rPr>
                      <m:t>𝑠</m:t>
                    </m:r>
                  </m:oMath>
                </a14:m>
                <a:r>
                  <a:rPr lang="ru-RU" sz="2400" i="1" dirty="0"/>
                  <a:t> </a:t>
                </a:r>
                <a:r>
                  <a:rPr lang="ru-RU" sz="2400" dirty="0"/>
                  <a:t>значений, вычисляется, как </a:t>
                </a:r>
              </a:p>
              <a:p>
                <a:pPr/>
                <a14:m>
                  <m:oMathPara xmlns:m="http://schemas.openxmlformats.org/officeDocument/2006/math">
                    <m:oMathParaPr>
                      <m:jc m:val="right"/>
                    </m:oMathParaPr>
                    <m:oMath xmlns:m="http://schemas.openxmlformats.org/officeDocument/2006/math">
                      <m:r>
                        <a:rPr lang="ru-RU" sz="2400" i="1">
                          <a:latin typeface="Cambria Math" charset="0"/>
                        </a:rPr>
                        <m:t>𝐻</m:t>
                      </m:r>
                      <m:d>
                        <m:dPr>
                          <m:ctrlPr>
                            <a:rPr lang="ru-RU" sz="2400" i="1">
                              <a:latin typeface="Cambria Math" charset="0"/>
                            </a:rPr>
                          </m:ctrlPr>
                        </m:dPr>
                        <m:e>
                          <m:r>
                            <a:rPr lang="ru-RU" sz="2400" i="1">
                              <a:latin typeface="Cambria Math" charset="0"/>
                            </a:rPr>
                            <m:t>𝑇</m:t>
                          </m:r>
                          <m:r>
                            <a:rPr lang="ru-RU" sz="2400" i="1">
                              <a:latin typeface="Cambria Math" charset="0"/>
                            </a:rPr>
                            <m:t>,</m:t>
                          </m:r>
                          <m:r>
                            <a:rPr lang="ru-RU" sz="2400" i="1">
                              <a:latin typeface="Cambria Math" charset="0"/>
                            </a:rPr>
                            <m:t>𝑆</m:t>
                          </m:r>
                        </m:e>
                      </m:d>
                      <m:r>
                        <a:rPr lang="ru-RU" sz="2400" i="1">
                          <a:latin typeface="Cambria Math" charset="0"/>
                        </a:rPr>
                        <m:t>=−</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𝑠</m:t>
                          </m:r>
                        </m:sup>
                        <m:e>
                          <m:f>
                            <m:fPr>
                              <m:ctrlPr>
                                <a:rPr lang="ru-RU" sz="2400" i="1">
                                  <a:latin typeface="Cambria Math" charset="0"/>
                                </a:rPr>
                              </m:ctrlPr>
                            </m:fPr>
                            <m:num>
                              <m:sSub>
                                <m:sSubPr>
                                  <m:ctrlPr>
                                    <a:rPr lang="ru-RU" sz="2400" i="1">
                                      <a:latin typeface="Cambria Math" charset="0"/>
                                    </a:rPr>
                                  </m:ctrlPr>
                                </m:sSubPr>
                                <m:e>
                                  <m:r>
                                    <a:rPr lang="en-US" sz="2400" i="1">
                                      <a:latin typeface="Cambria Math" charset="0"/>
                                    </a:rPr>
                                    <m:t>𝑚</m:t>
                                  </m:r>
                                </m:e>
                                <m:sub>
                                  <m:r>
                                    <a:rPr lang="ru-RU" sz="2400" i="1">
                                      <a:latin typeface="Cambria Math" charset="0"/>
                                    </a:rPr>
                                    <m:t>𝑖</m:t>
                                  </m:r>
                                </m:sub>
                              </m:sSub>
                            </m:num>
                            <m:den>
                              <m:r>
                                <a:rPr lang="en-US" sz="2400" i="1">
                                  <a:latin typeface="Cambria Math" charset="0"/>
                                </a:rPr>
                                <m:t>𝑛</m:t>
                              </m:r>
                            </m:den>
                          </m:f>
                          <m:sSub>
                            <m:sSubPr>
                              <m:ctrlPr>
                                <a:rPr lang="ru-RU" sz="2400" i="1">
                                  <a:latin typeface="Cambria Math" charset="0"/>
                                </a:rPr>
                              </m:ctrlPr>
                            </m:sSubPr>
                            <m:e>
                              <m:r>
                                <m:rPr>
                                  <m:sty m:val="p"/>
                                </m:rPr>
                                <a:rPr lang="ru-RU" sz="2400">
                                  <a:latin typeface="Cambria Math" charset="0"/>
                                </a:rPr>
                                <m:t>log</m:t>
                              </m:r>
                            </m:e>
                            <m:sub>
                              <m:r>
                                <a:rPr lang="ru-RU" sz="2400" i="1">
                                  <a:latin typeface="Cambria Math" charset="0"/>
                                </a:rPr>
                                <m:t>2</m:t>
                              </m:r>
                            </m:sub>
                          </m:sSub>
                          <m:f>
                            <m:fPr>
                              <m:ctrlPr>
                                <a:rPr lang="ru-RU" sz="2400" i="1">
                                  <a:latin typeface="Cambria Math" charset="0"/>
                                </a:rPr>
                              </m:ctrlPr>
                            </m:fPr>
                            <m:num>
                              <m:sSub>
                                <m:sSubPr>
                                  <m:ctrlPr>
                                    <a:rPr lang="ru-RU" sz="2400" i="1">
                                      <a:latin typeface="Cambria Math" charset="0"/>
                                    </a:rPr>
                                  </m:ctrlPr>
                                </m:sSubPr>
                                <m:e>
                                  <m:r>
                                    <a:rPr lang="en-US" sz="2400" i="1">
                                      <a:latin typeface="Cambria Math" charset="0"/>
                                    </a:rPr>
                                    <m:t>𝑚</m:t>
                                  </m:r>
                                </m:e>
                                <m:sub>
                                  <m:r>
                                    <a:rPr lang="ru-RU" sz="2400" i="1">
                                      <a:latin typeface="Cambria Math" charset="0"/>
                                    </a:rPr>
                                    <m:t>𝑖</m:t>
                                  </m:r>
                                </m:sub>
                              </m:sSub>
                            </m:num>
                            <m:den>
                              <m:r>
                                <a:rPr lang="en-US" sz="2400" i="1">
                                  <a:latin typeface="Cambria Math" charset="0"/>
                                </a:rPr>
                                <m:t>𝑛</m:t>
                              </m:r>
                            </m:den>
                          </m:f>
                          <m:r>
                            <a:rPr lang="ru-RU" sz="2400" i="1">
                              <a:latin typeface="Cambria Math" charset="0"/>
                            </a:rPr>
                            <m:t>.</m:t>
                          </m:r>
                        </m:e>
                      </m:nary>
                      <m:r>
                        <a:rPr lang="ru-RU" sz="2400" b="0" i="1" smtClean="0">
                          <a:latin typeface="Cambria Math" charset="0"/>
                        </a:rPr>
                        <m:t>                               </m:t>
                      </m:r>
                      <m:r>
                        <a:rPr lang="ru-RU" sz="2400" i="1">
                          <a:latin typeface="Cambria Math" charset="0"/>
                        </a:rPr>
                        <m:t>(4.</m:t>
                      </m:r>
                      <m:r>
                        <a:rPr lang="ru-RU" sz="2400" b="0" i="1" smtClean="0">
                          <a:latin typeface="Cambria Math" charset="0"/>
                        </a:rPr>
                        <m:t>2</m:t>
                      </m:r>
                      <m:r>
                        <a:rPr lang="ru-RU" sz="2400" i="1">
                          <a:latin typeface="Cambria Math" charset="0"/>
                        </a:rPr>
                        <m:t>)</m:t>
                      </m:r>
                    </m:oMath>
                  </m:oMathPara>
                </a14:m>
                <a:endParaRPr lang="ru-RU" sz="2400" dirty="0"/>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962615" y="729014"/>
                <a:ext cx="10229385" cy="5690084"/>
              </a:xfrm>
              <a:prstGeom prst="rect">
                <a:avLst/>
              </a:prstGeom>
              <a:blipFill rotWithShape="0">
                <a:blip r:embed="rId2"/>
                <a:stretch>
                  <a:fillRect l="-954" t="-857" r="-894"/>
                </a:stretch>
              </a:blipFill>
            </p:spPr>
            <p:txBody>
              <a:bodyPr/>
              <a:lstStyle/>
              <a:p>
                <a:r>
                  <a:rPr lang="ru-RU">
                    <a:noFill/>
                  </a:rPr>
                  <a:t> </a:t>
                </a:r>
              </a:p>
            </p:txBody>
          </p:sp>
        </mc:Fallback>
      </mc:AlternateContent>
    </p:spTree>
    <p:extLst>
      <p:ext uri="{BB962C8B-B14F-4D97-AF65-F5344CB8AC3E}">
        <p14:creationId xmlns:p14="http://schemas.microsoft.com/office/powerpoint/2010/main" val="130331928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a:t>
            </a:r>
            <a:r>
              <a:rPr lang="ru-RU" b="1" dirty="0" smtClean="0"/>
              <a:t>решений. </a:t>
            </a:r>
            <a:r>
              <a:rPr lang="ru-RU" i="1" dirty="0"/>
              <a:t>Алгоритм ID3</a:t>
            </a:r>
            <a:r>
              <a:rPr lang="ru-RU" dirty="0"/>
              <a:t> </a:t>
            </a:r>
            <a:r>
              <a:rPr lang="ru-RU" b="1" dirty="0" smtClean="0"/>
              <a:t> </a:t>
            </a:r>
            <a:endParaRPr lang="ru-RU" b="1" dirty="0"/>
          </a:p>
        </p:txBody>
      </p:sp>
      <mc:AlternateContent xmlns:mc="http://schemas.openxmlformats.org/markup-compatibility/2006" xmlns:a14="http://schemas.microsoft.com/office/drawing/2010/main">
        <mc:Choice Requires="a14">
          <p:sp>
            <p:nvSpPr>
              <p:cNvPr id="2" name="Прямоугольник 1"/>
              <p:cNvSpPr/>
              <p:nvPr/>
            </p:nvSpPr>
            <p:spPr>
              <a:xfrm>
                <a:off x="1780674" y="408172"/>
                <a:ext cx="10411326" cy="6903749"/>
              </a:xfrm>
              <a:prstGeom prst="rect">
                <a:avLst/>
              </a:prstGeom>
            </p:spPr>
            <p:txBody>
              <a:bodyPr wrap="square">
                <a:spAutoFit/>
              </a:bodyPr>
              <a:lstStyle/>
              <a:p>
                <a:pPr algn="just"/>
                <a:r>
                  <a:rPr lang="ru-RU" sz="2400" dirty="0" smtClean="0"/>
                  <a:t>      Если </a:t>
                </a:r>
                <a:r>
                  <a:rPr lang="ru-RU" sz="2400" dirty="0"/>
                  <a:t>свойство </a:t>
                </a:r>
                <a14:m>
                  <m:oMath xmlns:m="http://schemas.openxmlformats.org/officeDocument/2006/math">
                    <m:r>
                      <a:rPr lang="ru-RU" sz="2400" i="1">
                        <a:latin typeface="Cambria Math" charset="0"/>
                      </a:rPr>
                      <m:t>𝑆</m:t>
                    </m:r>
                  </m:oMath>
                </a14:m>
                <a:r>
                  <a:rPr lang="ru-RU" sz="2400" i="1" dirty="0"/>
                  <a:t> </a:t>
                </a:r>
                <a:r>
                  <a:rPr lang="ru-RU" sz="2400" dirty="0" smtClean="0"/>
                  <a:t>бинарное, </a:t>
                </a:r>
                <a:r>
                  <a:rPr lang="ru-RU" sz="2400" dirty="0"/>
                  <a:t>то запись для энтропии будет выглядеть так: </a:t>
                </a:r>
              </a:p>
              <a:p>
                <a:pPr/>
                <a14:m>
                  <m:oMathPara xmlns:m="http://schemas.openxmlformats.org/officeDocument/2006/math">
                    <m:oMathParaPr>
                      <m:jc m:val="right"/>
                    </m:oMathParaPr>
                    <m:oMath xmlns:m="http://schemas.openxmlformats.org/officeDocument/2006/math">
                      <m:r>
                        <a:rPr lang="ru-RU" sz="2400" i="1">
                          <a:latin typeface="Cambria Math" charset="0"/>
                        </a:rPr>
                        <m:t>𝐻</m:t>
                      </m:r>
                      <m:d>
                        <m:dPr>
                          <m:ctrlPr>
                            <a:rPr lang="ru-RU" sz="2400" i="1">
                              <a:latin typeface="Cambria Math" charset="0"/>
                            </a:rPr>
                          </m:ctrlPr>
                        </m:dPr>
                        <m:e>
                          <m:r>
                            <a:rPr lang="ru-RU" sz="2400" i="1">
                              <a:latin typeface="Cambria Math" charset="0"/>
                            </a:rPr>
                            <m:t>𝑇</m:t>
                          </m:r>
                          <m:r>
                            <a:rPr lang="ru-RU" sz="2400" i="1">
                              <a:latin typeface="Cambria Math" charset="0"/>
                            </a:rPr>
                            <m:t>,</m:t>
                          </m:r>
                          <m:r>
                            <a:rPr lang="ru-RU" sz="2400" i="1">
                              <a:latin typeface="Cambria Math" charset="0"/>
                            </a:rPr>
                            <m:t>𝑆</m:t>
                          </m:r>
                        </m:e>
                      </m:d>
                      <m:r>
                        <a:rPr lang="ru-RU" sz="2400" i="1">
                          <a:latin typeface="Cambria Math" charset="0"/>
                        </a:rPr>
                        <m:t>=−</m:t>
                      </m:r>
                      <m:f>
                        <m:fPr>
                          <m:ctrlPr>
                            <a:rPr lang="ru-RU" sz="2400" i="1">
                              <a:latin typeface="Cambria Math" charset="0"/>
                            </a:rPr>
                          </m:ctrlPr>
                        </m:fPr>
                        <m:num>
                          <m:r>
                            <a:rPr lang="en-US" sz="2400" i="1">
                              <a:latin typeface="Cambria Math" charset="0"/>
                            </a:rPr>
                            <m:t>𝑚</m:t>
                          </m:r>
                        </m:num>
                        <m:den>
                          <m:r>
                            <a:rPr lang="en-US" sz="2400" i="1">
                              <a:latin typeface="Cambria Math" charset="0"/>
                            </a:rPr>
                            <m:t>𝑛</m:t>
                          </m:r>
                        </m:den>
                      </m:f>
                      <m:sSub>
                        <m:sSubPr>
                          <m:ctrlPr>
                            <a:rPr lang="ru-RU" sz="2400" i="1">
                              <a:latin typeface="Cambria Math" charset="0"/>
                            </a:rPr>
                          </m:ctrlPr>
                        </m:sSubPr>
                        <m:e>
                          <m:r>
                            <m:rPr>
                              <m:sty m:val="p"/>
                            </m:rPr>
                            <a:rPr lang="ru-RU" sz="2400">
                              <a:latin typeface="Cambria Math" charset="0"/>
                            </a:rPr>
                            <m:t>log</m:t>
                          </m:r>
                        </m:e>
                        <m:sub>
                          <m:r>
                            <a:rPr lang="ru-RU" sz="2400" i="1">
                              <a:latin typeface="Cambria Math" charset="0"/>
                            </a:rPr>
                            <m:t>2</m:t>
                          </m:r>
                        </m:sub>
                      </m:sSub>
                      <m:f>
                        <m:fPr>
                          <m:ctrlPr>
                            <a:rPr lang="ru-RU" sz="2400" i="1">
                              <a:latin typeface="Cambria Math" charset="0"/>
                            </a:rPr>
                          </m:ctrlPr>
                        </m:fPr>
                        <m:num>
                          <m:r>
                            <a:rPr lang="en-US" sz="2400" i="1">
                              <a:latin typeface="Cambria Math" charset="0"/>
                            </a:rPr>
                            <m:t>𝑚</m:t>
                          </m:r>
                        </m:num>
                        <m:den>
                          <m:r>
                            <a:rPr lang="en-US" sz="2400" i="1">
                              <a:latin typeface="Cambria Math" charset="0"/>
                            </a:rPr>
                            <m:t>𝑛</m:t>
                          </m:r>
                        </m:den>
                      </m:f>
                      <m:r>
                        <a:rPr lang="ru-RU" sz="2400" i="1">
                          <a:latin typeface="Cambria Math" charset="0"/>
                        </a:rPr>
                        <m:t>−</m:t>
                      </m:r>
                      <m:f>
                        <m:fPr>
                          <m:ctrlPr>
                            <a:rPr lang="ru-RU" sz="2400" i="1">
                              <a:latin typeface="Cambria Math" charset="0"/>
                            </a:rPr>
                          </m:ctrlPr>
                        </m:fPr>
                        <m:num>
                          <m:r>
                            <a:rPr lang="en-US" sz="2400" i="1">
                              <a:latin typeface="Cambria Math" charset="0"/>
                            </a:rPr>
                            <m:t>𝑛</m:t>
                          </m:r>
                          <m:r>
                            <a:rPr lang="ru-RU" sz="2400" i="1">
                              <a:latin typeface="Cambria Math" charset="0"/>
                            </a:rPr>
                            <m:t>−</m:t>
                          </m:r>
                          <m:r>
                            <a:rPr lang="en-US" sz="2400" i="1">
                              <a:latin typeface="Cambria Math" charset="0"/>
                            </a:rPr>
                            <m:t>𝑚</m:t>
                          </m:r>
                        </m:num>
                        <m:den>
                          <m:r>
                            <a:rPr lang="en-US" sz="2400" i="1">
                              <a:latin typeface="Cambria Math" charset="0"/>
                            </a:rPr>
                            <m:t>𝑛</m:t>
                          </m:r>
                        </m:den>
                      </m:f>
                      <m:sSub>
                        <m:sSubPr>
                          <m:ctrlPr>
                            <a:rPr lang="ru-RU" sz="2400" i="1">
                              <a:latin typeface="Cambria Math" charset="0"/>
                            </a:rPr>
                          </m:ctrlPr>
                        </m:sSubPr>
                        <m:e>
                          <m:r>
                            <m:rPr>
                              <m:sty m:val="p"/>
                            </m:rPr>
                            <a:rPr lang="ru-RU" sz="2400">
                              <a:latin typeface="Cambria Math" charset="0"/>
                            </a:rPr>
                            <m:t>log</m:t>
                          </m:r>
                        </m:e>
                        <m:sub>
                          <m:r>
                            <a:rPr lang="ru-RU" sz="2400" i="1">
                              <a:latin typeface="Cambria Math" charset="0"/>
                            </a:rPr>
                            <m:t>2</m:t>
                          </m:r>
                        </m:sub>
                      </m:sSub>
                      <m:f>
                        <m:fPr>
                          <m:ctrlPr>
                            <a:rPr lang="ru-RU" sz="2400" i="1">
                              <a:latin typeface="Cambria Math" charset="0"/>
                            </a:rPr>
                          </m:ctrlPr>
                        </m:fPr>
                        <m:num>
                          <m:r>
                            <a:rPr lang="en-US" sz="2400" i="1">
                              <a:latin typeface="Cambria Math" charset="0"/>
                            </a:rPr>
                            <m:t>𝑛</m:t>
                          </m:r>
                          <m:r>
                            <a:rPr lang="ru-RU" sz="2400" i="1">
                              <a:latin typeface="Cambria Math" charset="0"/>
                            </a:rPr>
                            <m:t>−</m:t>
                          </m:r>
                          <m:r>
                            <a:rPr lang="en-US" sz="2400" i="1">
                              <a:latin typeface="Cambria Math" charset="0"/>
                            </a:rPr>
                            <m:t>𝑚</m:t>
                          </m:r>
                        </m:num>
                        <m:den>
                          <m:r>
                            <a:rPr lang="en-US" sz="2400" i="1">
                              <a:latin typeface="Cambria Math" charset="0"/>
                            </a:rPr>
                            <m:t>𝑛</m:t>
                          </m:r>
                        </m:den>
                      </m:f>
                      <m:r>
                        <a:rPr lang="ru-RU" sz="2400" i="1">
                          <a:latin typeface="Cambria Math" charset="0"/>
                        </a:rPr>
                        <m:t>.</m:t>
                      </m:r>
                      <m:r>
                        <a:rPr lang="ru-RU" sz="2400" b="0" i="1" smtClean="0">
                          <a:latin typeface="Cambria Math" charset="0"/>
                        </a:rPr>
                        <m:t>                     </m:t>
                      </m:r>
                      <m:r>
                        <a:rPr lang="ru-RU" sz="2400" i="1">
                          <a:latin typeface="Cambria Math" charset="0"/>
                        </a:rPr>
                        <m:t>(4.</m:t>
                      </m:r>
                      <m:r>
                        <a:rPr lang="ru-RU" sz="2400" b="0" i="1" smtClean="0">
                          <a:latin typeface="Cambria Math" charset="0"/>
                        </a:rPr>
                        <m:t>3</m:t>
                      </m:r>
                      <m:r>
                        <a:rPr lang="ru-RU" sz="2400" i="1">
                          <a:latin typeface="Cambria Math" charset="0"/>
                        </a:rPr>
                        <m:t>)</m:t>
                      </m:r>
                    </m:oMath>
                  </m:oMathPara>
                </a14:m>
                <a:endParaRPr lang="ru-RU" sz="2400" dirty="0"/>
              </a:p>
              <a:p>
                <a:pPr algn="just"/>
                <a:r>
                  <a:rPr lang="ru-RU" sz="2400" dirty="0" smtClean="0"/>
                  <a:t>         В </a:t>
                </a:r>
                <a:r>
                  <a:rPr lang="ru-RU" sz="2400" dirty="0"/>
                  <a:t>этом случае, если вероятность появления </a:t>
                </a:r>
                <a14:m>
                  <m:oMath xmlns:m="http://schemas.openxmlformats.org/officeDocument/2006/math">
                    <m:r>
                      <a:rPr lang="ru-RU" sz="2400" i="1">
                        <a:latin typeface="Cambria Math" charset="0"/>
                      </a:rPr>
                      <m:t>𝑆</m:t>
                    </m:r>
                  </m:oMath>
                </a14:m>
                <a:r>
                  <a:rPr lang="ru-RU" sz="2400" i="1" dirty="0"/>
                  <a:t> </a:t>
                </a:r>
                <a:r>
                  <a:rPr lang="ru-RU" sz="2400" dirty="0"/>
                  <a:t>равна 0,5, то энтропия равна 1. Если же появление </a:t>
                </a:r>
                <a:r>
                  <a:rPr lang="ru-RU" sz="2400" i="1" dirty="0" err="1"/>
                  <a:t>S</a:t>
                </a:r>
                <a:r>
                  <a:rPr lang="ru-RU" sz="2400" i="1" dirty="0"/>
                  <a:t> </a:t>
                </a:r>
                <a:r>
                  <a:rPr lang="ru-RU" sz="2400" dirty="0"/>
                  <a:t>не будет равновероятно, то энтропия будет меньше, а значит закодировать информацию из </a:t>
                </a:r>
                <a14:m>
                  <m:oMath xmlns:m="http://schemas.openxmlformats.org/officeDocument/2006/math">
                    <m:r>
                      <a:rPr lang="en-US" sz="2400" i="1">
                        <a:latin typeface="Cambria Math" charset="0"/>
                      </a:rPr>
                      <m:t>𝑇</m:t>
                    </m:r>
                  </m:oMath>
                </a14:m>
                <a:r>
                  <a:rPr lang="ru-RU" sz="2400" dirty="0"/>
                  <a:t> именно для </a:t>
                </a:r>
                <a14:m>
                  <m:oMath xmlns:m="http://schemas.openxmlformats.org/officeDocument/2006/math">
                    <m:r>
                      <a:rPr lang="ru-RU" sz="2400" i="1">
                        <a:latin typeface="Cambria Math" charset="0"/>
                      </a:rPr>
                      <m:t>𝑆</m:t>
                    </m:r>
                    <m:r>
                      <a:rPr lang="ru-RU" sz="2400" i="1">
                        <a:latin typeface="Cambria Math" charset="0"/>
                      </a:rPr>
                      <m:t>=</m:t>
                    </m:r>
                    <m:r>
                      <a:rPr lang="ru-RU" sz="2400" i="1">
                        <a:latin typeface="Cambria Math" charset="0"/>
                      </a:rPr>
                      <m:t>𝑓</m:t>
                    </m:r>
                    <m:r>
                      <a:rPr lang="ru-RU" sz="2400" i="1">
                        <a:latin typeface="Cambria Math" charset="0"/>
                      </a:rPr>
                      <m:t>(</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m:t>
                    </m:r>
                  </m:oMath>
                </a14:m>
                <a:r>
                  <a:rPr lang="ru-RU" sz="2400" dirty="0"/>
                  <a:t> будет более эффективно. </a:t>
                </a:r>
              </a:p>
              <a:p>
                <a:pPr algn="just"/>
                <a:r>
                  <a:rPr lang="ru-RU" sz="2400" dirty="0" smtClean="0"/>
                  <a:t>        В </a:t>
                </a:r>
                <a:r>
                  <a:rPr lang="ru-RU" sz="2400" dirty="0"/>
                  <a:t>общем случае энтропия будет отличаться для различных потомков узла, поэтому итоговый результат нужно считать с учетом того, сколько исходов осталось в рассмотрении в каждом из потомков. Например, если множество </a:t>
                </a:r>
                <a14:m>
                  <m:oMath xmlns:m="http://schemas.openxmlformats.org/officeDocument/2006/math">
                    <m:r>
                      <a:rPr lang="ru-RU" sz="2400" i="1">
                        <a:latin typeface="Cambria Math" charset="0"/>
                      </a:rPr>
                      <m:t>𝑇</m:t>
                    </m:r>
                  </m:oMath>
                </a14:m>
                <a:r>
                  <a:rPr lang="ru-RU" sz="2400" dirty="0"/>
                  <a:t> со </a:t>
                </a:r>
                <a:r>
                  <a:rPr lang="ru-RU" sz="2400" dirty="0" err="1"/>
                  <a:t>свойством</a:t>
                </a:r>
                <a:r>
                  <a:rPr lang="ru-RU" sz="2400" dirty="0"/>
                  <a:t> </a:t>
                </a:r>
                <a14:m>
                  <m:oMath xmlns:m="http://schemas.openxmlformats.org/officeDocument/2006/math">
                    <m:r>
                      <a:rPr lang="ru-RU" sz="2400" i="1">
                        <a:latin typeface="Cambria Math" charset="0"/>
                      </a:rPr>
                      <m:t>𝑆</m:t>
                    </m:r>
                    <m:r>
                      <a:rPr lang="ru-RU" sz="2400" i="1">
                        <a:latin typeface="Cambria Math" charset="0"/>
                      </a:rPr>
                      <m:t>=</m:t>
                    </m:r>
                    <m:r>
                      <a:rPr lang="ru-RU" sz="2400" i="1">
                        <a:latin typeface="Cambria Math" charset="0"/>
                      </a:rPr>
                      <m:t>𝑓</m:t>
                    </m:r>
                    <m:r>
                      <a:rPr lang="ru-RU" sz="2400" i="1">
                        <a:latin typeface="Cambria Math" charset="0"/>
                      </a:rPr>
                      <m:t>(</m:t>
                    </m:r>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r>
                      <a:rPr lang="ru-RU" sz="2400" i="1">
                        <a:latin typeface="Cambria Math" charset="0"/>
                      </a:rPr>
                      <m:t>)</m:t>
                    </m:r>
                  </m:oMath>
                </a14:m>
                <a:r>
                  <a:rPr lang="ru-RU" sz="2400" dirty="0"/>
                  <a:t> классифицировано признаком </a:t>
                </a:r>
                <a14:m>
                  <m:oMath xmlns:m="http://schemas.openxmlformats.org/officeDocument/2006/math">
                    <m:sSub>
                      <m:sSubPr>
                        <m:ctrlPr>
                          <a:rPr lang="ru-RU" sz="2400" i="1">
                            <a:latin typeface="Cambria Math" charset="0"/>
                          </a:rPr>
                        </m:ctrlPr>
                      </m:sSubPr>
                      <m:e>
                        <m:r>
                          <a:rPr lang="ru-RU" sz="2400" i="1">
                            <a:latin typeface="Cambria Math" charset="0"/>
                          </a:rPr>
                          <m:t>𝑥</m:t>
                        </m:r>
                      </m:e>
                      <m:sub>
                        <m:r>
                          <a:rPr lang="ru-RU" sz="2400" i="1">
                            <a:latin typeface="Cambria Math" charset="0"/>
                          </a:rPr>
                          <m:t>𝑖</m:t>
                        </m:r>
                      </m:sub>
                    </m:sSub>
                  </m:oMath>
                </a14:m>
                <a:r>
                  <a:rPr lang="ru-RU" sz="2400" dirty="0"/>
                  <a:t> </a:t>
                </a:r>
                <a:r>
                  <a:rPr lang="ru-RU" sz="2400" dirty="0" err="1"/>
                  <a:t>c</a:t>
                </a:r>
                <a:r>
                  <a:rPr lang="ru-RU" sz="2400" dirty="0"/>
                  <a:t> атрибутом </a:t>
                </a:r>
                <a14:m>
                  <m:oMath xmlns:m="http://schemas.openxmlformats.org/officeDocument/2006/math">
                    <m:r>
                      <a:rPr lang="ru-RU" sz="2400" i="1">
                        <a:latin typeface="Cambria Math" charset="0"/>
                      </a:rPr>
                      <m:t>𝑄</m:t>
                    </m:r>
                  </m:oMath>
                </a14:m>
                <a:r>
                  <a:rPr lang="ru-RU" sz="2400" dirty="0"/>
                  <a:t>, имеющим </a:t>
                </a:r>
                <a14:m>
                  <m:oMath xmlns:m="http://schemas.openxmlformats.org/officeDocument/2006/math">
                    <m:r>
                      <a:rPr lang="ru-RU" sz="2400" i="1">
                        <a:latin typeface="Cambria Math" charset="0"/>
                      </a:rPr>
                      <m:t>𝑞</m:t>
                    </m:r>
                  </m:oMath>
                </a14:m>
                <a:r>
                  <a:rPr lang="ru-RU" sz="2400" i="1" dirty="0"/>
                  <a:t> </a:t>
                </a:r>
                <a:r>
                  <a:rPr lang="ru-RU" sz="2400" dirty="0"/>
                  <a:t>возможных значений, то прирост информации определяется, как </a:t>
                </a:r>
              </a:p>
              <a:p>
                <a:pPr/>
                <a14:m>
                  <m:oMathPara xmlns:m="http://schemas.openxmlformats.org/officeDocument/2006/math">
                    <m:oMathParaPr>
                      <m:jc m:val="right"/>
                    </m:oMathParaPr>
                    <m:oMath xmlns:m="http://schemas.openxmlformats.org/officeDocument/2006/math">
                      <m:r>
                        <a:rPr lang="ru-RU" sz="2400" i="1">
                          <a:latin typeface="Cambria Math" charset="0"/>
                        </a:rPr>
                        <m:t>𝐺𝑎𝑖𝑛</m:t>
                      </m:r>
                      <m:d>
                        <m:dPr>
                          <m:ctrlPr>
                            <a:rPr lang="ru-RU" sz="2400" i="1">
                              <a:latin typeface="Cambria Math" charset="0"/>
                            </a:rPr>
                          </m:ctrlPr>
                        </m:dPr>
                        <m:e>
                          <m:r>
                            <a:rPr lang="ru-RU" sz="2400" i="1">
                              <a:latin typeface="Cambria Math" charset="0"/>
                            </a:rPr>
                            <m:t>𝑇</m:t>
                          </m:r>
                          <m:r>
                            <a:rPr lang="ru-RU" sz="2400" i="1">
                              <a:latin typeface="Cambria Math" charset="0"/>
                            </a:rPr>
                            <m:t>, </m:t>
                          </m:r>
                          <m:r>
                            <a:rPr lang="ru-RU" sz="2400" i="1">
                              <a:latin typeface="Cambria Math" charset="0"/>
                            </a:rPr>
                            <m:t>𝑆</m:t>
                          </m:r>
                        </m:e>
                      </m:d>
                      <m:r>
                        <a:rPr lang="ru-RU" sz="2400" i="1">
                          <a:latin typeface="Cambria Math" charset="0"/>
                        </a:rPr>
                        <m:t> = </m:t>
                      </m:r>
                      <m:r>
                        <a:rPr lang="ru-RU" sz="2400" i="1">
                          <a:latin typeface="Cambria Math" charset="0"/>
                        </a:rPr>
                        <m:t>𝐻</m:t>
                      </m:r>
                      <m:d>
                        <m:dPr>
                          <m:ctrlPr>
                            <a:rPr lang="ru-RU" sz="2400" i="1">
                              <a:latin typeface="Cambria Math" charset="0"/>
                            </a:rPr>
                          </m:ctrlPr>
                        </m:dPr>
                        <m:e>
                          <m:r>
                            <a:rPr lang="ru-RU" sz="2400" i="1">
                              <a:latin typeface="Cambria Math" charset="0"/>
                            </a:rPr>
                            <m:t>𝑇</m:t>
                          </m:r>
                          <m:r>
                            <a:rPr lang="ru-RU" sz="2400" i="1">
                              <a:latin typeface="Cambria Math" charset="0"/>
                            </a:rPr>
                            <m:t>, </m:t>
                          </m:r>
                          <m:r>
                            <a:rPr lang="ru-RU" sz="2400" i="1">
                              <a:latin typeface="Cambria Math" charset="0"/>
                            </a:rPr>
                            <m:t>𝑆</m:t>
                          </m:r>
                        </m:e>
                      </m:d>
                      <m:r>
                        <a:rPr lang="ru-RU" sz="2400" i="1">
                          <a:latin typeface="Cambria Math" charset="0"/>
                        </a:rPr>
                        <m:t>−</m:t>
                      </m:r>
                      <m:nary>
                        <m:naryPr>
                          <m:chr m:val="∑"/>
                          <m:ctrlPr>
                            <a:rPr lang="ru-RU" sz="2400" i="1">
                              <a:latin typeface="Cambria Math" charset="0"/>
                            </a:rPr>
                          </m:ctrlPr>
                        </m:naryPr>
                        <m:sub>
                          <m:r>
                            <a:rPr lang="en-US" sz="2400" i="1">
                              <a:latin typeface="Cambria Math" charset="0"/>
                            </a:rPr>
                            <m:t>𝑘</m:t>
                          </m:r>
                          <m:r>
                            <a:rPr lang="ru-RU" sz="2400" i="1">
                              <a:latin typeface="Cambria Math" charset="0"/>
                            </a:rPr>
                            <m:t>=1</m:t>
                          </m:r>
                        </m:sub>
                        <m:sup>
                          <m:r>
                            <a:rPr lang="en-US" sz="2400" i="1">
                              <a:latin typeface="Cambria Math" charset="0"/>
                            </a:rPr>
                            <m:t>𝑞</m:t>
                          </m:r>
                        </m:sup>
                        <m:e>
                          <m:f>
                            <m:fPr>
                              <m:ctrlPr>
                                <a:rPr lang="ru-RU" sz="2400" i="1">
                                  <a:latin typeface="Cambria Math" charset="0"/>
                                </a:rPr>
                              </m:ctrlPr>
                            </m:fPr>
                            <m:num>
                              <m:d>
                                <m:dPr>
                                  <m:begChr m:val="|"/>
                                  <m:endChr m:val="|"/>
                                  <m:ctrlPr>
                                    <a:rPr lang="ru-RU" sz="2400" i="1">
                                      <a:latin typeface="Cambria Math" charset="0"/>
                                    </a:rPr>
                                  </m:ctrlPr>
                                </m:dPr>
                                <m:e>
                                  <m:sSub>
                                    <m:sSubPr>
                                      <m:ctrlPr>
                                        <a:rPr lang="ru-RU" sz="2400" i="1">
                                          <a:latin typeface="Cambria Math" charset="0"/>
                                        </a:rPr>
                                      </m:ctrlPr>
                                    </m:sSubPr>
                                    <m:e>
                                      <m:r>
                                        <a:rPr lang="en-US" sz="2400" i="1">
                                          <a:latin typeface="Cambria Math" charset="0"/>
                                        </a:rPr>
                                        <m:t>𝑇</m:t>
                                      </m:r>
                                    </m:e>
                                    <m:sub>
                                      <m:r>
                                        <a:rPr lang="en-US" sz="2400" i="1">
                                          <a:latin typeface="Cambria Math" charset="0"/>
                                        </a:rPr>
                                        <m:t>𝑘</m:t>
                                      </m:r>
                                    </m:sub>
                                  </m:sSub>
                                </m:e>
                              </m:d>
                            </m:num>
                            <m:den>
                              <m:d>
                                <m:dPr>
                                  <m:begChr m:val="|"/>
                                  <m:endChr m:val="|"/>
                                  <m:ctrlPr>
                                    <a:rPr lang="ru-RU" sz="2400" i="1">
                                      <a:latin typeface="Cambria Math" charset="0"/>
                                    </a:rPr>
                                  </m:ctrlPr>
                                </m:dPr>
                                <m:e>
                                  <m:r>
                                    <a:rPr lang="en-US" sz="2400" i="1">
                                      <a:latin typeface="Cambria Math" charset="0"/>
                                    </a:rPr>
                                    <m:t>𝑇</m:t>
                                  </m:r>
                                </m:e>
                              </m:d>
                            </m:den>
                          </m:f>
                          <m:r>
                            <a:rPr lang="en-US" sz="2400" i="1">
                              <a:latin typeface="Cambria Math" charset="0"/>
                            </a:rPr>
                            <m:t>𝐻</m:t>
                          </m:r>
                          <m:d>
                            <m:dPr>
                              <m:ctrlPr>
                                <a:rPr lang="ru-RU" sz="2400" i="1">
                                  <a:latin typeface="Cambria Math" charset="0"/>
                                </a:rPr>
                              </m:ctrlPr>
                            </m:dPr>
                            <m:e>
                              <m:sSub>
                                <m:sSubPr>
                                  <m:ctrlPr>
                                    <a:rPr lang="ru-RU" sz="2400" i="1">
                                      <a:latin typeface="Cambria Math" charset="0"/>
                                    </a:rPr>
                                  </m:ctrlPr>
                                </m:sSubPr>
                                <m:e>
                                  <m:r>
                                    <a:rPr lang="en-US" sz="2400" i="1">
                                      <a:latin typeface="Cambria Math" charset="0"/>
                                    </a:rPr>
                                    <m:t>𝑇</m:t>
                                  </m:r>
                                </m:e>
                                <m:sub>
                                  <m:r>
                                    <a:rPr lang="en-US" sz="2400" i="1">
                                      <a:latin typeface="Cambria Math" charset="0"/>
                                    </a:rPr>
                                    <m:t>𝑘</m:t>
                                  </m:r>
                                </m:sub>
                              </m:sSub>
                              <m:r>
                                <a:rPr lang="ru-RU" sz="2400" i="1">
                                  <a:latin typeface="Cambria Math" charset="0"/>
                                </a:rPr>
                                <m:t>,</m:t>
                              </m:r>
                              <m:r>
                                <a:rPr lang="en-US" sz="2400" i="1">
                                  <a:latin typeface="Cambria Math" charset="0"/>
                                </a:rPr>
                                <m:t>𝑆</m:t>
                              </m:r>
                            </m:e>
                          </m:d>
                        </m:e>
                      </m:nary>
                      <m:r>
                        <a:rPr lang="ru-RU" sz="2400" i="1">
                          <a:latin typeface="Cambria Math" charset="0"/>
                        </a:rPr>
                        <m:t>,                         (4.</m:t>
                      </m:r>
                      <m:r>
                        <a:rPr lang="ru-RU" sz="2400" b="0" i="1" smtClean="0">
                          <a:latin typeface="Cambria Math" charset="0"/>
                        </a:rPr>
                        <m:t>4</m:t>
                      </m:r>
                      <m:r>
                        <a:rPr lang="ru-RU" sz="2400" i="1">
                          <a:latin typeface="Cambria Math" charset="0"/>
                        </a:rPr>
                        <m:t>)</m:t>
                      </m:r>
                    </m:oMath>
                  </m:oMathPara>
                </a14:m>
                <a:endParaRPr lang="ru-RU" sz="2400" dirty="0"/>
              </a:p>
              <a:p>
                <a:pPr algn="just"/>
                <a:r>
                  <a:rPr lang="ru-RU" sz="2400" dirty="0"/>
                  <a:t>где </a:t>
                </a:r>
                <a14:m>
                  <m:oMath xmlns:m="http://schemas.openxmlformats.org/officeDocument/2006/math">
                    <m:sSub>
                      <m:sSubPr>
                        <m:ctrlPr>
                          <a:rPr lang="ru-RU" sz="2400" i="1">
                            <a:latin typeface="Cambria Math" charset="0"/>
                          </a:rPr>
                        </m:ctrlPr>
                      </m:sSubPr>
                      <m:e>
                        <m:r>
                          <a:rPr lang="en-US" sz="2400" i="1">
                            <a:latin typeface="Cambria Math" charset="0"/>
                          </a:rPr>
                          <m:t>𝑇</m:t>
                        </m:r>
                      </m:e>
                      <m:sub>
                        <m:r>
                          <a:rPr lang="en-US" sz="2400" i="1">
                            <a:latin typeface="Cambria Math" charset="0"/>
                          </a:rPr>
                          <m:t>𝑘</m:t>
                        </m:r>
                      </m:sub>
                    </m:sSub>
                  </m:oMath>
                </a14:m>
                <a:r>
                  <a:rPr lang="en-US" sz="2400" i="1" dirty="0"/>
                  <a:t> </a:t>
                </a:r>
                <a:r>
                  <a:rPr lang="ru-RU" sz="2400" dirty="0"/>
                  <a:t>– множество элементов </a:t>
                </a:r>
                <a14:m>
                  <m:oMath xmlns:m="http://schemas.openxmlformats.org/officeDocument/2006/math">
                    <m:r>
                      <a:rPr lang="ru-RU" sz="2400" i="1">
                        <a:latin typeface="Cambria Math" charset="0"/>
                      </a:rPr>
                      <m:t>𝑇</m:t>
                    </m:r>
                    <m:r>
                      <a:rPr lang="ru-RU" sz="2400" i="1">
                        <a:latin typeface="Cambria Math" charset="0"/>
                      </a:rPr>
                      <m:t>,</m:t>
                    </m:r>
                  </m:oMath>
                </a14:m>
                <a:r>
                  <a:rPr lang="ru-RU" sz="2400" dirty="0"/>
                  <a:t> для которых атрибут </a:t>
                </a:r>
                <a14:m>
                  <m:oMath xmlns:m="http://schemas.openxmlformats.org/officeDocument/2006/math">
                    <m:r>
                      <a:rPr lang="ru-RU" sz="2400" i="1">
                        <a:latin typeface="Cambria Math" charset="0"/>
                      </a:rPr>
                      <m:t>𝑄</m:t>
                    </m:r>
                  </m:oMath>
                </a14:m>
                <a:r>
                  <a:rPr lang="ru-RU" sz="2400" i="1" dirty="0"/>
                  <a:t> </a:t>
                </a:r>
                <a:r>
                  <a:rPr lang="ru-RU" sz="2400" dirty="0"/>
                  <a:t>имеет значение </a:t>
                </a:r>
                <a14:m>
                  <m:oMath xmlns:m="http://schemas.openxmlformats.org/officeDocument/2006/math">
                    <m:r>
                      <a:rPr lang="ru-RU" sz="2400" i="1">
                        <a:latin typeface="Cambria Math" charset="0"/>
                      </a:rPr>
                      <m:t>𝑘</m:t>
                    </m:r>
                  </m:oMath>
                </a14:m>
                <a:r>
                  <a:rPr lang="ru-RU" sz="2400" dirty="0"/>
                  <a:t>. </a:t>
                </a:r>
                <a:r>
                  <a:rPr lang="ru-RU" sz="2400" dirty="0" smtClean="0"/>
                  <a:t>     На </a:t>
                </a:r>
                <a:r>
                  <a:rPr lang="ru-RU" sz="2400" dirty="0"/>
                  <a:t>каждом шаге алгоритм выбирает тот атрибут </a:t>
                </a:r>
                <a14:m>
                  <m:oMath xmlns:m="http://schemas.openxmlformats.org/officeDocument/2006/math">
                    <m:r>
                      <a:rPr lang="ru-RU" sz="2400" i="1">
                        <a:latin typeface="Cambria Math" charset="0"/>
                      </a:rPr>
                      <m:t>𝑄</m:t>
                    </m:r>
                  </m:oMath>
                </a14:m>
                <a:r>
                  <a:rPr lang="ru-RU" sz="2400" dirty="0"/>
                  <a:t>, для которого это прирост информации максимален.</a:t>
                </a:r>
              </a:p>
              <a:p>
                <a:endParaRPr lang="ru-RU" sz="2400" dirty="0"/>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780674" y="408172"/>
                <a:ext cx="10411326" cy="6903749"/>
              </a:xfrm>
              <a:prstGeom prst="rect">
                <a:avLst/>
              </a:prstGeom>
              <a:blipFill rotWithShape="0">
                <a:blip r:embed="rId2"/>
                <a:stretch>
                  <a:fillRect l="-878" t="-707" r="-937"/>
                </a:stretch>
              </a:blipFill>
            </p:spPr>
            <p:txBody>
              <a:bodyPr/>
              <a:lstStyle/>
              <a:p>
                <a:r>
                  <a:rPr lang="ru-RU">
                    <a:noFill/>
                  </a:rPr>
                  <a:t> </a:t>
                </a:r>
              </a:p>
            </p:txBody>
          </p:sp>
        </mc:Fallback>
      </mc:AlternateContent>
    </p:spTree>
    <p:extLst>
      <p:ext uri="{BB962C8B-B14F-4D97-AF65-F5344CB8AC3E}">
        <p14:creationId xmlns:p14="http://schemas.microsoft.com/office/powerpoint/2010/main" val="4229657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a:t>
            </a:r>
            <a:r>
              <a:rPr lang="ru-RU" b="1" dirty="0" smtClean="0"/>
              <a:t>решений. </a:t>
            </a:r>
            <a:r>
              <a:rPr lang="ru-RU" i="1" dirty="0"/>
              <a:t>Алгоритм </a:t>
            </a:r>
            <a:r>
              <a:rPr lang="ru-RU" i="1" dirty="0" smtClean="0"/>
              <a:t>CART</a:t>
            </a:r>
            <a:r>
              <a:rPr lang="ru-RU" dirty="0" smtClean="0"/>
              <a:t> </a:t>
            </a:r>
            <a:r>
              <a:rPr lang="ru-RU" b="1" dirty="0" smtClean="0"/>
              <a:t> </a:t>
            </a:r>
            <a:endParaRPr lang="ru-RU" b="1" dirty="0"/>
          </a:p>
        </p:txBody>
      </p:sp>
      <p:sp>
        <p:nvSpPr>
          <p:cNvPr id="2" name="Прямоугольник 1"/>
          <p:cNvSpPr/>
          <p:nvPr/>
        </p:nvSpPr>
        <p:spPr>
          <a:xfrm>
            <a:off x="2037347" y="548993"/>
            <a:ext cx="10154653" cy="2677656"/>
          </a:xfrm>
          <a:prstGeom prst="rect">
            <a:avLst/>
          </a:prstGeom>
        </p:spPr>
        <p:txBody>
          <a:bodyPr wrap="square">
            <a:spAutoFit/>
          </a:bodyPr>
          <a:lstStyle/>
          <a:p>
            <a:pPr algn="just"/>
            <a:r>
              <a:rPr lang="ru-RU" sz="2400" dirty="0" smtClean="0"/>
              <a:t>    Алгоритм </a:t>
            </a:r>
            <a:r>
              <a:rPr lang="ru-RU" sz="2400" dirty="0"/>
              <a:t>CART предназначен для построения бинарного дерева </a:t>
            </a:r>
            <a:r>
              <a:rPr lang="ru-RU" sz="2400" dirty="0" smtClean="0"/>
              <a:t>решений. </a:t>
            </a:r>
            <a:r>
              <a:rPr lang="ru-RU" sz="2400" dirty="0"/>
              <a:t>Основные отличия CART от ID3:</a:t>
            </a:r>
          </a:p>
          <a:p>
            <a:pPr marL="342900" lvl="0" indent="-342900">
              <a:buFont typeface="Wingdings" charset="2"/>
              <a:buChar char="ü"/>
            </a:pPr>
            <a:r>
              <a:rPr lang="ru-RU" sz="2400" dirty="0"/>
              <a:t>двоичное представление дерева;</a:t>
            </a:r>
          </a:p>
          <a:p>
            <a:pPr marL="342900" lvl="0" indent="-342900">
              <a:buFont typeface="Wingdings" charset="2"/>
              <a:buChar char="ü"/>
            </a:pPr>
            <a:r>
              <a:rPr lang="ru-RU" sz="2400" dirty="0"/>
              <a:t>критерий оценки качества разбиения;</a:t>
            </a:r>
          </a:p>
          <a:p>
            <a:pPr marL="342900" lvl="0" indent="-342900">
              <a:buFont typeface="Wingdings" charset="2"/>
              <a:buChar char="ü"/>
            </a:pPr>
            <a:r>
              <a:rPr lang="ru-RU" sz="2400" dirty="0"/>
              <a:t>механизм </a:t>
            </a:r>
            <a:r>
              <a:rPr lang="ru-RU" sz="2400" dirty="0" err="1"/>
              <a:t>pruning</a:t>
            </a:r>
            <a:r>
              <a:rPr lang="ru-RU" sz="2400" dirty="0"/>
              <a:t> (обрезки) дерева;</a:t>
            </a:r>
          </a:p>
          <a:p>
            <a:pPr marL="342900" lvl="0" indent="-342900">
              <a:buFont typeface="Wingdings" charset="2"/>
              <a:buChar char="ü"/>
            </a:pPr>
            <a:r>
              <a:rPr lang="ru-RU" sz="2400" dirty="0"/>
              <a:t>способ обработки пропущенных значений;</a:t>
            </a:r>
          </a:p>
          <a:p>
            <a:pPr marL="342900" lvl="0" indent="-342900">
              <a:buFont typeface="Wingdings" charset="2"/>
              <a:buChar char="ü"/>
            </a:pPr>
            <a:r>
              <a:rPr lang="ru-RU" sz="2400" dirty="0"/>
              <a:t>возможность построения регрессионных деревьев</a:t>
            </a:r>
            <a:r>
              <a:rPr lang="ru-RU" sz="2400" dirty="0" smtClean="0"/>
              <a:t>.</a:t>
            </a:r>
            <a:endParaRPr lang="ru-RU" sz="2400" dirty="0"/>
          </a:p>
        </p:txBody>
      </p:sp>
      <mc:AlternateContent xmlns:mc="http://schemas.openxmlformats.org/markup-compatibility/2006" xmlns:a14="http://schemas.microsoft.com/office/drawing/2010/main">
        <mc:Choice Requires="a14">
          <p:sp>
            <p:nvSpPr>
              <p:cNvPr id="3" name="Прямоугольник 2"/>
              <p:cNvSpPr/>
              <p:nvPr/>
            </p:nvSpPr>
            <p:spPr>
              <a:xfrm>
                <a:off x="1251284" y="5571750"/>
                <a:ext cx="10940716" cy="1286250"/>
              </a:xfrm>
              <a:prstGeom prst="rect">
                <a:avLst/>
              </a:prstGeom>
            </p:spPr>
            <p:txBody>
              <a:bodyPr wrap="square">
                <a:spAutoFit/>
              </a:bodyPr>
              <a:lstStyle/>
              <a:p>
                <a:pPr algn="just"/>
                <a:r>
                  <a:rPr lang="ru-RU" sz="2400" dirty="0"/>
                  <a:t>где </a:t>
                </a:r>
                <a14:m>
                  <m:oMath xmlns:m="http://schemas.openxmlformats.org/officeDocument/2006/math">
                    <m:sSub>
                      <m:sSubPr>
                        <m:ctrlPr>
                          <a:rPr lang="ru-RU" sz="2400" i="1">
                            <a:latin typeface="Cambria Math" charset="0"/>
                          </a:rPr>
                        </m:ctrlPr>
                      </m:sSubPr>
                      <m:e>
                        <m:r>
                          <a:rPr lang="ru-RU" sz="2400" i="1">
                            <a:latin typeface="Cambria Math" charset="0"/>
                          </a:rPr>
                          <m:t>𝑃</m:t>
                        </m:r>
                      </m:e>
                      <m:sub>
                        <m:r>
                          <a:rPr lang="ru-RU" sz="2400" i="1">
                            <a:latin typeface="Cambria Math" charset="0"/>
                          </a:rPr>
                          <m:t>𝐿</m:t>
                        </m:r>
                      </m:sub>
                    </m:sSub>
                  </m:oMath>
                </a14:m>
                <a:r>
                  <a:rPr lang="ru-RU" sz="2400" dirty="0"/>
                  <a:t> и </a:t>
                </a:r>
                <a14:m>
                  <m:oMath xmlns:m="http://schemas.openxmlformats.org/officeDocument/2006/math">
                    <m:sSub>
                      <m:sSubPr>
                        <m:ctrlPr>
                          <a:rPr lang="ru-RU" sz="2400" i="1">
                            <a:latin typeface="Cambria Math" charset="0"/>
                          </a:rPr>
                        </m:ctrlPr>
                      </m:sSubPr>
                      <m:e>
                        <m:r>
                          <a:rPr lang="ru-RU" sz="2400" i="1">
                            <a:latin typeface="Cambria Math" charset="0"/>
                          </a:rPr>
                          <m:t>𝑃</m:t>
                        </m:r>
                      </m:e>
                      <m:sub>
                        <m:r>
                          <a:rPr lang="ru-RU" sz="2400" i="1">
                            <a:latin typeface="Cambria Math" charset="0"/>
                          </a:rPr>
                          <m:t>𝑅</m:t>
                        </m:r>
                      </m:sub>
                    </m:sSub>
                  </m:oMath>
                </a14:m>
                <a:r>
                  <a:rPr lang="ru-RU" sz="2400" dirty="0"/>
                  <a:t> – отношение числа примеров в левом и правом потомках к их общему числу в обучающем множестве </a:t>
                </a:r>
                <a14:m>
                  <m:oMath xmlns:m="http://schemas.openxmlformats.org/officeDocument/2006/math">
                    <m:r>
                      <a:rPr lang="ru-RU" sz="2400" i="1">
                        <a:latin typeface="Cambria Math" charset="0"/>
                      </a:rPr>
                      <m:t>𝑇</m:t>
                    </m:r>
                  </m:oMath>
                </a14:m>
                <a:r>
                  <a:rPr lang="ru-RU" sz="2400" dirty="0"/>
                  <a:t>, </a:t>
                </a:r>
                <a14:m>
                  <m:oMath xmlns:m="http://schemas.openxmlformats.org/officeDocument/2006/math">
                    <m:sSub>
                      <m:sSubPr>
                        <m:ctrlPr>
                          <a:rPr lang="ru-RU" sz="2400" i="1">
                            <a:latin typeface="Cambria Math" charset="0"/>
                          </a:rPr>
                        </m:ctrlPr>
                      </m:sSubPr>
                      <m:e>
                        <m:r>
                          <a:rPr lang="ru-RU" sz="2400" i="1">
                            <a:latin typeface="Cambria Math" charset="0"/>
                          </a:rPr>
                          <m:t>𝑃</m:t>
                        </m:r>
                      </m:e>
                      <m:sub>
                        <m:r>
                          <a:rPr lang="ru-RU" sz="2400" i="1">
                            <a:latin typeface="Cambria Math" charset="0"/>
                          </a:rPr>
                          <m:t>𝐿</m:t>
                        </m:r>
                      </m:sub>
                    </m:sSub>
                    <m:d>
                      <m:dPr>
                        <m:ctrlPr>
                          <a:rPr lang="ru-RU" sz="2400" i="1">
                            <a:latin typeface="Cambria Math" charset="0"/>
                          </a:rPr>
                        </m:ctrlPr>
                      </m:dPr>
                      <m:e>
                        <m:sSub>
                          <m:sSubPr>
                            <m:ctrlPr>
                              <a:rPr lang="ru-RU" sz="2400" i="1">
                                <a:latin typeface="Cambria Math" charset="0"/>
                              </a:rPr>
                            </m:ctrlPr>
                          </m:sSubPr>
                          <m:e>
                            <m:r>
                              <a:rPr lang="ru-RU" sz="2400" i="1">
                                <a:latin typeface="Cambria Math" charset="0"/>
                              </a:rPr>
                              <m:t>𝜔</m:t>
                            </m:r>
                          </m:e>
                          <m:sub>
                            <m:r>
                              <a:rPr lang="ru-RU" sz="2400" i="1">
                                <a:latin typeface="Cambria Math" charset="0"/>
                              </a:rPr>
                              <m:t>𝑗</m:t>
                            </m:r>
                          </m:sub>
                        </m:sSub>
                      </m:e>
                    </m:d>
                  </m:oMath>
                </a14:m>
                <a:r>
                  <a:rPr lang="ru-RU" sz="2400" dirty="0"/>
                  <a:t> и </a:t>
                </a:r>
                <a14:m>
                  <m:oMath xmlns:m="http://schemas.openxmlformats.org/officeDocument/2006/math">
                    <m:sSub>
                      <m:sSubPr>
                        <m:ctrlPr>
                          <a:rPr lang="ru-RU" sz="2400" i="1">
                            <a:latin typeface="Cambria Math" charset="0"/>
                          </a:rPr>
                        </m:ctrlPr>
                      </m:sSubPr>
                      <m:e>
                        <m:r>
                          <a:rPr lang="ru-RU" sz="2400" i="1">
                            <a:latin typeface="Cambria Math" charset="0"/>
                          </a:rPr>
                          <m:t>𝑃</m:t>
                        </m:r>
                      </m:e>
                      <m:sub>
                        <m:r>
                          <a:rPr lang="ru-RU" sz="2400" i="1">
                            <a:latin typeface="Cambria Math" charset="0"/>
                          </a:rPr>
                          <m:t>𝑅</m:t>
                        </m:r>
                      </m:sub>
                    </m:sSub>
                    <m:d>
                      <m:dPr>
                        <m:ctrlPr>
                          <a:rPr lang="ru-RU" sz="2400" i="1">
                            <a:latin typeface="Cambria Math" charset="0"/>
                          </a:rPr>
                        </m:ctrlPr>
                      </m:dPr>
                      <m:e>
                        <m:sSub>
                          <m:sSubPr>
                            <m:ctrlPr>
                              <a:rPr lang="ru-RU" sz="2400" i="1">
                                <a:latin typeface="Cambria Math" charset="0"/>
                              </a:rPr>
                            </m:ctrlPr>
                          </m:sSubPr>
                          <m:e>
                            <m:r>
                              <a:rPr lang="ru-RU" sz="2400" i="1">
                                <a:latin typeface="Cambria Math" charset="0"/>
                              </a:rPr>
                              <m:t>𝜔</m:t>
                            </m:r>
                          </m:e>
                          <m:sub>
                            <m:r>
                              <a:rPr lang="ru-RU" sz="2400" i="1">
                                <a:latin typeface="Cambria Math" charset="0"/>
                              </a:rPr>
                              <m:t>𝑗</m:t>
                            </m:r>
                          </m:sub>
                        </m:sSub>
                      </m:e>
                    </m:d>
                  </m:oMath>
                </a14:m>
                <a:r>
                  <a:rPr lang="ru-RU" sz="2400" dirty="0"/>
                  <a:t> – отношение числа примеров класса </a:t>
                </a:r>
                <a14:m>
                  <m:oMath xmlns:m="http://schemas.openxmlformats.org/officeDocument/2006/math">
                    <m:sSub>
                      <m:sSubPr>
                        <m:ctrlPr>
                          <a:rPr lang="ru-RU" sz="2400" i="1">
                            <a:latin typeface="Cambria Math" charset="0"/>
                          </a:rPr>
                        </m:ctrlPr>
                      </m:sSubPr>
                      <m:e>
                        <m:r>
                          <a:rPr lang="ru-RU" sz="2400" i="1">
                            <a:latin typeface="Cambria Math" charset="0"/>
                          </a:rPr>
                          <m:t>𝜔</m:t>
                        </m:r>
                      </m:e>
                      <m:sub>
                        <m:r>
                          <a:rPr lang="ru-RU" sz="2400" i="1">
                            <a:latin typeface="Cambria Math" charset="0"/>
                          </a:rPr>
                          <m:t>𝑗</m:t>
                        </m:r>
                      </m:sub>
                    </m:sSub>
                  </m:oMath>
                </a14:m>
                <a:r>
                  <a:rPr lang="ru-RU" sz="2400" dirty="0"/>
                  <a:t> в левом и правом </a:t>
                </a:r>
                <a:r>
                  <a:rPr lang="ru-RU" sz="2400" dirty="0" smtClean="0"/>
                  <a:t>потомках к </a:t>
                </a:r>
                <a:r>
                  <a:rPr lang="ru-RU" sz="2400" dirty="0"/>
                  <a:t>их общему числу в каждом из них. </a:t>
                </a:r>
              </a:p>
            </p:txBody>
          </p:sp>
        </mc:Choice>
        <mc:Fallback xmlns="">
          <p:sp>
            <p:nvSpPr>
              <p:cNvPr id="3" name="Прямоугольник 2"/>
              <p:cNvSpPr>
                <a:spLocks noRot="1" noChangeAspect="1" noMove="1" noResize="1" noEditPoints="1" noAdjustHandles="1" noChangeArrowheads="1" noChangeShapeType="1" noTextEdit="1"/>
              </p:cNvSpPr>
              <p:nvPr/>
            </p:nvSpPr>
            <p:spPr>
              <a:xfrm>
                <a:off x="1251284" y="5571750"/>
                <a:ext cx="10940716" cy="1286250"/>
              </a:xfrm>
              <a:prstGeom prst="rect">
                <a:avLst/>
              </a:prstGeom>
              <a:blipFill rotWithShape="0">
                <a:blip r:embed="rId2"/>
                <a:stretch>
                  <a:fillRect l="-836" t="-3791" r="-891" b="-8057"/>
                </a:stretch>
              </a:blipFill>
            </p:spPr>
            <p:txBody>
              <a:bodyPr/>
              <a:lstStyle/>
              <a:p>
                <a:r>
                  <a:rPr lang="ru-RU">
                    <a:noFill/>
                  </a:rPr>
                  <a:t> </a:t>
                </a:r>
              </a:p>
            </p:txBody>
          </p:sp>
        </mc:Fallback>
      </mc:AlternateContent>
      <mc:AlternateContent xmlns:mc="http://schemas.openxmlformats.org/markup-compatibility/2006" xmlns:a14="http://schemas.microsoft.com/office/drawing/2010/main">
        <mc:Choice Requires="a14">
          <p:sp>
            <p:nvSpPr>
              <p:cNvPr id="4" name="Прямоугольник 3"/>
              <p:cNvSpPr/>
              <p:nvPr/>
            </p:nvSpPr>
            <p:spPr>
              <a:xfrm>
                <a:off x="1251284" y="3089354"/>
                <a:ext cx="10964782" cy="2619692"/>
              </a:xfrm>
              <a:prstGeom prst="rect">
                <a:avLst/>
              </a:prstGeom>
            </p:spPr>
            <p:txBody>
              <a:bodyPr wrap="square">
                <a:spAutoFit/>
              </a:bodyPr>
              <a:lstStyle/>
              <a:p>
                <a:pPr algn="just"/>
                <a:r>
                  <a:rPr lang="ru-RU" sz="2400" dirty="0" smtClean="0"/>
                  <a:t>     На </a:t>
                </a:r>
                <a:r>
                  <a:rPr lang="ru-RU" sz="2400" dirty="0"/>
                  <a:t>каждом этапе построения узла правило разделяет множество примеров на две части — те случаи, для которых условие выполняется, и те, для которых не выполняется. </a:t>
                </a:r>
                <a:r>
                  <a:rPr lang="ru-RU" sz="2400" dirty="0" smtClean="0"/>
                  <a:t>Перебираются </a:t>
                </a:r>
                <a:r>
                  <a:rPr lang="ru-RU" sz="2400" dirty="0"/>
                  <a:t>все признаки, по которым можно сделать разбиение, и выбирается </a:t>
                </a:r>
                <a:r>
                  <a:rPr lang="ru-RU" sz="2400" dirty="0" smtClean="0"/>
                  <a:t>разбиение</a:t>
                </a:r>
                <a:r>
                  <a:rPr lang="ru-RU" sz="2400" dirty="0"/>
                  <a:t>, которое максимизирует значение заданного </a:t>
                </a:r>
                <a:r>
                  <a:rPr lang="ru-RU" sz="2400" dirty="0" smtClean="0"/>
                  <a:t>критерия: </a:t>
                </a:r>
              </a:p>
              <a:p>
                <a:pPr algn="just"/>
                <a14:m>
                  <m:oMathPara xmlns:m="http://schemas.openxmlformats.org/officeDocument/2006/math">
                    <m:oMathParaPr>
                      <m:jc m:val="centerGroup"/>
                    </m:oMathParaPr>
                    <m:oMath xmlns:m="http://schemas.openxmlformats.org/officeDocument/2006/math">
                      <m:r>
                        <a:rPr lang="ru-RU" sz="2400" i="1">
                          <a:latin typeface="Cambria Math" charset="0"/>
                        </a:rPr>
                        <m:t>𝐻</m:t>
                      </m:r>
                      <m:d>
                        <m:dPr>
                          <m:ctrlPr>
                            <a:rPr lang="ru-RU" sz="2400" i="1">
                              <a:latin typeface="Cambria Math" charset="0"/>
                            </a:rPr>
                          </m:ctrlPr>
                        </m:dPr>
                        <m:e>
                          <m:r>
                            <a:rPr lang="ru-RU" sz="2400" i="1">
                              <a:latin typeface="Cambria Math" charset="0"/>
                            </a:rPr>
                            <m:t>𝑇</m:t>
                          </m:r>
                        </m:e>
                      </m:d>
                      <m:r>
                        <a:rPr lang="ru-RU" sz="2400" i="1">
                          <a:latin typeface="Cambria Math" charset="0"/>
                        </a:rPr>
                        <m:t>=2</m:t>
                      </m:r>
                      <m:sSub>
                        <m:sSubPr>
                          <m:ctrlPr>
                            <a:rPr lang="ru-RU" sz="2400" i="1">
                              <a:latin typeface="Cambria Math" charset="0"/>
                            </a:rPr>
                          </m:ctrlPr>
                        </m:sSubPr>
                        <m:e>
                          <m:r>
                            <a:rPr lang="ru-RU" sz="2400" i="1">
                              <a:latin typeface="Cambria Math" charset="0"/>
                            </a:rPr>
                            <m:t>𝑃</m:t>
                          </m:r>
                        </m:e>
                        <m:sub>
                          <m:r>
                            <a:rPr lang="ru-RU" sz="2400" i="1">
                              <a:latin typeface="Cambria Math" charset="0"/>
                            </a:rPr>
                            <m:t>𝐿</m:t>
                          </m:r>
                        </m:sub>
                      </m:sSub>
                      <m:sSub>
                        <m:sSubPr>
                          <m:ctrlPr>
                            <a:rPr lang="ru-RU" sz="2400" i="1">
                              <a:latin typeface="Cambria Math" charset="0"/>
                            </a:rPr>
                          </m:ctrlPr>
                        </m:sSubPr>
                        <m:e>
                          <m:r>
                            <a:rPr lang="ru-RU" sz="2400" i="1">
                              <a:latin typeface="Cambria Math" charset="0"/>
                            </a:rPr>
                            <m:t>𝑃</m:t>
                          </m:r>
                        </m:e>
                        <m:sub>
                          <m:r>
                            <a:rPr lang="ru-RU" sz="2400" i="1">
                              <a:latin typeface="Cambria Math" charset="0"/>
                            </a:rPr>
                            <m:t>𝑅</m:t>
                          </m:r>
                        </m:sub>
                      </m:sSub>
                      <m:nary>
                        <m:naryPr>
                          <m:chr m:val="∑"/>
                          <m:limLoc m:val="undOvr"/>
                          <m:ctrlPr>
                            <a:rPr lang="ru-RU" sz="2400" i="1">
                              <a:latin typeface="Cambria Math" charset="0"/>
                            </a:rPr>
                          </m:ctrlPr>
                        </m:naryPr>
                        <m:sub>
                          <m:r>
                            <a:rPr lang="ru-RU" sz="2400" i="1">
                              <a:latin typeface="Cambria Math" charset="0"/>
                            </a:rPr>
                            <m:t>𝑗</m:t>
                          </m:r>
                          <m:r>
                            <a:rPr lang="ru-RU" sz="2400" i="1">
                              <a:latin typeface="Cambria Math" charset="0"/>
                            </a:rPr>
                            <m:t>=1</m:t>
                          </m:r>
                        </m:sub>
                        <m:sup>
                          <m:r>
                            <a:rPr lang="ru-RU" sz="2400" i="1">
                              <a:latin typeface="Cambria Math" charset="0"/>
                            </a:rPr>
                            <m:t>𝑞</m:t>
                          </m:r>
                        </m:sup>
                        <m:e>
                          <m:d>
                            <m:dPr>
                              <m:begChr m:val="["/>
                              <m:endChr m:val="]"/>
                              <m:ctrlPr>
                                <a:rPr lang="ru-RU" sz="2400" i="1">
                                  <a:latin typeface="Cambria Math" charset="0"/>
                                </a:rPr>
                              </m:ctrlPr>
                            </m:dPr>
                            <m:e>
                              <m:sSub>
                                <m:sSubPr>
                                  <m:ctrlPr>
                                    <a:rPr lang="ru-RU" sz="2400" i="1">
                                      <a:latin typeface="Cambria Math" charset="0"/>
                                    </a:rPr>
                                  </m:ctrlPr>
                                </m:sSubPr>
                                <m:e>
                                  <m:r>
                                    <a:rPr lang="ru-RU" sz="2400" i="1">
                                      <a:latin typeface="Cambria Math" charset="0"/>
                                    </a:rPr>
                                    <m:t>𝑃</m:t>
                                  </m:r>
                                </m:e>
                                <m:sub>
                                  <m:r>
                                    <a:rPr lang="ru-RU" sz="2400" i="1">
                                      <a:latin typeface="Cambria Math" charset="0"/>
                                    </a:rPr>
                                    <m:t>𝐿</m:t>
                                  </m:r>
                                </m:sub>
                              </m:sSub>
                              <m:d>
                                <m:dPr>
                                  <m:ctrlPr>
                                    <a:rPr lang="ru-RU" sz="2400" i="1">
                                      <a:latin typeface="Cambria Math" charset="0"/>
                                    </a:rPr>
                                  </m:ctrlPr>
                                </m:dPr>
                                <m:e>
                                  <m:sSub>
                                    <m:sSubPr>
                                      <m:ctrlPr>
                                        <a:rPr lang="ru-RU" sz="2400" i="1">
                                          <a:latin typeface="Cambria Math" charset="0"/>
                                        </a:rPr>
                                      </m:ctrlPr>
                                    </m:sSubPr>
                                    <m:e>
                                      <m:r>
                                        <a:rPr lang="ru-RU" sz="2400" i="1">
                                          <a:latin typeface="Cambria Math" charset="0"/>
                                        </a:rPr>
                                        <m:t>𝜔</m:t>
                                      </m:r>
                                    </m:e>
                                    <m:sub>
                                      <m:r>
                                        <a:rPr lang="ru-RU" sz="2400" i="1">
                                          <a:latin typeface="Cambria Math" charset="0"/>
                                        </a:rPr>
                                        <m:t>𝑗</m:t>
                                      </m:r>
                                    </m:sub>
                                  </m:sSub>
                                </m:e>
                              </m:d>
                              <m:sSub>
                                <m:sSubPr>
                                  <m:ctrlPr>
                                    <a:rPr lang="ru-RU" sz="2400" i="1">
                                      <a:latin typeface="Cambria Math" charset="0"/>
                                    </a:rPr>
                                  </m:ctrlPr>
                                </m:sSubPr>
                                <m:e>
                                  <m:r>
                                    <a:rPr lang="ru-RU" sz="2400" i="1">
                                      <a:latin typeface="Cambria Math" charset="0"/>
                                    </a:rPr>
                                    <m:t>−</m:t>
                                  </m:r>
                                  <m:r>
                                    <a:rPr lang="ru-RU" sz="2400" i="1">
                                      <a:latin typeface="Cambria Math" charset="0"/>
                                    </a:rPr>
                                    <m:t>𝑃</m:t>
                                  </m:r>
                                </m:e>
                                <m:sub>
                                  <m:r>
                                    <a:rPr lang="ru-RU" sz="2400" i="1">
                                      <a:latin typeface="Cambria Math" charset="0"/>
                                    </a:rPr>
                                    <m:t>𝑅</m:t>
                                  </m:r>
                                </m:sub>
                              </m:sSub>
                              <m:d>
                                <m:dPr>
                                  <m:ctrlPr>
                                    <a:rPr lang="ru-RU" sz="2400" i="1">
                                      <a:latin typeface="Cambria Math" charset="0"/>
                                    </a:rPr>
                                  </m:ctrlPr>
                                </m:dPr>
                                <m:e>
                                  <m:sSub>
                                    <m:sSubPr>
                                      <m:ctrlPr>
                                        <a:rPr lang="ru-RU" sz="2400" i="1">
                                          <a:latin typeface="Cambria Math" charset="0"/>
                                        </a:rPr>
                                      </m:ctrlPr>
                                    </m:sSubPr>
                                    <m:e>
                                      <m:r>
                                        <a:rPr lang="ru-RU" sz="2400" i="1">
                                          <a:latin typeface="Cambria Math" charset="0"/>
                                        </a:rPr>
                                        <m:t>𝜔</m:t>
                                      </m:r>
                                    </m:e>
                                    <m:sub>
                                      <m:r>
                                        <a:rPr lang="ru-RU" sz="2400" i="1">
                                          <a:latin typeface="Cambria Math" charset="0"/>
                                        </a:rPr>
                                        <m:t>𝑗</m:t>
                                      </m:r>
                                    </m:sub>
                                  </m:sSub>
                                </m:e>
                              </m:d>
                            </m:e>
                          </m:d>
                          <m:r>
                            <a:rPr lang="ru-RU" sz="2400" i="1">
                              <a:latin typeface="Cambria Math" charset="0"/>
                            </a:rPr>
                            <m:t>,</m:t>
                          </m:r>
                        </m:e>
                      </m:nary>
                      <m:r>
                        <a:rPr lang="ru-RU" sz="2400" i="1">
                          <a:latin typeface="Cambria Math" charset="0"/>
                        </a:rPr>
                        <m:t>                        (4.5)</m:t>
                      </m:r>
                    </m:oMath>
                  </m:oMathPara>
                </a14:m>
                <a:endParaRPr lang="ru-RU" sz="2400" dirty="0"/>
              </a:p>
            </p:txBody>
          </p:sp>
        </mc:Choice>
        <mc:Fallback xmlns="">
          <p:sp>
            <p:nvSpPr>
              <p:cNvPr id="4" name="Прямоугольник 3"/>
              <p:cNvSpPr>
                <a:spLocks noRot="1" noChangeAspect="1" noMove="1" noResize="1" noEditPoints="1" noAdjustHandles="1" noChangeArrowheads="1" noChangeShapeType="1" noTextEdit="1"/>
              </p:cNvSpPr>
              <p:nvPr/>
            </p:nvSpPr>
            <p:spPr>
              <a:xfrm>
                <a:off x="1251284" y="3089354"/>
                <a:ext cx="10964782" cy="2619692"/>
              </a:xfrm>
              <a:prstGeom prst="rect">
                <a:avLst/>
              </a:prstGeom>
              <a:blipFill rotWithShape="0">
                <a:blip r:embed="rId3"/>
                <a:stretch>
                  <a:fillRect l="-834" t="-1860" r="-834"/>
                </a:stretch>
              </a:blipFill>
            </p:spPr>
            <p:txBody>
              <a:bodyPr/>
              <a:lstStyle/>
              <a:p>
                <a:r>
                  <a:rPr lang="ru-RU">
                    <a:noFill/>
                  </a:rPr>
                  <a:t> </a:t>
                </a:r>
              </a:p>
            </p:txBody>
          </p:sp>
        </mc:Fallback>
      </mc:AlternateContent>
    </p:spTree>
    <p:extLst>
      <p:ext uri="{BB962C8B-B14F-4D97-AF65-F5344CB8AC3E}">
        <p14:creationId xmlns:p14="http://schemas.microsoft.com/office/powerpoint/2010/main" val="203160471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a:t>
            </a:r>
            <a:r>
              <a:rPr lang="ru-RU" b="1" dirty="0" smtClean="0"/>
              <a:t>решений. </a:t>
            </a:r>
            <a:r>
              <a:rPr lang="ru-RU" i="1" dirty="0"/>
              <a:t>Алгоритм </a:t>
            </a:r>
            <a:r>
              <a:rPr lang="ru-RU" i="1" dirty="0" smtClean="0"/>
              <a:t>CART</a:t>
            </a:r>
            <a:r>
              <a:rPr lang="ru-RU" dirty="0" smtClean="0"/>
              <a:t> </a:t>
            </a:r>
            <a:r>
              <a:rPr lang="ru-RU" b="1" dirty="0" smtClean="0"/>
              <a:t> </a:t>
            </a:r>
            <a:endParaRPr lang="ru-RU" b="1" dirty="0"/>
          </a:p>
        </p:txBody>
      </p:sp>
      <mc:AlternateContent xmlns:mc="http://schemas.openxmlformats.org/markup-compatibility/2006" xmlns:a14="http://schemas.microsoft.com/office/drawing/2010/main">
        <mc:Choice Requires="a14">
          <p:sp>
            <p:nvSpPr>
              <p:cNvPr id="2" name="Прямоугольник 1"/>
              <p:cNvSpPr/>
              <p:nvPr/>
            </p:nvSpPr>
            <p:spPr>
              <a:xfrm>
                <a:off x="1668379" y="548993"/>
                <a:ext cx="10523621" cy="6231258"/>
              </a:xfrm>
              <a:prstGeom prst="rect">
                <a:avLst/>
              </a:prstGeom>
            </p:spPr>
            <p:txBody>
              <a:bodyPr wrap="square">
                <a:spAutoFit/>
              </a:bodyPr>
              <a:lstStyle/>
              <a:p>
                <a:pPr algn="just"/>
                <a:r>
                  <a:rPr lang="ru-RU" sz="2400" dirty="0" smtClean="0"/>
                  <a:t>      При </a:t>
                </a:r>
                <a:r>
                  <a:rPr lang="ru-RU" sz="2400" dirty="0"/>
                  <a:t>работе с числовыми признаками CART выбирает порог, дающий наибольшее снижение индекса Джини. Для категориальных признаков применяется бинарное разбиение, которое оптимально объединяет категории.</a:t>
                </a:r>
              </a:p>
              <a:p>
                <a:r>
                  <a:rPr lang="ru-RU" sz="2400" dirty="0"/>
                  <a:t>Индекс Джини для множества </a:t>
                </a:r>
                <a:r>
                  <a:rPr lang="ru-RU" sz="2400" i="1" dirty="0" err="1">
                    <a:latin typeface="TimesNewRomanPS" charset="0"/>
                    <a:ea typeface="TimesNewRomanPS" charset="0"/>
                    <a:cs typeface="TimesNewRomanPS" charset="0"/>
                  </a:rPr>
                  <a:t>S</a:t>
                </a:r>
                <a:r>
                  <a:rPr lang="ru-RU" sz="2400" dirty="0"/>
                  <a:t>:</a:t>
                </a:r>
              </a:p>
              <a:p>
                <a:pPr/>
                <a14:m>
                  <m:oMathPara xmlns:m="http://schemas.openxmlformats.org/officeDocument/2006/math">
                    <m:oMathParaPr>
                      <m:jc m:val="centerGroup"/>
                    </m:oMathParaPr>
                    <m:oMath xmlns:m="http://schemas.openxmlformats.org/officeDocument/2006/math">
                      <m:r>
                        <a:rPr lang="ru-RU" sz="2400" i="1">
                          <a:latin typeface="Cambria Math" charset="0"/>
                        </a:rPr>
                        <m:t>𝐺𝑖𝑛𝑖</m:t>
                      </m:r>
                      <m:d>
                        <m:dPr>
                          <m:ctrlPr>
                            <a:rPr lang="ru-RU" sz="2400" i="1">
                              <a:latin typeface="Cambria Math" charset="0"/>
                            </a:rPr>
                          </m:ctrlPr>
                        </m:dPr>
                        <m:e>
                          <m:r>
                            <a:rPr lang="ru-RU" sz="2400" i="1">
                              <a:latin typeface="Cambria Math" charset="0"/>
                            </a:rPr>
                            <m:t>𝑇</m:t>
                          </m:r>
                          <m:r>
                            <a:rPr lang="ru-RU" sz="2400" i="1">
                              <a:latin typeface="Cambria Math" charset="0"/>
                            </a:rPr>
                            <m:t>, </m:t>
                          </m:r>
                          <m:r>
                            <a:rPr lang="ru-RU" sz="2400" i="1">
                              <a:latin typeface="Cambria Math" charset="0"/>
                            </a:rPr>
                            <m:t>𝑆</m:t>
                          </m:r>
                        </m:e>
                      </m:d>
                      <m:r>
                        <a:rPr lang="ru-RU" sz="2400" i="1">
                          <a:latin typeface="Cambria Math" charset="0"/>
                        </a:rPr>
                        <m:t> = 1−</m:t>
                      </m:r>
                      <m:nary>
                        <m:naryPr>
                          <m:chr m:val="∑"/>
                          <m:ctrlPr>
                            <a:rPr lang="ru-RU" sz="2400" i="1">
                              <a:latin typeface="Cambria Math" charset="0"/>
                            </a:rPr>
                          </m:ctrlPr>
                        </m:naryPr>
                        <m:sub>
                          <m:r>
                            <a:rPr lang="en-US" sz="2400" i="1">
                              <a:latin typeface="Cambria Math" charset="0"/>
                            </a:rPr>
                            <m:t>𝑖</m:t>
                          </m:r>
                          <m:r>
                            <a:rPr lang="ru-RU" sz="2400" i="1">
                              <a:latin typeface="Cambria Math" charset="0"/>
                            </a:rPr>
                            <m:t>=1</m:t>
                          </m:r>
                        </m:sub>
                        <m:sup>
                          <m:r>
                            <a:rPr lang="en-US" sz="2400" i="1">
                              <a:latin typeface="Cambria Math" charset="0"/>
                            </a:rPr>
                            <m:t>𝑞</m:t>
                          </m:r>
                        </m:sup>
                        <m:e>
                          <m:sSubSup>
                            <m:sSubSupPr>
                              <m:ctrlPr>
                                <a:rPr lang="ru-RU" sz="2400" i="1">
                                  <a:latin typeface="Cambria Math" charset="0"/>
                                </a:rPr>
                              </m:ctrlPr>
                            </m:sSubSupPr>
                            <m:e>
                              <m:r>
                                <a:rPr lang="en-US" sz="2400" i="1">
                                  <a:latin typeface="Cambria Math" charset="0"/>
                                </a:rPr>
                                <m:t>𝑝</m:t>
                              </m:r>
                            </m:e>
                            <m:sub>
                              <m:r>
                                <a:rPr lang="en-US" sz="2400" i="1">
                                  <a:latin typeface="Cambria Math" charset="0"/>
                                </a:rPr>
                                <m:t>𝑖</m:t>
                              </m:r>
                            </m:sub>
                            <m:sup>
                              <m:r>
                                <a:rPr lang="ru-RU" sz="2400" i="1">
                                  <a:latin typeface="Cambria Math" charset="0"/>
                                </a:rPr>
                                <m:t>2</m:t>
                              </m:r>
                            </m:sup>
                          </m:sSubSup>
                        </m:e>
                      </m:nary>
                      <m:r>
                        <a:rPr lang="ru-RU" sz="2400" i="1">
                          <a:latin typeface="Cambria Math" charset="0"/>
                        </a:rPr>
                        <m:t>,       </m:t>
                      </m:r>
                    </m:oMath>
                  </m:oMathPara>
                </a14:m>
                <a:endParaRPr lang="ru-RU" sz="2400" dirty="0"/>
              </a:p>
              <a:p>
                <a:r>
                  <a:rPr lang="ru-RU" sz="2400" dirty="0"/>
                  <a:t>где </a:t>
                </a:r>
                <a14:m>
                  <m:oMath xmlns:m="http://schemas.openxmlformats.org/officeDocument/2006/math">
                    <m:sSub>
                      <m:sSubPr>
                        <m:ctrlPr>
                          <a:rPr lang="ru-RU" sz="2400" i="1">
                            <a:latin typeface="Cambria Math" charset="0"/>
                          </a:rPr>
                        </m:ctrlPr>
                      </m:sSubPr>
                      <m:e>
                        <m:r>
                          <a:rPr lang="ru-RU" sz="2400" i="1">
                            <a:latin typeface="Cambria Math" charset="0"/>
                          </a:rPr>
                          <m:t>𝑝</m:t>
                        </m:r>
                      </m:e>
                      <m:sub>
                        <m:r>
                          <a:rPr lang="ru-RU" sz="2400" i="1">
                            <a:latin typeface="Cambria Math" charset="0"/>
                          </a:rPr>
                          <m:t>𝑖</m:t>
                        </m:r>
                      </m:sub>
                    </m:sSub>
                  </m:oMath>
                </a14:m>
                <a:r>
                  <a:rPr lang="ru-RU" sz="2400" dirty="0"/>
                  <a:t> – вероятность (относительная частота) класса </a:t>
                </a:r>
                <a14:m>
                  <m:oMath xmlns:m="http://schemas.openxmlformats.org/officeDocument/2006/math">
                    <m:sSub>
                      <m:sSubPr>
                        <m:ctrlPr>
                          <a:rPr lang="ru-RU" sz="2400" i="1">
                            <a:latin typeface="Cambria Math" charset="0"/>
                          </a:rPr>
                        </m:ctrlPr>
                      </m:sSubPr>
                      <m:e>
                        <m:r>
                          <a:rPr lang="ru-RU" sz="2400" i="1">
                            <a:latin typeface="Cambria Math" charset="0"/>
                          </a:rPr>
                          <m:t>𝜔</m:t>
                        </m:r>
                      </m:e>
                      <m:sub>
                        <m:r>
                          <a:rPr lang="ru-RU" sz="2400" i="1">
                            <a:latin typeface="Cambria Math" charset="0"/>
                          </a:rPr>
                          <m:t>𝑖</m:t>
                        </m:r>
                      </m:sub>
                    </m:sSub>
                  </m:oMath>
                </a14:m>
                <a:r>
                  <a:rPr lang="ru-RU" sz="2400" dirty="0"/>
                  <a:t> в </a:t>
                </a:r>
                <a14:m>
                  <m:oMath xmlns:m="http://schemas.openxmlformats.org/officeDocument/2006/math">
                    <m:r>
                      <a:rPr lang="ru-RU" sz="2400" i="1">
                        <a:latin typeface="Cambria Math" charset="0"/>
                      </a:rPr>
                      <m:t>𝑇</m:t>
                    </m:r>
                  </m:oMath>
                </a14:m>
                <a:r>
                  <a:rPr lang="ru-RU" sz="2400" dirty="0"/>
                  <a:t>. </a:t>
                </a:r>
              </a:p>
              <a:p>
                <a:pPr algn="just"/>
                <a:r>
                  <a:rPr lang="en-US" sz="2400" dirty="0" smtClean="0"/>
                  <a:t>    </a:t>
                </a:r>
                <a:r>
                  <a:rPr lang="ru-RU" sz="2400" dirty="0" smtClean="0"/>
                  <a:t>В </a:t>
                </a:r>
                <a:r>
                  <a:rPr lang="ru-RU" sz="2400" dirty="0"/>
                  <a:t>узле двоичного дерева с двумя ветвями после нескольких преобразований и упрощений показатель эффективности разбиения множества задаётся как</a:t>
                </a:r>
              </a:p>
              <a:p>
                <a:pPr/>
                <a14:m>
                  <m:oMathPara xmlns:m="http://schemas.openxmlformats.org/officeDocument/2006/math">
                    <m:oMathParaPr>
                      <m:jc m:val="right"/>
                    </m:oMathParaPr>
                    <m:oMath xmlns:m="http://schemas.openxmlformats.org/officeDocument/2006/math">
                      <m:sSub>
                        <m:sSubPr>
                          <m:ctrlPr>
                            <a:rPr lang="ru-RU" sz="2400" i="1">
                              <a:latin typeface="Cambria Math" charset="0"/>
                            </a:rPr>
                          </m:ctrlPr>
                        </m:sSubPr>
                        <m:e>
                          <m:r>
                            <a:rPr lang="ru-RU" sz="2400" i="1">
                              <a:latin typeface="Cambria Math" charset="0"/>
                            </a:rPr>
                            <m:t>𝐺</m:t>
                          </m:r>
                        </m:e>
                        <m:sub>
                          <m:r>
                            <a:rPr lang="ru-RU" sz="2400" i="1">
                              <a:latin typeface="Cambria Math" charset="0"/>
                            </a:rPr>
                            <m:t>𝑠</m:t>
                          </m:r>
                          <m:r>
                            <a:rPr lang="en-US" sz="2400" i="1">
                              <a:latin typeface="Cambria Math" charset="0"/>
                            </a:rPr>
                            <m:t>𝑝𝑙𝑖𝑡</m:t>
                          </m:r>
                        </m:sub>
                      </m:sSub>
                      <m:r>
                        <a:rPr lang="ru-RU" sz="2400" i="1">
                          <a:latin typeface="Cambria Math" charset="0"/>
                        </a:rPr>
                        <m:t>=</m:t>
                      </m:r>
                      <m:f>
                        <m:fPr>
                          <m:ctrlPr>
                            <a:rPr lang="ru-RU" sz="2400" i="1">
                              <a:latin typeface="Cambria Math" charset="0"/>
                            </a:rPr>
                          </m:ctrlPr>
                        </m:fPr>
                        <m:num>
                          <m:r>
                            <a:rPr lang="ru-RU" sz="2400" i="1">
                              <a:latin typeface="Cambria Math" charset="0"/>
                            </a:rPr>
                            <m:t>1</m:t>
                          </m:r>
                        </m:num>
                        <m:den>
                          <m:r>
                            <a:rPr lang="ru-RU" sz="2400" i="1">
                              <a:latin typeface="Cambria Math" charset="0"/>
                            </a:rPr>
                            <m:t>𝐿</m:t>
                          </m:r>
                        </m:den>
                      </m:f>
                      <m:nary>
                        <m:naryPr>
                          <m:chr m:val="∑"/>
                          <m:limLoc m:val="undOvr"/>
                          <m:ctrlPr>
                            <a:rPr lang="ru-RU" sz="2400" i="1">
                              <a:latin typeface="Cambria Math" charset="0"/>
                            </a:rPr>
                          </m:ctrlPr>
                        </m:naryPr>
                        <m:sub>
                          <m:r>
                            <a:rPr lang="ru-RU" sz="2400" i="1">
                              <a:latin typeface="Cambria Math" charset="0"/>
                            </a:rPr>
                            <m:t>𝑖</m:t>
                          </m:r>
                          <m:r>
                            <a:rPr lang="ru-RU" sz="2400" i="1">
                              <a:latin typeface="Cambria Math" charset="0"/>
                            </a:rPr>
                            <m:t>=1</m:t>
                          </m:r>
                        </m:sub>
                        <m:sup>
                          <m:r>
                            <a:rPr lang="ru-RU" sz="2400" i="1">
                              <a:latin typeface="Cambria Math" charset="0"/>
                            </a:rPr>
                            <m:t>𝑛</m:t>
                          </m:r>
                        </m:sup>
                        <m:e>
                          <m:sSubSup>
                            <m:sSubSupPr>
                              <m:ctrlPr>
                                <a:rPr lang="ru-RU" sz="2400" i="1">
                                  <a:latin typeface="Cambria Math" charset="0"/>
                                </a:rPr>
                              </m:ctrlPr>
                            </m:sSubSupPr>
                            <m:e>
                              <m:r>
                                <a:rPr lang="ru-RU" sz="2400" i="1">
                                  <a:latin typeface="Cambria Math" charset="0"/>
                                </a:rPr>
                                <m:t>𝑙</m:t>
                              </m:r>
                            </m:e>
                            <m:sub>
                              <m:r>
                                <a:rPr lang="ru-RU" sz="2400" i="1">
                                  <a:latin typeface="Cambria Math" charset="0"/>
                                </a:rPr>
                                <m:t>𝑖</m:t>
                              </m:r>
                            </m:sub>
                            <m:sup>
                              <m:r>
                                <a:rPr lang="ru-RU" sz="2400" i="1">
                                  <a:latin typeface="Cambria Math" charset="0"/>
                                </a:rPr>
                                <m:t>2</m:t>
                              </m:r>
                            </m:sup>
                          </m:sSubSup>
                          <m:r>
                            <a:rPr lang="ru-RU" sz="2400" i="1">
                              <a:latin typeface="Cambria Math" charset="0"/>
                            </a:rPr>
                            <m:t>+</m:t>
                          </m:r>
                          <m:f>
                            <m:fPr>
                              <m:ctrlPr>
                                <a:rPr lang="ru-RU" sz="2400" i="1">
                                  <a:latin typeface="Cambria Math" charset="0"/>
                                </a:rPr>
                              </m:ctrlPr>
                            </m:fPr>
                            <m:num>
                              <m:r>
                                <a:rPr lang="ru-RU" sz="2400" i="1">
                                  <a:latin typeface="Cambria Math" charset="0"/>
                                </a:rPr>
                                <m:t>1</m:t>
                              </m:r>
                            </m:num>
                            <m:den>
                              <m:r>
                                <a:rPr lang="ru-RU" sz="2400" i="1">
                                  <a:latin typeface="Cambria Math" charset="0"/>
                                </a:rPr>
                                <m:t>𝑅</m:t>
                              </m:r>
                            </m:den>
                          </m:f>
                        </m:e>
                      </m:nary>
                      <m:nary>
                        <m:naryPr>
                          <m:chr m:val="∑"/>
                          <m:limLoc m:val="undOvr"/>
                          <m:ctrlPr>
                            <a:rPr lang="ru-RU" sz="2400" i="1">
                              <a:latin typeface="Cambria Math" charset="0"/>
                            </a:rPr>
                          </m:ctrlPr>
                        </m:naryPr>
                        <m:sub>
                          <m:r>
                            <a:rPr lang="ru-RU" sz="2400" i="1">
                              <a:latin typeface="Cambria Math" charset="0"/>
                            </a:rPr>
                            <m:t>𝑖</m:t>
                          </m:r>
                          <m:r>
                            <a:rPr lang="ru-RU" sz="2400" i="1">
                              <a:latin typeface="Cambria Math" charset="0"/>
                            </a:rPr>
                            <m:t>=1</m:t>
                          </m:r>
                        </m:sub>
                        <m:sup>
                          <m:r>
                            <a:rPr lang="ru-RU" sz="2400" i="1">
                              <a:latin typeface="Cambria Math" charset="0"/>
                            </a:rPr>
                            <m:t>𝑛</m:t>
                          </m:r>
                        </m:sup>
                        <m:e>
                          <m:sSubSup>
                            <m:sSubSupPr>
                              <m:ctrlPr>
                                <a:rPr lang="ru-RU" sz="2400" i="1">
                                  <a:latin typeface="Cambria Math" charset="0"/>
                                </a:rPr>
                              </m:ctrlPr>
                            </m:sSubSupPr>
                            <m:e>
                              <m:r>
                                <a:rPr lang="ru-RU" sz="2400" i="1">
                                  <a:latin typeface="Cambria Math" charset="0"/>
                                </a:rPr>
                                <m:t>𝑟</m:t>
                              </m:r>
                            </m:e>
                            <m:sub>
                              <m:r>
                                <a:rPr lang="ru-RU" sz="2400" i="1">
                                  <a:latin typeface="Cambria Math" charset="0"/>
                                </a:rPr>
                                <m:t>𝑖</m:t>
                              </m:r>
                            </m:sub>
                            <m:sup>
                              <m:r>
                                <a:rPr lang="ru-RU" sz="2400" i="1">
                                  <a:latin typeface="Cambria Math" charset="0"/>
                                </a:rPr>
                                <m:t>2</m:t>
                              </m:r>
                            </m:sup>
                          </m:sSubSup>
                        </m:e>
                      </m:nary>
                      <m:r>
                        <a:rPr lang="en-US" sz="2400" b="0" i="1" smtClean="0">
                          <a:latin typeface="Cambria Math" charset="0"/>
                        </a:rPr>
                        <m:t>, </m:t>
                      </m:r>
                      <m:r>
                        <a:rPr lang="ru-RU" sz="2400" b="0" i="1" smtClean="0">
                          <a:latin typeface="Cambria Math" charset="0"/>
                        </a:rPr>
                        <m:t>                                  </m:t>
                      </m:r>
                      <m:r>
                        <a:rPr lang="en-US" sz="2400" b="0" i="1" smtClean="0">
                          <a:latin typeface="Cambria Math" charset="0"/>
                        </a:rPr>
                        <m:t>(4</m:t>
                      </m:r>
                      <m:r>
                        <a:rPr lang="ru-RU" sz="2400" b="0" i="1" smtClean="0">
                          <a:latin typeface="Cambria Math" charset="0"/>
                        </a:rPr>
                        <m:t>.6)</m:t>
                      </m:r>
                    </m:oMath>
                  </m:oMathPara>
                </a14:m>
                <a:endParaRPr lang="ru-RU" sz="2400" dirty="0"/>
              </a:p>
              <a:p>
                <a:pPr algn="just"/>
                <a:r>
                  <a:rPr lang="ru-RU" sz="2400" dirty="0"/>
                  <a:t>где </a:t>
                </a:r>
                <a14:m>
                  <m:oMath xmlns:m="http://schemas.openxmlformats.org/officeDocument/2006/math">
                    <m:r>
                      <a:rPr lang="ru-RU" sz="2400" i="1">
                        <a:latin typeface="Cambria Math" charset="0"/>
                      </a:rPr>
                      <m:t>𝐿</m:t>
                    </m:r>
                    <m:r>
                      <a:rPr lang="ru-RU" sz="2400" i="1">
                        <a:latin typeface="Cambria Math" charset="0"/>
                      </a:rPr>
                      <m:t>, </m:t>
                    </m:r>
                    <m:r>
                      <a:rPr lang="ru-RU" sz="2400" i="1">
                        <a:latin typeface="Cambria Math" charset="0"/>
                      </a:rPr>
                      <m:t>𝑅</m:t>
                    </m:r>
                  </m:oMath>
                </a14:m>
                <a:r>
                  <a:rPr lang="ru-RU" sz="2400" dirty="0"/>
                  <a:t> – число примеров </a:t>
                </a:r>
                <a:r>
                  <a:rPr lang="ru-RU" sz="2400" dirty="0" smtClean="0"/>
                  <a:t>в </a:t>
                </a:r>
                <a:r>
                  <a:rPr lang="ru-RU" sz="2400" dirty="0"/>
                  <a:t>левом и правом потомке; </a:t>
                </a:r>
                <a14:m>
                  <m:oMath xmlns:m="http://schemas.openxmlformats.org/officeDocument/2006/math">
                    <m:sSub>
                      <m:sSubPr>
                        <m:ctrlPr>
                          <a:rPr lang="ru-RU" sz="2400" i="1">
                            <a:latin typeface="Cambria Math" charset="0"/>
                          </a:rPr>
                        </m:ctrlPr>
                      </m:sSubPr>
                      <m:e>
                        <m:r>
                          <a:rPr lang="ru-RU" sz="2400" i="1">
                            <a:latin typeface="Cambria Math" charset="0"/>
                          </a:rPr>
                          <m:t>𝑙</m:t>
                        </m:r>
                      </m:e>
                      <m:sub>
                        <m:r>
                          <a:rPr lang="ru-RU" sz="2400" i="1">
                            <a:latin typeface="Cambria Math" charset="0"/>
                          </a:rPr>
                          <m:t>𝑖</m:t>
                        </m:r>
                      </m:sub>
                    </m:sSub>
                  </m:oMath>
                </a14:m>
                <a:r>
                  <a:rPr lang="ru-RU" sz="2400" dirty="0"/>
                  <a:t> и </a:t>
                </a:r>
                <a14:m>
                  <m:oMath xmlns:m="http://schemas.openxmlformats.org/officeDocument/2006/math">
                    <m:sSub>
                      <m:sSubPr>
                        <m:ctrlPr>
                          <a:rPr lang="ru-RU" sz="2400" i="1">
                            <a:latin typeface="Cambria Math" charset="0"/>
                          </a:rPr>
                        </m:ctrlPr>
                      </m:sSubPr>
                      <m:e>
                        <m:r>
                          <a:rPr lang="ru-RU" sz="2400" i="1">
                            <a:latin typeface="Cambria Math" charset="0"/>
                          </a:rPr>
                          <m:t>𝑟</m:t>
                        </m:r>
                      </m:e>
                      <m:sub>
                        <m:r>
                          <a:rPr lang="ru-RU" sz="2400" i="1">
                            <a:latin typeface="Cambria Math" charset="0"/>
                          </a:rPr>
                          <m:t>𝑖</m:t>
                        </m:r>
                      </m:sub>
                    </m:sSub>
                  </m:oMath>
                </a14:m>
                <a:r>
                  <a:rPr lang="ru-RU" sz="2400" dirty="0"/>
                  <a:t> – число экземпляров </a:t>
                </a:r>
                <a14:m>
                  <m:oMath xmlns:m="http://schemas.openxmlformats.org/officeDocument/2006/math">
                    <m:sSub>
                      <m:sSubPr>
                        <m:ctrlPr>
                          <a:rPr lang="ru-RU" sz="2400" i="1">
                            <a:latin typeface="Cambria Math" charset="0"/>
                          </a:rPr>
                        </m:ctrlPr>
                      </m:sSubPr>
                      <m:e>
                        <m:r>
                          <a:rPr lang="ru-RU" sz="2400" i="1">
                            <a:latin typeface="Cambria Math" charset="0"/>
                          </a:rPr>
                          <m:t>𝜔</m:t>
                        </m:r>
                      </m:e>
                      <m:sub>
                        <m:r>
                          <a:rPr lang="ru-RU" sz="2400" i="1">
                            <a:latin typeface="Cambria Math" charset="0"/>
                          </a:rPr>
                          <m:t>𝑖</m:t>
                        </m:r>
                      </m:sub>
                    </m:sSub>
                  </m:oMath>
                </a14:m>
                <a:r>
                  <a:rPr lang="ru-RU" sz="2400" dirty="0"/>
                  <a:t>-го класса в левом и правом потомке. Лучшим будет то разбиение, для которого величина </a:t>
                </a:r>
                <a14:m>
                  <m:oMath xmlns:m="http://schemas.openxmlformats.org/officeDocument/2006/math">
                    <m:sSub>
                      <m:sSubPr>
                        <m:ctrlPr>
                          <a:rPr lang="ru-RU" sz="2400" i="1">
                            <a:latin typeface="Cambria Math" charset="0"/>
                          </a:rPr>
                        </m:ctrlPr>
                      </m:sSubPr>
                      <m:e>
                        <m:r>
                          <a:rPr lang="ru-RU" sz="2400" i="1">
                            <a:latin typeface="Cambria Math" charset="0"/>
                          </a:rPr>
                          <m:t>𝐺</m:t>
                        </m:r>
                      </m:e>
                      <m:sub>
                        <m:r>
                          <a:rPr lang="ru-RU" sz="2400" i="1">
                            <a:latin typeface="Cambria Math" charset="0"/>
                          </a:rPr>
                          <m:t>𝑠</m:t>
                        </m:r>
                        <m:r>
                          <a:rPr lang="en-US" sz="2400" i="1">
                            <a:latin typeface="Cambria Math" charset="0"/>
                          </a:rPr>
                          <m:t>𝑝𝑙𝑖𝑡</m:t>
                        </m:r>
                      </m:sub>
                    </m:sSub>
                  </m:oMath>
                </a14:m>
                <a:r>
                  <a:rPr lang="ru-RU" sz="2400" dirty="0"/>
                  <a:t> будет максимальной. </a:t>
                </a:r>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668379" y="548993"/>
                <a:ext cx="10523621" cy="6231258"/>
              </a:xfrm>
              <a:prstGeom prst="rect">
                <a:avLst/>
              </a:prstGeom>
              <a:blipFill rotWithShape="0">
                <a:blip r:embed="rId2"/>
                <a:stretch>
                  <a:fillRect l="-927" t="-783" r="-869" b="-783"/>
                </a:stretch>
              </a:blipFill>
            </p:spPr>
            <p:txBody>
              <a:bodyPr/>
              <a:lstStyle/>
              <a:p>
                <a:r>
                  <a:rPr lang="ru-RU">
                    <a:noFill/>
                  </a:rPr>
                  <a:t> </a:t>
                </a:r>
              </a:p>
            </p:txBody>
          </p:sp>
        </mc:Fallback>
      </mc:AlternateContent>
    </p:spTree>
    <p:extLst>
      <p:ext uri="{BB962C8B-B14F-4D97-AF65-F5344CB8AC3E}">
        <p14:creationId xmlns:p14="http://schemas.microsoft.com/office/powerpoint/2010/main" val="2715265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b="1" dirty="0"/>
              <a:t>Деревья </a:t>
            </a:r>
            <a:r>
              <a:rPr lang="ru-RU" b="1" dirty="0" smtClean="0"/>
              <a:t>решений. </a:t>
            </a:r>
            <a:r>
              <a:rPr lang="ru-RU" i="1" dirty="0"/>
              <a:t>Алгоритм С4.5</a:t>
            </a:r>
            <a:r>
              <a:rPr lang="ru-RU" dirty="0"/>
              <a:t> </a:t>
            </a:r>
            <a:endParaRPr lang="ru-RU" b="1" dirty="0"/>
          </a:p>
        </p:txBody>
      </p:sp>
      <mc:AlternateContent xmlns:mc="http://schemas.openxmlformats.org/markup-compatibility/2006" xmlns:a14="http://schemas.microsoft.com/office/drawing/2010/main">
        <mc:Choice Requires="a14">
          <p:sp>
            <p:nvSpPr>
              <p:cNvPr id="2" name="Прямоугольник 1"/>
              <p:cNvSpPr/>
              <p:nvPr/>
            </p:nvSpPr>
            <p:spPr>
              <a:xfrm>
                <a:off x="1780674" y="548993"/>
                <a:ext cx="10411326" cy="6388287"/>
              </a:xfrm>
              <a:prstGeom prst="rect">
                <a:avLst/>
              </a:prstGeom>
            </p:spPr>
            <p:txBody>
              <a:bodyPr wrap="square">
                <a:spAutoFit/>
              </a:bodyPr>
              <a:lstStyle/>
              <a:p>
                <a:pPr algn="just"/>
                <a:r>
                  <a:rPr lang="ru-RU" sz="2400" dirty="0" smtClean="0"/>
                  <a:t>       В </a:t>
                </a:r>
                <a:r>
                  <a:rPr lang="ru-RU" sz="2400" dirty="0"/>
                  <a:t>C4.5 вводится нормирование прироста информации, основанное на расчете дополнительного показателя, оценивающего потенциальную информацию, получаемую при разбиении множества на </a:t>
                </a:r>
                <a:r>
                  <a:rPr lang="ru-RU" sz="2400" i="1" dirty="0" err="1">
                    <a:latin typeface="TimesNewRomanPS" charset="0"/>
                    <a:ea typeface="TimesNewRomanPS" charset="0"/>
                    <a:cs typeface="TimesNewRomanPS" charset="0"/>
                  </a:rPr>
                  <a:t>n</a:t>
                </a:r>
                <a:r>
                  <a:rPr lang="ru-RU" sz="2400" dirty="0"/>
                  <a:t> подмножеств. Этот показатель часто выражается через отношение </a:t>
                </a:r>
                <a:r>
                  <a:rPr lang="ru-RU" sz="2400" i="1" dirty="0"/>
                  <a:t>прироста информации</a:t>
                </a:r>
                <a:r>
                  <a:rPr lang="ru-RU" sz="2400" dirty="0"/>
                  <a:t> </a:t>
                </a:r>
                <a14:m>
                  <m:oMath xmlns:m="http://schemas.openxmlformats.org/officeDocument/2006/math">
                    <m:r>
                      <a:rPr lang="ru-RU" sz="2400" i="1">
                        <a:latin typeface="Cambria Math" charset="0"/>
                      </a:rPr>
                      <m:t>𝐺𝑎𝑖𝑛</m:t>
                    </m:r>
                    <m:d>
                      <m:dPr>
                        <m:ctrlPr>
                          <a:rPr lang="ru-RU" sz="2400" i="1">
                            <a:latin typeface="Cambria Math" charset="0"/>
                          </a:rPr>
                        </m:ctrlPr>
                      </m:dPr>
                      <m:e>
                        <m:r>
                          <a:rPr lang="ru-RU" sz="2400" i="1">
                            <a:latin typeface="Cambria Math" charset="0"/>
                          </a:rPr>
                          <m:t>𝑇</m:t>
                        </m:r>
                        <m:r>
                          <a:rPr lang="ru-RU" sz="2400" i="1">
                            <a:latin typeface="Cambria Math" charset="0"/>
                          </a:rPr>
                          <m:t>, </m:t>
                        </m:r>
                        <m:r>
                          <a:rPr lang="ru-RU" sz="2400" i="1">
                            <a:latin typeface="Cambria Math" charset="0"/>
                          </a:rPr>
                          <m:t>𝑆</m:t>
                        </m:r>
                      </m:e>
                    </m:d>
                  </m:oMath>
                </a14:m>
                <a:r>
                  <a:rPr lang="ru-RU" sz="2400" dirty="0"/>
                  <a:t> к </a:t>
                </a:r>
                <a:r>
                  <a:rPr lang="ru-RU" sz="2400" i="1" dirty="0"/>
                  <a:t>информации разбиения</a:t>
                </a:r>
                <a:r>
                  <a:rPr lang="ru-RU" sz="2400" dirty="0"/>
                  <a:t> </a:t>
                </a:r>
                <a14:m>
                  <m:oMath xmlns:m="http://schemas.openxmlformats.org/officeDocument/2006/math">
                    <m:r>
                      <a:rPr lang="ru-RU" sz="2400" i="1">
                        <a:latin typeface="Cambria Math" charset="0"/>
                      </a:rPr>
                      <m:t>𝑆𝑝𝑙𝑖</m:t>
                    </m:r>
                    <m:sSub>
                      <m:sSubPr>
                        <m:ctrlPr>
                          <a:rPr lang="ru-RU" sz="2400" i="1">
                            <a:latin typeface="Cambria Math" charset="0"/>
                          </a:rPr>
                        </m:ctrlPr>
                      </m:sSubPr>
                      <m:e>
                        <m:r>
                          <a:rPr lang="ru-RU" sz="2400" i="1">
                            <a:latin typeface="Cambria Math" charset="0"/>
                          </a:rPr>
                          <m:t>𝑡</m:t>
                        </m:r>
                      </m:e>
                      <m:sub>
                        <m:r>
                          <a:rPr lang="ru-RU" sz="2400" i="1">
                            <a:latin typeface="Cambria Math" charset="0"/>
                          </a:rPr>
                          <m:t>𝐼𝑛𝑓𝑜</m:t>
                        </m:r>
                      </m:sub>
                    </m:sSub>
                    <m:d>
                      <m:dPr>
                        <m:ctrlPr>
                          <a:rPr lang="ru-RU" sz="2400" i="1">
                            <a:latin typeface="Cambria Math" charset="0"/>
                          </a:rPr>
                        </m:ctrlPr>
                      </m:dPr>
                      <m:e>
                        <m:r>
                          <a:rPr lang="ru-RU" sz="2400" i="1">
                            <a:latin typeface="Cambria Math" charset="0"/>
                          </a:rPr>
                          <m:t>𝑇</m:t>
                        </m:r>
                      </m:e>
                    </m:d>
                  </m:oMath>
                </a14:m>
                <a:r>
                  <a:rPr lang="ru-RU" sz="2400" dirty="0"/>
                  <a:t>, где информация разбиения учитывает распределение объектов между ветвями и снижает предвзятость к признакам с большим числом значений.</a:t>
                </a:r>
              </a:p>
              <a:p>
                <a:pPr algn="just"/>
                <a:r>
                  <a:rPr lang="ru-RU" sz="2400" dirty="0" smtClean="0"/>
                  <a:t>         Расчет </a:t>
                </a:r>
                <a:r>
                  <a:rPr lang="ru-RU" sz="2400" dirty="0"/>
                  <a:t>дополнительного показателя с оценкой потенциальной информации, созданной при разбиении множества </a:t>
                </a:r>
                <a14:m>
                  <m:oMath xmlns:m="http://schemas.openxmlformats.org/officeDocument/2006/math">
                    <m:r>
                      <a:rPr lang="ru-RU" sz="2400" i="1">
                        <a:latin typeface="Cambria Math" charset="0"/>
                      </a:rPr>
                      <m:t>𝑇</m:t>
                    </m:r>
                  </m:oMath>
                </a14:m>
                <a:r>
                  <a:rPr lang="ru-RU" sz="2400" dirty="0"/>
                  <a:t> на </a:t>
                </a:r>
                <a14:m>
                  <m:oMath xmlns:m="http://schemas.openxmlformats.org/officeDocument/2006/math">
                    <m:r>
                      <a:rPr lang="ru-RU" sz="2400" i="1">
                        <a:latin typeface="Cambria Math" charset="0"/>
                      </a:rPr>
                      <m:t>𝑛</m:t>
                    </m:r>
                  </m:oMath>
                </a14:m>
                <a:r>
                  <a:rPr lang="ru-RU" sz="2400" dirty="0"/>
                  <a:t> подмножеств </a:t>
                </a:r>
                <a14:m>
                  <m:oMath xmlns:m="http://schemas.openxmlformats.org/officeDocument/2006/math">
                    <m:sSub>
                      <m:sSubPr>
                        <m:ctrlPr>
                          <a:rPr lang="ru-RU" sz="2400" i="1">
                            <a:latin typeface="Cambria Math" charset="0"/>
                          </a:rPr>
                        </m:ctrlPr>
                      </m:sSubPr>
                      <m:e>
                        <m:r>
                          <a:rPr lang="ru-RU" sz="2400" i="1">
                            <a:latin typeface="Cambria Math" charset="0"/>
                          </a:rPr>
                          <m:t>𝑇</m:t>
                        </m:r>
                      </m:e>
                      <m:sub>
                        <m:r>
                          <a:rPr lang="ru-RU" sz="2400" i="1">
                            <a:latin typeface="Cambria Math" charset="0"/>
                          </a:rPr>
                          <m:t>𝑖</m:t>
                        </m:r>
                      </m:sub>
                    </m:sSub>
                  </m:oMath>
                </a14:m>
                <a:r>
                  <a:rPr lang="ru-RU" sz="2400" dirty="0"/>
                  <a:t>, выполняется, как:</a:t>
                </a:r>
              </a:p>
              <a:p>
                <a:pPr/>
                <a14:m>
                  <m:oMathPara xmlns:m="http://schemas.openxmlformats.org/officeDocument/2006/math">
                    <m:oMathParaPr>
                      <m:jc m:val="right"/>
                    </m:oMathParaPr>
                    <m:oMath xmlns:m="http://schemas.openxmlformats.org/officeDocument/2006/math">
                      <m:r>
                        <a:rPr lang="ru-RU" sz="2400" i="1">
                          <a:latin typeface="Cambria Math" charset="0"/>
                        </a:rPr>
                        <m:t>𝑆𝑝𝑙𝑖</m:t>
                      </m:r>
                      <m:sSub>
                        <m:sSubPr>
                          <m:ctrlPr>
                            <a:rPr lang="ru-RU" sz="2400" i="1">
                              <a:latin typeface="Cambria Math" charset="0"/>
                            </a:rPr>
                          </m:ctrlPr>
                        </m:sSubPr>
                        <m:e>
                          <m:r>
                            <a:rPr lang="ru-RU" sz="2400" i="1">
                              <a:latin typeface="Cambria Math" charset="0"/>
                            </a:rPr>
                            <m:t>𝑡</m:t>
                          </m:r>
                        </m:e>
                        <m:sub>
                          <m:r>
                            <a:rPr lang="ru-RU" sz="2400" i="1">
                              <a:latin typeface="Cambria Math" charset="0"/>
                            </a:rPr>
                            <m:t>𝐼𝑛𝑓𝑜</m:t>
                          </m:r>
                        </m:sub>
                      </m:sSub>
                      <m:d>
                        <m:dPr>
                          <m:ctrlPr>
                            <a:rPr lang="ru-RU" sz="2400" i="1">
                              <a:latin typeface="Cambria Math" charset="0"/>
                            </a:rPr>
                          </m:ctrlPr>
                        </m:dPr>
                        <m:e>
                          <m:r>
                            <a:rPr lang="ru-RU" sz="2400" i="1">
                              <a:latin typeface="Cambria Math" charset="0"/>
                            </a:rPr>
                            <m:t>𝑇</m:t>
                          </m:r>
                        </m:e>
                      </m:d>
                      <m:r>
                        <a:rPr lang="ru-RU" sz="2400" i="1">
                          <a:latin typeface="Cambria Math" charset="0"/>
                        </a:rPr>
                        <m:t>=−</m:t>
                      </m:r>
                      <m:nary>
                        <m:naryPr>
                          <m:chr m:val="∑"/>
                          <m:limLoc m:val="undOvr"/>
                          <m:ctrlPr>
                            <a:rPr lang="ru-RU" sz="2400" i="1">
                              <a:latin typeface="Cambria Math" charset="0"/>
                            </a:rPr>
                          </m:ctrlPr>
                        </m:naryPr>
                        <m:sub>
                          <m:r>
                            <a:rPr lang="ru-RU" sz="2400" i="1">
                              <a:latin typeface="Cambria Math" charset="0"/>
                            </a:rPr>
                            <m:t>𝑘</m:t>
                          </m:r>
                          <m:r>
                            <a:rPr lang="ru-RU" sz="2400" i="1">
                              <a:latin typeface="Cambria Math" charset="0"/>
                            </a:rPr>
                            <m:t>=1</m:t>
                          </m:r>
                        </m:sub>
                        <m:sup>
                          <m:r>
                            <a:rPr lang="en-US" sz="2400" i="1">
                              <a:latin typeface="Cambria Math" charset="0"/>
                            </a:rPr>
                            <m:t>𝑛</m:t>
                          </m:r>
                        </m:sup>
                        <m:e>
                          <m:d>
                            <m:dPr>
                              <m:begChr m:val="["/>
                              <m:endChr m:val="]"/>
                              <m:ctrlPr>
                                <a:rPr lang="ru-RU" sz="2400" i="1">
                                  <a:latin typeface="Cambria Math" charset="0"/>
                                </a:rPr>
                              </m:ctrlPr>
                            </m:dPr>
                            <m:e>
                              <m:f>
                                <m:fPr>
                                  <m:ctrlPr>
                                    <a:rPr lang="ru-RU" sz="2400" i="1">
                                      <a:latin typeface="Cambria Math" charset="0"/>
                                    </a:rPr>
                                  </m:ctrlPr>
                                </m:fPr>
                                <m:num>
                                  <m:d>
                                    <m:dPr>
                                      <m:begChr m:val="|"/>
                                      <m:endChr m:val="|"/>
                                      <m:ctrlPr>
                                        <a:rPr lang="ru-RU" sz="2400" i="1">
                                          <a:latin typeface="Cambria Math" charset="0"/>
                                        </a:rPr>
                                      </m:ctrlPr>
                                    </m:dPr>
                                    <m:e>
                                      <m:sSub>
                                        <m:sSubPr>
                                          <m:ctrlPr>
                                            <a:rPr lang="ru-RU" sz="2400" i="1">
                                              <a:latin typeface="Cambria Math" charset="0"/>
                                            </a:rPr>
                                          </m:ctrlPr>
                                        </m:sSubPr>
                                        <m:e>
                                          <m:r>
                                            <a:rPr lang="ru-RU" sz="2400" i="1">
                                              <a:latin typeface="Cambria Math" charset="0"/>
                                            </a:rPr>
                                            <m:t>𝑇</m:t>
                                          </m:r>
                                        </m:e>
                                        <m:sub>
                                          <m:r>
                                            <a:rPr lang="ru-RU" sz="2400" i="1">
                                              <a:latin typeface="Cambria Math" charset="0"/>
                                            </a:rPr>
                                            <m:t>𝑘</m:t>
                                          </m:r>
                                        </m:sub>
                                      </m:sSub>
                                    </m:e>
                                  </m:d>
                                </m:num>
                                <m:den>
                                  <m:d>
                                    <m:dPr>
                                      <m:begChr m:val="|"/>
                                      <m:endChr m:val="|"/>
                                      <m:ctrlPr>
                                        <a:rPr lang="ru-RU" sz="2400" i="1">
                                          <a:latin typeface="Cambria Math" charset="0"/>
                                        </a:rPr>
                                      </m:ctrlPr>
                                    </m:dPr>
                                    <m:e>
                                      <m:r>
                                        <a:rPr lang="ru-RU" sz="2400" i="1">
                                          <a:latin typeface="Cambria Math" charset="0"/>
                                        </a:rPr>
                                        <m:t>𝑇</m:t>
                                      </m:r>
                                    </m:e>
                                  </m:d>
                                </m:den>
                              </m:f>
                              <m:func>
                                <m:funcPr>
                                  <m:ctrlPr>
                                    <a:rPr lang="ru-RU" sz="2400" i="1">
                                      <a:latin typeface="Cambria Math" charset="0"/>
                                    </a:rPr>
                                  </m:ctrlPr>
                                </m:funcPr>
                                <m:fName>
                                  <m:sSub>
                                    <m:sSubPr>
                                      <m:ctrlPr>
                                        <a:rPr lang="ru-RU" sz="2400" i="1">
                                          <a:latin typeface="Cambria Math" charset="0"/>
                                        </a:rPr>
                                      </m:ctrlPr>
                                    </m:sSubPr>
                                    <m:e>
                                      <m:r>
                                        <m:rPr>
                                          <m:sty m:val="p"/>
                                        </m:rPr>
                                        <a:rPr lang="ru-RU" sz="2400">
                                          <a:latin typeface="Cambria Math" charset="0"/>
                                        </a:rPr>
                                        <m:t>log</m:t>
                                      </m:r>
                                    </m:e>
                                    <m:sub>
                                      <m:r>
                                        <a:rPr lang="ru-RU" sz="2400" i="1">
                                          <a:latin typeface="Cambria Math" charset="0"/>
                                        </a:rPr>
                                        <m:t>2</m:t>
                                      </m:r>
                                    </m:sub>
                                  </m:sSub>
                                </m:fName>
                                <m:e>
                                  <m:d>
                                    <m:dPr>
                                      <m:ctrlPr>
                                        <a:rPr lang="ru-RU" sz="2400" i="1">
                                          <a:latin typeface="Cambria Math" charset="0"/>
                                        </a:rPr>
                                      </m:ctrlPr>
                                    </m:dPr>
                                    <m:e>
                                      <m:f>
                                        <m:fPr>
                                          <m:ctrlPr>
                                            <a:rPr lang="ru-RU" sz="2400" i="1">
                                              <a:latin typeface="Cambria Math" charset="0"/>
                                            </a:rPr>
                                          </m:ctrlPr>
                                        </m:fPr>
                                        <m:num>
                                          <m:d>
                                            <m:dPr>
                                              <m:begChr m:val="|"/>
                                              <m:endChr m:val="|"/>
                                              <m:ctrlPr>
                                                <a:rPr lang="ru-RU" sz="2400" i="1">
                                                  <a:latin typeface="Cambria Math" charset="0"/>
                                                </a:rPr>
                                              </m:ctrlPr>
                                            </m:dPr>
                                            <m:e>
                                              <m:sSub>
                                                <m:sSubPr>
                                                  <m:ctrlPr>
                                                    <a:rPr lang="ru-RU" sz="2400" i="1">
                                                      <a:latin typeface="Cambria Math" charset="0"/>
                                                    </a:rPr>
                                                  </m:ctrlPr>
                                                </m:sSubPr>
                                                <m:e>
                                                  <m:r>
                                                    <a:rPr lang="ru-RU" sz="2400" i="1">
                                                      <a:latin typeface="Cambria Math" charset="0"/>
                                                    </a:rPr>
                                                    <m:t>𝑇</m:t>
                                                  </m:r>
                                                </m:e>
                                                <m:sub>
                                                  <m:r>
                                                    <a:rPr lang="ru-RU" sz="2400" i="1">
                                                      <a:latin typeface="Cambria Math" charset="0"/>
                                                    </a:rPr>
                                                    <m:t>𝑘</m:t>
                                                  </m:r>
                                                </m:sub>
                                              </m:sSub>
                                            </m:e>
                                          </m:d>
                                        </m:num>
                                        <m:den>
                                          <m:d>
                                            <m:dPr>
                                              <m:begChr m:val="|"/>
                                              <m:endChr m:val="|"/>
                                              <m:ctrlPr>
                                                <a:rPr lang="ru-RU" sz="2400" i="1">
                                                  <a:latin typeface="Cambria Math" charset="0"/>
                                                </a:rPr>
                                              </m:ctrlPr>
                                            </m:dPr>
                                            <m:e>
                                              <m:r>
                                                <a:rPr lang="ru-RU" sz="2400" i="1">
                                                  <a:latin typeface="Cambria Math" charset="0"/>
                                                </a:rPr>
                                                <m:t>𝑇</m:t>
                                              </m:r>
                                            </m:e>
                                          </m:d>
                                        </m:den>
                                      </m:f>
                                    </m:e>
                                  </m:d>
                                </m:e>
                              </m:func>
                            </m:e>
                          </m:d>
                        </m:e>
                      </m:nary>
                      <m:r>
                        <a:rPr lang="ru-RU" sz="2400" i="1">
                          <a:latin typeface="Cambria Math" charset="0"/>
                        </a:rPr>
                        <m:t>.   </m:t>
                      </m:r>
                      <m:r>
                        <a:rPr lang="ru-RU" sz="2400" b="0" i="1" smtClean="0">
                          <a:latin typeface="Cambria Math" charset="0"/>
                        </a:rPr>
                        <m:t>         </m:t>
                      </m:r>
                      <m:r>
                        <a:rPr lang="ru-RU" sz="2400" i="1">
                          <a:latin typeface="Cambria Math" charset="0"/>
                        </a:rPr>
                        <m:t>                    (4.</m:t>
                      </m:r>
                      <m:r>
                        <a:rPr lang="ru-RU" sz="2400" b="0" i="1" smtClean="0">
                          <a:latin typeface="Cambria Math" charset="0"/>
                        </a:rPr>
                        <m:t>7</m:t>
                      </m:r>
                      <m:r>
                        <a:rPr lang="ru-RU" sz="2400" i="1">
                          <a:latin typeface="Cambria Math" charset="0"/>
                        </a:rPr>
                        <m:t>) </m:t>
                      </m:r>
                    </m:oMath>
                  </m:oMathPara>
                </a14:m>
                <a:endParaRPr lang="ru-RU" sz="2400" dirty="0"/>
              </a:p>
              <a:p>
                <a:pPr algn="just"/>
                <a:r>
                  <a:rPr lang="ru-RU" sz="2400" dirty="0" smtClean="0"/>
                  <a:t>    Критерий </a:t>
                </a:r>
                <a:r>
                  <a:rPr lang="ru-RU" sz="2400" dirty="0"/>
                  <a:t>прироста информации </a:t>
                </a:r>
                <a:r>
                  <a:rPr lang="ru-RU" sz="2400" dirty="0" smtClean="0"/>
                  <a:t>с </a:t>
                </a:r>
                <a:r>
                  <a:rPr lang="ru-RU" sz="2400" dirty="0"/>
                  <a:t>использованием выражения (</a:t>
                </a:r>
                <a:r>
                  <a:rPr lang="ru-RU" sz="2400" dirty="0" smtClean="0"/>
                  <a:t>4.7) </a:t>
                </a:r>
                <a:r>
                  <a:rPr lang="ru-RU" sz="2400" dirty="0"/>
                  <a:t>модифицирован следующим образом: </a:t>
                </a:r>
              </a:p>
              <a:p>
                <a:pPr/>
                <a14:m>
                  <m:oMathPara xmlns:m="http://schemas.openxmlformats.org/officeDocument/2006/math">
                    <m:oMathParaPr>
                      <m:jc m:val="right"/>
                    </m:oMathParaPr>
                    <m:oMath xmlns:m="http://schemas.openxmlformats.org/officeDocument/2006/math">
                      <m:r>
                        <a:rPr lang="ru-RU" sz="2400" i="1">
                          <a:latin typeface="Cambria Math" charset="0"/>
                        </a:rPr>
                        <m:t>𝑆𝑝𝑙𝑖</m:t>
                      </m:r>
                      <m:sSub>
                        <m:sSubPr>
                          <m:ctrlPr>
                            <a:rPr lang="ru-RU" sz="2400" i="1">
                              <a:latin typeface="Cambria Math" charset="0"/>
                            </a:rPr>
                          </m:ctrlPr>
                        </m:sSubPr>
                        <m:e>
                          <m:r>
                            <a:rPr lang="ru-RU" sz="2400" i="1">
                              <a:latin typeface="Cambria Math" charset="0"/>
                            </a:rPr>
                            <m:t>𝑡</m:t>
                          </m:r>
                        </m:e>
                        <m:sub>
                          <m:r>
                            <a:rPr lang="ru-RU" sz="2400" i="1">
                              <a:latin typeface="Cambria Math" charset="0"/>
                            </a:rPr>
                            <m:t>𝐼𝑛𝑓𝑜</m:t>
                          </m:r>
                        </m:sub>
                      </m:sSub>
                      <m:d>
                        <m:dPr>
                          <m:ctrlPr>
                            <a:rPr lang="ru-RU" sz="2400" i="1">
                              <a:latin typeface="Cambria Math" charset="0"/>
                            </a:rPr>
                          </m:ctrlPr>
                        </m:dPr>
                        <m:e>
                          <m:r>
                            <a:rPr lang="ru-RU" sz="2400" i="1">
                              <a:latin typeface="Cambria Math" charset="0"/>
                            </a:rPr>
                            <m:t>𝑆</m:t>
                          </m:r>
                        </m:e>
                      </m:d>
                      <m:r>
                        <a:rPr lang="ru-RU" sz="2400" i="1">
                          <a:latin typeface="Cambria Math" charset="0"/>
                        </a:rPr>
                        <m:t>=</m:t>
                      </m:r>
                      <m:f>
                        <m:fPr>
                          <m:ctrlPr>
                            <a:rPr lang="ru-RU" sz="2400" i="1">
                              <a:latin typeface="Cambria Math" charset="0"/>
                            </a:rPr>
                          </m:ctrlPr>
                        </m:fPr>
                        <m:num>
                          <m:r>
                            <a:rPr lang="ru-RU" sz="2400" i="1">
                              <a:latin typeface="Cambria Math" charset="0"/>
                            </a:rPr>
                            <m:t>𝐺𝑎𝑖𝑛</m:t>
                          </m:r>
                          <m:d>
                            <m:dPr>
                              <m:ctrlPr>
                                <a:rPr lang="ru-RU" sz="2400" i="1">
                                  <a:latin typeface="Cambria Math" charset="0"/>
                                </a:rPr>
                              </m:ctrlPr>
                            </m:dPr>
                            <m:e>
                              <m:r>
                                <a:rPr lang="ru-RU" sz="2400" i="1">
                                  <a:latin typeface="Cambria Math" charset="0"/>
                                </a:rPr>
                                <m:t>𝑇</m:t>
                              </m:r>
                              <m:r>
                                <a:rPr lang="ru-RU" sz="2400" i="1">
                                  <a:latin typeface="Cambria Math" charset="0"/>
                                </a:rPr>
                                <m:t>, </m:t>
                              </m:r>
                              <m:r>
                                <a:rPr lang="ru-RU" sz="2400" i="1">
                                  <a:latin typeface="Cambria Math" charset="0"/>
                                </a:rPr>
                                <m:t>𝑆</m:t>
                              </m:r>
                            </m:e>
                          </m:d>
                        </m:num>
                        <m:den>
                          <m:r>
                            <a:rPr lang="ru-RU" sz="2400" i="1">
                              <a:latin typeface="Cambria Math" charset="0"/>
                            </a:rPr>
                            <m:t>𝑆𝑝𝑙𝑖</m:t>
                          </m:r>
                          <m:sSub>
                            <m:sSubPr>
                              <m:ctrlPr>
                                <a:rPr lang="ru-RU" sz="2400" i="1">
                                  <a:latin typeface="Cambria Math" charset="0"/>
                                </a:rPr>
                              </m:ctrlPr>
                            </m:sSubPr>
                            <m:e>
                              <m:r>
                                <a:rPr lang="ru-RU" sz="2400" i="1">
                                  <a:latin typeface="Cambria Math" charset="0"/>
                                </a:rPr>
                                <m:t>𝑡</m:t>
                              </m:r>
                            </m:e>
                            <m:sub>
                              <m:r>
                                <a:rPr lang="ru-RU" sz="2400" i="1">
                                  <a:latin typeface="Cambria Math" charset="0"/>
                                </a:rPr>
                                <m:t>𝐼𝑛𝑓𝑜</m:t>
                              </m:r>
                            </m:sub>
                          </m:sSub>
                          <m:d>
                            <m:dPr>
                              <m:ctrlPr>
                                <a:rPr lang="ru-RU" sz="2400" i="1">
                                  <a:latin typeface="Cambria Math" charset="0"/>
                                </a:rPr>
                              </m:ctrlPr>
                            </m:dPr>
                            <m:e>
                              <m:r>
                                <a:rPr lang="ru-RU" sz="2400" i="1">
                                  <a:latin typeface="Cambria Math" charset="0"/>
                                </a:rPr>
                                <m:t>𝑇</m:t>
                              </m:r>
                            </m:e>
                          </m:d>
                        </m:den>
                      </m:f>
                      <m:r>
                        <a:rPr lang="ru-RU" sz="2400" i="1">
                          <a:latin typeface="Cambria Math" charset="0"/>
                        </a:rPr>
                        <m:t>.                                  </m:t>
                      </m:r>
                      <m:d>
                        <m:dPr>
                          <m:ctrlPr>
                            <a:rPr lang="ru-RU" sz="2400" i="1">
                              <a:latin typeface="Cambria Math" charset="0"/>
                            </a:rPr>
                          </m:ctrlPr>
                        </m:dPr>
                        <m:e>
                          <m:r>
                            <a:rPr lang="ru-RU" sz="2400" i="1">
                              <a:latin typeface="Cambria Math" charset="0"/>
                            </a:rPr>
                            <m:t>4.</m:t>
                          </m:r>
                          <m:r>
                            <a:rPr lang="ru-RU" sz="2400" b="0" i="1" smtClean="0">
                              <a:latin typeface="Cambria Math" charset="0"/>
                            </a:rPr>
                            <m:t>8</m:t>
                          </m:r>
                        </m:e>
                      </m:d>
                    </m:oMath>
                  </m:oMathPara>
                </a14:m>
                <a:endParaRPr lang="ru-RU" sz="2400" dirty="0"/>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780674" y="548993"/>
                <a:ext cx="10411326" cy="6388287"/>
              </a:xfrm>
              <a:prstGeom prst="rect">
                <a:avLst/>
              </a:prstGeom>
              <a:blipFill rotWithShape="0">
                <a:blip r:embed="rId2"/>
                <a:stretch>
                  <a:fillRect l="-878" t="-763" r="-937"/>
                </a:stretch>
              </a:blipFill>
            </p:spPr>
            <p:txBody>
              <a:bodyPr/>
              <a:lstStyle/>
              <a:p>
                <a:r>
                  <a:rPr lang="ru-RU">
                    <a:noFill/>
                  </a:rPr>
                  <a:t> </a:t>
                </a:r>
              </a:p>
            </p:txBody>
          </p:sp>
        </mc:Fallback>
      </mc:AlternateContent>
    </p:spTree>
    <p:extLst>
      <p:ext uri="{BB962C8B-B14F-4D97-AF65-F5344CB8AC3E}">
        <p14:creationId xmlns:p14="http://schemas.microsoft.com/office/powerpoint/2010/main" val="1849943648"/>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sz="4000" b="1" i="1"/>
              <a:t>Оптимизация и оценка качества деревьев решений</a:t>
            </a:r>
            <a:r>
              <a:rPr lang="ru-RU" sz="4000" b="1"/>
              <a:t> </a:t>
            </a:r>
            <a:endParaRPr lang="ru-RU" sz="4000" b="1" dirty="0"/>
          </a:p>
        </p:txBody>
      </p:sp>
      <p:sp>
        <p:nvSpPr>
          <p:cNvPr id="2" name="Прямоугольник 1"/>
          <p:cNvSpPr/>
          <p:nvPr/>
        </p:nvSpPr>
        <p:spPr>
          <a:xfrm>
            <a:off x="1780674" y="548993"/>
            <a:ext cx="10411326" cy="6370975"/>
          </a:xfrm>
          <a:prstGeom prst="rect">
            <a:avLst/>
          </a:prstGeom>
        </p:spPr>
        <p:txBody>
          <a:bodyPr wrap="square">
            <a:spAutoFit/>
          </a:bodyPr>
          <a:lstStyle/>
          <a:p>
            <a:r>
              <a:rPr lang="ru-RU" sz="2400" dirty="0"/>
              <a:t>Ключевые параметры:</a:t>
            </a:r>
          </a:p>
          <a:p>
            <a:pPr marL="342900" lvl="0" indent="-342900" algn="just">
              <a:buFont typeface="Wingdings" charset="2"/>
              <a:buChar char="ü"/>
            </a:pPr>
            <a:r>
              <a:rPr lang="ru-RU" sz="2400" i="1" dirty="0"/>
              <a:t>Максимальная глубина дерева</a:t>
            </a:r>
            <a:r>
              <a:rPr lang="ru-RU" sz="2400" dirty="0"/>
              <a:t> — ограничивает число уровней и тем самым снижает риск переобучения; слишком глубокие деревья подстраиваются под шум, слишком плоские — не </a:t>
            </a:r>
            <a:r>
              <a:rPr lang="ru-RU" sz="2400" dirty="0" err="1"/>
              <a:t>дообучаются</a:t>
            </a:r>
            <a:r>
              <a:rPr lang="ru-RU" sz="2400" dirty="0"/>
              <a:t>. Оптимум обычно определяется через </a:t>
            </a:r>
            <a:r>
              <a:rPr lang="ru-RU" sz="2400" dirty="0" err="1"/>
              <a:t>валидацию</a:t>
            </a:r>
            <a:r>
              <a:rPr lang="ru-RU" sz="2400" dirty="0"/>
              <a:t>.</a:t>
            </a:r>
          </a:p>
          <a:p>
            <a:pPr marL="342900" lvl="0" indent="-342900" algn="just">
              <a:buFont typeface="Wingdings" charset="2"/>
              <a:buChar char="ü"/>
            </a:pPr>
            <a:r>
              <a:rPr lang="ru-RU" sz="2400" i="1" dirty="0"/>
              <a:t>Минимальное количество образцов для разделения</a:t>
            </a:r>
            <a:r>
              <a:rPr lang="ru-RU" sz="2400" dirty="0"/>
              <a:t> уменьшает вероятность разбиения на слишком мелкие подмножества.</a:t>
            </a:r>
          </a:p>
          <a:p>
            <a:pPr marL="342900" lvl="0" indent="-342900" algn="just">
              <a:buFont typeface="Wingdings" charset="2"/>
              <a:buChar char="ü"/>
            </a:pPr>
            <a:r>
              <a:rPr lang="ru-RU" sz="2400" i="1" dirty="0"/>
              <a:t>Минимальное количество образцов в листе</a:t>
            </a:r>
            <a:r>
              <a:rPr lang="ru-RU" sz="2400" dirty="0"/>
              <a:t> гарантирует, что прогноз в каждом листе базируется на достаточном объеме данных и стабилен.</a:t>
            </a:r>
          </a:p>
          <a:p>
            <a:pPr marL="342900" lvl="0" indent="-342900" algn="just">
              <a:buFont typeface="Wingdings" charset="2"/>
              <a:buChar char="ü"/>
            </a:pPr>
            <a:r>
              <a:rPr lang="ru-RU" sz="2400" i="1" dirty="0"/>
              <a:t>Максимальное количество признаков для рассмотрения при разбиении</a:t>
            </a:r>
            <a:r>
              <a:rPr lang="ru-RU" sz="2400" dirty="0"/>
              <a:t> особенно важно при высокой размерности; ограничение уменьшает вычислительную сложность и риск переобучения на нерелевантных признаках.</a:t>
            </a:r>
          </a:p>
          <a:p>
            <a:pPr marL="342900" lvl="0" indent="-342900" algn="just">
              <a:buFont typeface="Wingdings" charset="2"/>
              <a:buChar char="ü"/>
            </a:pPr>
            <a:r>
              <a:rPr lang="ru-RU" sz="2400" i="1" dirty="0"/>
              <a:t>Критерий разбиения</a:t>
            </a:r>
            <a:r>
              <a:rPr lang="ru-RU" sz="2400" dirty="0"/>
              <a:t> — для задач классификации выбирают между </a:t>
            </a:r>
            <a:r>
              <a:rPr lang="ru-RU" sz="2400" i="1" dirty="0" err="1"/>
              <a:t>Gini</a:t>
            </a:r>
            <a:r>
              <a:rPr lang="ru-RU" sz="2400" i="1" dirty="0"/>
              <a:t> </a:t>
            </a:r>
            <a:r>
              <a:rPr lang="ru-RU" sz="2400" dirty="0"/>
              <a:t>и </a:t>
            </a:r>
            <a:r>
              <a:rPr lang="ru-RU" sz="2400" i="1" dirty="0" err="1"/>
              <a:t>Entropy</a:t>
            </a:r>
            <a:r>
              <a:rPr lang="ru-RU" sz="2400" dirty="0"/>
              <a:t>; для регрессии — между </a:t>
            </a:r>
            <a:r>
              <a:rPr lang="ru-RU" sz="2400" i="1" dirty="0"/>
              <a:t>MSE</a:t>
            </a:r>
            <a:r>
              <a:rPr lang="ru-RU" sz="2400" dirty="0"/>
              <a:t> (среднеквадратичная ошибка) и </a:t>
            </a:r>
            <a:r>
              <a:rPr lang="ru-RU" sz="2400" i="1" dirty="0"/>
              <a:t>MAE </a:t>
            </a:r>
            <a:r>
              <a:rPr lang="ru-RU" sz="2400" dirty="0"/>
              <a:t>(средняя абсолютная ошибка). Выбор влияет на структуру дерева и характер ошибок.</a:t>
            </a:r>
          </a:p>
        </p:txBody>
      </p:sp>
    </p:spTree>
    <p:extLst>
      <p:ext uri="{BB962C8B-B14F-4D97-AF65-F5344CB8AC3E}">
        <p14:creationId xmlns:p14="http://schemas.microsoft.com/office/powerpoint/2010/main" val="4724080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sz="4000" b="1" i="1"/>
              <a:t>Методы предотвращения переобучения</a:t>
            </a:r>
            <a:endParaRPr lang="ru-RU" sz="4000" b="1"/>
          </a:p>
        </p:txBody>
      </p:sp>
      <p:sp>
        <p:nvSpPr>
          <p:cNvPr id="2" name="Прямоугольник 1"/>
          <p:cNvSpPr/>
          <p:nvPr/>
        </p:nvSpPr>
        <p:spPr>
          <a:xfrm>
            <a:off x="1780674" y="548993"/>
            <a:ext cx="10411326" cy="6001643"/>
          </a:xfrm>
          <a:prstGeom prst="rect">
            <a:avLst/>
          </a:prstGeom>
        </p:spPr>
        <p:txBody>
          <a:bodyPr wrap="square">
            <a:spAutoFit/>
          </a:bodyPr>
          <a:lstStyle/>
          <a:p>
            <a:pPr algn="just"/>
            <a:r>
              <a:rPr lang="ru-RU" sz="2400" dirty="0" smtClean="0"/>
              <a:t>        Деревья </a:t>
            </a:r>
            <a:r>
              <a:rPr lang="ru-RU" sz="2400" dirty="0"/>
              <a:t>решений склонны к переобучению из-за способности строить очень сложные структуры, которые слишком точно повторяют обучающие данные. Эффективные приемы борьбы включают:</a:t>
            </a:r>
          </a:p>
          <a:p>
            <a:pPr marL="342900" lvl="0" indent="-342900" algn="just">
              <a:buFont typeface="Wingdings" charset="2"/>
              <a:buChar char="ü"/>
            </a:pPr>
            <a:r>
              <a:rPr lang="ru-RU" sz="2400" i="1" dirty="0" err="1"/>
              <a:t>Препринг</a:t>
            </a:r>
            <a:r>
              <a:rPr lang="ru-RU" sz="2400" i="1" dirty="0"/>
              <a:t> (</a:t>
            </a:r>
            <a:r>
              <a:rPr lang="ru-RU" sz="2400" i="1" dirty="0" err="1"/>
              <a:t>pre-pruning</a:t>
            </a:r>
            <a:r>
              <a:rPr lang="ru-RU" sz="2400" i="1" dirty="0"/>
              <a:t>)</a:t>
            </a:r>
            <a:r>
              <a:rPr lang="ru-RU" sz="2400" dirty="0"/>
              <a:t> — ограничение роста дерева во время построения через пороговые параметры (например, минимальное число образцов на разбиение, максимальная глубина).</a:t>
            </a:r>
          </a:p>
          <a:p>
            <a:pPr marL="342900" lvl="0" indent="-342900" algn="just">
              <a:buFont typeface="Wingdings" charset="2"/>
              <a:buChar char="ü"/>
            </a:pPr>
            <a:r>
              <a:rPr lang="ru-RU" sz="2400" i="1" dirty="0" err="1"/>
              <a:t>Постпринг</a:t>
            </a:r>
            <a:r>
              <a:rPr lang="ru-RU" sz="2400" i="1" dirty="0"/>
              <a:t> (</a:t>
            </a:r>
            <a:r>
              <a:rPr lang="ru-RU" sz="2400" i="1" dirty="0" err="1"/>
              <a:t>post-pruning</a:t>
            </a:r>
            <a:r>
              <a:rPr lang="ru-RU" sz="2400" i="1" dirty="0"/>
              <a:t>)</a:t>
            </a:r>
            <a:r>
              <a:rPr lang="ru-RU" sz="2400" dirty="0"/>
              <a:t> — обрезка ветвей после построения, если они не добавляют значимой информации.</a:t>
            </a:r>
          </a:p>
          <a:p>
            <a:pPr marL="342900" lvl="0" indent="-342900" algn="just">
              <a:buFont typeface="Wingdings" charset="2"/>
              <a:buChar char="ü"/>
            </a:pPr>
            <a:r>
              <a:rPr lang="ru-RU" sz="2400" i="1" dirty="0"/>
              <a:t>Регуляризация стоимости сложности</a:t>
            </a:r>
            <a:r>
              <a:rPr lang="ru-RU" sz="2400" dirty="0"/>
              <a:t> — введение штрафа за сложность дерева, чтобы обеспечить компромисс между точностью и простотой модели.</a:t>
            </a:r>
          </a:p>
          <a:p>
            <a:pPr marL="342900" lvl="0" indent="-342900" algn="just">
              <a:buFont typeface="Wingdings" charset="2"/>
              <a:buChar char="ü"/>
            </a:pPr>
            <a:r>
              <a:rPr lang="ru-RU" sz="2400" i="1" dirty="0"/>
              <a:t>Ансамблевые методы</a:t>
            </a:r>
            <a:r>
              <a:rPr lang="ru-RU" sz="2400" dirty="0"/>
              <a:t> — использование множества деревьев (</a:t>
            </a:r>
            <a:r>
              <a:rPr lang="ru-RU" sz="2400" dirty="0" err="1"/>
              <a:t>Random</a:t>
            </a:r>
            <a:r>
              <a:rPr lang="ru-RU" sz="2400" dirty="0"/>
              <a:t> </a:t>
            </a:r>
            <a:r>
              <a:rPr lang="ru-RU" sz="2400" dirty="0" err="1"/>
              <a:t>Forest</a:t>
            </a:r>
            <a:r>
              <a:rPr lang="ru-RU" sz="2400" dirty="0"/>
              <a:t>, </a:t>
            </a:r>
            <a:r>
              <a:rPr lang="ru-RU" sz="2400" dirty="0" err="1"/>
              <a:t>Gradient</a:t>
            </a:r>
            <a:r>
              <a:rPr lang="ru-RU" sz="2400" dirty="0"/>
              <a:t> </a:t>
            </a:r>
            <a:r>
              <a:rPr lang="ru-RU" sz="2400" dirty="0" err="1"/>
              <a:t>Boosting</a:t>
            </a:r>
            <a:r>
              <a:rPr lang="ru-RU" sz="2400" dirty="0"/>
              <a:t>) для повышения устойчивости и точности.</a:t>
            </a:r>
          </a:p>
          <a:p>
            <a:pPr marL="342900" lvl="0" indent="-342900" algn="just">
              <a:buFont typeface="Wingdings" charset="2"/>
              <a:buChar char="ü"/>
            </a:pPr>
            <a:r>
              <a:rPr lang="ru-RU" sz="2400" i="1" dirty="0"/>
              <a:t>Оценка важности признаков</a:t>
            </a:r>
            <a:r>
              <a:rPr lang="ru-RU" sz="2400" dirty="0"/>
              <a:t> — анализ вклада каждого признака в общую предсказательную способность, что помогает понять данные, выявлять нерелевантные признаки и потенциально упрощать модель.</a:t>
            </a:r>
          </a:p>
        </p:txBody>
      </p:sp>
    </p:spTree>
    <p:extLst>
      <p:ext uri="{BB962C8B-B14F-4D97-AF65-F5344CB8AC3E}">
        <p14:creationId xmlns:p14="http://schemas.microsoft.com/office/powerpoint/2010/main" val="23329975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0"/>
            <a:ext cx="12191999" cy="548993"/>
          </a:xfrm>
        </p:spPr>
        <p:txBody>
          <a:bodyPr>
            <a:noAutofit/>
          </a:bodyPr>
          <a:lstStyle/>
          <a:p>
            <a:pPr algn="ctr"/>
            <a:r>
              <a:rPr lang="ru-RU" sz="4000" b="1" i="1"/>
              <a:t>Методы предотвращения переобучения</a:t>
            </a:r>
            <a:endParaRPr lang="ru-RU" sz="4000" b="1"/>
          </a:p>
        </p:txBody>
      </p:sp>
      <p:sp>
        <p:nvSpPr>
          <p:cNvPr id="2" name="Прямоугольник 1"/>
          <p:cNvSpPr/>
          <p:nvPr/>
        </p:nvSpPr>
        <p:spPr>
          <a:xfrm>
            <a:off x="1780674" y="548993"/>
            <a:ext cx="10411326" cy="6001643"/>
          </a:xfrm>
          <a:prstGeom prst="rect">
            <a:avLst/>
          </a:prstGeom>
        </p:spPr>
        <p:txBody>
          <a:bodyPr wrap="square">
            <a:spAutoFit/>
          </a:bodyPr>
          <a:lstStyle/>
          <a:p>
            <a:pPr algn="just"/>
            <a:r>
              <a:rPr lang="ru-RU" sz="2400" dirty="0" smtClean="0"/>
              <a:t>        </a:t>
            </a:r>
            <a:r>
              <a:rPr lang="ru-RU" sz="2400" dirty="0"/>
              <a:t>Для повышения эффективности построенного ДР также рекомендуется:</a:t>
            </a:r>
          </a:p>
          <a:p>
            <a:pPr marL="342900" lvl="0" indent="-342900" algn="just">
              <a:buFont typeface="Wingdings" charset="2"/>
              <a:buChar char="ü"/>
            </a:pPr>
            <a:r>
              <a:rPr lang="ru-RU" sz="2400" dirty="0"/>
              <a:t>Проведение кросс-</a:t>
            </a:r>
            <a:r>
              <a:rPr lang="ru-RU" sz="2400" dirty="0" err="1"/>
              <a:t>валидации</a:t>
            </a:r>
            <a:r>
              <a:rPr lang="ru-RU" sz="2400" dirty="0"/>
              <a:t> и использование сеточного поиска или байесовской </a:t>
            </a:r>
            <a:r>
              <a:rPr lang="ru-RU" sz="2400" dirty="0" err="1"/>
              <a:t>оптимизациии</a:t>
            </a:r>
            <a:r>
              <a:rPr lang="ru-RU" sz="2400" dirty="0"/>
              <a:t> для подбора </a:t>
            </a:r>
            <a:r>
              <a:rPr lang="ru-RU" sz="2400" dirty="0" err="1"/>
              <a:t>гиперпараметров</a:t>
            </a:r>
            <a:r>
              <a:rPr lang="ru-RU" sz="2400" dirty="0"/>
              <a:t>.</a:t>
            </a:r>
          </a:p>
          <a:p>
            <a:pPr marL="342900" lvl="0" indent="-342900" algn="just">
              <a:buFont typeface="Wingdings" charset="2"/>
              <a:buChar char="ü"/>
            </a:pPr>
            <a:r>
              <a:rPr lang="ru-RU" sz="2400" dirty="0"/>
              <a:t>Оценка важности признаков и применение отбора признаков, с целью упрощения модели без потери качества.</a:t>
            </a:r>
          </a:p>
          <a:p>
            <a:pPr marL="342900" lvl="0" indent="-342900" algn="just">
              <a:buFont typeface="Wingdings" charset="2"/>
              <a:buChar char="ü"/>
            </a:pPr>
            <a:r>
              <a:rPr lang="ru-RU" sz="2400" dirty="0"/>
              <a:t>Рассмотрение стратегий обработки пропусков для устойчивости модели к отсутствующим данным.</a:t>
            </a:r>
          </a:p>
          <a:p>
            <a:pPr marL="342900" lvl="0" indent="-342900" algn="just">
              <a:buFont typeface="Wingdings" charset="2"/>
              <a:buChar char="ü"/>
            </a:pPr>
            <a:r>
              <a:rPr lang="ru-RU" sz="2400" dirty="0"/>
              <a:t>Проверка не только точности, но и устойчивости модели, ее интерпретируемости и времени обучения.</a:t>
            </a:r>
          </a:p>
          <a:p>
            <a:pPr algn="just"/>
            <a:r>
              <a:rPr lang="ru-RU" sz="2400" dirty="0"/>
              <a:t>Метрики оценки:</a:t>
            </a:r>
          </a:p>
          <a:p>
            <a:pPr marL="342900" lvl="0" indent="-342900" algn="just">
              <a:buFont typeface="Wingdings" charset="2"/>
              <a:buChar char="v"/>
            </a:pPr>
            <a:r>
              <a:rPr lang="ru-RU" sz="2400" dirty="0"/>
              <a:t>Для классификации: точность, полнота, F1-мера, ROC-кривая (график, позволяющий оценить качество бинарной классификации).</a:t>
            </a:r>
          </a:p>
          <a:p>
            <a:pPr marL="342900" lvl="0" indent="-342900" algn="just">
              <a:buFont typeface="Wingdings" charset="2"/>
              <a:buChar char="v"/>
            </a:pPr>
            <a:r>
              <a:rPr lang="ru-RU" sz="2400" dirty="0"/>
              <a:t>Для регрессии: среднеквадратическая ошибка, средняя абсолютная ошибка, коэффициент детерминации.</a:t>
            </a:r>
          </a:p>
          <a:p>
            <a:pPr lvl="0" algn="just"/>
            <a:r>
              <a:rPr lang="ru-RU" sz="2400" dirty="0"/>
              <a:t>Важно оценивать производительность на независимом тестовом наборе и учитывать устойчивость к </a:t>
            </a:r>
            <a:r>
              <a:rPr lang="ru-RU" sz="2400" dirty="0" err="1"/>
              <a:t>смещенности</a:t>
            </a:r>
            <a:r>
              <a:rPr lang="ru-RU" sz="2400" dirty="0"/>
              <a:t> данных.</a:t>
            </a:r>
          </a:p>
        </p:txBody>
      </p:sp>
    </p:spTree>
    <p:extLst>
      <p:ext uri="{BB962C8B-B14F-4D97-AF65-F5344CB8AC3E}">
        <p14:creationId xmlns:p14="http://schemas.microsoft.com/office/powerpoint/2010/main" val="123331110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274496"/>
            <a:ext cx="12191999" cy="548993"/>
          </a:xfrm>
        </p:spPr>
        <p:txBody>
          <a:bodyPr>
            <a:noAutofit/>
          </a:bodyPr>
          <a:lstStyle/>
          <a:p>
            <a:pPr algn="ctr"/>
            <a:r>
              <a:rPr lang="ru-RU" sz="4000" b="1" i="1"/>
              <a:t>Преимущества и недостатки применения деревьев принятий решений </a:t>
            </a:r>
            <a:endParaRPr lang="ru-RU" sz="4000" b="1"/>
          </a:p>
        </p:txBody>
      </p:sp>
      <p:sp>
        <p:nvSpPr>
          <p:cNvPr id="2" name="Прямоугольник 1"/>
          <p:cNvSpPr/>
          <p:nvPr/>
        </p:nvSpPr>
        <p:spPr>
          <a:xfrm>
            <a:off x="1780674" y="1142551"/>
            <a:ext cx="10411326" cy="4524315"/>
          </a:xfrm>
          <a:prstGeom prst="rect">
            <a:avLst/>
          </a:prstGeom>
        </p:spPr>
        <p:txBody>
          <a:bodyPr wrap="square">
            <a:spAutoFit/>
          </a:bodyPr>
          <a:lstStyle/>
          <a:p>
            <a:pPr algn="just"/>
            <a:r>
              <a:rPr lang="ru-RU" sz="2400" dirty="0"/>
              <a:t>Применение деревьев решений по сравнению с другими распространенными методами классификации, прогнозирования или регрессионного анализа имеет несколько значительных преимуществ:</a:t>
            </a:r>
          </a:p>
          <a:p>
            <a:pPr marL="342900" lvl="0" indent="-342900" algn="just">
              <a:buFont typeface=".AppleSystemUIFont" charset="0"/>
              <a:buChar char="+"/>
            </a:pPr>
            <a:r>
              <a:rPr lang="ru-RU" sz="2400" dirty="0"/>
              <a:t>Не требует предварительной обработки данных.</a:t>
            </a:r>
          </a:p>
          <a:p>
            <a:pPr marL="342900" lvl="0" indent="-342900" algn="just">
              <a:buFont typeface=".AppleSystemUIFont" charset="0"/>
              <a:buChar char="+"/>
            </a:pPr>
            <a:r>
              <a:rPr lang="ru-RU" sz="2400" dirty="0"/>
              <a:t>Обеспечивает интуитивное понимание и интерпретацию.</a:t>
            </a:r>
          </a:p>
          <a:p>
            <a:pPr marL="342900" lvl="0" indent="-342900" algn="just">
              <a:buFont typeface=".AppleSystemUIFont" charset="0"/>
              <a:buChar char="+"/>
            </a:pPr>
            <a:r>
              <a:rPr lang="ru-RU" sz="2400" dirty="0"/>
              <a:t>Обладает высокой надежностью и точностью.</a:t>
            </a:r>
          </a:p>
          <a:p>
            <a:pPr marL="342900" lvl="0" indent="-342900" algn="just">
              <a:buFont typeface=".AppleSystemUIFont" charset="0"/>
              <a:buChar char="+"/>
            </a:pPr>
            <a:r>
              <a:rPr lang="ru-RU" sz="2400" dirty="0"/>
              <a:t>Обеспечивает высокую вычислительную эффективность.</a:t>
            </a:r>
          </a:p>
          <a:p>
            <a:pPr algn="just"/>
            <a:r>
              <a:rPr lang="ru-RU" sz="2400" dirty="0"/>
              <a:t>Однако, несмотря на важные преимущества, метод также имеет свои недостатки:</a:t>
            </a:r>
          </a:p>
          <a:p>
            <a:pPr marL="342900" lvl="0" indent="-342900" algn="just">
              <a:buFont typeface=".AppleSystemUIFont" charset="0"/>
              <a:buChar char="-"/>
            </a:pPr>
            <a:r>
              <a:rPr lang="ru-RU" sz="2400" dirty="0"/>
              <a:t>Сложность в построении оптимального дерева решений.</a:t>
            </a:r>
          </a:p>
          <a:p>
            <a:pPr marL="342900" lvl="0" indent="-342900" algn="just">
              <a:buFont typeface=".AppleSystemUIFont" charset="0"/>
              <a:buChar char="-"/>
            </a:pPr>
            <a:r>
              <a:rPr lang="ru-RU" sz="2400" dirty="0"/>
              <a:t>Риск создания избыточно сложного дерева.</a:t>
            </a:r>
          </a:p>
          <a:p>
            <a:pPr marL="342900" lvl="0" indent="-342900" algn="just">
              <a:buFont typeface=".AppleSystemUIFont" charset="0"/>
              <a:buChar char="-"/>
            </a:pPr>
            <a:r>
              <a:rPr lang="ru-RU" sz="2400" dirty="0"/>
              <a:t>Вероятность ошибок при построении дерева.</a:t>
            </a:r>
          </a:p>
        </p:txBody>
      </p:sp>
    </p:spTree>
    <p:extLst>
      <p:ext uri="{BB962C8B-B14F-4D97-AF65-F5344CB8AC3E}">
        <p14:creationId xmlns:p14="http://schemas.microsoft.com/office/powerpoint/2010/main" val="112604044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114075"/>
            <a:ext cx="12191999" cy="548993"/>
          </a:xfrm>
        </p:spPr>
        <p:txBody>
          <a:bodyPr>
            <a:noAutofit/>
          </a:bodyPr>
          <a:lstStyle/>
          <a:p>
            <a:pPr algn="ctr"/>
            <a:r>
              <a:rPr lang="ru-RU" sz="4000" b="1" dirty="0" err="1"/>
              <a:t>Нейросетевые</a:t>
            </a:r>
            <a:r>
              <a:rPr lang="ru-RU" sz="4000" b="1" dirty="0"/>
              <a:t> </a:t>
            </a:r>
            <a:r>
              <a:rPr lang="ru-RU" sz="4000" b="1" dirty="0" smtClean="0"/>
              <a:t>классификаторы. </a:t>
            </a:r>
            <a:r>
              <a:rPr lang="ru-RU" sz="4000" i="1" dirty="0"/>
              <a:t>Нейронная сеть </a:t>
            </a:r>
            <a:r>
              <a:rPr lang="en-US" sz="4000" i="1" dirty="0"/>
              <a:t>LVQ </a:t>
            </a:r>
            <a:r>
              <a:rPr lang="ru-RU" sz="4000" i="1" dirty="0" smtClean="0"/>
              <a:t> </a:t>
            </a:r>
            <a:endParaRPr lang="ru-RU" sz="4000" i="1" dirty="0"/>
          </a:p>
        </p:txBody>
      </p:sp>
      <mc:AlternateContent xmlns:mc="http://schemas.openxmlformats.org/markup-compatibility/2006">
        <mc:Choice xmlns:a14="http://schemas.microsoft.com/office/drawing/2010/main" Requires="a14">
          <p:sp>
            <p:nvSpPr>
              <p:cNvPr id="2" name="Прямоугольник 1"/>
              <p:cNvSpPr/>
              <p:nvPr/>
            </p:nvSpPr>
            <p:spPr>
              <a:xfrm>
                <a:off x="4646452" y="663068"/>
                <a:ext cx="7545547" cy="5691494"/>
              </a:xfrm>
              <a:prstGeom prst="rect">
                <a:avLst/>
              </a:prstGeom>
            </p:spPr>
            <p:txBody>
              <a:bodyPr wrap="square">
                <a:spAutoFit/>
              </a:bodyPr>
              <a:lstStyle/>
              <a:p>
                <a:pPr algn="ctr"/>
                <a:r>
                  <a:rPr lang="sr-Cyrl-CS" sz="2400" i="1" u="sng" dirty="0" smtClean="0"/>
                  <a:t>Алгоритм</a:t>
                </a:r>
                <a:r>
                  <a:rPr lang="sr-Cyrl-CS" sz="2400" i="1" u="sng" dirty="0"/>
                  <a:t> </a:t>
                </a:r>
                <a:r>
                  <a:rPr lang="sr-Cyrl-CS" sz="2400" i="1" u="sng" dirty="0" err="1"/>
                  <a:t>обучения</a:t>
                </a:r>
                <a:r>
                  <a:rPr lang="sr-Cyrl-CS" sz="2400" i="1" u="sng" dirty="0"/>
                  <a:t> </a:t>
                </a:r>
                <a:r>
                  <a:rPr lang="sr-Cyrl-CS" sz="2400" i="1" u="sng" dirty="0" err="1"/>
                  <a:t>нейронной</a:t>
                </a:r>
                <a:r>
                  <a:rPr lang="sr-Cyrl-CS" sz="2400" i="1" u="sng" dirty="0"/>
                  <a:t> сети LVQ:</a:t>
                </a:r>
                <a:endParaRPr lang="ru-RU" sz="2400" i="1" u="sng" dirty="0"/>
              </a:p>
              <a:p>
                <a:pPr lvl="0" algn="just"/>
                <a:r>
                  <a:rPr lang="sr-Cyrl-CS" sz="2400" dirty="0" smtClean="0"/>
                  <a:t>     1. </a:t>
                </a:r>
                <a:r>
                  <a:rPr lang="sr-Cyrl-CS" sz="2400" dirty="0" err="1" smtClean="0"/>
                  <a:t>Выбор</a:t>
                </a:r>
                <a:r>
                  <a:rPr lang="sr-Cyrl-CS" sz="2400" dirty="0" smtClean="0"/>
                  <a:t> </a:t>
                </a:r>
                <a:r>
                  <a:rPr lang="sr-Cyrl-CS" sz="2400" dirty="0" err="1" smtClean="0"/>
                  <a:t>нейрона-победителя</a:t>
                </a:r>
                <a:r>
                  <a:rPr lang="sr-Cyrl-CS" sz="2400" dirty="0" smtClean="0"/>
                  <a:t>, </a:t>
                </a:r>
                <a:r>
                  <a:rPr lang="sr-Cyrl-CS" sz="2400" dirty="0"/>
                  <a:t>путем </a:t>
                </a:r>
                <a:r>
                  <a:rPr lang="sr-Cyrl-CS" sz="2400" dirty="0" err="1"/>
                  <a:t>оценки</a:t>
                </a:r>
                <a:r>
                  <a:rPr lang="sr-Cyrl-CS" sz="2400" dirty="0"/>
                  <a:t> </a:t>
                </a:r>
                <a:r>
                  <a:rPr lang="sr-Cyrl-CS" sz="2400" dirty="0" err="1"/>
                  <a:t>евклидова</a:t>
                </a:r>
                <a:r>
                  <a:rPr lang="sr-Cyrl-CS" sz="2400" dirty="0"/>
                  <a:t> </a:t>
                </a:r>
                <a:r>
                  <a:rPr lang="sr-Cyrl-CS" sz="2400" dirty="0" err="1"/>
                  <a:t>расстояния</a:t>
                </a:r>
                <a:r>
                  <a:rPr lang="sr-Cyrl-CS" sz="2400" dirty="0"/>
                  <a:t>:</a:t>
                </a:r>
                <a:endParaRPr lang="ru-RU" sz="2400" dirty="0"/>
              </a:p>
              <a:p>
                <a:pPr algn="just"/>
                <a14:m>
                  <m:oMathPara xmlns:m="http://schemas.openxmlformats.org/officeDocument/2006/math">
                    <m:oMathParaPr>
                      <m:jc m:val="right"/>
                    </m:oMathParaPr>
                    <m:oMath xmlns:m="http://schemas.openxmlformats.org/officeDocument/2006/math">
                      <m:sSup>
                        <m:sSupPr>
                          <m:ctrlPr>
                            <a:rPr lang="ru-RU" sz="2400" i="1">
                              <a:latin typeface="Cambria Math" charset="0"/>
                            </a:rPr>
                          </m:ctrlPr>
                        </m:sSupPr>
                        <m:e>
                          <m:d>
                            <m:dPr>
                              <m:begChr m:val="‖"/>
                              <m:endChr m:val="‖"/>
                              <m:ctrlPr>
                                <a:rPr lang="ru-RU" sz="2400" i="1">
                                  <a:latin typeface="Cambria Math" charset="0"/>
                                </a:rPr>
                              </m:ctrlPr>
                            </m:dPr>
                            <m:e>
                              <m:r>
                                <a:rPr lang="en-US" sz="2400" i="1">
                                  <a:latin typeface="Cambria Math" charset="0"/>
                                </a:rPr>
                                <m:t>𝑥</m:t>
                              </m:r>
                              <m:r>
                                <a:rPr lang="fr-FR" sz="2400" i="1">
                                  <a:latin typeface="Cambria Math" charset="0"/>
                                </a:rPr>
                                <m:t>− </m:t>
                              </m:r>
                              <m:sSub>
                                <m:sSubPr>
                                  <m:ctrlPr>
                                    <a:rPr lang="ru-RU" sz="2400" i="1">
                                      <a:latin typeface="Cambria Math" charset="0"/>
                                    </a:rPr>
                                  </m:ctrlPr>
                                </m:sSubPr>
                                <m:e>
                                  <m:r>
                                    <a:rPr lang="en-US" sz="2400" i="1">
                                      <a:latin typeface="Cambria Math" charset="0"/>
                                    </a:rPr>
                                    <m:t>𝑤</m:t>
                                  </m:r>
                                </m:e>
                                <m:sub>
                                  <m:r>
                                    <a:rPr lang="en-US" sz="2400" i="1">
                                      <a:latin typeface="Cambria Math" charset="0"/>
                                    </a:rPr>
                                    <m:t>𝑐</m:t>
                                  </m:r>
                                </m:sub>
                              </m:sSub>
                            </m:e>
                          </m:d>
                        </m:e>
                        <m:sup>
                          <m:r>
                            <a:rPr lang="fr-FR" sz="2400" i="1">
                              <a:latin typeface="Cambria Math" charset="0"/>
                            </a:rPr>
                            <m:t>2</m:t>
                          </m:r>
                        </m:sup>
                      </m:sSup>
                      <m:r>
                        <a:rPr lang="fr-FR" sz="2400" i="1">
                          <a:latin typeface="Cambria Math" charset="0"/>
                        </a:rPr>
                        <m:t>=</m:t>
                      </m:r>
                      <m:func>
                        <m:funcPr>
                          <m:ctrlPr>
                            <a:rPr lang="ru-RU" sz="2400" i="1">
                              <a:latin typeface="Cambria Math" charset="0"/>
                            </a:rPr>
                          </m:ctrlPr>
                        </m:funcPr>
                        <m:fName>
                          <m:limLow>
                            <m:limLowPr>
                              <m:ctrlPr>
                                <a:rPr lang="ru-RU" sz="2400" i="1">
                                  <a:latin typeface="Cambria Math" charset="0"/>
                                </a:rPr>
                              </m:ctrlPr>
                            </m:limLowPr>
                            <m:e>
                              <m:r>
                                <m:rPr>
                                  <m:sty m:val="p"/>
                                </m:rPr>
                                <a:rPr lang="fr-FR" sz="2400">
                                  <a:latin typeface="Cambria Math" charset="0"/>
                                </a:rPr>
                                <m:t>min</m:t>
                              </m:r>
                            </m:e>
                            <m:lim>
                              <m:r>
                                <a:rPr lang="sr-Cyrl-CS" sz="2400" i="1">
                                  <a:latin typeface="Cambria Math" charset="0"/>
                                </a:rPr>
                                <m:t>𝑗</m:t>
                              </m:r>
                            </m:lim>
                          </m:limLow>
                        </m:fName>
                        <m:e>
                          <m:d>
                            <m:dPr>
                              <m:ctrlPr>
                                <a:rPr lang="ru-RU" sz="2400" i="1">
                                  <a:latin typeface="Cambria Math" charset="0"/>
                                </a:rPr>
                              </m:ctrlPr>
                            </m:dPr>
                            <m:e>
                              <m:sSup>
                                <m:sSupPr>
                                  <m:ctrlPr>
                                    <a:rPr lang="ru-RU" sz="2400" i="1">
                                      <a:latin typeface="Cambria Math" charset="0"/>
                                    </a:rPr>
                                  </m:ctrlPr>
                                </m:sSupPr>
                                <m:e>
                                  <m:d>
                                    <m:dPr>
                                      <m:begChr m:val="‖"/>
                                      <m:endChr m:val="‖"/>
                                      <m:ctrlPr>
                                        <a:rPr lang="ru-RU" sz="2400" i="1">
                                          <a:latin typeface="Cambria Math" charset="0"/>
                                        </a:rPr>
                                      </m:ctrlPr>
                                    </m:dPr>
                                    <m:e>
                                      <m:r>
                                        <a:rPr lang="sr-Cyrl-CS" sz="2400" i="1">
                                          <a:latin typeface="Cambria Math" charset="0"/>
                                        </a:rPr>
                                        <m:t>𝑥</m:t>
                                      </m:r>
                                      <m:r>
                                        <a:rPr lang="fr-FR" sz="2400" i="1">
                                          <a:latin typeface="Cambria Math" charset="0"/>
                                        </a:rPr>
                                        <m:t>−</m:t>
                                      </m:r>
                                      <m:sSub>
                                        <m:sSubPr>
                                          <m:ctrlPr>
                                            <a:rPr lang="ru-RU" sz="2400" i="1">
                                              <a:latin typeface="Cambria Math" charset="0"/>
                                            </a:rPr>
                                          </m:ctrlPr>
                                        </m:sSubPr>
                                        <m:e>
                                          <m:r>
                                            <a:rPr lang="sr-Cyrl-CS" sz="2400" i="1">
                                              <a:latin typeface="Cambria Math" charset="0"/>
                                            </a:rPr>
                                            <m:t>𝑤</m:t>
                                          </m:r>
                                        </m:e>
                                        <m:sub>
                                          <m:r>
                                            <a:rPr lang="sr-Cyrl-CS" sz="2400" i="1">
                                              <a:latin typeface="Cambria Math" charset="0"/>
                                            </a:rPr>
                                            <m:t>𝑗</m:t>
                                          </m:r>
                                        </m:sub>
                                      </m:sSub>
                                    </m:e>
                                  </m:d>
                                </m:e>
                                <m:sup>
                                  <m:r>
                                    <a:rPr lang="fr-FR" sz="2400" i="1">
                                      <a:latin typeface="Cambria Math" charset="0"/>
                                    </a:rPr>
                                    <m:t>2</m:t>
                                  </m:r>
                                </m:sup>
                              </m:sSup>
                            </m:e>
                          </m:d>
                        </m:e>
                      </m:func>
                      <m:r>
                        <a:rPr lang="fr-FR" sz="2400" i="1">
                          <a:latin typeface="Cambria Math" charset="0"/>
                        </a:rPr>
                        <m:t>,</m:t>
                      </m:r>
                      <m:r>
                        <a:rPr lang="ru-RU" sz="2400" b="0" i="1" smtClean="0">
                          <a:latin typeface="Cambria Math" charset="0"/>
                        </a:rPr>
                        <m:t>                   (4.13)</m:t>
                      </m:r>
                    </m:oMath>
                  </m:oMathPara>
                </a14:m>
                <a:endParaRPr lang="ru-RU" sz="2400" dirty="0"/>
              </a:p>
              <a:p>
                <a:pPr algn="just"/>
                <a:r>
                  <a:rPr lang="sr-Cyrl-CS" sz="2400" dirty="0"/>
                  <a:t>где </a:t>
                </a:r>
                <a14:m>
                  <m:oMath xmlns:m="http://schemas.openxmlformats.org/officeDocument/2006/math">
                    <m:r>
                      <a:rPr lang="en-US" sz="2400" i="1">
                        <a:latin typeface="Cambria Math" charset="0"/>
                      </a:rPr>
                      <m:t>𝑥</m:t>
                    </m:r>
                  </m:oMath>
                </a14:m>
                <a:r>
                  <a:rPr lang="sr-Cyrl-CS" sz="2400" dirty="0"/>
                  <a:t> — вектор </a:t>
                </a:r>
                <a:r>
                  <a:rPr lang="sr-Cyrl-CS" sz="2400" dirty="0" err="1"/>
                  <a:t>входов</a:t>
                </a:r>
                <a:r>
                  <a:rPr lang="sr-Cyrl-CS" sz="2400" dirty="0"/>
                  <a:t>; </a:t>
                </a:r>
                <a14:m>
                  <m:oMath xmlns:m="http://schemas.openxmlformats.org/officeDocument/2006/math">
                    <m:sSub>
                      <m:sSubPr>
                        <m:ctrlPr>
                          <a:rPr lang="ru-RU" sz="2400" i="1">
                            <a:latin typeface="Cambria Math" charset="0"/>
                          </a:rPr>
                        </m:ctrlPr>
                      </m:sSubPr>
                      <m:e>
                        <m:r>
                          <a:rPr lang="en-US" sz="2400" i="1">
                            <a:latin typeface="Cambria Math" charset="0"/>
                          </a:rPr>
                          <m:t>𝑤</m:t>
                        </m:r>
                      </m:e>
                      <m:sub>
                        <m:r>
                          <a:rPr lang="en-US" sz="2400" i="1">
                            <a:latin typeface="Cambria Math" charset="0"/>
                          </a:rPr>
                          <m:t>𝑐</m:t>
                        </m:r>
                      </m:sub>
                    </m:sSub>
                  </m:oMath>
                </a14:m>
                <a:r>
                  <a:rPr lang="sr-Cyrl-CS" sz="2400" dirty="0"/>
                  <a:t> — вектор </a:t>
                </a:r>
                <a:r>
                  <a:rPr lang="sr-Cyrl-CS" sz="2400" dirty="0" err="1"/>
                  <a:t>весов</a:t>
                </a:r>
                <a:r>
                  <a:rPr lang="sr-Cyrl-CS" sz="2400" dirty="0"/>
                  <a:t> </a:t>
                </a:r>
                <a:r>
                  <a:rPr lang="sr-Cyrl-CS" sz="2400" dirty="0" err="1"/>
                  <a:t>нейрона</a:t>
                </a:r>
                <a:r>
                  <a:rPr lang="sr-Cyrl-CS" sz="2400" dirty="0"/>
                  <a:t> </a:t>
                </a:r>
                <a14:m>
                  <m:oMath xmlns:m="http://schemas.openxmlformats.org/officeDocument/2006/math">
                    <m:r>
                      <a:rPr lang="en-US" sz="2400" i="1">
                        <a:latin typeface="Cambria Math" charset="0"/>
                      </a:rPr>
                      <m:t>𝑐</m:t>
                    </m:r>
                  </m:oMath>
                </a14:m>
                <a:r>
                  <a:rPr lang="sr-Cyrl-CS" sz="2400" dirty="0"/>
                  <a:t>; </a:t>
                </a:r>
                <a14:m>
                  <m:oMath xmlns:m="http://schemas.openxmlformats.org/officeDocument/2006/math">
                    <m:sSub>
                      <m:sSubPr>
                        <m:ctrlPr>
                          <a:rPr lang="ru-RU" sz="2400" i="1">
                            <a:latin typeface="Cambria Math" charset="0"/>
                          </a:rPr>
                        </m:ctrlPr>
                      </m:sSubPr>
                      <m:e>
                        <m:r>
                          <a:rPr lang="sr-Cyrl-CS" sz="2400" i="1">
                            <a:latin typeface="Cambria Math" charset="0"/>
                          </a:rPr>
                          <m:t>𝑤</m:t>
                        </m:r>
                      </m:e>
                      <m:sub>
                        <m:r>
                          <a:rPr lang="sr-Cyrl-CS" sz="2400" i="1">
                            <a:latin typeface="Cambria Math" charset="0"/>
                          </a:rPr>
                          <m:t>𝑗</m:t>
                        </m:r>
                      </m:sub>
                    </m:sSub>
                  </m:oMath>
                </a14:m>
                <a:r>
                  <a:rPr lang="sr-Cyrl-CS" sz="2400" dirty="0"/>
                  <a:t> — вектор </a:t>
                </a:r>
                <a:r>
                  <a:rPr lang="sr-Cyrl-CS" sz="2400" dirty="0" err="1"/>
                  <a:t>весов</a:t>
                </a:r>
                <a:r>
                  <a:rPr lang="sr-Cyrl-CS" sz="2400" dirty="0"/>
                  <a:t> </a:t>
                </a:r>
                <a:r>
                  <a:rPr lang="sr-Cyrl-CS" sz="2400" dirty="0" err="1"/>
                  <a:t>нейрона</a:t>
                </a:r>
                <a:r>
                  <a:rPr lang="sr-Cyrl-CS" sz="2400" dirty="0"/>
                  <a:t> </a:t>
                </a:r>
                <a14:m>
                  <m:oMath xmlns:m="http://schemas.openxmlformats.org/officeDocument/2006/math">
                    <m:r>
                      <a:rPr lang="sr-Cyrl-CS" sz="2400" i="1">
                        <a:latin typeface="Cambria Math" charset="0"/>
                      </a:rPr>
                      <m:t>𝑗</m:t>
                    </m:r>
                  </m:oMath>
                </a14:m>
                <a:r>
                  <a:rPr lang="sr-Cyrl-CS" sz="2400" dirty="0"/>
                  <a:t> </a:t>
                </a:r>
                <a:r>
                  <a:rPr lang="sr-Cyrl-CS" sz="2400" dirty="0" err="1"/>
                  <a:t>конкурирующего</a:t>
                </a:r>
                <a:r>
                  <a:rPr lang="sr-Cyrl-CS" sz="2400" dirty="0"/>
                  <a:t> </a:t>
                </a:r>
                <a:r>
                  <a:rPr lang="sr-Cyrl-CS" sz="2400" dirty="0" err="1"/>
                  <a:t>слоя</a:t>
                </a:r>
                <a:r>
                  <a:rPr lang="sr-Cyrl-CS" sz="2400" dirty="0"/>
                  <a:t>.</a:t>
                </a:r>
                <a:endParaRPr lang="ru-RU" sz="2400" dirty="0"/>
              </a:p>
              <a:p>
                <a:pPr lvl="0" algn="just"/>
                <a:r>
                  <a:rPr lang="sr-Cyrl-CS" sz="2400" dirty="0" smtClean="0"/>
                  <a:t>     2. </a:t>
                </a:r>
                <a:r>
                  <a:rPr lang="sr-Cyrl-CS" sz="2400" dirty="0" err="1" smtClean="0"/>
                  <a:t>Корректировка</a:t>
                </a:r>
                <a:r>
                  <a:rPr lang="sr-Cyrl-CS" sz="2400" dirty="0" smtClean="0"/>
                  <a:t> </a:t>
                </a:r>
                <a:r>
                  <a:rPr lang="sr-Cyrl-CS" sz="2400" dirty="0" err="1"/>
                  <a:t>веса</a:t>
                </a:r>
                <a:r>
                  <a:rPr lang="sr-Cyrl-CS" sz="2400" dirty="0"/>
                  <a:t> </a:t>
                </a:r>
                <a:r>
                  <a:rPr lang="sr-Cyrl-CS" sz="2400" dirty="0" err="1"/>
                  <a:t>нейрона-победителя</a:t>
                </a:r>
                <a:r>
                  <a:rPr lang="sr-Cyrl-CS" sz="2400" dirty="0"/>
                  <a:t>: </a:t>
                </a:r>
                <a:endParaRPr lang="ru-RU" sz="2400" dirty="0"/>
              </a:p>
              <a:p>
                <a:pPr algn="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r>
                              <a:rPr lang="fr-FR" sz="2400" i="1">
                                <a:latin typeface="Cambria Math" charset="0"/>
                              </a:rPr>
                              <m:t>+1</m:t>
                            </m:r>
                          </m:e>
                        </m:d>
                      </m:sup>
                    </m:sSup>
                    <m:r>
                      <a:rPr lang="fr-FR" sz="2400" i="1">
                        <a:latin typeface="Cambria Math" charset="0"/>
                      </a:rPr>
                      <m:t>=</m:t>
                    </m:r>
                    <m:d>
                      <m:dPr>
                        <m:begChr m:val="{"/>
                        <m:endChr m:val=""/>
                        <m:ctrlPr>
                          <a:rPr lang="ru-RU" sz="2400" i="1">
                            <a:latin typeface="Cambria Math" charset="0"/>
                          </a:rPr>
                        </m:ctrlPr>
                      </m:dPr>
                      <m:e>
                        <m:eqArr>
                          <m:eqArrPr>
                            <m:ctrlPr>
                              <a:rPr lang="ru-RU" sz="2400" i="1">
                                <a:latin typeface="Cambria Math" charset="0"/>
                              </a:rPr>
                            </m:ctrlPr>
                          </m:eqArrPr>
                          <m:e>
                            <m:sSup>
                              <m:sSupPr>
                                <m:ctrlPr>
                                  <a:rPr lang="ru-RU" sz="2400" i="1">
                                    <a:latin typeface="Cambria Math" charset="0"/>
                                  </a:rPr>
                                </m:ctrlPr>
                              </m:sSupPr>
                              <m:e>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d>
                              <m:dPr>
                                <m:begChr m:val="["/>
                                <m:endChr m:val="]"/>
                                <m:ctrlPr>
                                  <a:rPr lang="ru-RU" sz="2400" i="1">
                                    <a:latin typeface="Cambria Math" charset="0"/>
                                  </a:rPr>
                                </m:ctrlPr>
                              </m:dPr>
                              <m:e>
                                <m:sSup>
                                  <m:sSupPr>
                                    <m:ctrlPr>
                                      <a:rPr lang="ru-RU" sz="2400" i="1">
                                        <a:latin typeface="Cambria Math" charset="0"/>
                                      </a:rPr>
                                    </m:ctrlPr>
                                  </m:sSupPr>
                                  <m:e>
                                    <m:r>
                                      <a:rPr lang="sr-Cyrl-CS" sz="2400" i="1">
                                        <a:latin typeface="Cambria Math" charset="0"/>
                                      </a:rPr>
                                      <m:t>𝑥</m:t>
                                    </m:r>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sSup>
                                  <m:sSupPr>
                                    <m:ctrlPr>
                                      <a:rPr lang="ru-RU" sz="2400" i="1">
                                        <a:latin typeface="Cambria Math" charset="0"/>
                                      </a:rPr>
                                    </m:ctrlPr>
                                  </m:sSupPr>
                                  <m:e>
                                    <m:sSub>
                                      <m:sSubPr>
                                        <m:ctrlPr>
                                          <a:rPr lang="ru-RU" sz="2400" i="1">
                                            <a:latin typeface="Cambria Math" charset="0"/>
                                          </a:rPr>
                                        </m:ctrlPr>
                                      </m:sSubPr>
                                      <m:e>
                                        <m:r>
                                          <a:rPr lang="en-US" sz="2400" i="1">
                                            <a:latin typeface="Cambria Math" charset="0"/>
                                          </a:rPr>
                                          <m:t>𝑤</m:t>
                                        </m:r>
                                      </m:e>
                                      <m:sub>
                                        <m:r>
                                          <a:rPr lang="en-US" sz="2400" i="1">
                                            <a:latin typeface="Cambria Math" charset="0"/>
                                          </a:rPr>
                                          <m:t>𝑐</m:t>
                                        </m:r>
                                      </m:sub>
                                    </m:sSub>
                                  </m:e>
                                  <m:sup>
                                    <m:r>
                                      <a:rPr lang="fr-FR" sz="2400" i="1">
                                        <a:latin typeface="Cambria Math" charset="0"/>
                                      </a:rPr>
                                      <m:t>(</m:t>
                                    </m:r>
                                    <m:r>
                                      <a:rPr lang="en-US" sz="2400" i="1">
                                        <a:latin typeface="Cambria Math" charset="0"/>
                                      </a:rPr>
                                      <m:t>𝑘</m:t>
                                    </m:r>
                                    <m:r>
                                      <a:rPr lang="fr-FR" sz="2400" i="1">
                                        <a:latin typeface="Cambria Math" charset="0"/>
                                      </a:rPr>
                                      <m:t>)</m:t>
                                    </m:r>
                                  </m:sup>
                                </m:sSup>
                              </m:e>
                            </m:d>
                            <m:r>
                              <a:rPr lang="fr-FR" sz="2400" i="1">
                                <a:latin typeface="Cambria Math" charset="0"/>
                              </a:rPr>
                              <m:t>                   (4.14)</m:t>
                            </m:r>
                          </m:e>
                          <m:e>
                            <m:sSup>
                              <m:sSupPr>
                                <m:ctrlPr>
                                  <a:rPr lang="ru-RU" sz="2400" i="1">
                                    <a:latin typeface="Cambria Math" charset="0"/>
                                  </a:rPr>
                                </m:ctrlPr>
                              </m:sSupPr>
                              <m:e>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d>
                              <m:dPr>
                                <m:begChr m:val="["/>
                                <m:endChr m:val="]"/>
                                <m:ctrlPr>
                                  <a:rPr lang="ru-RU" sz="2400" i="1">
                                    <a:latin typeface="Cambria Math" charset="0"/>
                                  </a:rPr>
                                </m:ctrlPr>
                              </m:dPr>
                              <m:e>
                                <m:sSup>
                                  <m:sSupPr>
                                    <m:ctrlPr>
                                      <a:rPr lang="ru-RU" sz="2400" i="1">
                                        <a:latin typeface="Cambria Math" charset="0"/>
                                      </a:rPr>
                                    </m:ctrlPr>
                                  </m:sSupPr>
                                  <m:e>
                                    <m:r>
                                      <a:rPr lang="sr-Cyrl-CS" sz="2400" i="1">
                                        <a:latin typeface="Cambria Math" charset="0"/>
                                      </a:rPr>
                                      <m:t>𝑥</m:t>
                                    </m:r>
                                  </m:e>
                                  <m:sup>
                                    <m:d>
                                      <m:dPr>
                                        <m:ctrlPr>
                                          <a:rPr lang="ru-RU" sz="2400" i="1">
                                            <a:latin typeface="Cambria Math" charset="0"/>
                                          </a:rPr>
                                        </m:ctrlPr>
                                      </m:dPr>
                                      <m:e>
                                        <m:r>
                                          <a:rPr lang="sr-Cyrl-CS" sz="2400" i="1">
                                            <a:latin typeface="Cambria Math" charset="0"/>
                                          </a:rPr>
                                          <m:t>𝑘</m:t>
                                        </m:r>
                                      </m:e>
                                    </m:d>
                                  </m:sup>
                                </m:sSup>
                                <m:r>
                                  <a:rPr lang="fr-FR" sz="2400" i="1">
                                    <a:latin typeface="Cambria Math" charset="0"/>
                                  </a:rPr>
                                  <m:t>−</m:t>
                                </m:r>
                                <m:sSup>
                                  <m:sSupPr>
                                    <m:ctrlPr>
                                      <a:rPr lang="ru-RU" sz="2400" i="1">
                                        <a:latin typeface="Cambria Math" charset="0"/>
                                      </a:rPr>
                                    </m:ctrlPr>
                                  </m:sSupPr>
                                  <m:e>
                                    <m:sSub>
                                      <m:sSubPr>
                                        <m:ctrlPr>
                                          <a:rPr lang="ru-RU" sz="2400" i="1">
                                            <a:latin typeface="Cambria Math" charset="0"/>
                                          </a:rPr>
                                        </m:ctrlPr>
                                      </m:sSubPr>
                                      <m:e>
                                        <m:r>
                                          <a:rPr lang="en-US" sz="2400" i="1">
                                            <a:latin typeface="Cambria Math" charset="0"/>
                                          </a:rPr>
                                          <m:t>𝑤</m:t>
                                        </m:r>
                                      </m:e>
                                      <m:sub>
                                        <m:r>
                                          <a:rPr lang="en-US" sz="2400" i="1">
                                            <a:latin typeface="Cambria Math" charset="0"/>
                                          </a:rPr>
                                          <m:t>𝑐</m:t>
                                        </m:r>
                                      </m:sub>
                                    </m:sSub>
                                  </m:e>
                                  <m:sup>
                                    <m:d>
                                      <m:dPr>
                                        <m:ctrlPr>
                                          <a:rPr lang="ru-RU" sz="2400" i="1">
                                            <a:latin typeface="Cambria Math" charset="0"/>
                                          </a:rPr>
                                        </m:ctrlPr>
                                      </m:dPr>
                                      <m:e>
                                        <m:r>
                                          <a:rPr lang="en-US" sz="2400" i="1">
                                            <a:latin typeface="Cambria Math" charset="0"/>
                                          </a:rPr>
                                          <m:t>𝑘</m:t>
                                        </m:r>
                                      </m:e>
                                    </m:d>
                                  </m:sup>
                                </m:sSup>
                              </m:e>
                            </m:d>
                            <m:r>
                              <a:rPr lang="fr-FR" sz="2400" i="1">
                                <a:latin typeface="Cambria Math" charset="0"/>
                              </a:rPr>
                              <m:t>                    (4.15)</m:t>
                            </m:r>
                          </m:e>
                        </m:eqArr>
                      </m:e>
                    </m:d>
                  </m:oMath>
                </a14:m>
                <a:r>
                  <a:rPr lang="fr-FR" sz="2400" dirty="0"/>
                  <a:t>                </a:t>
                </a:r>
                <a:endParaRPr lang="ru-RU" sz="2400" dirty="0"/>
              </a:p>
              <a:p>
                <a:pPr algn="just"/>
                <a:r>
                  <a:rPr lang="sr-Cyrl-CS" sz="2400" dirty="0"/>
                  <a:t>где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r>
                              <a:rPr lang="fr-FR" sz="2400" i="1">
                                <a:latin typeface="Cambria Math" charset="0"/>
                              </a:rPr>
                              <m:t>+1</m:t>
                            </m:r>
                          </m:e>
                        </m:d>
                      </m:sup>
                    </m:sSup>
                  </m:oMath>
                </a14:m>
                <a:r>
                  <a:rPr lang="sr-Cyrl-CS" sz="2400" dirty="0"/>
                  <a:t> — </a:t>
                </a:r>
                <a:r>
                  <a:rPr lang="sr-Cyrl-CS" sz="2400" dirty="0" err="1"/>
                  <a:t>следующее</a:t>
                </a:r>
                <a:r>
                  <a:rPr lang="sr-Cyrl-CS" sz="2400" dirty="0"/>
                  <a:t> </a:t>
                </a:r>
                <a:r>
                  <a:rPr lang="sr-Cyrl-CS" sz="2400" dirty="0" err="1"/>
                  <a:t>значение</a:t>
                </a:r>
                <a:r>
                  <a:rPr lang="sr-Cyrl-CS" sz="2400" dirty="0"/>
                  <a:t> </a:t>
                </a:r>
                <a:r>
                  <a:rPr lang="sr-Cyrl-CS" sz="2400" dirty="0" err="1"/>
                  <a:t>веса</a:t>
                </a:r>
                <a:r>
                  <a:rPr lang="sr-Cyrl-CS" sz="2400" dirty="0"/>
                  <a:t>;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oMath>
                </a14:m>
                <a:r>
                  <a:rPr lang="sr-Cyrl-CS" sz="2400" dirty="0"/>
                  <a:t> — </a:t>
                </a:r>
                <a:r>
                  <a:rPr lang="sr-Cyrl-CS" sz="2400" dirty="0" err="1"/>
                  <a:t>предыдущее</a:t>
                </a:r>
                <a:r>
                  <a:rPr lang="sr-Cyrl-CS" sz="2400" dirty="0"/>
                  <a:t> </a:t>
                </a:r>
                <a:r>
                  <a:rPr lang="sr-Cyrl-CS" sz="2400" dirty="0" err="1"/>
                  <a:t>значение</a:t>
                </a:r>
                <a:r>
                  <a:rPr lang="sr-Cyrl-CS" sz="2400" dirty="0"/>
                  <a:t> </a:t>
                </a:r>
                <a:r>
                  <a:rPr lang="sr-Cyrl-CS" sz="2400" dirty="0" err="1"/>
                  <a:t>веса</a:t>
                </a:r>
                <a:r>
                  <a:rPr lang="sr-Cyrl-CS" sz="2400" dirty="0"/>
                  <a:t>; </a:t>
                </a:r>
                <a14:m>
                  <m:oMath xmlns:m="http://schemas.openxmlformats.org/officeDocument/2006/math">
                    <m:sSup>
                      <m:sSupPr>
                        <m:ctrlPr>
                          <a:rPr lang="ru-RU" sz="2400" i="1">
                            <a:latin typeface="Cambria Math" charset="0"/>
                          </a:rPr>
                        </m:ctrlPr>
                      </m:sSupPr>
                      <m:e>
                        <m:r>
                          <a:rPr lang="sr-Cyrl-CS" sz="2400" i="1">
                            <a:latin typeface="Cambria Math" charset="0"/>
                          </a:rPr>
                          <m:t>𝑥</m:t>
                        </m:r>
                      </m:e>
                      <m:sup>
                        <m:d>
                          <m:dPr>
                            <m:ctrlPr>
                              <a:rPr lang="ru-RU" sz="2400" i="1">
                                <a:latin typeface="Cambria Math" charset="0"/>
                              </a:rPr>
                            </m:ctrlPr>
                          </m:dPr>
                          <m:e>
                            <m:r>
                              <a:rPr lang="sr-Cyrl-CS" sz="2400" i="1">
                                <a:latin typeface="Cambria Math" charset="0"/>
                              </a:rPr>
                              <m:t>𝑘</m:t>
                            </m:r>
                          </m:e>
                        </m:d>
                      </m:sup>
                    </m:sSup>
                  </m:oMath>
                </a14:m>
                <a:r>
                  <a:rPr lang="sr-Cyrl-CS" sz="2400" dirty="0"/>
                  <a:t> — </a:t>
                </a:r>
                <a:r>
                  <a:rPr lang="sr-Cyrl-CS" sz="2400" dirty="0" err="1"/>
                  <a:t>значение</a:t>
                </a:r>
                <a:r>
                  <a:rPr lang="sr-Cyrl-CS" sz="2400" dirty="0"/>
                  <a:t> </a:t>
                </a:r>
                <a:r>
                  <a:rPr lang="sr-Cyrl-CS" sz="2400" dirty="0" err="1"/>
                  <a:t>входа</a:t>
                </a:r>
                <a:r>
                  <a:rPr lang="sr-Cyrl-CS" sz="2400" dirty="0"/>
                  <a:t>,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oMath>
                </a14:m>
                <a:r>
                  <a:rPr lang="sr-Cyrl-CS" sz="2400" dirty="0"/>
                  <a:t> — </a:t>
                </a:r>
                <a:r>
                  <a:rPr lang="sr-Cyrl-CS" sz="2400" dirty="0" err="1"/>
                  <a:t>параметр</a:t>
                </a:r>
                <a:r>
                  <a:rPr lang="sr-Cyrl-CS" sz="2400" dirty="0"/>
                  <a:t> </a:t>
                </a:r>
                <a:r>
                  <a:rPr lang="sr-Cyrl-CS" sz="2400" dirty="0" err="1"/>
                  <a:t>обучения</a:t>
                </a:r>
                <a:r>
                  <a:rPr lang="sr-Cyrl-CS" sz="2400" dirty="0"/>
                  <a:t> (</a:t>
                </a:r>
                <a:r>
                  <a:rPr lang="sr-Cyrl-CS" sz="2400" dirty="0" err="1"/>
                  <a:t>скорость</a:t>
                </a:r>
                <a:r>
                  <a:rPr lang="sr-Cyrl-CS" sz="2400" dirty="0"/>
                  <a:t>), </a:t>
                </a:r>
                <a14:m>
                  <m:oMath xmlns:m="http://schemas.openxmlformats.org/officeDocument/2006/math">
                    <m:r>
                      <a:rPr lang="sr-Cyrl-CS" sz="2400" i="1">
                        <a:latin typeface="Cambria Math" charset="0"/>
                      </a:rPr>
                      <m:t>𝑘</m:t>
                    </m:r>
                    <m:r>
                      <a:rPr lang="sr-Cyrl-CS" sz="2400" i="1">
                        <a:latin typeface="Cambria Math" charset="0"/>
                      </a:rPr>
                      <m:t>−</m:t>
                    </m:r>
                  </m:oMath>
                </a14:m>
                <a:r>
                  <a:rPr lang="sr-Cyrl-CS" sz="2400" dirty="0"/>
                  <a:t> </a:t>
                </a:r>
                <a:r>
                  <a:rPr lang="sr-Cyrl-CS" sz="2400" dirty="0" err="1"/>
                  <a:t>номер</a:t>
                </a:r>
                <a:r>
                  <a:rPr lang="sr-Cyrl-CS" sz="2400" dirty="0"/>
                  <a:t> </a:t>
                </a:r>
                <a:r>
                  <a:rPr lang="sr-Cyrl-CS" sz="2400" dirty="0" err="1"/>
                  <a:t>итерации</a:t>
                </a:r>
                <a:r>
                  <a:rPr lang="sr-Cyrl-CS" sz="2400" dirty="0" smtClean="0"/>
                  <a:t>.</a:t>
                </a:r>
                <a:endParaRPr lang="ru-RU" sz="2400" dirty="0"/>
              </a:p>
            </p:txBody>
          </p:sp>
        </mc:Choice>
        <mc:Fallback>
          <p:sp>
            <p:nvSpPr>
              <p:cNvPr id="2" name="Прямоугольник 1"/>
              <p:cNvSpPr>
                <a:spLocks noRot="1" noChangeAspect="1" noMove="1" noResize="1" noEditPoints="1" noAdjustHandles="1" noChangeArrowheads="1" noChangeShapeType="1" noTextEdit="1"/>
              </p:cNvSpPr>
              <p:nvPr/>
            </p:nvSpPr>
            <p:spPr>
              <a:xfrm>
                <a:off x="4646452" y="663068"/>
                <a:ext cx="7545547" cy="5691494"/>
              </a:xfrm>
              <a:prstGeom prst="rect">
                <a:avLst/>
              </a:prstGeom>
              <a:blipFill rotWithShape="0">
                <a:blip r:embed="rId2"/>
                <a:stretch>
                  <a:fillRect l="-1212" t="-857" r="-1292" b="-1501"/>
                </a:stretch>
              </a:blipFill>
            </p:spPr>
            <p:txBody>
              <a:bodyPr/>
              <a:lstStyle/>
              <a:p>
                <a:r>
                  <a:rPr lang="ru-RU">
                    <a:noFill/>
                  </a:rPr>
                  <a:t> </a:t>
                </a:r>
              </a:p>
            </p:txBody>
          </p:sp>
        </mc:Fallback>
      </mc:AlternateContent>
      <p:pic>
        <p:nvPicPr>
          <p:cNvPr id="4" name="Рисунок 8" descr="../Снимок%20экрана%202026-01-09%20в%2014.19.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1179"/>
            <a:ext cx="4646453" cy="3489158"/>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p:cNvSpPr>
            <a:spLocks noChangeArrowheads="1"/>
          </p:cNvSpPr>
          <p:nvPr/>
        </p:nvSpPr>
        <p:spPr bwMode="auto">
          <a:xfrm>
            <a:off x="593746" y="4780184"/>
            <a:ext cx="2998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1" u="none" strike="noStrike" cap="none" normalizeH="0" baseline="0" dirty="0">
                <a:ln>
                  <a:noFill/>
                </a:ln>
                <a:solidFill>
                  <a:schemeClr val="tx1"/>
                </a:solidFill>
                <a:effectLst/>
                <a:latin typeface="Arial" charset="0"/>
              </a:rPr>
              <a:t>Рис</a:t>
            </a:r>
            <a:r>
              <a:rPr kumimoji="0" lang="ru-RU" altLang="ru-RU" sz="1800" b="0" i="1" u="none" strike="noStrike" cap="none" normalizeH="0" baseline="0" dirty="0" smtClean="0">
                <a:ln>
                  <a:noFill/>
                </a:ln>
                <a:solidFill>
                  <a:schemeClr val="tx1"/>
                </a:solidFill>
                <a:effectLst/>
                <a:latin typeface="Arial" charset="0"/>
              </a:rPr>
              <a:t>. Н</a:t>
            </a:r>
            <a:r>
              <a:rPr kumimoji="0" lang="ru-RU" altLang="ru-RU" sz="1800" b="0" i="0" u="none" strike="noStrike" cap="none" normalizeH="0" baseline="0" dirty="0" smtClean="0">
                <a:ln>
                  <a:noFill/>
                </a:ln>
                <a:solidFill>
                  <a:schemeClr val="tx1"/>
                </a:solidFill>
                <a:effectLst/>
                <a:latin typeface="Arial" charset="0"/>
              </a:rPr>
              <a:t>ейронная сеть LVQ</a:t>
            </a:r>
            <a:endParaRPr kumimoji="0" lang="ru-RU" altLang="ru-RU" sz="18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2468950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114075"/>
            <a:ext cx="12191999" cy="548993"/>
          </a:xfrm>
        </p:spPr>
        <p:txBody>
          <a:bodyPr>
            <a:noAutofit/>
          </a:bodyPr>
          <a:lstStyle/>
          <a:p>
            <a:pPr algn="ctr"/>
            <a:r>
              <a:rPr lang="ru-RU" sz="4000" b="1" dirty="0" err="1"/>
              <a:t>Нейросетевые</a:t>
            </a:r>
            <a:r>
              <a:rPr lang="ru-RU" sz="4000" b="1" dirty="0"/>
              <a:t> </a:t>
            </a:r>
            <a:r>
              <a:rPr lang="ru-RU" sz="4000" b="1" dirty="0" smtClean="0"/>
              <a:t>классификаторы. </a:t>
            </a:r>
            <a:r>
              <a:rPr lang="ru-RU" sz="4000" i="1" dirty="0"/>
              <a:t>Нейронная сеть </a:t>
            </a:r>
            <a:r>
              <a:rPr lang="en-US" sz="4000" i="1" dirty="0"/>
              <a:t>LVQ </a:t>
            </a:r>
            <a:r>
              <a:rPr lang="ru-RU" sz="4000" i="1" dirty="0" smtClean="0"/>
              <a:t> </a:t>
            </a:r>
            <a:endParaRPr lang="ru-RU" sz="4000" i="1" dirty="0"/>
          </a:p>
        </p:txBody>
      </p:sp>
      <mc:AlternateContent xmlns:mc="http://schemas.openxmlformats.org/markup-compatibility/2006">
        <mc:Choice xmlns:a14="http://schemas.microsoft.com/office/drawing/2010/main" Requires="a14">
          <p:sp>
            <p:nvSpPr>
              <p:cNvPr id="2" name="Прямоугольник 1"/>
              <p:cNvSpPr/>
              <p:nvPr/>
            </p:nvSpPr>
            <p:spPr>
              <a:xfrm>
                <a:off x="4646453" y="663068"/>
                <a:ext cx="7545547" cy="5237909"/>
              </a:xfrm>
              <a:prstGeom prst="rect">
                <a:avLst/>
              </a:prstGeom>
            </p:spPr>
            <p:txBody>
              <a:bodyPr wrap="square">
                <a:spAutoFit/>
              </a:bodyPr>
              <a:lstStyle/>
              <a:p>
                <a:pPr algn="ctr"/>
                <a:r>
                  <a:rPr lang="sr-Cyrl-CS" sz="2400" i="1" u="sng" dirty="0" smtClean="0"/>
                  <a:t>Алгоритм</a:t>
                </a:r>
                <a:r>
                  <a:rPr lang="sr-Cyrl-CS" sz="2400" i="1" u="sng" dirty="0"/>
                  <a:t> </a:t>
                </a:r>
                <a:r>
                  <a:rPr lang="sr-Cyrl-CS" sz="2400" i="1" u="sng" dirty="0" err="1"/>
                  <a:t>обучения</a:t>
                </a:r>
                <a:r>
                  <a:rPr lang="sr-Cyrl-CS" sz="2400" i="1" u="sng" dirty="0"/>
                  <a:t> </a:t>
                </a:r>
                <a:r>
                  <a:rPr lang="sr-Cyrl-CS" sz="2400" i="1" u="sng" dirty="0" err="1"/>
                  <a:t>нейронной</a:t>
                </a:r>
                <a:r>
                  <a:rPr lang="sr-Cyrl-CS" sz="2400" i="1" u="sng" dirty="0"/>
                  <a:t> сети LVQ:</a:t>
                </a:r>
                <a:endParaRPr lang="ru-RU" sz="2400" i="1" u="sng" dirty="0"/>
              </a:p>
              <a:p>
                <a:pPr lvl="0" algn="just"/>
                <a:r>
                  <a:rPr lang="sr-Cyrl-CS" sz="2400" dirty="0" err="1" smtClean="0"/>
                  <a:t>Параметр</a:t>
                </a:r>
                <a:r>
                  <a:rPr lang="sr-Cyrl-CS" sz="2400" dirty="0" smtClean="0"/>
                  <a:t> </a:t>
                </a:r>
                <a:r>
                  <a:rPr lang="sr-Cyrl-CS" sz="2400" dirty="0" err="1"/>
                  <a:t>обучения</a:t>
                </a:r>
                <a:r>
                  <a:rPr lang="sr-Cyrl-CS" sz="2400" dirty="0"/>
                  <a:t>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sr-Cyrl-CS" sz="2400" i="1">
                        <a:latin typeface="Cambria Math" charset="0"/>
                      </a:rPr>
                      <m:t> </m:t>
                    </m:r>
                  </m:oMath>
                </a14:m>
                <a:r>
                  <a:rPr lang="sr-Cyrl-CS" sz="2400" dirty="0"/>
                  <a:t> </a:t>
                </a:r>
                <a:r>
                  <a:rPr lang="sr-Cyrl-CS" sz="2400" dirty="0" err="1"/>
                  <a:t>в</a:t>
                </a:r>
                <a:r>
                  <a:rPr lang="sr-Cyrl-CS" sz="2400" dirty="0"/>
                  <a:t> (</a:t>
                </a:r>
                <a:r>
                  <a:rPr lang="ru-RU" sz="2400" dirty="0"/>
                  <a:t>4.12</a:t>
                </a:r>
                <a:r>
                  <a:rPr lang="sr-Cyrl-CS" sz="2400" dirty="0"/>
                  <a:t>), (</a:t>
                </a:r>
                <a:r>
                  <a:rPr lang="ru-RU" sz="2400" dirty="0"/>
                  <a:t>4.13</a:t>
                </a:r>
                <a:r>
                  <a:rPr lang="sr-Cyrl-CS" sz="2400" dirty="0"/>
                  <a:t>) </a:t>
                </a:r>
                <a:r>
                  <a:rPr lang="sr-Cyrl-CS" sz="2400" dirty="0" err="1"/>
                  <a:t>вычисляется</a:t>
                </a:r>
                <a:r>
                  <a:rPr lang="sr-Cyrl-CS" sz="2400" dirty="0"/>
                  <a:t> по формуле: </a:t>
                </a:r>
                <a:endParaRPr lang="ru-RU" sz="2400" dirty="0"/>
              </a:p>
              <a:p>
                <a:pPr algn="just"/>
                <a14:m>
                  <m:oMathPara xmlns:m="http://schemas.openxmlformats.org/officeDocument/2006/math">
                    <m:oMathParaPr>
                      <m:jc m:val="right"/>
                    </m:oMathParaPr>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r>
                        <a:rPr lang="sr-Cyrl-CS" sz="2400" i="1">
                          <a:latin typeface="Cambria Math" charset="0"/>
                        </a:rPr>
                        <m:t>=</m:t>
                      </m:r>
                      <m:f>
                        <m:fPr>
                          <m:ctrlPr>
                            <a:rPr lang="ru-RU" sz="2400" i="1">
                              <a:latin typeface="Cambria Math" charset="0"/>
                            </a:rPr>
                          </m:ctrlPr>
                        </m:fPr>
                        <m:num>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r>
                                    <a:rPr lang="sr-Cyrl-CS" sz="2400" i="1">
                                      <a:latin typeface="Cambria Math" charset="0"/>
                                    </a:rPr>
                                    <m:t>−1</m:t>
                                  </m:r>
                                </m:e>
                              </m:d>
                            </m:sup>
                          </m:sSup>
                        </m:num>
                        <m:den>
                          <m:r>
                            <a:rPr lang="sr-Cyrl-CS" sz="2400" i="1">
                              <a:latin typeface="Cambria Math" charset="0"/>
                            </a:rPr>
                            <m:t>1+</m:t>
                          </m:r>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r>
                                    <a:rPr lang="sr-Cyrl-CS" sz="2400" i="1">
                                      <a:latin typeface="Cambria Math" charset="0"/>
                                    </a:rPr>
                                    <m:t>−1</m:t>
                                  </m:r>
                                </m:e>
                              </m:d>
                            </m:sup>
                          </m:sSup>
                          <m:r>
                            <a:rPr lang="sr-Cyrl-CS" sz="2400" i="1">
                              <a:latin typeface="Cambria Math" charset="0"/>
                            </a:rPr>
                            <m:t>∗</m:t>
                          </m:r>
                          <m:sSup>
                            <m:sSupPr>
                              <m:ctrlPr>
                                <a:rPr lang="ru-RU" sz="2400" i="1">
                                  <a:latin typeface="Cambria Math" charset="0"/>
                                </a:rPr>
                              </m:ctrlPr>
                            </m:sSupPr>
                            <m:e>
                              <m:r>
                                <a:rPr lang="sr-Cyrl-CS" sz="2400" i="1">
                                  <a:latin typeface="Cambria Math" charset="0"/>
                                </a:rPr>
                                <m:t>𝑆</m:t>
                              </m:r>
                            </m:e>
                            <m:sup>
                              <m:r>
                                <a:rPr lang="sr-Cyrl-CS" sz="2400" i="1">
                                  <a:latin typeface="Cambria Math" charset="0"/>
                                </a:rPr>
                                <m:t>(</m:t>
                              </m:r>
                              <m:r>
                                <a:rPr lang="sr-Cyrl-CS" sz="2400" i="1">
                                  <a:latin typeface="Cambria Math" charset="0"/>
                                </a:rPr>
                                <m:t>𝑘</m:t>
                              </m:r>
                              <m:r>
                                <a:rPr lang="sr-Cyrl-CS" sz="2400" i="1">
                                  <a:latin typeface="Cambria Math" charset="0"/>
                                </a:rPr>
                                <m:t>)</m:t>
                              </m:r>
                            </m:sup>
                          </m:sSup>
                        </m:den>
                      </m:f>
                      <m:r>
                        <a:rPr lang="sr-Cyrl-CS" sz="2400" i="1">
                          <a:latin typeface="Cambria Math" charset="0"/>
                        </a:rPr>
                        <m:t>,</m:t>
                      </m:r>
                      <m:r>
                        <a:rPr lang="ru-RU" sz="2400" b="0" i="1" smtClean="0">
                          <a:latin typeface="Cambria Math" charset="0"/>
                        </a:rPr>
                        <m:t>   </m:t>
                      </m:r>
                      <m:d>
                        <m:dPr>
                          <m:ctrlPr>
                            <a:rPr lang="ru-RU" sz="2400" b="0" i="1" smtClean="0">
                              <a:latin typeface="Cambria Math" charset="0"/>
                            </a:rPr>
                          </m:ctrlPr>
                        </m:dPr>
                        <m:e>
                          <m:r>
                            <a:rPr lang="ru-RU" sz="2400" b="0" i="1" smtClean="0">
                              <a:latin typeface="Cambria Math" charset="0"/>
                            </a:rPr>
                            <m:t>4.16</m:t>
                          </m:r>
                        </m:e>
                      </m:d>
                    </m:oMath>
                  </m:oMathPara>
                </a14:m>
                <a:endParaRPr lang="ru-RU" sz="2400" dirty="0"/>
              </a:p>
              <a:p>
                <a:pPr algn="just"/>
                <a:r>
                  <a:rPr lang="sr-Cyrl-CS" sz="2400" dirty="0"/>
                  <a:t>где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e>
                        </m:d>
                      </m:sup>
                    </m:sSup>
                  </m:oMath>
                </a14:m>
                <a:r>
                  <a:rPr lang="sr-Cyrl-CS" sz="2400" dirty="0"/>
                  <a:t> — </a:t>
                </a:r>
                <a:r>
                  <a:rPr lang="sr-Cyrl-CS" sz="2400" dirty="0" err="1"/>
                  <a:t>следующее</a:t>
                </a:r>
                <a:r>
                  <a:rPr lang="sr-Cyrl-CS" sz="2400" dirty="0"/>
                  <a:t> </a:t>
                </a:r>
                <a:r>
                  <a:rPr lang="sr-Cyrl-CS" sz="2400" dirty="0" err="1"/>
                  <a:t>значение</a:t>
                </a:r>
                <a:r>
                  <a:rPr lang="sr-Cyrl-CS" sz="2400" dirty="0"/>
                  <a:t> параметра </a:t>
                </a:r>
                <a:r>
                  <a:rPr lang="sr-Cyrl-CS" sz="2400" dirty="0" err="1"/>
                  <a:t>обучения</a:t>
                </a:r>
                <a:r>
                  <a:rPr lang="sr-Cyrl-CS" sz="2400" dirty="0"/>
                  <a:t>; </a:t>
                </a:r>
                <a14:m>
                  <m:oMath xmlns:m="http://schemas.openxmlformats.org/officeDocument/2006/math">
                    <m:sSup>
                      <m:sSupPr>
                        <m:ctrlPr>
                          <a:rPr lang="ru-RU" sz="2400" i="1">
                            <a:latin typeface="Cambria Math" charset="0"/>
                          </a:rPr>
                        </m:ctrlPr>
                      </m:sSupPr>
                      <m:e>
                        <m:sSub>
                          <m:sSubPr>
                            <m:ctrlPr>
                              <a:rPr lang="ru-RU" sz="2400" i="1">
                                <a:latin typeface="Cambria Math" charset="0"/>
                              </a:rPr>
                            </m:ctrlPr>
                          </m:sSubPr>
                          <m:e>
                            <m:r>
                              <a:rPr lang="fr-FR" sz="2400" i="1">
                                <a:latin typeface="Cambria Math" charset="0"/>
                              </a:rPr>
                              <m:t>∝</m:t>
                            </m:r>
                          </m:e>
                          <m:sub>
                            <m:r>
                              <a:rPr lang="sr-Cyrl-CS" sz="2400" i="1">
                                <a:latin typeface="Cambria Math" charset="0"/>
                              </a:rPr>
                              <m:t>𝑐</m:t>
                            </m:r>
                          </m:sub>
                        </m:sSub>
                      </m:e>
                      <m:sup>
                        <m:d>
                          <m:dPr>
                            <m:ctrlPr>
                              <a:rPr lang="ru-RU" sz="2400" i="1">
                                <a:latin typeface="Cambria Math" charset="0"/>
                              </a:rPr>
                            </m:ctrlPr>
                          </m:dPr>
                          <m:e>
                            <m:r>
                              <a:rPr lang="sr-Cyrl-CS" sz="2400" i="1">
                                <a:latin typeface="Cambria Math" charset="0"/>
                              </a:rPr>
                              <m:t>𝑘</m:t>
                            </m:r>
                            <m:r>
                              <a:rPr lang="sr-Cyrl-CS" sz="2400" i="1">
                                <a:latin typeface="Cambria Math" charset="0"/>
                              </a:rPr>
                              <m:t>−1</m:t>
                            </m:r>
                          </m:e>
                        </m:d>
                      </m:sup>
                    </m:sSup>
                  </m:oMath>
                </a14:m>
                <a:r>
                  <a:rPr lang="sr-Cyrl-CS" sz="2400" dirty="0"/>
                  <a:t> — </a:t>
                </a:r>
                <a:r>
                  <a:rPr lang="sr-Cyrl-CS" sz="2400" dirty="0" err="1"/>
                  <a:t>предыдущее</a:t>
                </a:r>
                <a:r>
                  <a:rPr lang="sr-Cyrl-CS" sz="2400" dirty="0"/>
                  <a:t> </a:t>
                </a:r>
                <a:r>
                  <a:rPr lang="sr-Cyrl-CS" sz="2400" dirty="0" err="1"/>
                  <a:t>значение</a:t>
                </a:r>
                <a:r>
                  <a:rPr lang="sr-Cyrl-CS" sz="2400" dirty="0"/>
                  <a:t> параметра; а </a:t>
                </a:r>
                <a14:m>
                  <m:oMath xmlns:m="http://schemas.openxmlformats.org/officeDocument/2006/math">
                    <m:sSup>
                      <m:sSupPr>
                        <m:ctrlPr>
                          <a:rPr lang="ru-RU" sz="2400" i="1">
                            <a:latin typeface="Cambria Math" charset="0"/>
                          </a:rPr>
                        </m:ctrlPr>
                      </m:sSupPr>
                      <m:e>
                        <m:r>
                          <a:rPr lang="sr-Cyrl-CS" sz="2400" i="1">
                            <a:latin typeface="Cambria Math" charset="0"/>
                          </a:rPr>
                          <m:t>𝑆</m:t>
                        </m:r>
                      </m:e>
                      <m:sup>
                        <m:r>
                          <a:rPr lang="sr-Cyrl-CS" sz="2400" i="1">
                            <a:latin typeface="Cambria Math" charset="0"/>
                          </a:rPr>
                          <m:t>(</m:t>
                        </m:r>
                        <m:r>
                          <a:rPr lang="sr-Cyrl-CS" sz="2400" i="1">
                            <a:latin typeface="Cambria Math" charset="0"/>
                          </a:rPr>
                          <m:t>𝑘</m:t>
                        </m:r>
                        <m:r>
                          <a:rPr lang="sr-Cyrl-CS" sz="2400" i="1">
                            <a:latin typeface="Cambria Math" charset="0"/>
                          </a:rPr>
                          <m:t>)</m:t>
                        </m:r>
                      </m:sup>
                    </m:sSup>
                  </m:oMath>
                </a14:m>
                <a:r>
                  <a:rPr lang="sr-Cyrl-CS" sz="2400" dirty="0"/>
                  <a:t> </a:t>
                </a:r>
                <a:r>
                  <a:rPr lang="sr-Cyrl-CS" sz="2400" dirty="0" err="1"/>
                  <a:t>вычисляется</a:t>
                </a:r>
                <a:r>
                  <a:rPr lang="sr-Cyrl-CS" sz="2400" dirty="0"/>
                  <a:t> по формуле:</a:t>
                </a:r>
                <a:endParaRPr lang="ru-RU" sz="2400" dirty="0"/>
              </a:p>
              <a:p>
                <a:pPr algn="just"/>
                <a14:m>
                  <m:oMath xmlns:m="http://schemas.openxmlformats.org/officeDocument/2006/math">
                    <m:sSup>
                      <m:sSupPr>
                        <m:ctrlPr>
                          <a:rPr lang="ru-RU" sz="2400" i="1">
                            <a:latin typeface="Cambria Math" charset="0"/>
                          </a:rPr>
                        </m:ctrlPr>
                      </m:sSupPr>
                      <m:e>
                        <m:r>
                          <a:rPr lang="sr-Cyrl-CS" sz="2400" i="1">
                            <a:latin typeface="Cambria Math" charset="0"/>
                          </a:rPr>
                          <m:t>𝑆</m:t>
                        </m:r>
                      </m:e>
                      <m:sup>
                        <m:r>
                          <a:rPr lang="sr-Cyrl-CS" sz="2400" i="1">
                            <a:latin typeface="Cambria Math" charset="0"/>
                          </a:rPr>
                          <m:t>(</m:t>
                        </m:r>
                        <m:r>
                          <a:rPr lang="sr-Cyrl-CS" sz="2400" i="1">
                            <a:latin typeface="Cambria Math" charset="0"/>
                          </a:rPr>
                          <m:t>𝑘</m:t>
                        </m:r>
                        <m:r>
                          <a:rPr lang="sr-Cyrl-CS" sz="2400" i="1">
                            <a:latin typeface="Cambria Math" charset="0"/>
                          </a:rPr>
                          <m:t>)</m:t>
                        </m:r>
                      </m:sup>
                    </m:sSup>
                    <m:r>
                      <a:rPr lang="sr-Cyrl-CS" sz="2400" i="1">
                        <a:latin typeface="Cambria Math" charset="0"/>
                      </a:rPr>
                      <m:t>=</m:t>
                    </m:r>
                    <m:d>
                      <m:dPr>
                        <m:begChr m:val="{"/>
                        <m:endChr m:val=""/>
                        <m:ctrlPr>
                          <a:rPr lang="ru-RU" sz="2400" i="1">
                            <a:latin typeface="Cambria Math" charset="0"/>
                          </a:rPr>
                        </m:ctrlPr>
                      </m:dPr>
                      <m:e>
                        <m:eqArr>
                          <m:eqArrPr>
                            <m:ctrlPr>
                              <a:rPr lang="ru-RU" sz="2400" i="1">
                                <a:latin typeface="Cambria Math" charset="0"/>
                              </a:rPr>
                            </m:ctrlPr>
                          </m:eqArrPr>
                          <m:e>
                            <m:r>
                              <a:rPr lang="sr-Cyrl-CS" sz="2400" i="1">
                                <a:latin typeface="Cambria Math" charset="0"/>
                              </a:rPr>
                              <m:t>+1,</m:t>
                            </m:r>
                            <m:r>
                              <a:rPr lang="sr-Cyrl-CS" sz="2400">
                                <a:latin typeface="Cambria Math" charset="0"/>
                              </a:rPr>
                              <m:t>если </m:t>
                            </m:r>
                            <m:r>
                              <a:rPr lang="en-US" sz="2400" i="1">
                                <a:latin typeface="Cambria Math" charset="0"/>
                              </a:rPr>
                              <m:t>𝑤</m:t>
                            </m:r>
                            <m:r>
                              <a:rPr lang="sr-Cyrl-CS" sz="2400">
                                <a:latin typeface="Cambria Math" charset="0"/>
                              </a:rPr>
                              <m:t> и </m:t>
                            </m:r>
                            <m:r>
                              <a:rPr lang="en-US" sz="2400" i="1">
                                <a:latin typeface="Cambria Math" charset="0"/>
                              </a:rPr>
                              <m:t>𝑥</m:t>
                            </m:r>
                            <m:r>
                              <a:rPr lang="sr-Cyrl-CS" sz="2400">
                                <a:latin typeface="Cambria Math" charset="0"/>
                              </a:rPr>
                              <m:t> принадлежат одному классу </m:t>
                            </m:r>
                          </m:e>
                          <m:e>
                            <m:r>
                              <a:rPr lang="sr-Cyrl-CS" sz="2400" i="1">
                                <a:latin typeface="Cambria Math" charset="0"/>
                              </a:rPr>
                              <m:t>−1,</m:t>
                            </m:r>
                            <m:r>
                              <a:rPr lang="sr-Cyrl-CS" sz="2400">
                                <a:latin typeface="Cambria Math" charset="0"/>
                              </a:rPr>
                              <m:t>в противном случае</m:t>
                            </m:r>
                          </m:e>
                        </m:eqArr>
                      </m:e>
                    </m:d>
                  </m:oMath>
                </a14:m>
                <a:r>
                  <a:rPr lang="sr-Cyrl-CS" sz="2400" dirty="0"/>
                  <a:t>,</a:t>
                </a:r>
                <a:endParaRPr lang="ru-RU" sz="2400" dirty="0"/>
              </a:p>
              <a:p>
                <a:pPr lvl="0" algn="just"/>
                <a:r>
                  <a:rPr lang="sr-Cyrl-CS" sz="2400" dirty="0" smtClean="0"/>
                  <a:t>     3. </a:t>
                </a:r>
                <a:r>
                  <a:rPr lang="sr-Cyrl-CS" sz="2400" dirty="0" err="1" smtClean="0"/>
                  <a:t>Используется</a:t>
                </a:r>
                <a:r>
                  <a:rPr lang="sr-Cyrl-CS" sz="2400" dirty="0" smtClean="0"/>
                  <a:t> </a:t>
                </a:r>
                <a:r>
                  <a:rPr lang="sr-Cyrl-CS" sz="2400" dirty="0" err="1"/>
                  <a:t>вариант</a:t>
                </a:r>
                <a:r>
                  <a:rPr lang="sr-Cyrl-CS" sz="2400" dirty="0"/>
                  <a:t> (</a:t>
                </a:r>
                <a:r>
                  <a:rPr lang="ru-RU" sz="2400" dirty="0"/>
                  <a:t>4.14</a:t>
                </a:r>
                <a:r>
                  <a:rPr lang="sr-Cyrl-CS" sz="2400" dirty="0"/>
                  <a:t>), </a:t>
                </a:r>
                <a:r>
                  <a:rPr lang="sr-Cyrl-CS" sz="2400" dirty="0" err="1"/>
                  <a:t>если</a:t>
                </a:r>
                <a:r>
                  <a:rPr lang="sr-Cyrl-CS" sz="2400" dirty="0"/>
                  <a:t> </a:t>
                </a:r>
                <a:r>
                  <a:rPr lang="sr-Cyrl-CS" sz="2400" dirty="0" err="1"/>
                  <a:t>векторы</a:t>
                </a:r>
                <a:r>
                  <a:rPr lang="sr-Cyrl-CS" sz="2400" dirty="0"/>
                  <a:t> </a:t>
                </a:r>
                <a14:m>
                  <m:oMath xmlns:m="http://schemas.openxmlformats.org/officeDocument/2006/math">
                    <m:r>
                      <a:rPr lang="sr-Cyrl-CS" sz="2400" i="1">
                        <a:latin typeface="Cambria Math" charset="0"/>
                      </a:rPr>
                      <m:t>𝑥</m:t>
                    </m:r>
                  </m:oMath>
                </a14:m>
                <a:r>
                  <a:rPr lang="sr-Cyrl-CS" sz="2400" dirty="0"/>
                  <a:t> и </a:t>
                </a:r>
                <a14:m>
                  <m:oMath xmlns:m="http://schemas.openxmlformats.org/officeDocument/2006/math">
                    <m:sSub>
                      <m:sSubPr>
                        <m:ctrlPr>
                          <a:rPr lang="ru-RU" sz="2400" i="1">
                            <a:latin typeface="Cambria Math" charset="0"/>
                          </a:rPr>
                        </m:ctrlPr>
                      </m:sSubPr>
                      <m:e>
                        <m:r>
                          <a:rPr lang="sr-Cyrl-CS" sz="2400" i="1">
                            <a:latin typeface="Cambria Math" charset="0"/>
                          </a:rPr>
                          <m:t>𝑤</m:t>
                        </m:r>
                      </m:e>
                      <m:sub>
                        <m:r>
                          <a:rPr lang="sr-Cyrl-CS" sz="2400" i="1">
                            <a:latin typeface="Cambria Math" charset="0"/>
                          </a:rPr>
                          <m:t>𝑐</m:t>
                        </m:r>
                      </m:sub>
                    </m:sSub>
                  </m:oMath>
                </a14:m>
                <a:r>
                  <a:rPr lang="sr-Cyrl-CS" sz="2400" dirty="0"/>
                  <a:t> </a:t>
                </a:r>
                <a:r>
                  <a:rPr lang="sr-Cyrl-CS" sz="2400" dirty="0" err="1"/>
                  <a:t>принадлежат</a:t>
                </a:r>
                <a:r>
                  <a:rPr lang="sr-Cyrl-CS" sz="2400" dirty="0"/>
                  <a:t> </a:t>
                </a:r>
                <a:r>
                  <a:rPr lang="sr-Cyrl-CS" sz="2400" dirty="0" err="1"/>
                  <a:t>одному</a:t>
                </a:r>
                <a:r>
                  <a:rPr lang="sr-Cyrl-CS" sz="2400" dirty="0"/>
                  <a:t> </a:t>
                </a:r>
                <a:r>
                  <a:rPr lang="sr-Cyrl-CS" sz="2400" dirty="0" err="1"/>
                  <a:t>классу</a:t>
                </a:r>
                <a:r>
                  <a:rPr lang="sr-Cyrl-CS" sz="2400" dirty="0"/>
                  <a:t>, </a:t>
                </a:r>
                <a:r>
                  <a:rPr lang="sr-Cyrl-CS" sz="2400" dirty="0" err="1"/>
                  <a:t>в</a:t>
                </a:r>
                <a:r>
                  <a:rPr lang="sr-Cyrl-CS" sz="2400" dirty="0"/>
                  <a:t> противном </a:t>
                </a:r>
                <a:r>
                  <a:rPr lang="sr-Cyrl-CS" sz="2400" dirty="0" err="1"/>
                  <a:t>случае</a:t>
                </a:r>
                <a:r>
                  <a:rPr lang="sr-Cyrl-CS" sz="2400" dirty="0"/>
                  <a:t> </a:t>
                </a:r>
                <a:r>
                  <a:rPr lang="sr-Cyrl-CS" sz="2400" dirty="0" err="1"/>
                  <a:t>используется</a:t>
                </a:r>
                <a:r>
                  <a:rPr lang="sr-Cyrl-CS" sz="2400" dirty="0"/>
                  <a:t> </a:t>
                </a:r>
                <a:r>
                  <a:rPr lang="sr-Cyrl-CS" sz="2400" dirty="0" err="1"/>
                  <a:t>вариант</a:t>
                </a:r>
                <a:r>
                  <a:rPr lang="sr-Cyrl-CS" sz="2400" dirty="0"/>
                  <a:t> (</a:t>
                </a:r>
                <a:r>
                  <a:rPr lang="ru-RU" sz="2400" dirty="0"/>
                  <a:t>4.15</a:t>
                </a:r>
                <a:r>
                  <a:rPr lang="sr-Cyrl-CS" sz="2400" dirty="0"/>
                  <a:t>).</a:t>
                </a:r>
                <a:endParaRPr lang="ru-RU" sz="2400" dirty="0"/>
              </a:p>
            </p:txBody>
          </p:sp>
        </mc:Choice>
        <mc:Fallback>
          <p:sp>
            <p:nvSpPr>
              <p:cNvPr id="2" name="Прямоугольник 1"/>
              <p:cNvSpPr>
                <a:spLocks noRot="1" noChangeAspect="1" noMove="1" noResize="1" noEditPoints="1" noAdjustHandles="1" noChangeArrowheads="1" noChangeShapeType="1" noTextEdit="1"/>
              </p:cNvSpPr>
              <p:nvPr/>
            </p:nvSpPr>
            <p:spPr>
              <a:xfrm>
                <a:off x="4646453" y="663068"/>
                <a:ext cx="7545547" cy="5237909"/>
              </a:xfrm>
              <a:prstGeom prst="rect">
                <a:avLst/>
              </a:prstGeom>
              <a:blipFill rotWithShape="0">
                <a:blip r:embed="rId2"/>
                <a:stretch>
                  <a:fillRect l="-1212" t="-931" r="-1292" b="-233"/>
                </a:stretch>
              </a:blipFill>
            </p:spPr>
            <p:txBody>
              <a:bodyPr/>
              <a:lstStyle/>
              <a:p>
                <a:r>
                  <a:rPr lang="ru-RU">
                    <a:noFill/>
                  </a:rPr>
                  <a:t> </a:t>
                </a:r>
              </a:p>
            </p:txBody>
          </p:sp>
        </mc:Fallback>
      </mc:AlternateContent>
      <p:sp>
        <p:nvSpPr>
          <p:cNvPr id="3" name="Rectangle 2"/>
          <p:cNvSpPr>
            <a:spLocks noChangeArrowheads="1"/>
          </p:cNvSpPr>
          <p:nvPr/>
        </p:nvSpPr>
        <p:spPr bwMode="auto">
          <a:xfrm>
            <a:off x="1" y="3048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pic>
        <p:nvPicPr>
          <p:cNvPr id="1025" name="Рисунок 8" descr="../Снимок%20экрана%202026-01-09%20в%2014.19.4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211179"/>
            <a:ext cx="4646453" cy="3489158"/>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ChangeArrowheads="1"/>
          </p:cNvSpPr>
          <p:nvPr/>
        </p:nvSpPr>
        <p:spPr bwMode="auto">
          <a:xfrm>
            <a:off x="593746" y="4780184"/>
            <a:ext cx="29988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ru-RU" altLang="ru-RU" sz="1800" b="0" i="1" u="none" strike="noStrike" cap="none" normalizeH="0" baseline="0" dirty="0">
                <a:ln>
                  <a:noFill/>
                </a:ln>
                <a:solidFill>
                  <a:schemeClr val="tx1"/>
                </a:solidFill>
                <a:effectLst/>
                <a:latin typeface="Arial" charset="0"/>
              </a:rPr>
              <a:t>Рис</a:t>
            </a:r>
            <a:r>
              <a:rPr kumimoji="0" lang="ru-RU" altLang="ru-RU" sz="1800" b="0" i="1" u="none" strike="noStrike" cap="none" normalizeH="0" baseline="0" dirty="0" smtClean="0">
                <a:ln>
                  <a:noFill/>
                </a:ln>
                <a:solidFill>
                  <a:schemeClr val="tx1"/>
                </a:solidFill>
                <a:effectLst/>
                <a:latin typeface="Arial" charset="0"/>
              </a:rPr>
              <a:t>. Н</a:t>
            </a:r>
            <a:r>
              <a:rPr kumimoji="0" lang="ru-RU" altLang="ru-RU" sz="1800" b="0" i="0" u="none" strike="noStrike" cap="none" normalizeH="0" baseline="0" dirty="0" smtClean="0">
                <a:ln>
                  <a:noFill/>
                </a:ln>
                <a:solidFill>
                  <a:schemeClr val="tx1"/>
                </a:solidFill>
                <a:effectLst/>
                <a:latin typeface="Arial" charset="0"/>
              </a:rPr>
              <a:t>ейронная сеть LVQ</a:t>
            </a:r>
            <a:endParaRPr kumimoji="0" lang="ru-RU" altLang="ru-RU" sz="1800" b="0" i="0" u="none" strike="noStrike" cap="none" normalizeH="0" baseline="0" dirty="0">
              <a:ln>
                <a:noFill/>
              </a:ln>
              <a:solidFill>
                <a:schemeClr val="tx1"/>
              </a:solidFill>
              <a:effectLst/>
              <a:latin typeface="Arial" charset="0"/>
            </a:endParaRPr>
          </a:p>
        </p:txBody>
      </p:sp>
    </p:spTree>
    <p:extLst>
      <p:ext uri="{BB962C8B-B14F-4D97-AF65-F5344CB8AC3E}">
        <p14:creationId xmlns:p14="http://schemas.microsoft.com/office/powerpoint/2010/main" val="189754499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4" descr="C:\Users\Пользователь\Desktop\Рисунки\готовые рисунки для диплома\презент.png"/>
          <p:cNvPicPr>
            <a:picLocks noChangeAspect="1"/>
          </p:cNvPicPr>
          <p:nvPr/>
        </p:nvPicPr>
        <p:blipFill>
          <a:blip r:embed="rId3">
            <a:extLst>
              <a:ext uri="{28A0092B-C50C-407E-A947-70E740481C1C}">
                <a14:useLocalDpi xmlns:a14="http://schemas.microsoft.com/office/drawing/2010/main" val="0"/>
              </a:ext>
            </a:extLst>
          </a:blip>
          <a:srcRect l="7420" t="57030"/>
          <a:stretch>
            <a:fillRect/>
          </a:stretch>
        </p:blipFill>
        <p:spPr bwMode="auto">
          <a:xfrm>
            <a:off x="1774825" y="5876926"/>
            <a:ext cx="4681538"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Picture 4" descr="C:\Users\Пользователь\Desktop\Рисунки\готовые рисунки для диплома\презент.png"/>
          <p:cNvPicPr>
            <a:picLocks noChangeAspect="1"/>
          </p:cNvPicPr>
          <p:nvPr/>
        </p:nvPicPr>
        <p:blipFill>
          <a:blip r:embed="rId4">
            <a:extLst>
              <a:ext uri="{28A0092B-C50C-407E-A947-70E740481C1C}">
                <a14:useLocalDpi xmlns:a14="http://schemas.microsoft.com/office/drawing/2010/main" val="0"/>
              </a:ext>
            </a:extLst>
          </a:blip>
          <a:srcRect l="3439" b="45380"/>
          <a:stretch>
            <a:fillRect/>
          </a:stretch>
        </p:blipFill>
        <p:spPr bwMode="auto">
          <a:xfrm>
            <a:off x="1524001" y="4221164"/>
            <a:ext cx="486092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Прямоугольник 19"/>
          <p:cNvSpPr>
            <a:spLocks noChangeArrowheads="1"/>
          </p:cNvSpPr>
          <p:nvPr/>
        </p:nvSpPr>
        <p:spPr bwMode="auto">
          <a:xfrm>
            <a:off x="2135189" y="5589589"/>
            <a:ext cx="4537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algn="ctr" eaLnBrk="1" hangingPunct="1">
              <a:spcBef>
                <a:spcPct val="0"/>
              </a:spcBef>
              <a:buFontTx/>
              <a:buNone/>
            </a:pPr>
            <a:r>
              <a:rPr lang="ru-RU" altLang="ru-RU" sz="1800" dirty="0"/>
              <a:t>Результаты работы метода</a:t>
            </a:r>
          </a:p>
        </p:txBody>
      </p:sp>
      <p:sp>
        <p:nvSpPr>
          <p:cNvPr id="14341" name="Прямоугольник 5"/>
          <p:cNvSpPr>
            <a:spLocks noChangeArrowheads="1"/>
          </p:cNvSpPr>
          <p:nvPr/>
        </p:nvSpPr>
        <p:spPr bwMode="auto">
          <a:xfrm>
            <a:off x="1532334" y="2781300"/>
            <a:ext cx="5381421"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a:lnSpc>
                <a:spcPct val="150000"/>
              </a:lnSpc>
              <a:spcBef>
                <a:spcPct val="0"/>
              </a:spcBef>
              <a:spcAft>
                <a:spcPts val="3000"/>
              </a:spcAft>
            </a:pPr>
            <a:r>
              <a:rPr lang="ru-RU" altLang="ru-RU" sz="2400" dirty="0"/>
              <a:t> Первый слой сети – слой </a:t>
            </a:r>
            <a:r>
              <a:rPr lang="ru-RU" altLang="ru-RU" sz="2400" dirty="0" err="1"/>
              <a:t>Кохонена</a:t>
            </a:r>
            <a:r>
              <a:rPr lang="ru-RU" altLang="ru-RU" sz="2400" dirty="0"/>
              <a:t>:</a:t>
            </a:r>
          </a:p>
          <a:p>
            <a:pPr>
              <a:lnSpc>
                <a:spcPct val="150000"/>
              </a:lnSpc>
              <a:spcBef>
                <a:spcPct val="0"/>
              </a:spcBef>
              <a:spcAft>
                <a:spcPts val="3000"/>
              </a:spcAft>
            </a:pPr>
            <a:r>
              <a:rPr lang="ru-RU" altLang="ru-RU" sz="2400" dirty="0"/>
              <a:t> Второй </a:t>
            </a:r>
            <a:r>
              <a:rPr lang="sr-Cyrl-CS" altLang="ru-RU" sz="2400" dirty="0" err="1"/>
              <a:t>слой</a:t>
            </a:r>
            <a:r>
              <a:rPr lang="sr-Cyrl-CS" altLang="ru-RU" sz="2400" dirty="0"/>
              <a:t> </a:t>
            </a:r>
            <a:r>
              <a:rPr lang="ru-RU" altLang="ru-RU" sz="2400" dirty="0"/>
              <a:t>сети  л</a:t>
            </a:r>
            <a:r>
              <a:rPr lang="sr-Cyrl-CS" altLang="ru-RU" sz="2400" dirty="0" err="1"/>
              <a:t>инейный</a:t>
            </a:r>
            <a:r>
              <a:rPr lang="sr-Cyrl-CS" altLang="ru-RU" sz="2400" dirty="0"/>
              <a:t>:</a:t>
            </a:r>
            <a:endParaRPr lang="ru-RU" altLang="ru-RU" sz="2400" dirty="0">
              <a:solidFill>
                <a:srgbClr val="FF0000"/>
              </a:solidFill>
            </a:endParaRPr>
          </a:p>
        </p:txBody>
      </p:sp>
      <p:sp>
        <p:nvSpPr>
          <p:cNvPr id="14343" name="Прямоугольник 18"/>
          <p:cNvSpPr>
            <a:spLocks noChangeArrowheads="1"/>
          </p:cNvSpPr>
          <p:nvPr/>
        </p:nvSpPr>
        <p:spPr bwMode="auto">
          <a:xfrm>
            <a:off x="1847851" y="787532"/>
            <a:ext cx="10344149" cy="204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r>
              <a:rPr lang="ru-RU" altLang="ru-RU" sz="2400" b="1" dirty="0">
                <a:solidFill>
                  <a:schemeClr val="accent2">
                    <a:lumMod val="75000"/>
                  </a:schemeClr>
                </a:solidFill>
              </a:rPr>
              <a:t>1.Классы нейронной сети: </a:t>
            </a:r>
          </a:p>
          <a:p>
            <a:pPr eaLnBrk="1" hangingPunct="1">
              <a:spcBef>
                <a:spcPct val="0"/>
              </a:spcBef>
              <a:buFontTx/>
              <a:buNone/>
            </a:pPr>
            <a:r>
              <a:rPr lang="ru-RU" altLang="ru-RU" sz="2400" b="1" i="1" dirty="0"/>
              <a:t>«Спокойный» </a:t>
            </a:r>
            <a:r>
              <a:rPr lang="ru-RU" altLang="ru-RU" sz="2400" dirty="0"/>
              <a:t>класс – отсутствие </a:t>
            </a:r>
            <a:r>
              <a:rPr lang="ru-RU" altLang="ru-RU" sz="2400" dirty="0" smtClean="0"/>
              <a:t>аномальных эффектов</a:t>
            </a:r>
            <a:r>
              <a:rPr lang="ru-RU" altLang="ru-RU" sz="2400" dirty="0"/>
              <a:t>;</a:t>
            </a:r>
          </a:p>
          <a:p>
            <a:pPr eaLnBrk="1" hangingPunct="1">
              <a:spcBef>
                <a:spcPct val="0"/>
              </a:spcBef>
              <a:buFontTx/>
              <a:buNone/>
            </a:pPr>
            <a:r>
              <a:rPr lang="ru-RU" altLang="ru-RU" sz="2400" b="1" i="1" dirty="0"/>
              <a:t>«</a:t>
            </a:r>
            <a:r>
              <a:rPr lang="ru-RU" altLang="ru-RU" sz="2400" b="1" i="1" dirty="0" err="1"/>
              <a:t>Слабовозмущенный</a:t>
            </a:r>
            <a:r>
              <a:rPr lang="ru-RU" altLang="ru-RU" sz="2400" b="1" i="1" dirty="0"/>
              <a:t>» </a:t>
            </a:r>
            <a:r>
              <a:rPr lang="ru-RU" altLang="ru-RU" sz="2400" dirty="0"/>
              <a:t>класс – наличие </a:t>
            </a:r>
            <a:r>
              <a:rPr lang="ru-RU" altLang="ru-RU" sz="2400" dirty="0" smtClean="0"/>
              <a:t>малоамплитудных аномалий;</a:t>
            </a:r>
            <a:endParaRPr lang="ru-RU" altLang="ru-RU" sz="2400" dirty="0"/>
          </a:p>
          <a:p>
            <a:pPr eaLnBrk="1" hangingPunct="1">
              <a:lnSpc>
                <a:spcPct val="120000"/>
              </a:lnSpc>
              <a:spcBef>
                <a:spcPct val="0"/>
              </a:spcBef>
              <a:buFontTx/>
              <a:buNone/>
            </a:pPr>
            <a:r>
              <a:rPr lang="ru-RU" altLang="ru-RU" sz="2400" b="1" i="1" dirty="0"/>
              <a:t>«Возмущенный»</a:t>
            </a:r>
            <a:r>
              <a:rPr lang="ru-RU" altLang="ru-RU" sz="2400" dirty="0"/>
              <a:t> класс – наличие крупных </a:t>
            </a:r>
            <a:r>
              <a:rPr lang="ru-RU" altLang="ru-RU" sz="2400" dirty="0" smtClean="0"/>
              <a:t>аномалий.</a:t>
            </a:r>
            <a:endParaRPr lang="ru-RU" altLang="ru-RU" sz="2400" dirty="0"/>
          </a:p>
          <a:p>
            <a:pPr eaLnBrk="1" hangingPunct="1">
              <a:lnSpc>
                <a:spcPct val="120000"/>
              </a:lnSpc>
              <a:spcBef>
                <a:spcPct val="0"/>
              </a:spcBef>
              <a:buFontTx/>
              <a:buNone/>
            </a:pPr>
            <a:r>
              <a:rPr lang="ru-RU" altLang="ru-RU" sz="2400" b="1" dirty="0">
                <a:solidFill>
                  <a:schemeClr val="accent2">
                    <a:lumMod val="75000"/>
                  </a:schemeClr>
                </a:solidFill>
              </a:rPr>
              <a:t>2</a:t>
            </a:r>
            <a:r>
              <a:rPr lang="sr-Cyrl-CS" altLang="ru-RU" sz="2400" b="1" dirty="0">
                <a:solidFill>
                  <a:schemeClr val="accent2">
                    <a:lumMod val="75000"/>
                  </a:schemeClr>
                </a:solidFill>
              </a:rPr>
              <a:t>.Число кластеров </a:t>
            </a:r>
            <a:r>
              <a:rPr lang="ru-RU" altLang="ru-RU" sz="2400" b="1" dirty="0">
                <a:solidFill>
                  <a:schemeClr val="accent2">
                    <a:lumMod val="75000"/>
                  </a:schemeClr>
                </a:solidFill>
              </a:rPr>
              <a:t>сети</a:t>
            </a:r>
            <a:r>
              <a:rPr lang="sr-Cyrl-CS" altLang="ru-RU" sz="2400" b="1" dirty="0">
                <a:solidFill>
                  <a:schemeClr val="accent2">
                    <a:lumMod val="75000"/>
                  </a:schemeClr>
                </a:solidFill>
              </a:rPr>
              <a:t>: </a:t>
            </a:r>
            <a:r>
              <a:rPr lang="en-US" altLang="ru-RU" sz="2400" dirty="0"/>
              <a:t>k=20</a:t>
            </a:r>
            <a:r>
              <a:rPr lang="sr-Cyrl-CS" altLang="ru-RU" sz="2400" dirty="0"/>
              <a:t>, определ</a:t>
            </a:r>
            <a:r>
              <a:rPr lang="ru-RU" altLang="ru-RU" sz="2400" dirty="0" err="1"/>
              <a:t>ено</a:t>
            </a:r>
            <a:r>
              <a:rPr lang="sr-Cyrl-CS" altLang="ru-RU" sz="2400" dirty="0"/>
              <a:t> эмпирически. </a:t>
            </a:r>
            <a:endParaRPr lang="ru-RU" altLang="ru-RU" sz="2400" dirty="0"/>
          </a:p>
          <a:p>
            <a:pPr eaLnBrk="1" hangingPunct="1">
              <a:spcBef>
                <a:spcPct val="0"/>
              </a:spcBef>
              <a:buFontTx/>
              <a:buNone/>
            </a:pPr>
            <a:endParaRPr lang="ru-RU" altLang="ru-RU" sz="2400" dirty="0"/>
          </a:p>
        </p:txBody>
      </p:sp>
      <p:sp>
        <p:nvSpPr>
          <p:cNvPr id="14344" name="Rectangle 18"/>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sp>
        <p:nvSpPr>
          <p:cNvPr id="14345" name="Rectangle 20"/>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sp>
        <p:nvSpPr>
          <p:cNvPr id="14346" name="Rectangle 22"/>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sp>
        <p:nvSpPr>
          <p:cNvPr id="14347" name="Rectangle 24"/>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pic>
        <p:nvPicPr>
          <p:cNvPr id="14348" name="Рисунок 15" descr="C:\Users\Пользователь\Desktop\месяцы\графики\Безымянный.png"/>
          <p:cNvPicPr>
            <a:picLocks noChangeAspect="1"/>
          </p:cNvPicPr>
          <p:nvPr/>
        </p:nvPicPr>
        <p:blipFill>
          <a:blip r:embed="rId5">
            <a:extLst>
              <a:ext uri="{28A0092B-C50C-407E-A947-70E740481C1C}">
                <a14:useLocalDpi xmlns:a14="http://schemas.microsoft.com/office/drawing/2010/main" val="0"/>
              </a:ext>
            </a:extLst>
          </a:blip>
          <a:srcRect r="4440"/>
          <a:stretch>
            <a:fillRect/>
          </a:stretch>
        </p:blipFill>
        <p:spPr bwMode="auto">
          <a:xfrm>
            <a:off x="7205237" y="3203310"/>
            <a:ext cx="4657994" cy="3657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9" name="Rectangle 17"/>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graphicFrame>
        <p:nvGraphicFramePr>
          <p:cNvPr id="14350" name="Object 16"/>
          <p:cNvGraphicFramePr>
            <a:graphicFrameLocks noChangeAspect="1"/>
          </p:cNvGraphicFramePr>
          <p:nvPr>
            <p:extLst/>
          </p:nvPr>
        </p:nvGraphicFramePr>
        <p:xfrm>
          <a:off x="1847851" y="3203310"/>
          <a:ext cx="3990929" cy="738454"/>
        </p:xfrm>
        <a:graphic>
          <a:graphicData uri="http://schemas.openxmlformats.org/presentationml/2006/ole">
            <mc:AlternateContent xmlns:mc="http://schemas.openxmlformats.org/markup-compatibility/2006">
              <mc:Choice xmlns:v="urn:schemas-microsoft-com:vml" Requires="v">
                <p:oleObj spid="_x0000_s3082" name="Microsoft Equation 3.0" r:id="rId6" imgW="23731200" imgH="4377600" progId="Microsoft Equation 3.0">
                  <p:embed/>
                </p:oleObj>
              </mc:Choice>
              <mc:Fallback>
                <p:oleObj name="Microsoft Equation 3.0" r:id="rId6" imgW="23731200" imgH="4377600" progId="Microsoft Equation 3.0">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47851" y="3203310"/>
                        <a:ext cx="3990929" cy="738454"/>
                      </a:xfrm>
                      <a:prstGeom prst="rect">
                        <a:avLst/>
                      </a:prstGeom>
                      <a:noFill/>
                      <a:ln>
                        <a:noFill/>
                      </a:ln>
                      <a:extLst/>
                    </p:spPr>
                  </p:pic>
                </p:oleObj>
              </mc:Fallback>
            </mc:AlternateContent>
          </a:graphicData>
        </a:graphic>
      </p:graphicFrame>
      <p:sp>
        <p:nvSpPr>
          <p:cNvPr id="14351" name="Rectangle 19"/>
          <p:cNvSpPr>
            <a:spLocks noChangeArrowheads="1"/>
          </p:cNvSpPr>
          <p:nvPr/>
        </p:nvSpPr>
        <p:spPr bwMode="auto">
          <a:xfrm>
            <a:off x="152400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eaLnBrk="1" hangingPunct="1">
              <a:spcBef>
                <a:spcPct val="0"/>
              </a:spcBef>
              <a:buFontTx/>
              <a:buNone/>
            </a:pPr>
            <a:endParaRPr lang="ru-RU" altLang="ru-RU" sz="1800">
              <a:latin typeface="Arial" panose="020B0604020202020204" pitchFamily="34" charset="0"/>
            </a:endParaRPr>
          </a:p>
        </p:txBody>
      </p:sp>
      <p:graphicFrame>
        <p:nvGraphicFramePr>
          <p:cNvPr id="14352" name="Object 18"/>
          <p:cNvGraphicFramePr>
            <a:graphicFrameLocks noChangeAspect="1"/>
          </p:cNvGraphicFramePr>
          <p:nvPr>
            <p:extLst/>
          </p:nvPr>
        </p:nvGraphicFramePr>
        <p:xfrm>
          <a:off x="5679443" y="3856170"/>
          <a:ext cx="1384620" cy="555359"/>
        </p:xfrm>
        <a:graphic>
          <a:graphicData uri="http://schemas.openxmlformats.org/presentationml/2006/ole">
            <mc:AlternateContent xmlns:mc="http://schemas.openxmlformats.org/markup-compatibility/2006">
              <mc:Choice xmlns:v="urn:schemas-microsoft-com:vml" Requires="v">
                <p:oleObj spid="_x0000_s3083" name="Microsoft Equation 3.0" r:id="rId8" imgW="15635542" imgH="6030852" progId="Microsoft Equation 3.0">
                  <p:embed/>
                </p:oleObj>
              </mc:Choice>
              <mc:Fallback>
                <p:oleObj name="Microsoft Equation 3.0" r:id="rId8" imgW="15635542" imgH="6030852" progId="Microsoft Equation 3.0">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79443" y="3856170"/>
                        <a:ext cx="1384620" cy="555359"/>
                      </a:xfrm>
                      <a:prstGeom prst="rect">
                        <a:avLst/>
                      </a:prstGeom>
                      <a:noFill/>
                      <a:ln>
                        <a:noFill/>
                      </a:ln>
                      <a:extLst/>
                    </p:spPr>
                  </p:pic>
                </p:oleObj>
              </mc:Fallback>
            </mc:AlternateContent>
          </a:graphicData>
        </a:graphic>
      </p:graphicFrame>
      <p:sp>
        <p:nvSpPr>
          <p:cNvPr id="14353" name="Прямоугольник 21"/>
          <p:cNvSpPr>
            <a:spLocks noChangeArrowheads="1"/>
          </p:cNvSpPr>
          <p:nvPr/>
        </p:nvSpPr>
        <p:spPr bwMode="auto">
          <a:xfrm>
            <a:off x="1631951" y="4221164"/>
            <a:ext cx="49688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algn="ctr" eaLnBrk="1" hangingPunct="1">
              <a:spcBef>
                <a:spcPct val="0"/>
              </a:spcBef>
              <a:buFontTx/>
              <a:buNone/>
            </a:pPr>
            <a:r>
              <a:rPr lang="ru-RU" altLang="ru-RU" sz="1800" dirty="0"/>
              <a:t>Данные Космических лучей станции </a:t>
            </a:r>
            <a:r>
              <a:rPr lang="ru-RU" altLang="ru-RU" sz="1800" dirty="0" err="1"/>
              <a:t>Инувик</a:t>
            </a:r>
            <a:endParaRPr lang="ru-RU" altLang="ru-RU" sz="1800" dirty="0"/>
          </a:p>
        </p:txBody>
      </p:sp>
      <p:sp>
        <p:nvSpPr>
          <p:cNvPr id="14356" name="Овал 27"/>
          <p:cNvSpPr>
            <a:spLocks noChangeArrowheads="1"/>
          </p:cNvSpPr>
          <p:nvPr/>
        </p:nvSpPr>
        <p:spPr bwMode="auto">
          <a:xfrm>
            <a:off x="4086226" y="5868989"/>
            <a:ext cx="574675" cy="871537"/>
          </a:xfrm>
          <a:prstGeom prst="ellipse">
            <a:avLst/>
          </a:prstGeom>
          <a:noFill/>
          <a:ln w="254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algn="ctr" eaLnBrk="1" hangingPunct="1">
              <a:spcBef>
                <a:spcPct val="0"/>
              </a:spcBef>
              <a:buFontTx/>
              <a:buNone/>
            </a:pPr>
            <a:endParaRPr lang="ru-RU" altLang="ru-RU" sz="1800">
              <a:solidFill>
                <a:srgbClr val="000000"/>
              </a:solidFill>
            </a:endParaRPr>
          </a:p>
        </p:txBody>
      </p:sp>
      <p:sp>
        <p:nvSpPr>
          <p:cNvPr id="14357" name="Овал 27"/>
          <p:cNvSpPr>
            <a:spLocks noChangeArrowheads="1"/>
          </p:cNvSpPr>
          <p:nvPr/>
        </p:nvSpPr>
        <p:spPr bwMode="auto">
          <a:xfrm>
            <a:off x="4086225" y="4579939"/>
            <a:ext cx="503238" cy="871537"/>
          </a:xfrm>
          <a:prstGeom prst="ellipse">
            <a:avLst/>
          </a:prstGeom>
          <a:noFill/>
          <a:ln w="25400" algn="ctr">
            <a:solidFill>
              <a:srgbClr val="C0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spcBef>
                <a:spcPts val="763"/>
              </a:spcBef>
              <a:buFont typeface="Arial" panose="020B0604020202020204" pitchFamily="34" charset="0"/>
              <a:buChar char="•"/>
              <a:defRPr sz="3200">
                <a:solidFill>
                  <a:schemeClr val="tx1"/>
                </a:solidFill>
                <a:latin typeface="Calibri" panose="020F0502020204030204" pitchFamily="34" charset="0"/>
                <a:cs typeface="Calibri" panose="020F0502020204030204" pitchFamily="34" charset="0"/>
              </a:defRPr>
            </a:lvl1pPr>
            <a:lvl2pPr marL="742950" indent="-285750">
              <a:spcBef>
                <a:spcPts val="675"/>
              </a:spcBef>
              <a:buFont typeface="Arial" panose="020B0604020202020204" pitchFamily="34" charset="0"/>
              <a:buChar char="–"/>
              <a:defRPr sz="2800">
                <a:solidFill>
                  <a:schemeClr val="tx1"/>
                </a:solidFill>
                <a:latin typeface="Calibri" panose="020F0502020204030204" pitchFamily="34" charset="0"/>
                <a:cs typeface="Calibri" panose="020F0502020204030204" pitchFamily="34" charset="0"/>
              </a:defRPr>
            </a:lvl2pPr>
            <a:lvl3pPr marL="1143000" indent="-228600">
              <a:spcBef>
                <a:spcPts val="575"/>
              </a:spcBef>
              <a:buFont typeface="Arial" panose="020B0604020202020204" pitchFamily="34" charset="0"/>
              <a:buChar char="•"/>
              <a:defRPr sz="2400">
                <a:solidFill>
                  <a:schemeClr val="tx1"/>
                </a:solidFill>
                <a:latin typeface="Calibri" panose="020F0502020204030204" pitchFamily="34" charset="0"/>
                <a:cs typeface="Calibri" panose="020F0502020204030204" pitchFamily="34" charset="0"/>
              </a:defRPr>
            </a:lvl3pPr>
            <a:lvl4pPr marL="16002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4pPr>
            <a:lvl5pPr marL="2057400" indent="-228600">
              <a:spcBef>
                <a:spcPts val="475"/>
              </a:spcBef>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5pPr>
            <a:lvl6pPr marL="25146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6pPr>
            <a:lvl7pPr marL="29718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7pPr>
            <a:lvl8pPr marL="34290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8pPr>
            <a:lvl9pPr marL="3886200" indent="-228600" eaLnBrk="0" fontAlgn="base" hangingPunct="0">
              <a:spcBef>
                <a:spcPts val="475"/>
              </a:spcBef>
              <a:spcAft>
                <a:spcPct val="0"/>
              </a:spcAft>
              <a:buFont typeface="Arial" panose="020B0604020202020204" pitchFamily="34" charset="0"/>
              <a:buChar char="»"/>
              <a:defRPr sz="2000">
                <a:solidFill>
                  <a:schemeClr val="tx1"/>
                </a:solidFill>
                <a:latin typeface="Calibri" panose="020F0502020204030204" pitchFamily="34" charset="0"/>
                <a:cs typeface="Calibri" panose="020F0502020204030204" pitchFamily="34" charset="0"/>
              </a:defRPr>
            </a:lvl9pPr>
          </a:lstStyle>
          <a:p>
            <a:pPr algn="ctr" eaLnBrk="1" hangingPunct="1">
              <a:spcBef>
                <a:spcPct val="0"/>
              </a:spcBef>
              <a:buFontTx/>
              <a:buNone/>
            </a:pPr>
            <a:endParaRPr lang="ru-RU" altLang="ru-RU" sz="1800">
              <a:solidFill>
                <a:srgbClr val="000000"/>
              </a:solidFill>
            </a:endParaRPr>
          </a:p>
        </p:txBody>
      </p:sp>
      <p:sp>
        <p:nvSpPr>
          <p:cNvPr id="21" name="Заголовок 1"/>
          <p:cNvSpPr>
            <a:spLocks noGrp="1"/>
          </p:cNvSpPr>
          <p:nvPr>
            <p:ph type="title"/>
          </p:nvPr>
        </p:nvSpPr>
        <p:spPr>
          <a:xfrm>
            <a:off x="1" y="114075"/>
            <a:ext cx="12191999" cy="548993"/>
          </a:xfrm>
        </p:spPr>
        <p:txBody>
          <a:bodyPr>
            <a:noAutofit/>
          </a:bodyPr>
          <a:lstStyle/>
          <a:p>
            <a:pPr algn="ctr"/>
            <a:r>
              <a:rPr lang="ru-RU" sz="4000" b="1" dirty="0" err="1"/>
              <a:t>Нейросетевые</a:t>
            </a:r>
            <a:r>
              <a:rPr lang="ru-RU" sz="4000" b="1" dirty="0"/>
              <a:t> </a:t>
            </a:r>
            <a:r>
              <a:rPr lang="ru-RU" sz="4000" b="1" dirty="0" smtClean="0"/>
              <a:t>классификаторы. </a:t>
            </a:r>
            <a:r>
              <a:rPr lang="ru-RU" sz="4000" i="1" dirty="0"/>
              <a:t>Нейронная сеть </a:t>
            </a:r>
            <a:r>
              <a:rPr lang="en-US" sz="4000" i="1" dirty="0"/>
              <a:t>LVQ </a:t>
            </a:r>
            <a:r>
              <a:rPr lang="ru-RU" sz="4000" i="1" dirty="0" smtClean="0"/>
              <a:t> </a:t>
            </a:r>
            <a:endParaRPr lang="ru-RU" sz="4000" i="1" dirty="0"/>
          </a:p>
        </p:txBody>
      </p:sp>
    </p:spTree>
    <p:extLst>
      <p:ext uri="{BB962C8B-B14F-4D97-AF65-F5344CB8AC3E}">
        <p14:creationId xmlns:p14="http://schemas.microsoft.com/office/powerpoint/2010/main" val="196304437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114075"/>
            <a:ext cx="12191999" cy="548993"/>
          </a:xfrm>
        </p:spPr>
        <p:txBody>
          <a:bodyPr>
            <a:noAutofit/>
          </a:bodyPr>
          <a:lstStyle/>
          <a:p>
            <a:pPr algn="ctr"/>
            <a:r>
              <a:rPr lang="ru-RU" sz="3600" b="1" dirty="0" err="1"/>
              <a:t>Нейросетевые</a:t>
            </a:r>
            <a:r>
              <a:rPr lang="ru-RU" sz="3600" b="1" dirty="0"/>
              <a:t> </a:t>
            </a:r>
            <a:r>
              <a:rPr lang="ru-RU" sz="3600" b="1" dirty="0" smtClean="0"/>
              <a:t>классификаторы. </a:t>
            </a:r>
            <a:r>
              <a:rPr lang="ru-RU" sz="3600" i="1" dirty="0" err="1"/>
              <a:t>Сверточная</a:t>
            </a:r>
            <a:r>
              <a:rPr lang="ru-RU" sz="3600" i="1" dirty="0"/>
              <a:t> нейронная сеть </a:t>
            </a:r>
            <a:r>
              <a:rPr lang="en-US" sz="3600" i="1" dirty="0" smtClean="0"/>
              <a:t> </a:t>
            </a:r>
            <a:r>
              <a:rPr lang="ru-RU" sz="3600" i="1" dirty="0" smtClean="0"/>
              <a:t> </a:t>
            </a:r>
            <a:endParaRPr lang="ru-RU" sz="3600" i="1" dirty="0"/>
          </a:p>
        </p:txBody>
      </p:sp>
      <mc:AlternateContent xmlns:mc="http://schemas.openxmlformats.org/markup-compatibility/2006" xmlns:a14="http://schemas.microsoft.com/office/drawing/2010/main">
        <mc:Choice Requires="a14">
          <p:sp>
            <p:nvSpPr>
              <p:cNvPr id="2" name="Прямоугольник 1"/>
              <p:cNvSpPr/>
              <p:nvPr/>
            </p:nvSpPr>
            <p:spPr>
              <a:xfrm>
                <a:off x="1507957" y="663068"/>
                <a:ext cx="10684043" cy="3403111"/>
              </a:xfrm>
              <a:prstGeom prst="rect">
                <a:avLst/>
              </a:prstGeom>
            </p:spPr>
            <p:txBody>
              <a:bodyPr wrap="square">
                <a:spAutoFit/>
              </a:bodyPr>
              <a:lstStyle/>
              <a:p>
                <a:pPr algn="just"/>
                <a:r>
                  <a:rPr lang="ru-RU" sz="2400" dirty="0" smtClean="0"/>
                  <a:t>      Основной </a:t>
                </a:r>
                <a:r>
                  <a:rPr lang="ru-RU" sz="2400" dirty="0"/>
                  <a:t>принцип работы CNN – свертка. </a:t>
                </a:r>
                <a:r>
                  <a:rPr lang="ru-RU" sz="2400" dirty="0" smtClean="0"/>
                  <a:t>В </a:t>
                </a:r>
                <a:r>
                  <a:rPr lang="ru-RU" sz="2400" dirty="0"/>
                  <a:t>результате свертки выделяются локальные признаки изображения, такие как края, углы и другие детали.</a:t>
                </a:r>
              </a:p>
              <a:p>
                <a:pPr algn="just"/>
                <a:r>
                  <a:rPr lang="ru-RU" sz="2400" dirty="0" smtClean="0"/>
                  <a:t>     Свертка </a:t>
                </a:r>
                <a:r>
                  <a:rPr lang="ru-RU" sz="2400" dirty="0"/>
                  <a:t>вычисляется по формуле:</a:t>
                </a:r>
              </a:p>
              <a:p>
                <a:pPr algn="just"/>
                <a14:m>
                  <m:oMathPara xmlns:m="http://schemas.openxmlformats.org/officeDocument/2006/math">
                    <m:oMathParaPr>
                      <m:jc m:val="right"/>
                    </m:oMathParaPr>
                    <m:oMath xmlns:m="http://schemas.openxmlformats.org/officeDocument/2006/math">
                      <m:d>
                        <m:dPr>
                          <m:ctrlPr>
                            <a:rPr lang="ru-RU" sz="2400" i="1">
                              <a:latin typeface="Cambria Math" charset="0"/>
                            </a:rPr>
                          </m:ctrlPr>
                        </m:dPr>
                        <m:e>
                          <m:r>
                            <a:rPr lang="en-US" sz="2400" i="1">
                              <a:latin typeface="Cambria Math" charset="0"/>
                            </a:rPr>
                            <m:t>𝐼</m:t>
                          </m:r>
                          <m:r>
                            <a:rPr lang="ru-RU" sz="2400" i="1">
                              <a:latin typeface="Cambria Math" charset="0"/>
                            </a:rPr>
                            <m:t>∗</m:t>
                          </m:r>
                          <m:r>
                            <a:rPr lang="en-US" sz="2400" i="1">
                              <a:latin typeface="Cambria Math" charset="0"/>
                            </a:rPr>
                            <m:t>𝐾</m:t>
                          </m:r>
                        </m:e>
                      </m:d>
                      <m:d>
                        <m:dPr>
                          <m:ctrlPr>
                            <a:rPr lang="ru-RU" sz="2400" i="1">
                              <a:latin typeface="Cambria Math" charset="0"/>
                            </a:rPr>
                          </m:ctrlPr>
                        </m:dPr>
                        <m:e>
                          <m:r>
                            <a:rPr lang="en-US" sz="2400" i="1">
                              <a:latin typeface="Cambria Math" charset="0"/>
                            </a:rPr>
                            <m:t>𝑥</m:t>
                          </m:r>
                          <m:r>
                            <a:rPr lang="ru-RU" sz="2400" i="1">
                              <a:latin typeface="Cambria Math" charset="0"/>
                            </a:rPr>
                            <m:t>,</m:t>
                          </m:r>
                          <m:r>
                            <a:rPr lang="en-US" sz="2400" i="1">
                              <a:latin typeface="Cambria Math" charset="0"/>
                            </a:rPr>
                            <m:t>𝑦</m:t>
                          </m:r>
                        </m:e>
                      </m:d>
                      <m:r>
                        <a:rPr lang="ru-RU" sz="2400" i="1">
                          <a:latin typeface="Cambria Math" charset="0"/>
                        </a:rPr>
                        <m:t>=</m:t>
                      </m:r>
                      <m:nary>
                        <m:naryPr>
                          <m:chr m:val="∑"/>
                          <m:limLoc m:val="undOvr"/>
                          <m:ctrlPr>
                            <a:rPr lang="ru-RU" sz="2400" i="1">
                              <a:latin typeface="Cambria Math" charset="0"/>
                            </a:rPr>
                          </m:ctrlPr>
                        </m:naryPr>
                        <m:sub>
                          <m:r>
                            <a:rPr lang="ru-RU" sz="2400" i="1">
                              <a:latin typeface="Cambria Math" charset="0"/>
                            </a:rPr>
                            <m:t>𝑖</m:t>
                          </m:r>
                          <m:r>
                            <a:rPr lang="ru-RU" sz="2400" i="1">
                              <a:latin typeface="Cambria Math" charset="0"/>
                            </a:rPr>
                            <m:t>=0</m:t>
                          </m:r>
                        </m:sub>
                        <m:sup>
                          <m:r>
                            <a:rPr lang="ru-RU" sz="2400" i="1">
                              <a:latin typeface="Cambria Math" charset="0"/>
                            </a:rPr>
                            <m:t>𝑚</m:t>
                          </m:r>
                          <m:r>
                            <a:rPr lang="ru-RU" sz="2400" i="1">
                              <a:latin typeface="Cambria Math" charset="0"/>
                            </a:rPr>
                            <m:t>−1</m:t>
                          </m:r>
                        </m:sup>
                        <m:e>
                          <m:nary>
                            <m:naryPr>
                              <m:chr m:val="∑"/>
                              <m:limLoc m:val="undOvr"/>
                              <m:ctrlPr>
                                <a:rPr lang="ru-RU" sz="2400" i="1">
                                  <a:latin typeface="Cambria Math" charset="0"/>
                                </a:rPr>
                              </m:ctrlPr>
                            </m:naryPr>
                            <m:sub>
                              <m:r>
                                <a:rPr lang="ru-RU" sz="2400" i="1">
                                  <a:latin typeface="Cambria Math" charset="0"/>
                                </a:rPr>
                                <m:t>𝑗</m:t>
                              </m:r>
                              <m:r>
                                <a:rPr lang="ru-RU" sz="2400" i="1">
                                  <a:latin typeface="Cambria Math" charset="0"/>
                                </a:rPr>
                                <m:t>=0</m:t>
                              </m:r>
                            </m:sub>
                            <m:sup>
                              <m:r>
                                <a:rPr lang="ru-RU" sz="2400" i="1">
                                  <a:latin typeface="Cambria Math" charset="0"/>
                                </a:rPr>
                                <m:t>𝑛</m:t>
                              </m:r>
                              <m:r>
                                <a:rPr lang="ru-RU" sz="2400" i="1">
                                  <a:latin typeface="Cambria Math" charset="0"/>
                                </a:rPr>
                                <m:t>−1</m:t>
                              </m:r>
                            </m:sup>
                            <m:e>
                              <m:r>
                                <a:rPr lang="ru-RU" sz="2400" i="1">
                                  <a:latin typeface="Cambria Math" charset="0"/>
                                </a:rPr>
                                <m:t>𝐼</m:t>
                              </m:r>
                              <m:d>
                                <m:dPr>
                                  <m:ctrlPr>
                                    <a:rPr lang="ru-RU" sz="2400" i="1">
                                      <a:latin typeface="Cambria Math" charset="0"/>
                                    </a:rPr>
                                  </m:ctrlPr>
                                </m:dPr>
                                <m:e>
                                  <m:r>
                                    <a:rPr lang="ru-RU" sz="2400" i="1">
                                      <a:latin typeface="Cambria Math" charset="0"/>
                                    </a:rPr>
                                    <m:t>𝑥</m:t>
                                  </m:r>
                                  <m:r>
                                    <a:rPr lang="ru-RU" sz="2400" i="1">
                                      <a:latin typeface="Cambria Math" charset="0"/>
                                    </a:rPr>
                                    <m:t>+</m:t>
                                  </m:r>
                                  <m:r>
                                    <a:rPr lang="ru-RU" sz="2400" i="1">
                                      <a:latin typeface="Cambria Math" charset="0"/>
                                    </a:rPr>
                                    <m:t>𝑖</m:t>
                                  </m:r>
                                  <m:r>
                                    <a:rPr lang="ru-RU" sz="2400" i="1">
                                      <a:latin typeface="Cambria Math" charset="0"/>
                                    </a:rPr>
                                    <m:t>,</m:t>
                                  </m:r>
                                  <m:r>
                                    <a:rPr lang="ru-RU" sz="2400" i="1">
                                      <a:latin typeface="Cambria Math" charset="0"/>
                                    </a:rPr>
                                    <m:t>𝑦</m:t>
                                  </m:r>
                                  <m:r>
                                    <a:rPr lang="ru-RU" sz="2400" i="1">
                                      <a:latin typeface="Cambria Math" charset="0"/>
                                    </a:rPr>
                                    <m:t>+</m:t>
                                  </m:r>
                                  <m:r>
                                    <a:rPr lang="ru-RU" sz="2400" i="1">
                                      <a:latin typeface="Cambria Math" charset="0"/>
                                    </a:rPr>
                                    <m:t>𝑗</m:t>
                                  </m:r>
                                </m:e>
                              </m:d>
                              <m:r>
                                <a:rPr lang="ru-RU" sz="2400" i="1">
                                  <a:latin typeface="Cambria Math" charset="0"/>
                                </a:rPr>
                                <m:t>∙</m:t>
                              </m:r>
                              <m:r>
                                <a:rPr lang="ru-RU" sz="2400" i="1">
                                  <a:latin typeface="Cambria Math" charset="0"/>
                                </a:rPr>
                                <m:t>𝐾</m:t>
                              </m:r>
                              <m:d>
                                <m:dPr>
                                  <m:ctrlPr>
                                    <a:rPr lang="ru-RU" sz="2400" i="1">
                                      <a:latin typeface="Cambria Math" charset="0"/>
                                    </a:rPr>
                                  </m:ctrlPr>
                                </m:dPr>
                                <m:e>
                                  <m:r>
                                    <a:rPr lang="ru-RU" sz="2400" i="1">
                                      <a:latin typeface="Cambria Math" charset="0"/>
                                    </a:rPr>
                                    <m:t>𝑖</m:t>
                                  </m:r>
                                  <m:r>
                                    <a:rPr lang="ru-RU" sz="2400" i="1">
                                      <a:latin typeface="Cambria Math" charset="0"/>
                                    </a:rPr>
                                    <m:t>,</m:t>
                                  </m:r>
                                  <m:r>
                                    <a:rPr lang="ru-RU" sz="2400" i="1">
                                      <a:latin typeface="Cambria Math" charset="0"/>
                                    </a:rPr>
                                    <m:t>𝑗</m:t>
                                  </m:r>
                                </m:e>
                              </m:d>
                              <m:r>
                                <a:rPr lang="ru-RU" sz="2400" i="1">
                                  <a:latin typeface="Cambria Math" charset="0"/>
                                </a:rPr>
                                <m:t>,</m:t>
                              </m:r>
                            </m:e>
                          </m:nary>
                        </m:e>
                      </m:nary>
                      <m:r>
                        <a:rPr lang="ru-RU" sz="2400" b="0" i="1" smtClean="0">
                          <a:latin typeface="Cambria Math" charset="0"/>
                        </a:rPr>
                        <m:t>                   (4.17)</m:t>
                      </m:r>
                    </m:oMath>
                  </m:oMathPara>
                </a14:m>
                <a:endParaRPr lang="ru-RU" sz="2400" dirty="0"/>
              </a:p>
              <a:p>
                <a:pPr algn="just"/>
                <a:r>
                  <a:rPr lang="ru-RU" sz="2400" dirty="0"/>
                  <a:t>где </a:t>
                </a:r>
                <a14:m>
                  <m:oMath xmlns:m="http://schemas.openxmlformats.org/officeDocument/2006/math">
                    <m:r>
                      <a:rPr lang="en-US" sz="2400" i="1">
                        <a:latin typeface="Cambria Math" charset="0"/>
                      </a:rPr>
                      <m:t>𝐼</m:t>
                    </m:r>
                    <m:r>
                      <a:rPr lang="ru-RU" sz="2400" i="1">
                        <a:latin typeface="Cambria Math" charset="0"/>
                      </a:rPr>
                      <m:t>−</m:t>
                    </m:r>
                  </m:oMath>
                </a14:m>
                <a:r>
                  <a:rPr lang="ru-RU" sz="2400" dirty="0"/>
                  <a:t> матрица обрабатываемого изображения, </a:t>
                </a:r>
                <a14:m>
                  <m:oMath xmlns:m="http://schemas.openxmlformats.org/officeDocument/2006/math">
                    <m:r>
                      <a:rPr lang="en-US" sz="2400" i="1">
                        <a:latin typeface="Cambria Math" charset="0"/>
                      </a:rPr>
                      <m:t>𝐾</m:t>
                    </m:r>
                    <m:r>
                      <a:rPr lang="ru-RU" sz="2400" i="1">
                        <a:latin typeface="Cambria Math" charset="0"/>
                      </a:rPr>
                      <m:t>−</m:t>
                    </m:r>
                  </m:oMath>
                </a14:m>
                <a:r>
                  <a:rPr lang="ru-RU" sz="2400" dirty="0"/>
                  <a:t> ядро свертки размером</a:t>
                </a:r>
                <a:r>
                  <a:rPr lang="ru-RU" sz="2400" dirty="0" smtClean="0"/>
                  <a:t> </a:t>
                </a:r>
                <a14:m>
                  <m:oMath xmlns:m="http://schemas.openxmlformats.org/officeDocument/2006/math">
                    <m:r>
                      <a:rPr lang="en-US" sz="2400" i="1">
                        <a:latin typeface="Cambria Math" charset="0"/>
                      </a:rPr>
                      <m:t>𝑚</m:t>
                    </m:r>
                    <m:r>
                      <a:rPr lang="ru-RU" sz="2400" i="1">
                        <a:latin typeface="Cambria Math" charset="0"/>
                      </a:rPr>
                      <m:t>×</m:t>
                    </m:r>
                    <m:r>
                      <a:rPr lang="ru-RU" sz="2400" i="1">
                        <a:latin typeface="Cambria Math" charset="0"/>
                      </a:rPr>
                      <m:t>𝑛</m:t>
                    </m:r>
                    <m:r>
                      <a:rPr lang="ru-RU" sz="2400" i="1">
                        <a:latin typeface="Cambria Math" charset="0"/>
                      </a:rPr>
                      <m:t>.</m:t>
                    </m:r>
                  </m:oMath>
                </a14:m>
                <a:endParaRPr lang="ru-RU" sz="2400" dirty="0"/>
              </a:p>
              <a:p>
                <a:pPr algn="just"/>
                <a:r>
                  <a:rPr lang="ru-RU" sz="2400" dirty="0" smtClean="0"/>
                  <a:t>      </a:t>
                </a:r>
                <a:endParaRPr lang="ru-RU" sz="2400" dirty="0"/>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507957" y="663068"/>
                <a:ext cx="10684043" cy="3403111"/>
              </a:xfrm>
              <a:prstGeom prst="rect">
                <a:avLst/>
              </a:prstGeom>
              <a:blipFill rotWithShape="0">
                <a:blip r:embed="rId2"/>
                <a:stretch>
                  <a:fillRect l="-856" t="-1434" r="-856"/>
                </a:stretch>
              </a:blipFill>
            </p:spPr>
            <p:txBody>
              <a:bodyPr/>
              <a:lstStyle/>
              <a:p>
                <a:r>
                  <a:rPr lang="ru-RU">
                    <a:noFill/>
                  </a:rPr>
                  <a:t> </a:t>
                </a:r>
              </a:p>
            </p:txBody>
          </p:sp>
        </mc:Fallback>
      </mc:AlternateContent>
      <p:sp>
        <p:nvSpPr>
          <p:cNvPr id="3" name="Прямоугольник 2"/>
          <p:cNvSpPr/>
          <p:nvPr/>
        </p:nvSpPr>
        <p:spPr>
          <a:xfrm>
            <a:off x="1074821" y="3441680"/>
            <a:ext cx="11117179" cy="3416320"/>
          </a:xfrm>
          <a:prstGeom prst="rect">
            <a:avLst/>
          </a:prstGeom>
        </p:spPr>
        <p:txBody>
          <a:bodyPr wrap="square">
            <a:spAutoFit/>
          </a:bodyPr>
          <a:lstStyle/>
          <a:p>
            <a:pPr algn="just"/>
            <a:r>
              <a:rPr lang="ru-RU" sz="2400" dirty="0" smtClean="0"/>
              <a:t>  В </a:t>
            </a:r>
            <a:r>
              <a:rPr lang="ru-RU" sz="2400" dirty="0"/>
              <a:t>типичную архитектуру CNN входят несколько ключевых типов слоев: </a:t>
            </a:r>
            <a:r>
              <a:rPr lang="ru-RU" sz="2400" dirty="0" err="1"/>
              <a:t>сверточные</a:t>
            </a:r>
            <a:r>
              <a:rPr lang="ru-RU" sz="2400" dirty="0"/>
              <a:t> слои, слои активации и слои </a:t>
            </a:r>
            <a:r>
              <a:rPr lang="ru-RU" sz="2400" dirty="0" err="1"/>
              <a:t>субдискретизации</a:t>
            </a:r>
            <a:r>
              <a:rPr lang="ru-RU" sz="2400" dirty="0"/>
              <a:t>. </a:t>
            </a:r>
            <a:r>
              <a:rPr lang="ru-RU" sz="2400" dirty="0" err="1"/>
              <a:t>Сверточные</a:t>
            </a:r>
            <a:r>
              <a:rPr lang="ru-RU" sz="2400" dirty="0"/>
              <a:t> слои используют набор фильтров для извлечения различных признаков из входного изображения, формируя на выходе карты признаков. Слои активации вводят нелинейность, что позволяет сети улавливать более сложные закономерности в данных. Слои </a:t>
            </a:r>
            <a:r>
              <a:rPr lang="ru-RU" sz="2400" dirty="0" err="1"/>
              <a:t>субдискретизации</a:t>
            </a:r>
            <a:r>
              <a:rPr lang="ru-RU" sz="2400" dirty="0"/>
              <a:t> уменьшают пространственный размер карт признаков, снижая вычислительную сложность и повышая устойчивость к небольшим изменениям входного изображения. Архитектура CNN строится на основе комбинаций различных слоев, подбираемых для оптимального решения конкретной задачи. </a:t>
            </a:r>
          </a:p>
        </p:txBody>
      </p:sp>
    </p:spTree>
    <p:extLst>
      <p:ext uri="{BB962C8B-B14F-4D97-AF65-F5344CB8AC3E}">
        <p14:creationId xmlns:p14="http://schemas.microsoft.com/office/powerpoint/2010/main" val="15106360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1"/>
          <p:cNvSpPr>
            <a:spLocks noGrp="1"/>
          </p:cNvSpPr>
          <p:nvPr>
            <p:ph type="title"/>
          </p:nvPr>
        </p:nvSpPr>
        <p:spPr>
          <a:xfrm>
            <a:off x="1" y="114075"/>
            <a:ext cx="12191999" cy="548993"/>
          </a:xfrm>
        </p:spPr>
        <p:txBody>
          <a:bodyPr>
            <a:noAutofit/>
          </a:bodyPr>
          <a:lstStyle/>
          <a:p>
            <a:pPr algn="ctr"/>
            <a:r>
              <a:rPr lang="ru-RU" sz="3600" b="1" dirty="0" err="1"/>
              <a:t>Нейросетевые</a:t>
            </a:r>
            <a:r>
              <a:rPr lang="ru-RU" sz="3600" b="1" dirty="0"/>
              <a:t> </a:t>
            </a:r>
            <a:r>
              <a:rPr lang="ru-RU" sz="3600" b="1" dirty="0" smtClean="0"/>
              <a:t>классификаторы. </a:t>
            </a:r>
            <a:r>
              <a:rPr lang="ru-RU" sz="3600" i="1" dirty="0" err="1"/>
              <a:t>Сверточная</a:t>
            </a:r>
            <a:r>
              <a:rPr lang="ru-RU" sz="3600" i="1" dirty="0"/>
              <a:t> нейронная </a:t>
            </a:r>
            <a:r>
              <a:rPr lang="ru-RU" sz="3600" i="1" dirty="0" smtClean="0"/>
              <a:t>сеть</a:t>
            </a:r>
            <a:endParaRPr lang="ru-RU" sz="3600" i="1" dirty="0"/>
          </a:p>
        </p:txBody>
      </p:sp>
      <mc:AlternateContent xmlns:mc="http://schemas.openxmlformats.org/markup-compatibility/2006" xmlns:a14="http://schemas.microsoft.com/office/drawing/2010/main">
        <mc:Choice Requires="a14">
          <p:sp>
            <p:nvSpPr>
              <p:cNvPr id="2" name="Прямоугольник 1"/>
              <p:cNvSpPr/>
              <p:nvPr/>
            </p:nvSpPr>
            <p:spPr>
              <a:xfrm>
                <a:off x="1973179" y="663068"/>
                <a:ext cx="10218821" cy="4169796"/>
              </a:xfrm>
              <a:prstGeom prst="rect">
                <a:avLst/>
              </a:prstGeom>
            </p:spPr>
            <p:txBody>
              <a:bodyPr wrap="square">
                <a:spAutoFit/>
              </a:bodyPr>
              <a:lstStyle/>
              <a:p>
                <a:pPr algn="ctr"/>
                <a:r>
                  <a:rPr lang="sr-Cyrl-CS" sz="2400" i="1" u="sng" dirty="0" smtClean="0"/>
                  <a:t>Алгоритм</a:t>
                </a:r>
                <a:r>
                  <a:rPr lang="sr-Cyrl-CS" sz="2400" i="1" u="sng" dirty="0"/>
                  <a:t> </a:t>
                </a:r>
                <a:r>
                  <a:rPr lang="sr-Cyrl-CS" sz="2400" i="1" u="sng" dirty="0" err="1"/>
                  <a:t>обучения</a:t>
                </a:r>
                <a:r>
                  <a:rPr lang="sr-Cyrl-CS" sz="2400" i="1" u="sng" dirty="0"/>
                  <a:t> </a:t>
                </a:r>
                <a:r>
                  <a:rPr lang="sr-Cyrl-CS" sz="2400" i="1" u="sng" dirty="0" err="1"/>
                  <a:t>нейронной</a:t>
                </a:r>
                <a:r>
                  <a:rPr lang="sr-Cyrl-CS" sz="2400" i="1" u="sng" dirty="0"/>
                  <a:t> сети </a:t>
                </a:r>
                <a:r>
                  <a:rPr lang="en-US" sz="2400" i="1" u="sng" dirty="0" smtClean="0"/>
                  <a:t>CNN</a:t>
                </a:r>
                <a:r>
                  <a:rPr lang="sr-Cyrl-CS" sz="2400" i="1" u="sng" dirty="0" smtClean="0"/>
                  <a:t>:</a:t>
                </a:r>
                <a:endParaRPr lang="ru-RU" sz="2400" i="1" u="sng" dirty="0"/>
              </a:p>
              <a:p>
                <a:pPr lvl="0"/>
                <a:r>
                  <a:rPr lang="ru-RU" sz="2400" dirty="0" smtClean="0"/>
                  <a:t>   </a:t>
                </a:r>
                <a:r>
                  <a:rPr lang="en-US" sz="2400" dirty="0" smtClean="0"/>
                  <a:t>1</a:t>
                </a:r>
                <a:r>
                  <a:rPr lang="ru-RU" sz="2400" dirty="0" smtClean="0"/>
                  <a:t>.Получение </a:t>
                </a:r>
                <a:r>
                  <a:rPr lang="ru-RU" sz="2400" dirty="0"/>
                  <a:t>выходных данных </a:t>
                </a:r>
                <a14:m>
                  <m:oMath xmlns:m="http://schemas.openxmlformats.org/officeDocument/2006/math">
                    <m:sSub>
                      <m:sSubPr>
                        <m:ctrlPr>
                          <a:rPr lang="ru-RU" sz="2400" i="1">
                            <a:latin typeface="Cambria Math" charset="0"/>
                          </a:rPr>
                        </m:ctrlPr>
                      </m:sSubPr>
                      <m:e>
                        <m:acc>
                          <m:accPr>
                            <m:chr m:val="̂"/>
                            <m:ctrlPr>
                              <a:rPr lang="ru-RU" sz="2400" i="1">
                                <a:latin typeface="Cambria Math" charset="0"/>
                              </a:rPr>
                            </m:ctrlPr>
                          </m:accPr>
                          <m:e>
                            <m:r>
                              <a:rPr lang="en-US" sz="2400" i="1">
                                <a:latin typeface="Cambria Math" charset="0"/>
                              </a:rPr>
                              <m:t>𝑦</m:t>
                            </m:r>
                          </m:e>
                        </m:acc>
                      </m:e>
                      <m:sub>
                        <m:r>
                          <a:rPr lang="ru-RU" sz="2400" i="1">
                            <a:latin typeface="Cambria Math" charset="0"/>
                          </a:rPr>
                          <m:t>𝑖</m:t>
                        </m:r>
                      </m:sub>
                    </m:sSub>
                  </m:oMath>
                </a14:m>
                <a:r>
                  <a:rPr lang="ru-RU" sz="2400" dirty="0"/>
                  <a:t>.</a:t>
                </a:r>
              </a:p>
              <a:p>
                <a:pPr lvl="0"/>
                <a:r>
                  <a:rPr lang="ru-RU" sz="2400" dirty="0" smtClean="0"/>
                  <a:t>   2. Применение </a:t>
                </a:r>
                <a:r>
                  <a:rPr lang="ru-RU" sz="2400" dirty="0"/>
                  <a:t>функции потерь (например, кросс-энтропии):</a:t>
                </a:r>
              </a:p>
              <a:p>
                <a:pPr/>
                <a14:m>
                  <m:oMathPara xmlns:m="http://schemas.openxmlformats.org/officeDocument/2006/math">
                    <m:oMathParaPr>
                      <m:jc m:val="centerGroup"/>
                    </m:oMathParaPr>
                    <m:oMath xmlns:m="http://schemas.openxmlformats.org/officeDocument/2006/math">
                      <m:r>
                        <a:rPr lang="ru-RU" sz="2400" i="1">
                          <a:latin typeface="Cambria Math" charset="0"/>
                        </a:rPr>
                        <m:t>𝐿</m:t>
                      </m:r>
                      <m:r>
                        <a:rPr lang="ru-RU" sz="2400" i="1">
                          <a:latin typeface="Cambria Math" charset="0"/>
                        </a:rPr>
                        <m:t>=−</m:t>
                      </m:r>
                      <m:f>
                        <m:fPr>
                          <m:ctrlPr>
                            <a:rPr lang="ru-RU" sz="2400" i="1">
                              <a:latin typeface="Cambria Math" charset="0"/>
                            </a:rPr>
                          </m:ctrlPr>
                        </m:fPr>
                        <m:num>
                          <m:r>
                            <a:rPr lang="ru-RU" sz="2400" i="1">
                              <a:latin typeface="Cambria Math" charset="0"/>
                            </a:rPr>
                            <m:t>1</m:t>
                          </m:r>
                        </m:num>
                        <m:den>
                          <m:r>
                            <a:rPr lang="ru-RU" sz="2400" i="1">
                              <a:latin typeface="Cambria Math" charset="0"/>
                            </a:rPr>
                            <m:t>𝑁</m:t>
                          </m:r>
                        </m:den>
                      </m:f>
                      <m:nary>
                        <m:naryPr>
                          <m:chr m:val="∑"/>
                          <m:limLoc m:val="undOvr"/>
                          <m:ctrlPr>
                            <a:rPr lang="ru-RU" sz="2400" i="1">
                              <a:latin typeface="Cambria Math" charset="0"/>
                            </a:rPr>
                          </m:ctrlPr>
                        </m:naryPr>
                        <m:sub>
                          <m:r>
                            <a:rPr lang="ru-RU" sz="2400" i="1">
                              <a:latin typeface="Cambria Math" charset="0"/>
                            </a:rPr>
                            <m:t>𝑖</m:t>
                          </m:r>
                          <m:r>
                            <a:rPr lang="ru-RU" sz="2400" i="1">
                              <a:latin typeface="Cambria Math" charset="0"/>
                            </a:rPr>
                            <m:t>=1</m:t>
                          </m:r>
                        </m:sub>
                        <m:sup>
                          <m:r>
                            <a:rPr lang="ru-RU" sz="2400" i="1">
                              <a:latin typeface="Cambria Math" charset="0"/>
                            </a:rPr>
                            <m:t>𝑁</m:t>
                          </m:r>
                        </m:sup>
                        <m:e>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r>
                            <a:rPr lang="ru-RU" sz="2400" i="1">
                              <a:latin typeface="Cambria Math" charset="0"/>
                            </a:rPr>
                            <m:t>∙</m:t>
                          </m:r>
                          <m:func>
                            <m:funcPr>
                              <m:ctrlPr>
                                <a:rPr lang="ru-RU" sz="2400" i="1">
                                  <a:latin typeface="Cambria Math" charset="0"/>
                                </a:rPr>
                              </m:ctrlPr>
                            </m:funcPr>
                            <m:fName>
                              <m:r>
                                <m:rPr>
                                  <m:sty m:val="p"/>
                                </m:rPr>
                                <a:rPr lang="ru-RU" sz="2400">
                                  <a:latin typeface="Cambria Math" charset="0"/>
                                </a:rPr>
                                <m:t>log</m:t>
                              </m:r>
                            </m:fName>
                            <m:e>
                              <m:d>
                                <m:dPr>
                                  <m:ctrlPr>
                                    <a:rPr lang="ru-RU" sz="2400" i="1">
                                      <a:latin typeface="Cambria Math" charset="0"/>
                                    </a:rPr>
                                  </m:ctrlPr>
                                </m:dPr>
                                <m:e>
                                  <m:sSub>
                                    <m:sSubPr>
                                      <m:ctrlPr>
                                        <a:rPr lang="ru-RU" sz="2400" i="1">
                                          <a:latin typeface="Cambria Math" charset="0"/>
                                        </a:rPr>
                                      </m:ctrlPr>
                                    </m:sSubPr>
                                    <m:e>
                                      <m:acc>
                                        <m:accPr>
                                          <m:chr m:val="̂"/>
                                          <m:ctrlPr>
                                            <a:rPr lang="ru-RU" sz="2400" i="1">
                                              <a:latin typeface="Cambria Math" charset="0"/>
                                            </a:rPr>
                                          </m:ctrlPr>
                                        </m:accPr>
                                        <m:e>
                                          <m:r>
                                            <a:rPr lang="en-US" sz="2400" i="1">
                                              <a:latin typeface="Cambria Math" charset="0"/>
                                            </a:rPr>
                                            <m:t>𝑦</m:t>
                                          </m:r>
                                        </m:e>
                                      </m:acc>
                                    </m:e>
                                    <m:sub>
                                      <m:r>
                                        <a:rPr lang="ru-RU" sz="2400" i="1">
                                          <a:latin typeface="Cambria Math" charset="0"/>
                                        </a:rPr>
                                        <m:t>𝑖</m:t>
                                      </m:r>
                                    </m:sub>
                                  </m:sSub>
                                </m:e>
                              </m:d>
                              <m:r>
                                <a:rPr lang="ru-RU" sz="2400" i="1">
                                  <a:latin typeface="Cambria Math" charset="0"/>
                                </a:rPr>
                                <m:t>,</m:t>
                              </m:r>
                            </m:e>
                          </m:func>
                        </m:e>
                      </m:nary>
                    </m:oMath>
                  </m:oMathPara>
                </a14:m>
                <a:endParaRPr lang="ru-RU" sz="2400" dirty="0"/>
              </a:p>
              <a:p>
                <a:r>
                  <a:rPr lang="ru-RU" sz="2400" dirty="0"/>
                  <a:t>где </a:t>
                </a:r>
                <a14:m>
                  <m:oMath xmlns:m="http://schemas.openxmlformats.org/officeDocument/2006/math">
                    <m:sSub>
                      <m:sSubPr>
                        <m:ctrlPr>
                          <a:rPr lang="ru-RU" sz="2400" i="1">
                            <a:latin typeface="Cambria Math" charset="0"/>
                          </a:rPr>
                        </m:ctrlPr>
                      </m:sSubPr>
                      <m:e>
                        <m:r>
                          <a:rPr lang="ru-RU" sz="2400" i="1">
                            <a:latin typeface="Cambria Math" charset="0"/>
                          </a:rPr>
                          <m:t>𝑦</m:t>
                        </m:r>
                      </m:e>
                      <m:sub>
                        <m:r>
                          <a:rPr lang="ru-RU" sz="2400" i="1">
                            <a:latin typeface="Cambria Math" charset="0"/>
                          </a:rPr>
                          <m:t>𝑖</m:t>
                        </m:r>
                      </m:sub>
                    </m:sSub>
                    <m:r>
                      <a:rPr lang="ru-RU" sz="2400" i="1">
                        <a:latin typeface="Cambria Math" charset="0"/>
                      </a:rPr>
                      <m:t>−</m:t>
                    </m:r>
                  </m:oMath>
                </a14:m>
                <a:r>
                  <a:rPr lang="ru-RU" sz="2400" dirty="0"/>
                  <a:t> истинный класс, </a:t>
                </a:r>
                <a14:m>
                  <m:oMath xmlns:m="http://schemas.openxmlformats.org/officeDocument/2006/math">
                    <m:sSub>
                      <m:sSubPr>
                        <m:ctrlPr>
                          <a:rPr lang="ru-RU" sz="2400" i="1">
                            <a:latin typeface="Cambria Math" charset="0"/>
                          </a:rPr>
                        </m:ctrlPr>
                      </m:sSubPr>
                      <m:e>
                        <m:acc>
                          <m:accPr>
                            <m:chr m:val="̂"/>
                            <m:ctrlPr>
                              <a:rPr lang="ru-RU" sz="2400" i="1">
                                <a:latin typeface="Cambria Math" charset="0"/>
                              </a:rPr>
                            </m:ctrlPr>
                          </m:accPr>
                          <m:e>
                            <m:r>
                              <a:rPr lang="en-US" sz="2400" i="1">
                                <a:latin typeface="Cambria Math" charset="0"/>
                              </a:rPr>
                              <m:t>𝑦</m:t>
                            </m:r>
                          </m:e>
                        </m:acc>
                      </m:e>
                      <m:sub>
                        <m:r>
                          <a:rPr lang="ru-RU" sz="2400" i="1">
                            <a:latin typeface="Cambria Math" charset="0"/>
                          </a:rPr>
                          <m:t>𝑖</m:t>
                        </m:r>
                      </m:sub>
                    </m:sSub>
                    <m:r>
                      <a:rPr lang="ru-RU" sz="2400" i="1">
                        <a:latin typeface="Cambria Math" charset="0"/>
                      </a:rPr>
                      <m:t>−</m:t>
                    </m:r>
                  </m:oMath>
                </a14:m>
                <a:r>
                  <a:rPr lang="ru-RU" sz="2400" dirty="0"/>
                  <a:t> предсказанный класс.</a:t>
                </a:r>
              </a:p>
              <a:p>
                <a:pPr lvl="0"/>
                <a:r>
                  <a:rPr lang="ru-RU" sz="2400" dirty="0" smtClean="0"/>
                  <a:t>   3. Обратный </a:t>
                </a:r>
                <a:r>
                  <a:rPr lang="ru-RU" sz="2400" dirty="0"/>
                  <a:t>проход: обновление весов.</a:t>
                </a:r>
              </a:p>
              <a:p>
                <a:pPr algn="just"/>
                <a:r>
                  <a:rPr lang="ru-RU" sz="2400" dirty="0"/>
                  <a:t>Однако, учитывая сложность </a:t>
                </a:r>
                <a:r>
                  <a:rPr lang="ru-RU" sz="2400" dirty="0" err="1"/>
                  <a:t>сверточных</a:t>
                </a:r>
                <a:r>
                  <a:rPr lang="ru-RU" sz="2400" dirty="0"/>
                  <a:t> операций, важную роль играет выбор оптимизатора. В CNN часто используют адаптивные алгоритмы оптимизации, среди которых </a:t>
                </a:r>
                <a:r>
                  <a:rPr lang="ru-RU" sz="2400" dirty="0" err="1"/>
                  <a:t>Adam</a:t>
                </a:r>
                <a:r>
                  <a:rPr lang="ru-RU" sz="2400" dirty="0"/>
                  <a:t> является одним из самых популярных </a:t>
                </a:r>
              </a:p>
            </p:txBody>
          </p:sp>
        </mc:Choice>
        <mc:Fallback xmlns="">
          <p:sp>
            <p:nvSpPr>
              <p:cNvPr id="2" name="Прямоугольник 1"/>
              <p:cNvSpPr>
                <a:spLocks noRot="1" noChangeAspect="1" noMove="1" noResize="1" noEditPoints="1" noAdjustHandles="1" noChangeArrowheads="1" noChangeShapeType="1" noTextEdit="1"/>
              </p:cNvSpPr>
              <p:nvPr/>
            </p:nvSpPr>
            <p:spPr>
              <a:xfrm>
                <a:off x="1973179" y="663068"/>
                <a:ext cx="10218821" cy="4169796"/>
              </a:xfrm>
              <a:prstGeom prst="rect">
                <a:avLst/>
              </a:prstGeom>
              <a:blipFill rotWithShape="0">
                <a:blip r:embed="rId2"/>
                <a:stretch>
                  <a:fillRect l="-955" t="-1170" r="-895" b="-2339"/>
                </a:stretch>
              </a:blipFill>
            </p:spPr>
            <p:txBody>
              <a:bodyPr/>
              <a:lstStyle/>
              <a:p>
                <a:r>
                  <a:rPr lang="ru-RU">
                    <a:noFill/>
                  </a:rPr>
                  <a:t> </a:t>
                </a:r>
              </a:p>
            </p:txBody>
          </p:sp>
        </mc:Fallback>
      </mc:AlternateContent>
    </p:spTree>
    <p:extLst>
      <p:ext uri="{BB962C8B-B14F-4D97-AF65-F5344CB8AC3E}">
        <p14:creationId xmlns:p14="http://schemas.microsoft.com/office/powerpoint/2010/main" val="2042573358"/>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35793" y="2494985"/>
            <a:ext cx="7252491" cy="979451"/>
          </a:xfrm>
        </p:spPr>
        <p:txBody>
          <a:bodyPr>
            <a:normAutofit fontScale="90000"/>
          </a:bodyPr>
          <a:lstStyle/>
          <a:p>
            <a:pPr algn="r"/>
            <a:r>
              <a:rPr lang="ru-RU" b="1" dirty="0" smtClean="0">
                <a:latin typeface="+mn-lt"/>
              </a:rPr>
              <a:t>Спасибо за внимание!</a:t>
            </a:r>
            <a:endParaRPr lang="en-US" b="1" dirty="0">
              <a:solidFill>
                <a:srgbClr val="F8BB01"/>
              </a:solidFill>
              <a:latin typeface="+mn-lt"/>
            </a:endParaRPr>
          </a:p>
        </p:txBody>
      </p:sp>
    </p:spTree>
    <p:extLst>
      <p:ext uri="{BB962C8B-B14F-4D97-AF65-F5344CB8AC3E}">
        <p14:creationId xmlns:p14="http://schemas.microsoft.com/office/powerpoint/2010/main" val="331011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57578</TotalTime>
  <Words>2190</Words>
  <Application>Microsoft Macintosh PowerPoint</Application>
  <PresentationFormat>Широкоэкранный</PresentationFormat>
  <Paragraphs>376</Paragraphs>
  <Slides>44</Slides>
  <Notes>0</Notes>
  <HiddenSlides>0</HiddenSlides>
  <MMClips>0</MMClips>
  <ScaleCrop>false</ScaleCrop>
  <HeadingPairs>
    <vt:vector size="8" baseType="variant">
      <vt:variant>
        <vt:lpstr>Использованные шрифты</vt:lpstr>
      </vt:variant>
      <vt:variant>
        <vt:i4>12</vt:i4>
      </vt:variant>
      <vt:variant>
        <vt:lpstr>Тема</vt:lpstr>
      </vt:variant>
      <vt:variant>
        <vt:i4>1</vt:i4>
      </vt:variant>
      <vt:variant>
        <vt:lpstr>Внедренные серверы OLE</vt:lpstr>
      </vt:variant>
      <vt:variant>
        <vt:i4>1</vt:i4>
      </vt:variant>
      <vt:variant>
        <vt:lpstr>Заголовки слайдов</vt:lpstr>
      </vt:variant>
      <vt:variant>
        <vt:i4>44</vt:i4>
      </vt:variant>
    </vt:vector>
  </HeadingPairs>
  <TitlesOfParts>
    <vt:vector size="58" baseType="lpstr">
      <vt:lpstr>.AppleSystemUIFont</vt:lpstr>
      <vt:lpstr>Calibri</vt:lpstr>
      <vt:lpstr>Calibri Light</vt:lpstr>
      <vt:lpstr>Cambria Math</vt:lpstr>
      <vt:lpstr>Helvetica</vt:lpstr>
      <vt:lpstr>Mangal</vt:lpstr>
      <vt:lpstr>MS Mincho</vt:lpstr>
      <vt:lpstr>Times</vt:lpstr>
      <vt:lpstr>Times New Roman</vt:lpstr>
      <vt:lpstr>TimesNewRomanPS</vt:lpstr>
      <vt:lpstr>Wingdings</vt:lpstr>
      <vt:lpstr>Arial</vt:lpstr>
      <vt:lpstr>Office Theme</vt:lpstr>
      <vt:lpstr>Microsoft Equation 3.0</vt:lpstr>
      <vt:lpstr>ТЕМА №3  КЛАССИФИКАЦИЯ ДАННЫХ </vt:lpstr>
      <vt:lpstr>Презентация PowerPoint</vt:lpstr>
      <vt:lpstr>Презентация PowerPoint</vt:lpstr>
      <vt:lpstr>Презентация PowerPoint</vt:lpstr>
      <vt:lpstr>Постановка задачи классификации </vt:lpstr>
      <vt:lpstr>Постановка задачи классификации </vt:lpstr>
      <vt:lpstr>Постановка задачи классификации </vt:lpstr>
      <vt:lpstr>Метод k-ближайших соседей </vt:lpstr>
      <vt:lpstr>Метод k-ближайших соседей </vt:lpstr>
      <vt:lpstr>Метод k-ближайших соседей </vt:lpstr>
      <vt:lpstr>Метод k-ближайших соседей </vt:lpstr>
      <vt:lpstr>Метод k-ближайших соседей </vt:lpstr>
      <vt:lpstr>Метод k-ближайших соседей </vt:lpstr>
      <vt:lpstr>Меры расстояний </vt:lpstr>
      <vt:lpstr>Меры расстояний </vt:lpstr>
      <vt:lpstr>Метод опорных векторов </vt:lpstr>
      <vt:lpstr>Метод опорных векторов </vt:lpstr>
      <vt:lpstr>Метод опорных векторов </vt:lpstr>
      <vt:lpstr>Метод опорных векторов </vt:lpstr>
      <vt:lpstr>Метод опорных векторов </vt:lpstr>
      <vt:lpstr>Метод опорных векторов </vt:lpstr>
      <vt:lpstr>Метод опорных векторов </vt:lpstr>
      <vt:lpstr>Домашнее задание: реализация метода классификации данных с использованием природных временных рядов.</vt:lpstr>
      <vt:lpstr>Домашнее задание: реализация метода классификации данных с использованием природных временных рядов.</vt:lpstr>
      <vt:lpstr>Презентация PowerPoint</vt:lpstr>
      <vt:lpstr>ТЕМА №3  КЛАССИФИКАЦИЯ ДАННЫХ. Часть 2 </vt:lpstr>
      <vt:lpstr>Деревья решений </vt:lpstr>
      <vt:lpstr>Презентация PowerPoint</vt:lpstr>
      <vt:lpstr>Деревья решений </vt:lpstr>
      <vt:lpstr>Деревья решений. Алгоритм ID3  </vt:lpstr>
      <vt:lpstr>Деревья решений. Алгоритм ID3  </vt:lpstr>
      <vt:lpstr>Деревья решений. Алгоритм CART  </vt:lpstr>
      <vt:lpstr>Деревья решений. Алгоритм CART  </vt:lpstr>
      <vt:lpstr>Деревья решений. Алгоритм С4.5 </vt:lpstr>
      <vt:lpstr>Оптимизация и оценка качества деревьев решений </vt:lpstr>
      <vt:lpstr>Методы предотвращения переобучения</vt:lpstr>
      <vt:lpstr>Методы предотвращения переобучения</vt:lpstr>
      <vt:lpstr>Преимущества и недостатки применения деревьев принятий решений </vt:lpstr>
      <vt:lpstr>Нейросетевые классификаторы. Нейронная сеть LVQ  </vt:lpstr>
      <vt:lpstr>Нейросетевые классификаторы. Нейронная сеть LVQ  </vt:lpstr>
      <vt:lpstr>Нейросетевые классификаторы. Нейронная сеть LVQ  </vt:lpstr>
      <vt:lpstr>Нейросетевые классификаторы. Сверточная нейронная сеть   </vt:lpstr>
      <vt:lpstr>Нейросетевые классификаторы. Сверточная нейронная сеть</vt:lpstr>
      <vt:lpstr>Спасибо за внимание!</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NAME OF  PRESENTATION</dc:title>
  <dc:creator>User</dc:creator>
  <cp:lastModifiedBy>Пользователь Microsoft Office</cp:lastModifiedBy>
  <cp:revision>633</cp:revision>
  <dcterms:created xsi:type="dcterms:W3CDTF">2020-05-19T07:23:02Z</dcterms:created>
  <dcterms:modified xsi:type="dcterms:W3CDTF">2026-10-09T17:54:37Z</dcterms:modified>
</cp:coreProperties>
</file>